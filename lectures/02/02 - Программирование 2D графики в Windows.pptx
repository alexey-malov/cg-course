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notesMasterIdLst>
    <p:notesMasterId r:id="rId93"/>
  </p:notesMasterIdLst>
  <p:sldIdLst>
    <p:sldId id="35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47" r:id="rId56"/>
    <p:sldId id="348" r:id="rId57"/>
    <p:sldId id="349" r:id="rId58"/>
    <p:sldId id="350" r:id="rId59"/>
    <p:sldId id="351" r:id="rId60"/>
    <p:sldId id="352" r:id="rId61"/>
    <p:sldId id="353" r:id="rId62"/>
    <p:sldId id="354" r:id="rId63"/>
    <p:sldId id="355" r:id="rId64"/>
    <p:sldId id="356" r:id="rId65"/>
    <p:sldId id="357" r:id="rId66"/>
    <p:sldId id="358" r:id="rId67"/>
    <p:sldId id="346" r:id="rId68"/>
    <p:sldId id="312" r:id="rId69"/>
    <p:sldId id="313" r:id="rId70"/>
    <p:sldId id="311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5" r:id="rId82"/>
    <p:sldId id="326" r:id="rId83"/>
    <p:sldId id="327" r:id="rId84"/>
    <p:sldId id="328" r:id="rId85"/>
    <p:sldId id="329" r:id="rId86"/>
    <p:sldId id="339" r:id="rId87"/>
    <p:sldId id="341" r:id="rId88"/>
    <p:sldId id="342" r:id="rId89"/>
    <p:sldId id="343" r:id="rId90"/>
    <p:sldId id="344" r:id="rId91"/>
    <p:sldId id="345" r:id="rId92"/>
  </p:sldIdLst>
  <p:sldSz cx="12192000" cy="6858000"/>
  <p:notesSz cx="6858000" cy="9144000"/>
  <p:custDataLst>
    <p:tags r:id="rId9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37D8F5-D027-4EAC-A3C3-FD08FF7E97F4}">
          <p14:sldIdLst>
            <p14:sldId id="359"/>
          </p14:sldIdLst>
        </p14:section>
        <p14:section name="GDI" id="{D14C9A78-3C7A-4AFF-AF7E-8B3E25AD18D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Создание анимации" id="{23CC8871-F5B4-4F17-A341-C70635F34269}">
          <p14:sldIdLst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Direct2D" id="{BCE919F1-B3DB-44DE-AC83-A4F474006DF8}">
          <p14:sldIdLst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GDI+" id="{B3C252F7-806C-46B4-8123-50DFA246AF52}">
          <p14:sldIdLst>
            <p14:sldId id="346"/>
            <p14:sldId id="312"/>
            <p14:sldId id="313"/>
            <p14:sldId id="311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5"/>
            <p14:sldId id="326"/>
            <p14:sldId id="327"/>
            <p14:sldId id="328"/>
            <p14:sldId id="329"/>
            <p14:sldId id="339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845C8-6D34-435D-9F30-1E3A0AA82C77}" v="3" dt="2024-02-22T13:10:08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20" autoAdjust="0"/>
  </p:normalViewPr>
  <p:slideViewPr>
    <p:cSldViewPr>
      <p:cViewPr varScale="1">
        <p:scale>
          <a:sx n="86" d="100"/>
          <a:sy n="86" d="100"/>
        </p:scale>
        <p:origin x="1434" y="30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gs" Target="tags/tag1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7AB5503-2275-DE4F-2DDA-7D000F58D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314FC1-4992-9E53-A182-380AC1C868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563B86A-301D-4FDC-9A78-71D30C5792B4}" type="datetimeFigureOut">
              <a:rPr lang="ru-RU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DD6023B4-8B3B-6341-340B-5EB8AA401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B66730CA-82D8-6EE7-16D3-D680DBF3C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4B6EEB-11BA-2434-0708-99EE236EAF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F1080D-FFAD-7971-2897-C0EEBBFF6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BC79EEB-8595-469D-9DCB-0DEFD48E3573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1D0782F-9968-4681-AFE6-D6A8A6835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6FD5B2-20BA-4CD8-B523-265F0D7F85B3}" type="slidenum">
              <a:rPr lang="ru-RU" altLang="ru-RU">
                <a:latin typeface="Arial" panose="020B0604020202020204" pitchFamily="34" charset="0"/>
              </a:rPr>
              <a:pPr eaLnBrk="1" hangingPunct="1"/>
              <a:t>1</a:t>
            </a:fld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DC38919C-07C4-45B0-922A-47DB24C009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982FEC01-2C3E-491E-8433-588696465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1EB76327-CA29-0391-1EF3-519B855E79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4B71D40-61AA-4E84-8517-3CEABD8D42F3}" type="slidenum">
              <a:rPr lang="ru-RU" altLang="ru-RU">
                <a:latin typeface="Calibri" panose="020F0502020204030204" pitchFamily="34" charset="0"/>
              </a:rPr>
              <a:pPr eaLnBrk="1" hangingPunct="1"/>
              <a:t>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170ADF8-E7F3-7081-EEF1-289B488A75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00CCF667-EF6B-55FF-1F4F-98A9C55C6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09F26080-0618-786B-7840-8D2535B0DE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3CE77F9-6E76-46EC-ACB1-CFA65C4761EC}" type="slidenum">
              <a:rPr lang="ru-RU" altLang="ru-RU">
                <a:latin typeface="Calibri" panose="020F0502020204030204" pitchFamily="34" charset="0"/>
              </a:rPr>
              <a:pPr eaLnBrk="1" hangingPunct="1"/>
              <a:t>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C29BAC47-4085-17F8-A7CD-43FD7798E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88009A04-C616-B971-8820-DE8E51A56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502A5E15-3ECD-4AAC-6A24-161A6497DF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CF6B11-B6A1-4CF4-AA16-7ED492BFB5F1}" type="slidenum">
              <a:rPr lang="ru-RU" altLang="ru-RU">
                <a:latin typeface="Calibri" panose="020F0502020204030204" pitchFamily="34" charset="0"/>
              </a:rPr>
              <a:pPr eaLnBrk="1" hangingPunct="1"/>
              <a:t>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406D3D4A-5246-8FF8-B0C8-AC58092C9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83335B76-F96B-F757-70EB-A5EBD649B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B9370D10-041A-E319-EDC7-B848F0AD17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0AB90D4-D709-4BAA-A43F-B6D99070467B}" type="slidenum">
              <a:rPr lang="ru-RU" altLang="ru-RU">
                <a:latin typeface="Calibri" panose="020F0502020204030204" pitchFamily="34" charset="0"/>
              </a:rPr>
              <a:pPr eaLnBrk="1" hangingPunct="1"/>
              <a:t>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90246B74-6B77-D46B-B063-1F7679CFEE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F39E5E54-9AA4-F6D6-95C9-0FA585329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DAC83941-7494-D7A5-CA63-A7C68DB127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97898CC-4992-45EC-BE1F-0B0930D52F68}" type="slidenum">
              <a:rPr lang="ru-RU" altLang="ru-RU">
                <a:latin typeface="Calibri" panose="020F0502020204030204" pitchFamily="34" charset="0"/>
              </a:rPr>
              <a:pPr eaLnBrk="1" hangingPunct="1"/>
              <a:t>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C077B676-3812-8ECF-5406-242693A8A7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F993D65E-98CB-5541-1AE7-6E0FA2673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BEA7BACE-5143-F356-AFA3-958EA0FA1A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87A4798-6E13-4495-99AB-9ADC24EB76F8}" type="slidenum">
              <a:rPr lang="ru-RU" altLang="ru-RU">
                <a:latin typeface="Calibri" panose="020F0502020204030204" pitchFamily="34" charset="0"/>
              </a:rPr>
              <a:pPr eaLnBrk="1" hangingPunct="1"/>
              <a:t>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71F7E8D-0419-5724-4D13-78D07E834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8C96BD19-31A0-AB8E-E93E-0A89AC398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8857BD21-953F-CA30-3E58-2B02C5755B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3AA2053-74B5-44D8-AF7E-52ACD2B6E0C3}" type="slidenum">
              <a:rPr lang="ru-RU" altLang="ru-RU">
                <a:latin typeface="Calibri" panose="020F0502020204030204" pitchFamily="34" charset="0"/>
              </a:rPr>
              <a:pPr eaLnBrk="1" hangingPunct="1"/>
              <a:t>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6CDE7D0-DB35-79C0-577B-B792423DD1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328EBD7D-8DD6-B626-C834-F559D1F2C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23BABFF8-8C49-E3BD-B26A-0043E2C2A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B77DD47-80B9-4A9C-BE52-E1BC959C2A0A}" type="slidenum">
              <a:rPr lang="ru-RU" altLang="ru-RU">
                <a:latin typeface="Calibri" panose="020F0502020204030204" pitchFamily="34" charset="0"/>
              </a:rPr>
              <a:pPr eaLnBrk="1" hangingPunct="1"/>
              <a:t>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236EAA91-04CE-117E-A2A8-2D56EA1D6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4172051-BEAB-FA0E-2E52-54E3225592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30DD0F6B-B7E0-A002-D988-51D23C8C6F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7E1F3F-7170-4D13-8381-F90F40E3E7DF}" type="slidenum">
              <a:rPr lang="ru-RU" altLang="ru-RU">
                <a:latin typeface="Calibri" panose="020F0502020204030204" pitchFamily="34" charset="0"/>
              </a:rPr>
              <a:pPr eaLnBrk="1" hangingPunct="1"/>
              <a:t>10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0BD3B65E-9C59-9A32-1F43-0654956E5C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9478444-5310-4DDC-00CB-88C47EEB5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035CBF80-7C44-1898-2D6A-7C4DC768B8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3FB44EF-8DB4-4838-862A-57F591F019C4}" type="slidenum">
              <a:rPr lang="ru-RU" altLang="ru-RU">
                <a:latin typeface="Calibri" panose="020F0502020204030204" pitchFamily="34" charset="0"/>
              </a:rPr>
              <a:pPr eaLnBrk="1" hangingPunct="1"/>
              <a:t>11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6AC2E26-2A4E-6572-AF95-A80CA405B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939A5B5-FF62-CFD8-4057-F15D8AAD3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A31028D3-AD6F-B20D-0E03-7F95ABAFB4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BED8DDD-1595-49F5-BF03-9D61BE50ADAE}" type="slidenum">
              <a:rPr lang="ru-RU" altLang="ru-RU">
                <a:latin typeface="Calibri" panose="020F0502020204030204" pitchFamily="34" charset="0"/>
              </a:rPr>
              <a:pPr eaLnBrk="1" hangingPunct="1"/>
              <a:t>12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D6D5437E-C9F8-9362-F5BB-AA13C8BED7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AF10C581-B5F0-A856-810D-CA514CE79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308F5DF-17B4-E457-37F6-D8DC5433AD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E57DA4-58AA-4BB6-AB53-3B4D1F5766B7}" type="slidenum">
              <a:rPr lang="ru-RU" altLang="ru-RU">
                <a:latin typeface="Calibri" panose="020F0502020204030204" pitchFamily="34" charset="0"/>
              </a:rPr>
              <a:pPr eaLnBrk="1" hangingPunct="1"/>
              <a:t>13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DCC78E59-33BB-2936-E190-41EEA97E3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171347F1-FE97-1441-F5BB-8E7703455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09065934-3C81-BE49-00E7-424CE5AC5A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A1A4EA-ACF3-454F-9FD5-7303DB1C98A4}" type="slidenum">
              <a:rPr lang="ru-RU" altLang="ru-RU">
                <a:latin typeface="Calibri" panose="020F0502020204030204" pitchFamily="34" charset="0"/>
              </a:rPr>
              <a:pPr eaLnBrk="1" hangingPunct="1"/>
              <a:t>14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E3C520F9-4E5D-D78D-C442-038C83BD8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374CCC2-330C-7A63-1CC4-1D4EC662C3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EF03CDDA-2C7F-A5F6-8F73-52E83E503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439D59-602B-4494-B3DC-794725EF2071}" type="slidenum">
              <a:rPr lang="ru-RU" altLang="ru-RU">
                <a:latin typeface="Calibri" panose="020F0502020204030204" pitchFamily="34" charset="0"/>
              </a:rPr>
              <a:pPr eaLnBrk="1" hangingPunct="1"/>
              <a:t>15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EB4E12C4-E21F-4826-1723-29A714AA94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C5BABC7D-9183-D2CB-E98F-DB104347D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F06803E5-2178-03F4-CCC5-A374ECB59C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6585CE-DA1F-4E46-8CE5-1907D91DF643}" type="slidenum">
              <a:rPr lang="ru-RU" altLang="ru-RU">
                <a:latin typeface="Calibri" panose="020F0502020204030204" pitchFamily="34" charset="0"/>
              </a:rPr>
              <a:pPr eaLnBrk="1" hangingPunct="1"/>
              <a:t>16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600E336-C107-B132-569F-3B23E1F457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E9903581-BE75-7921-0CC5-381C63828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F37205DA-C781-99DC-2FDB-8616D7067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D39C1C-6637-45D6-A323-355E5DDAEB2D}" type="slidenum">
              <a:rPr lang="ru-RU" altLang="ru-RU">
                <a:latin typeface="Calibri" panose="020F0502020204030204" pitchFamily="34" charset="0"/>
              </a:rPr>
              <a:pPr eaLnBrk="1" hangingPunct="1"/>
              <a:t>17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76DA33E4-4806-111A-AECF-4A0E151E1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D2C4D1CE-08CD-179C-12B0-1A7DA9DA1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C4176758-2C4C-FE34-6541-37AA3F6A4C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CFA6ED4-BBC5-4958-9EF0-2FB9DC4A0213}" type="slidenum">
              <a:rPr lang="ru-RU" altLang="ru-RU">
                <a:latin typeface="Calibri" panose="020F0502020204030204" pitchFamily="34" charset="0"/>
              </a:rPr>
              <a:pPr eaLnBrk="1" hangingPunct="1"/>
              <a:t>18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F8E26BD2-064E-0EA0-3828-360720784D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ADD3AFD7-04A6-1750-0D37-EA2EB8C6A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A571BE4D-0F6B-D693-D13E-6623A7D57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7EB57AC-A1A2-4ADB-A417-C32F30EA2599}" type="slidenum">
              <a:rPr lang="ru-RU" altLang="ru-RU">
                <a:latin typeface="Calibri" panose="020F0502020204030204" pitchFamily="34" charset="0"/>
              </a:rPr>
              <a:pPr eaLnBrk="1" hangingPunct="1"/>
              <a:t>19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9D78C408-C539-60E3-1BAA-475DD7848A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55E5FF12-5541-244C-15FC-51200488C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59BA10AE-84C8-5778-AC31-30B0C92DE4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99AF82C-E8AA-4926-A091-E5454E43B490}" type="slidenum">
              <a:rPr lang="ru-RU" altLang="ru-RU">
                <a:latin typeface="Calibri" panose="020F0502020204030204" pitchFamily="34" charset="0"/>
              </a:rPr>
              <a:pPr eaLnBrk="1" hangingPunct="1"/>
              <a:t>20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42819488-728C-453E-E294-11ED6EC56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ED8C1EBB-856C-6CFF-3F3F-8C1152869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2DF92E4A-25BC-E574-6547-026B47992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EB0BCB-1F24-467F-974B-1C046302D050}" type="slidenum">
              <a:rPr lang="ru-RU" altLang="ru-RU">
                <a:latin typeface="Calibri" panose="020F0502020204030204" pitchFamily="34" charset="0"/>
              </a:rPr>
              <a:pPr eaLnBrk="1" hangingPunct="1"/>
              <a:t>21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34DFE493-AB00-2321-3205-DE4A0D0F4F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16620C60-06A3-1C96-9669-79B73FB15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834098AD-E620-79E2-1AF1-B0F7E7E96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63BC0C-6116-409A-8835-109D33E904C9}" type="slidenum">
              <a:rPr lang="ru-RU" altLang="ru-RU">
                <a:latin typeface="Calibri" panose="020F0502020204030204" pitchFamily="34" charset="0"/>
              </a:rPr>
              <a:pPr eaLnBrk="1" hangingPunct="1"/>
              <a:t>22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89786F91-4575-5CE0-9850-F293B1D02C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5F15DBE5-AA5B-FBFD-1193-A77CF5AB6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E84F10F6-5756-5FB3-FB8D-59F55745FE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E1C08D4-0A76-4C8E-8E70-29F508F34AE8}" type="slidenum">
              <a:rPr lang="ru-RU" altLang="ru-RU">
                <a:latin typeface="Calibri" panose="020F0502020204030204" pitchFamily="34" charset="0"/>
              </a:rPr>
              <a:pPr eaLnBrk="1" hangingPunct="1"/>
              <a:t>23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7AC88755-138C-DA62-033A-733396090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FCE601C0-262D-0E9E-2BEB-4F36424DC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DFFFA5FB-189B-D5E3-377E-5912A54593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5747E09-4116-489F-8D4A-5CAEE78F7C64}" type="slidenum">
              <a:rPr lang="ru-RU" altLang="ru-RU">
                <a:latin typeface="Calibri" panose="020F0502020204030204" pitchFamily="34" charset="0"/>
              </a:rPr>
              <a:pPr eaLnBrk="1" hangingPunct="1"/>
              <a:t>24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B71F8586-39CF-4A65-CBF7-9FAFB1504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DA68C29C-68A1-8075-3920-F833EB834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CD73253B-0AF5-CA49-EBBD-54F86EEB8A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F6AFB52-2904-4062-9351-D8581E85B5D9}" type="slidenum">
              <a:rPr lang="ru-RU" altLang="ru-RU">
                <a:latin typeface="Calibri" panose="020F0502020204030204" pitchFamily="34" charset="0"/>
              </a:rPr>
              <a:pPr eaLnBrk="1" hangingPunct="1"/>
              <a:t>25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38FE5555-43AF-B774-F2FC-C1556409B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B01A76AA-4BE0-78F2-BDDA-B9250C7AA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D54871D-6F05-CE8A-D843-126DE071A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946BAA-03CD-40C2-A9FB-D527ACFA280C}" type="slidenum">
              <a:rPr lang="ru-RU" altLang="ru-RU">
                <a:latin typeface="Calibri" panose="020F0502020204030204" pitchFamily="34" charset="0"/>
              </a:rPr>
              <a:pPr eaLnBrk="1" hangingPunct="1"/>
              <a:t>26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4EC80FA9-086F-2785-6C6E-0CD27F03E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0D47CE6E-FC0B-1EA0-FB3A-D986CAA4F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1B62853F-88C9-95B2-3B64-01161AD00B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8795F4-2712-43B6-ACF6-40FF78F883FF}" type="slidenum">
              <a:rPr lang="ru-RU" altLang="ru-RU">
                <a:latin typeface="Calibri" panose="020F0502020204030204" pitchFamily="34" charset="0"/>
              </a:rPr>
              <a:pPr eaLnBrk="1" hangingPunct="1"/>
              <a:t>27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8E80BA6B-D867-003C-B15F-5DD6B4DD20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97FA0CD-C3A8-E02C-9BF5-C067D77E6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A44E398A-63EC-A726-B15E-75183B92A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5FE15A8-6F33-485D-AF71-3CAE36EA1C88}" type="slidenum">
              <a:rPr lang="ru-RU" altLang="ru-RU">
                <a:latin typeface="Calibri" panose="020F0502020204030204" pitchFamily="34" charset="0"/>
              </a:rPr>
              <a:pPr eaLnBrk="1" hangingPunct="1"/>
              <a:t>28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4081E315-976F-2DA8-6977-38B3D021A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2CC59C28-8024-E4A0-BC17-EE762480F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7ADCFCFB-846F-E32E-1292-61333A68A1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2983836-7F7C-4EAD-88F3-B4303011401E}" type="slidenum">
              <a:rPr lang="ru-RU" altLang="ru-RU">
                <a:latin typeface="Calibri" panose="020F0502020204030204" pitchFamily="34" charset="0"/>
              </a:rPr>
              <a:pPr eaLnBrk="1" hangingPunct="1"/>
              <a:t>29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0A223C70-49EC-F411-5BA2-A0A30DD5F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D676E724-93C7-8240-DD37-79D87A5FC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C2B64742-BCB0-1D9B-900E-DAB4E0B32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6D05245-3E4F-467D-9F2A-0F3AA0121A12}" type="slidenum">
              <a:rPr lang="ru-RU" altLang="ru-RU">
                <a:latin typeface="Calibri" panose="020F0502020204030204" pitchFamily="34" charset="0"/>
              </a:rPr>
              <a:pPr eaLnBrk="1" hangingPunct="1"/>
              <a:t>30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39567126-47B2-0543-3836-F3F0A4C1D2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D319A853-95BF-2C18-C4F1-5C6362A76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7290809E-C578-DE1D-D4A8-C1AC2A9323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57AFEB1-C3E4-4AA5-BA69-F8B395C143D9}" type="slidenum">
              <a:rPr lang="ru-RU" altLang="ru-RU">
                <a:latin typeface="Calibri" panose="020F0502020204030204" pitchFamily="34" charset="0"/>
              </a:rPr>
              <a:pPr eaLnBrk="1" hangingPunct="1"/>
              <a:t>31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9B650D30-8E5E-A4B9-A335-C14B2C3A1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DF6BDA7B-189F-7D59-0FEF-1B1541C04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619765EA-545F-C0DD-EF83-7DD6624A00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D6B98E-6DFC-440B-9643-DC6E845F9AD6}" type="slidenum">
              <a:rPr lang="ru-RU" altLang="ru-RU">
                <a:latin typeface="Calibri" panose="020F0502020204030204" pitchFamily="34" charset="0"/>
              </a:rPr>
              <a:pPr eaLnBrk="1" hangingPunct="1"/>
              <a:t>32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C467B831-766A-69BA-BF27-7C6830019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E5B2BA8-39DD-266C-3DEC-AE8DE46A6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8E2AEC7E-C0D1-8A7E-AAB9-C516A12138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A0C5AB1-63A9-463A-88BD-3FD980A16308}" type="slidenum">
              <a:rPr lang="ru-RU" altLang="ru-RU">
                <a:latin typeface="Calibri" panose="020F0502020204030204" pitchFamily="34" charset="0"/>
              </a:rPr>
              <a:pPr eaLnBrk="1" hangingPunct="1"/>
              <a:t>33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2052614D-8079-1A62-7813-D30C101176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A8BB708A-2AD5-ECDF-FBE4-4EA597F88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6B156C2D-6120-364A-3586-B834BFAE5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5E4D20B-64D3-444D-A843-2106986FD19F}" type="slidenum">
              <a:rPr lang="ru-RU" altLang="ru-RU">
                <a:latin typeface="Calibri" panose="020F0502020204030204" pitchFamily="34" charset="0"/>
              </a:rPr>
              <a:pPr eaLnBrk="1" hangingPunct="1"/>
              <a:t>34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6FBE230E-B4D2-495F-5272-7D30038E56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769716B-26FC-01A4-311D-DB4C4DBCE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61D661B2-028F-BCD5-001D-8D96A4232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CEBAC1-2FC3-4951-9C80-8A0806BE0795}" type="slidenum">
              <a:rPr lang="ru-RU" altLang="ru-RU">
                <a:latin typeface="Calibri" panose="020F0502020204030204" pitchFamily="34" charset="0"/>
              </a:rPr>
              <a:pPr eaLnBrk="1" hangingPunct="1"/>
              <a:t>35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B464F8DC-6DC9-8FA9-7A64-E376E08F1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C4B0BBAE-554E-74DD-F29D-94EA464C6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5ED937F7-A4E1-BF42-1411-71F72EE6EA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E5098E1-29D2-486F-B428-7E7E56DB8CC3}" type="slidenum">
              <a:rPr lang="ru-RU" altLang="ru-RU">
                <a:latin typeface="Calibri" panose="020F0502020204030204" pitchFamily="34" charset="0"/>
              </a:rPr>
              <a:pPr eaLnBrk="1" hangingPunct="1"/>
              <a:t>36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40053D0B-BF29-5E86-125B-BBDDB36C14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184D918-A998-7DC5-5E68-F87817B9CA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5ED300C1-8EC1-4984-11AE-8DF2B1E1B5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637D6E-76AA-47A6-804B-A61CDC4FA6F2}" type="slidenum">
              <a:rPr lang="ru-RU" altLang="ru-RU">
                <a:latin typeface="Calibri" panose="020F0502020204030204" pitchFamily="34" charset="0"/>
              </a:rPr>
              <a:pPr eaLnBrk="1" hangingPunct="1"/>
              <a:t>37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469E4128-D571-DBE7-DC68-FDA147A8B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4B1E0FF2-1B8A-A6DD-A746-056214896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7198B6D6-49FD-413A-ACF8-510588DC2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E790D64-A246-4C08-9743-841340FC44B0}" type="slidenum">
              <a:rPr lang="ru-RU" altLang="ru-RU">
                <a:latin typeface="Calibri" panose="020F0502020204030204" pitchFamily="34" charset="0"/>
              </a:rPr>
              <a:pPr eaLnBrk="1" hangingPunct="1"/>
              <a:t>38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56A6BEF5-D5AD-9B0A-2034-4E0EBB4AA0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F94DB69B-4F3B-424E-8FC2-9BD1CF017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6A787E45-4819-8024-CEFE-E21988620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A8644D3-09D7-428C-8A40-353A81D81DEF}" type="slidenum">
              <a:rPr lang="ru-RU" altLang="ru-RU">
                <a:latin typeface="Calibri" panose="020F0502020204030204" pitchFamily="34" charset="0"/>
              </a:rPr>
              <a:pPr eaLnBrk="1" hangingPunct="1"/>
              <a:t>39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7E160270-DEC2-20F9-4359-8DA3EB5082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8C9DD0D6-23BF-1A3A-D728-4068AA931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90D9402E-4C37-07C0-5139-AF5891F8F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6F12FE-A817-468C-A182-32D0E0C33A26}" type="slidenum">
              <a:rPr lang="ru-RU" altLang="ru-RU">
                <a:latin typeface="Calibri" panose="020F0502020204030204" pitchFamily="34" charset="0"/>
              </a:rPr>
              <a:pPr eaLnBrk="1" hangingPunct="1"/>
              <a:t>40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D1936ABF-020D-E914-CF74-8B7282800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1C91513-CA38-017C-865D-0C7CFB0BA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21A344F4-DDEA-35B0-D0D0-AD98386F66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B7E53F9-ADFA-432C-BFC8-BC8D7AB9B124}" type="slidenum">
              <a:rPr lang="ru-RU" altLang="ru-RU">
                <a:latin typeface="Calibri" panose="020F0502020204030204" pitchFamily="34" charset="0"/>
              </a:rPr>
              <a:pPr eaLnBrk="1" hangingPunct="1"/>
              <a:t>41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7A61F882-FFCA-971F-C101-E9E1DB8955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9745383F-13E4-9E58-5C48-B2473943F6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1F62E824-EA62-1CC5-25CF-4797EC8BE8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AD51249-3D57-4656-BCCF-CEEE366CA098}" type="slidenum">
              <a:rPr lang="ru-RU" altLang="ru-RU">
                <a:latin typeface="Calibri" panose="020F0502020204030204" pitchFamily="34" charset="0"/>
              </a:rPr>
              <a:pPr eaLnBrk="1" hangingPunct="1"/>
              <a:t>42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C5AC540E-024E-756C-BBF3-3229C62668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42EACDF0-19F6-8B68-20EA-3A77B7DAA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D29CCEDF-7F9E-E659-E163-7345EDD0AE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2FBB36-D36B-4A7A-8C6C-0C537FE2CAA4}" type="slidenum">
              <a:rPr lang="ru-RU" altLang="ru-RU">
                <a:latin typeface="Calibri" panose="020F0502020204030204" pitchFamily="34" charset="0"/>
              </a:rPr>
              <a:pPr eaLnBrk="1" hangingPunct="1"/>
              <a:t>43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B750A816-5721-9D96-10A6-C754AE661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5C0122D9-D265-8B95-2BCE-26076FC27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ECC35F58-D94F-CF09-792F-14D23C4846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EC3326A-32EA-425E-AB9A-110B03394C34}" type="slidenum">
              <a:rPr lang="ru-RU" altLang="ru-RU">
                <a:latin typeface="Calibri" panose="020F0502020204030204" pitchFamily="34" charset="0"/>
              </a:rPr>
              <a:pPr eaLnBrk="1" hangingPunct="1"/>
              <a:t>44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8326423D-DEF3-4F45-BD0E-2A827F5D10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CF731406-ABBF-D3BB-4F15-CDD322FBC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0A4544FA-CF22-3F36-66E6-187EB7C86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2F175D8-70A1-4BBE-ADEC-5251C28AE1C3}" type="slidenum">
              <a:rPr lang="ru-RU" altLang="ru-RU">
                <a:latin typeface="Calibri" panose="020F0502020204030204" pitchFamily="34" charset="0"/>
              </a:rPr>
              <a:pPr eaLnBrk="1" hangingPunct="1"/>
              <a:t>45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1CD4867F-DA58-CE80-2542-AB339B066F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141C99B5-610D-85A9-14B0-55EA359A7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6EDDA351-1630-7A01-7772-753BE4E81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10402AB-CD7F-447A-A5D4-FF19797F313D}" type="slidenum">
              <a:rPr lang="ru-RU" altLang="ru-RU">
                <a:latin typeface="Calibri" panose="020F0502020204030204" pitchFamily="34" charset="0"/>
              </a:rPr>
              <a:pPr eaLnBrk="1" hangingPunct="1"/>
              <a:t>46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14EC811A-AFEE-757C-074C-5A31144A2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0AA6B050-9736-28B8-E694-2C8EC0E4D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7C05A743-3FEC-0D9C-4A0F-47101D572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904FE90-C652-4DC2-8F3E-DEFCA0C5DC1A}" type="slidenum">
              <a:rPr lang="ru-RU" altLang="ru-RU">
                <a:latin typeface="Calibri" panose="020F0502020204030204" pitchFamily="34" charset="0"/>
              </a:rPr>
              <a:pPr eaLnBrk="1" hangingPunct="1"/>
              <a:t>47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0E9796DA-D96C-647E-587D-B5121690EA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90C26222-1EB4-81AC-CC28-C9FEE5E95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85523B65-79DA-6F5B-8B8A-CC3AAB2C81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80DF486-E4D0-4801-9C84-6F18CEB71F77}" type="slidenum">
              <a:rPr lang="ru-RU" altLang="ru-RU">
                <a:latin typeface="Calibri" panose="020F0502020204030204" pitchFamily="34" charset="0"/>
              </a:rPr>
              <a:pPr eaLnBrk="1" hangingPunct="1"/>
              <a:t>48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ACC09618-D018-67BD-5522-58A3059AE9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BC738AAC-9A0D-DBF4-0E82-77DAE7ABA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3834FA54-22E1-E696-CD55-5923FDCA9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4690CE5-E757-4EFA-B04B-E2CC432F7838}" type="slidenum">
              <a:rPr lang="ru-RU" altLang="ru-RU">
                <a:latin typeface="Calibri" panose="020F0502020204030204" pitchFamily="34" charset="0"/>
              </a:rPr>
              <a:pPr eaLnBrk="1" hangingPunct="1"/>
              <a:t>49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49A5DD7-0AAE-9E33-C552-B211E189AE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445ABA76-BB0A-912D-4068-106517807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7E4F01B5-1855-F224-8502-18E8F59392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2E1F2A-B6D8-4FD4-924B-AF22E380EDD4}" type="slidenum">
              <a:rPr lang="ru-RU" altLang="ru-RU">
                <a:latin typeface="Calibri" panose="020F0502020204030204" pitchFamily="34" charset="0"/>
              </a:rPr>
              <a:pPr eaLnBrk="1" hangingPunct="1"/>
              <a:t>50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1DEA87E9-8479-0A31-78BE-0838EBF9A6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C09ADC59-E54A-BC49-53AB-3FD3036A5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583A55FB-F2B9-51DB-F078-33A53434C9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89942CB-DF50-454A-9031-8D928F9E02B0}" type="slidenum">
              <a:rPr lang="ru-RU" altLang="ru-RU">
                <a:latin typeface="Calibri" panose="020F0502020204030204" pitchFamily="34" charset="0"/>
              </a:rPr>
              <a:pPr eaLnBrk="1" hangingPunct="1"/>
              <a:t>51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B5C687B2-D06E-D996-FAA7-BB78FE325C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886C419F-CA03-889F-1F5F-DDBDD08C2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FB9CF74B-7EFF-2378-0794-D653EE3DF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77943A-A939-4D87-B924-16B400655F2C}" type="slidenum">
              <a:rPr lang="ru-RU" altLang="ru-RU">
                <a:latin typeface="Calibri" panose="020F0502020204030204" pitchFamily="34" charset="0"/>
              </a:rPr>
              <a:pPr eaLnBrk="1" hangingPunct="1"/>
              <a:t>52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5B3D2F82-38F7-35E4-FD18-61B632042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7BB41439-F7E4-5657-C023-B5B14AFFA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45F28AA1-5D40-42C6-651B-B56E403EF9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4273EDF-3545-4624-AAB4-41E2D78FBA39}" type="slidenum">
              <a:rPr lang="ru-RU" altLang="ru-RU">
                <a:latin typeface="Calibri" panose="020F0502020204030204" pitchFamily="34" charset="0"/>
              </a:rPr>
              <a:pPr eaLnBrk="1" hangingPunct="1"/>
              <a:t>53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C170D193-3B9E-0CA0-D90E-C9BC0DF320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3B84E825-A020-5626-2F1E-5FC78EB17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6B565E80-F9EC-DE6F-8611-218485E5F8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F33B15A-16A0-468D-835E-EE69895FADC1}" type="slidenum">
              <a:rPr lang="ru-RU" altLang="ru-RU">
                <a:latin typeface="Calibri" panose="020F0502020204030204" pitchFamily="34" charset="0"/>
              </a:rPr>
              <a:pPr eaLnBrk="1" hangingPunct="1"/>
              <a:t>54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553DD6E4-444C-25A7-3884-66F85705D0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76EA04C6-ED72-E06A-7322-563CAFAE8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55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012646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На предыдущих слайдах мы увидели, что GDI — это удобный и универсальный, но достаточно старый графический API. Он проектировался в эпоху, когда аппаратное ускорение графики либо отсутствовало, либо было крайне ограниченным.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Direct2D — это современный 2D-графический API от Microsoft, созданный с учетом возможностей современных видеокарт.</a:t>
            </a:r>
          </a:p>
          <a:p>
            <a:r>
              <a:rPr lang="ru-RU" dirty="0"/>
              <a:t>Первое ключевое отличие — производительность.</a:t>
            </a:r>
            <a:endParaRPr lang="en-US" dirty="0"/>
          </a:p>
          <a:p>
            <a:br>
              <a:rPr lang="ru-RU" dirty="0"/>
            </a:br>
            <a:r>
              <a:rPr lang="ru-RU" dirty="0"/>
              <a:t>Direct2D использует аппаратное ускорение через Direct3D. Это означает, что большая часть работы по отрисовке — геометрия, заливки, сглаживание, трансформации — выполняется на GPU, а не на центральном процессоре. В результате мы получаем значительно более высокую скорость, особенно при анимации, масштабировании и работе с большим количеством объектов.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Второе важное отличие — качество изображения.</a:t>
            </a:r>
            <a:br>
              <a:rPr lang="ru-RU" dirty="0"/>
            </a:br>
            <a:r>
              <a:rPr lang="ru-RU" dirty="0"/>
              <a:t>В отличие от классического GDI, Direct2D изначально поддерживает сглаживание примитивов, прозрачность, альфа-композицию и современные графические эффекты.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Третья особенность — архитектура.</a:t>
            </a:r>
            <a:br>
              <a:rPr lang="ru-RU" dirty="0"/>
            </a:br>
            <a:r>
              <a:rPr lang="ru-RU" dirty="0"/>
              <a:t>Direct2D основан на технологии COM — </a:t>
            </a:r>
            <a:r>
              <a:rPr lang="ru-RU" dirty="0" err="1"/>
              <a:t>Component</a:t>
            </a:r>
            <a:r>
              <a:rPr lang="ru-RU" dirty="0"/>
              <a:t> Object Model. Это означает, что он построен вокруг интерфейсов, управления временем жизни через счётчики ссылок и фабрик объектов.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программиста это означает:</a:t>
            </a:r>
          </a:p>
          <a:p>
            <a:r>
              <a:rPr lang="ru-RU" dirty="0"/>
              <a:t>работа через интерфейсы, такие как ID2D1Factory и ID2D1RenderTarget;</a:t>
            </a:r>
          </a:p>
          <a:p>
            <a:r>
              <a:rPr lang="ru-RU" dirty="0"/>
              <a:t>управление ресурсами через </a:t>
            </a:r>
            <a:r>
              <a:rPr lang="ru-RU" dirty="0" err="1"/>
              <a:t>AddRef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 или умные COM-указатели;</a:t>
            </a:r>
          </a:p>
          <a:p>
            <a:r>
              <a:rPr lang="ru-RU" dirty="0"/>
              <a:t>явное создание и уничтожение графических ресурсов.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Direct2D — это современная, аппаратно-ускоренная альтернатива GDI для создания быстрых и качественных 2D-приложений в Windows.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56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793164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Работа с Direct2D всегда начинается с создания специального объекта — </a:t>
            </a:r>
            <a:r>
              <a:rPr lang="ru-RU" b="1" dirty="0"/>
              <a:t>Direct2D Factory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Factory — это центральный объект библиотеки Direct2D.</a:t>
            </a:r>
            <a:br>
              <a:rPr lang="ru-RU" dirty="0"/>
            </a:br>
            <a:r>
              <a:rPr lang="ru-RU" dirty="0"/>
              <a:t>Фактически это «фабрика», которая отвечает за создание остальных ресурсов Direct2D.</a:t>
            </a:r>
          </a:p>
          <a:p>
            <a:r>
              <a:rPr lang="ru-RU" dirty="0"/>
              <a:t>Через неё создаются:</a:t>
            </a:r>
          </a:p>
          <a:p>
            <a:r>
              <a:rPr lang="ru-RU" dirty="0" err="1"/>
              <a:t>Render</a:t>
            </a:r>
            <a:r>
              <a:rPr lang="ru-RU" dirty="0"/>
              <a:t> Target — цель рисования,</a:t>
            </a:r>
          </a:p>
          <a:p>
            <a:r>
              <a:rPr lang="ru-RU" dirty="0"/>
              <a:t>геометрические объекты,</a:t>
            </a:r>
          </a:p>
          <a:p>
            <a:r>
              <a:rPr lang="ru-RU" dirty="0"/>
              <a:t>некоторые общие ресурсы библиотеки.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понимать: </a:t>
            </a:r>
            <a:r>
              <a:rPr lang="ru-RU" b="1" dirty="0"/>
              <a:t>Factory — это не объект для рисования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Она сама ничего не отображает на экран.</a:t>
            </a:r>
            <a:br>
              <a:rPr lang="ru-RU" dirty="0"/>
            </a:br>
            <a:r>
              <a:rPr lang="ru-RU" dirty="0"/>
              <a:t>Её задача — создавать другие объекты и управлять инфраструктурой Direct2D.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Создаётся фабрика функцией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D2D1CreateFactory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Она возвращает интерфейс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r>
              <a:rPr lang="ru-RU" dirty="0"/>
              <a:t>, который является COM-интерфейсом.</a:t>
            </a:r>
          </a:p>
          <a:p>
            <a:r>
              <a:rPr lang="ru-RU" dirty="0"/>
              <a:t>У функции есть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D2D1_FACTORY_TYPE</a:t>
            </a:r>
            <a:r>
              <a:rPr lang="ru-RU" dirty="0"/>
              <a:t>, который определяет модель потоков: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D2D1_FACTORY_TYPE_SINGLE_THREADED</a:t>
            </a:r>
            <a:r>
              <a:rPr lang="ru-RU" dirty="0"/>
              <a:t> — фабрика предназначена для использования из одного потока. Это быстрее и используется в большинстве GUI-приложений.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D2D1_FACTORY_TYPE_MULTI_THREADED</a:t>
            </a:r>
            <a:r>
              <a:rPr lang="ru-RU" dirty="0"/>
              <a:t> — позволяет безопасно работать с Direct2D из нескольких потоков, но добавляет внутреннюю синхронизацию.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D2D1_FACTORY_TYPE_FORCE_DWORD</a:t>
            </a:r>
            <a:r>
              <a:rPr lang="ru-RU" dirty="0"/>
              <a:t> — служебное значение.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Обычно в оконных приложениях создаётся одна фабрика на всё приложение, и она живёт столько же, сколько и само приложение.</a:t>
            </a:r>
          </a:p>
          <a:p>
            <a:r>
              <a:rPr lang="ru-RU" dirty="0"/>
              <a:t>Таким образом, инициализация Direct2D начинается с создания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r>
              <a:rPr lang="ru-RU" dirty="0"/>
              <a:t>, которая становится отправной точкой для создания всех остальных графических ресурсов.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57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785921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Сейчас вы впервые видите код, работающий с COM-объектом.</a:t>
            </a:r>
            <a:br>
              <a:rPr lang="ru-RU" dirty="0"/>
            </a:br>
            <a:r>
              <a:rPr lang="ru-RU" dirty="0"/>
              <a:t>Не пугайтесь — разберём всё по шагам.</a:t>
            </a:r>
          </a:p>
          <a:p>
            <a:r>
              <a:rPr lang="ru-RU" dirty="0"/>
              <a:t>Мы создаём фабрику Direct2D в конструкторе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CView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D2D1CreateFactory(D2D1_FACTORY_TYPE_SINGLE_THREADED, &amp;m_d2dFactory)</a:t>
            </a:r>
          </a:p>
          <a:p>
            <a:r>
              <a:rPr lang="ru-RU" dirty="0"/>
              <a:t>Эта функция возвращает объект через второй параметр — указатель на интерфейс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внимание: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m_d2dFactory</a:t>
            </a:r>
            <a:r>
              <a:rPr lang="ru-RU" dirty="0"/>
              <a:t> — это не обычный указатель. Это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&lt;ID2D1Factory&gt;</a:t>
            </a:r>
            <a:r>
              <a:rPr lang="ru-RU" dirty="0"/>
              <a:t>.</a:t>
            </a:r>
          </a:p>
          <a:p>
            <a:r>
              <a:rPr lang="ru-RU" dirty="0"/>
              <a:t>Что это значит?</a:t>
            </a:r>
          </a:p>
          <a:p>
            <a:r>
              <a:rPr lang="ru-RU" dirty="0"/>
              <a:t>Direct2D основан на технологии </a:t>
            </a:r>
            <a:r>
              <a:rPr lang="ru-RU" b="1" dirty="0"/>
              <a:t>COM — </a:t>
            </a:r>
            <a:r>
              <a:rPr lang="ru-RU" b="1" dirty="0" err="1"/>
              <a:t>Component</a:t>
            </a:r>
            <a:r>
              <a:rPr lang="ru-RU" b="1" dirty="0"/>
              <a:t> Object Model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COM — это стандарт Microsoft для создания бинарно-совместимых компонентов.</a:t>
            </a:r>
          </a:p>
          <a:p>
            <a:r>
              <a:rPr lang="ru-RU" dirty="0"/>
              <a:t>Главная идея COM:</a:t>
            </a:r>
          </a:p>
          <a:p>
            <a:r>
              <a:rPr lang="ru-RU" dirty="0"/>
              <a:t>мы работаем не с классами напрямую,</a:t>
            </a:r>
          </a:p>
          <a:p>
            <a:r>
              <a:rPr lang="ru-RU" dirty="0"/>
              <a:t>а через </a:t>
            </a:r>
            <a:r>
              <a:rPr lang="ru-RU" b="1" dirty="0"/>
              <a:t>интерфейсы</a:t>
            </a:r>
            <a:r>
              <a:rPr lang="ru-RU" dirty="0"/>
              <a:t>,</a:t>
            </a:r>
          </a:p>
          <a:p>
            <a:r>
              <a:rPr lang="ru-RU" dirty="0"/>
              <a:t>и управляем временем жизни объекта вручную через счётчик ссылок.</a:t>
            </a:r>
          </a:p>
          <a:p>
            <a:r>
              <a:rPr lang="ru-RU" dirty="0"/>
              <a:t>Чтобы программисту не приходилось вручную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используется умный указатель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dirty="0"/>
              <a:t>:</a:t>
            </a:r>
          </a:p>
          <a:p>
            <a:r>
              <a:rPr lang="ru-RU" dirty="0"/>
              <a:t>автоматически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dirty="0"/>
              <a:t> при копировании,</a:t>
            </a:r>
          </a:p>
          <a:p>
            <a:r>
              <a:rPr lang="ru-RU" dirty="0"/>
              <a:t>автоматически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 в деструкторе,</a:t>
            </a:r>
          </a:p>
          <a:p>
            <a:r>
              <a:rPr lang="ru-RU" dirty="0"/>
              <a:t>защищает нас от утечек памяти.</a:t>
            </a:r>
          </a:p>
          <a:p>
            <a:r>
              <a:rPr lang="ru-RU" dirty="0"/>
              <a:t>То есть здесь мы создаём фабрику и сохраняем её в безопасном COM-указателе.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58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8287971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Теперь разберём вторую часть — загадочные макросы.</a:t>
            </a:r>
          </a:p>
          <a:p>
            <a:r>
              <a:rPr lang="ru-RU" dirty="0"/>
              <a:t>В мире COM почти каждая функция возвращает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HRESULT</a:t>
            </a:r>
            <a:r>
              <a:rPr lang="ru-RU" dirty="0"/>
              <a:t>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HRESULT;</a:t>
            </a:r>
          </a:p>
          <a:p>
            <a:r>
              <a:rPr lang="ru-RU" dirty="0"/>
              <a:t>Это просто целое число, которое кодирует:</a:t>
            </a:r>
          </a:p>
          <a:p>
            <a:r>
              <a:rPr lang="ru-RU" dirty="0"/>
              <a:t>успешное выполнение</a:t>
            </a:r>
          </a:p>
          <a:p>
            <a:r>
              <a:rPr lang="ru-RU" dirty="0"/>
              <a:t>либо ошибку</a:t>
            </a:r>
          </a:p>
          <a:p>
            <a:r>
              <a:rPr lang="ru-RU" dirty="0"/>
              <a:t>Проверка выполняется макросами: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SUCCEEDED(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FAILED(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Если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HRESULT</a:t>
            </a:r>
            <a:r>
              <a:rPr lang="ru-RU" dirty="0"/>
              <a:t> ≥ 0 — операция успешна.</a:t>
            </a:r>
            <a:br>
              <a:rPr lang="ru-RU" dirty="0"/>
            </a:br>
            <a:r>
              <a:rPr lang="ru-RU" dirty="0"/>
              <a:t>Если &lt; 0 — произошла ошибка.</a:t>
            </a:r>
          </a:p>
          <a:p>
            <a:r>
              <a:rPr lang="ru-RU" dirty="0"/>
              <a:t>В нашем коде используется макрос: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ATLENSURE_SUCCEEDED(...)</a:t>
            </a:r>
          </a:p>
          <a:p>
            <a:r>
              <a:rPr lang="ru-RU" dirty="0"/>
              <a:t>Что он делает?</a:t>
            </a:r>
          </a:p>
          <a:p>
            <a:r>
              <a:rPr lang="ru-RU" dirty="0"/>
              <a:t>Вызывает функцию.</a:t>
            </a:r>
          </a:p>
          <a:p>
            <a:r>
              <a:rPr lang="ru-RU" dirty="0"/>
              <a:t>Проверяет результат.</a:t>
            </a:r>
          </a:p>
          <a:p>
            <a:r>
              <a:rPr lang="ru-RU" dirty="0"/>
              <a:t>Если произошла ошибка — выбрасывает исключение.</a:t>
            </a:r>
          </a:p>
          <a:p>
            <a:r>
              <a:rPr lang="ru-RU" dirty="0"/>
              <a:t>То есть вместо ручной проверки: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HRESULT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D2D1CreateFactory(...);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(FAILED(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)) {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// обработка ошибки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ru-RU" dirty="0"/>
              <a:t>мы используем более компактный и современный вариант.</a:t>
            </a:r>
          </a:p>
          <a:p>
            <a:r>
              <a:rPr lang="ru-RU" dirty="0"/>
              <a:t>Фактически:</a:t>
            </a:r>
          </a:p>
          <a:p>
            <a:r>
              <a:rPr lang="ru-RU" dirty="0"/>
              <a:t>COM-функции возвращают код ошибки,</a:t>
            </a:r>
          </a:p>
          <a:p>
            <a:r>
              <a:rPr lang="ru-RU" dirty="0"/>
              <a:t>ATL упрощает обработку этих кодов,</a:t>
            </a:r>
          </a:p>
          <a:p>
            <a:r>
              <a:rPr lang="ru-RU" dirty="0"/>
              <a:t>при ошибке выбрасывается исключение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CAtlException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59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3875794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Теперь мы подошли к самому фундаменту всей технологии COM — интерфейсу </a:t>
            </a:r>
            <a:r>
              <a:rPr lang="ru-RU" b="1" dirty="0" err="1"/>
              <a:t>IUnknown</a:t>
            </a:r>
            <a:r>
              <a:rPr lang="ru-RU" dirty="0"/>
              <a:t>.</a:t>
            </a:r>
          </a:p>
          <a:p>
            <a:r>
              <a:rPr lang="ru-RU" dirty="0" err="1"/>
              <a:t>IUnknown</a:t>
            </a:r>
            <a:r>
              <a:rPr lang="ru-RU" dirty="0"/>
              <a:t> — это базовый интерфейс, от которого наследуются абсолютно все COM-интерфейсы.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r>
              <a:rPr lang="ru-RU" dirty="0"/>
              <a:t> напрямую наследуется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IUnknown</a:t>
            </a:r>
            <a:r>
              <a:rPr lang="ru-RU" dirty="0"/>
              <a:t>.</a:t>
            </a:r>
          </a:p>
          <a:p>
            <a:r>
              <a:rPr lang="ru-RU" dirty="0"/>
              <a:t>То есть любой COM-объект в Windows гарантированно поддерживает три метода: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QueryInterface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endParaRPr lang="ru-RU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endParaRPr lang="ru-RU" dirty="0"/>
          </a:p>
          <a:p>
            <a:r>
              <a:rPr lang="ru-RU" dirty="0"/>
              <a:t>Разберём, зачем они нужны.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1️⃣ </a:t>
            </a:r>
            <a:r>
              <a:rPr lang="ru-RU" b="1" dirty="0" err="1"/>
              <a:t>AddRef</a:t>
            </a:r>
            <a:r>
              <a:rPr lang="ru-RU" b="1" dirty="0"/>
              <a:t> и </a:t>
            </a:r>
            <a:r>
              <a:rPr lang="ru-RU" b="1" dirty="0" err="1"/>
              <a:t>Release</a:t>
            </a:r>
            <a:r>
              <a:rPr lang="ru-RU" b="1" dirty="0"/>
              <a:t> — управление временем жизни</a:t>
            </a:r>
          </a:p>
          <a:p>
            <a:r>
              <a:rPr lang="ru-RU" dirty="0"/>
              <a:t>COM использует механизм </a:t>
            </a:r>
            <a:r>
              <a:rPr lang="ru-RU" b="1" dirty="0"/>
              <a:t>подсчёта ссылок</a:t>
            </a:r>
            <a:r>
              <a:rPr lang="ru-RU" dirty="0"/>
              <a:t>.</a:t>
            </a:r>
          </a:p>
          <a:p>
            <a:r>
              <a:rPr lang="ru-RU" dirty="0"/>
              <a:t>Каждый объект хранит внутри себя счётчик — сколько активных ссылок на него существует.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увеличивает счётчик.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уменьшает счётчик.</a:t>
            </a:r>
          </a:p>
          <a:p>
            <a:r>
              <a:rPr lang="ru-RU" dirty="0"/>
              <a:t>Когда счётчик становится равным нулю — объект автоматически удаляет себя из памяти.</a:t>
            </a:r>
          </a:p>
          <a:p>
            <a:r>
              <a:rPr lang="ru-RU" dirty="0"/>
              <a:t>Это означает:</a:t>
            </a:r>
          </a:p>
          <a:p>
            <a:r>
              <a:rPr lang="ru-RU" dirty="0"/>
              <a:t>Объект живёт ровно столько, сколько на него есть ссылки.</a:t>
            </a:r>
          </a:p>
          <a:p>
            <a:r>
              <a:rPr lang="ru-RU" dirty="0"/>
              <a:t>Именно поэтому мы используем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dirty="0"/>
              <a:t> — он автоматически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чтобы мы не забыли это сделать вручную.</a:t>
            </a:r>
          </a:p>
          <a:p>
            <a:r>
              <a:rPr lang="ru-RU" dirty="0"/>
              <a:t>Если забыть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будет утечка памяти.</a:t>
            </a:r>
            <a:br>
              <a:rPr lang="ru-RU" dirty="0"/>
            </a:br>
            <a:r>
              <a:rPr lang="ru-RU" dirty="0"/>
              <a:t>Если вызвать лишний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, объект может удалиться слишком рано — и программа упадёт.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2️⃣ </a:t>
            </a:r>
            <a:r>
              <a:rPr lang="ru-RU" b="1" dirty="0" err="1"/>
              <a:t>QueryInterface</a:t>
            </a:r>
            <a:r>
              <a:rPr lang="ru-RU" b="1" dirty="0"/>
              <a:t> — механизм полиморфизма COM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QueryInterface</a:t>
            </a:r>
            <a:r>
              <a:rPr lang="ru-RU" dirty="0"/>
              <a:t> позволяет запросить у объекта другой интерфейс.</a:t>
            </a:r>
          </a:p>
          <a:p>
            <a:r>
              <a:rPr lang="ru-RU" dirty="0"/>
              <a:t>Почему это нужно?</a:t>
            </a:r>
          </a:p>
          <a:p>
            <a:r>
              <a:rPr lang="ru-RU" dirty="0"/>
              <a:t>В COM один и тот же объект может реализовывать несколько интерфейсов.</a:t>
            </a:r>
            <a:br>
              <a:rPr lang="ru-RU" dirty="0"/>
            </a:br>
            <a:r>
              <a:rPr lang="ru-RU" dirty="0"/>
              <a:t>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QueryInterface</a:t>
            </a:r>
            <a:r>
              <a:rPr lang="ru-RU" dirty="0"/>
              <a:t> мы спрашиваем:</a:t>
            </a:r>
          </a:p>
          <a:p>
            <a:r>
              <a:rPr lang="ru-RU" dirty="0"/>
              <a:t>«Поддерживаешь ли ты вот такой интерфейс? Если да — дай мне указатель на него».</a:t>
            </a:r>
          </a:p>
          <a:p>
            <a:r>
              <a:rPr lang="ru-RU" dirty="0"/>
              <a:t>Если интерфейс поддерживается — возвращается указатель и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нет — возвращается ошибка.</a:t>
            </a:r>
          </a:p>
          <a:p>
            <a:r>
              <a:rPr lang="ru-RU" dirty="0"/>
              <a:t>Таким образом COM реализует интерфейсный полиморфизм на бинарном уровне.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Важная идея</a:t>
            </a:r>
          </a:p>
          <a:p>
            <a:r>
              <a:rPr lang="ru-RU" dirty="0"/>
              <a:t>COM — это не про классы.</a:t>
            </a:r>
            <a:br>
              <a:rPr lang="ru-RU" dirty="0"/>
            </a:br>
            <a:r>
              <a:rPr lang="ru-RU" dirty="0"/>
              <a:t>COM — это про </a:t>
            </a:r>
            <a:r>
              <a:rPr lang="ru-RU" b="1" dirty="0"/>
              <a:t>контракты в виде интерфейсов</a:t>
            </a:r>
            <a:r>
              <a:rPr lang="ru-RU" dirty="0"/>
              <a:t>.</a:t>
            </a:r>
          </a:p>
          <a:p>
            <a:r>
              <a:rPr lang="ru-RU" dirty="0"/>
              <a:t>Мы:</a:t>
            </a:r>
          </a:p>
          <a:p>
            <a:r>
              <a:rPr lang="ru-RU" dirty="0"/>
              <a:t>не знаем реального класса объекта,</a:t>
            </a:r>
          </a:p>
          <a:p>
            <a:r>
              <a:rPr lang="ru-RU" dirty="0"/>
              <a:t>не управляем его удалением напрямую,</a:t>
            </a:r>
          </a:p>
          <a:p>
            <a:r>
              <a:rPr lang="ru-RU" dirty="0"/>
              <a:t>работаем только через указатели на интерфейсы.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Связь с Direct2D</a:t>
            </a:r>
          </a:p>
          <a:p>
            <a:r>
              <a:rPr lang="ru-RU" dirty="0"/>
              <a:t>Когда мы пишем: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&lt;ID2D1Factory&gt;</a:t>
            </a:r>
          </a:p>
          <a:p>
            <a:r>
              <a:rPr lang="ru-RU" dirty="0"/>
              <a:t>мы храним указатель именно на интерфейс.</a:t>
            </a:r>
            <a:br>
              <a:rPr lang="ru-RU" dirty="0"/>
            </a:br>
            <a:r>
              <a:rPr lang="ru-RU" dirty="0"/>
              <a:t>Под капотом это COM-объект, который управляется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IUnknown</a:t>
            </a:r>
            <a:r>
              <a:rPr lang="ru-RU" dirty="0"/>
              <a:t>.</a:t>
            </a:r>
          </a:p>
          <a:p>
            <a:r>
              <a:rPr lang="ru-RU" dirty="0"/>
              <a:t>Именно поэтому понимание </a:t>
            </a:r>
            <a:r>
              <a:rPr lang="ru-RU" dirty="0" err="1"/>
              <a:t>IUnknown</a:t>
            </a:r>
            <a:r>
              <a:rPr lang="ru-RU" dirty="0"/>
              <a:t> — ключ к пониманию всей архитектуры Direct2D и вообще современных API Windows.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Если кратко:</a:t>
            </a:r>
          </a:p>
          <a:p>
            <a:r>
              <a:rPr lang="ru-RU" dirty="0" err="1"/>
              <a:t>IUnknown</a:t>
            </a:r>
            <a:r>
              <a:rPr lang="ru-RU" dirty="0"/>
              <a:t> обеспечивает:</a:t>
            </a:r>
          </a:p>
          <a:p>
            <a:r>
              <a:rPr lang="ru-RU" dirty="0"/>
              <a:t>управление временем жизни (</a:t>
            </a:r>
            <a:r>
              <a:rPr lang="ru-RU" dirty="0" err="1"/>
              <a:t>AddRef</a:t>
            </a:r>
            <a:r>
              <a:rPr lang="ru-RU" dirty="0"/>
              <a:t>/</a:t>
            </a:r>
            <a:r>
              <a:rPr lang="ru-RU" dirty="0" err="1"/>
              <a:t>Release</a:t>
            </a:r>
            <a:r>
              <a:rPr lang="ru-RU" dirty="0"/>
              <a:t>),</a:t>
            </a:r>
          </a:p>
          <a:p>
            <a:r>
              <a:rPr lang="ru-RU" dirty="0"/>
              <a:t>безопасное расширение интерфейсов (</a:t>
            </a:r>
            <a:r>
              <a:rPr lang="ru-RU" dirty="0" err="1"/>
              <a:t>QueryInterface</a:t>
            </a:r>
            <a:r>
              <a:rPr lang="ru-RU" dirty="0"/>
              <a:t>),</a:t>
            </a:r>
          </a:p>
          <a:p>
            <a:r>
              <a:rPr lang="ru-RU" dirty="0"/>
              <a:t>бинарную совместимость компонентов.</a:t>
            </a:r>
          </a:p>
          <a:p>
            <a:r>
              <a:rPr lang="ru-RU" dirty="0"/>
              <a:t>Это фундамент всей COM-модели.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663993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dirty="0"/>
              <a:t>Мы уже увидели, что COM-объекты управляют своим временем жизни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r>
              <a:rPr lang="ru-RU" dirty="0"/>
              <a:t>Проблема в том, что если работать с «сырыми» указателями, программист обязан вручную:</a:t>
            </a:r>
          </a:p>
          <a:p>
            <a:r>
              <a:rPr lang="ru-RU" dirty="0"/>
              <a:t>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при копировании указателя,</a:t>
            </a:r>
          </a:p>
          <a:p>
            <a:r>
              <a:rPr lang="ru-RU" dirty="0"/>
              <a:t>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при завершении работы,</a:t>
            </a:r>
          </a:p>
          <a:p>
            <a:r>
              <a:rPr lang="ru-RU" dirty="0"/>
              <a:t>следить, чтобы не было ни утечек, ни преждевременного удаления объекта.</a:t>
            </a:r>
          </a:p>
          <a:p>
            <a:r>
              <a:rPr lang="ru-RU" dirty="0"/>
              <a:t>На практике это приводит к ошибкам.</a:t>
            </a:r>
          </a:p>
          <a:p>
            <a:r>
              <a:rPr lang="ru-RU" dirty="0"/>
              <a:t>Чтобы избежать этого, используются </a:t>
            </a:r>
            <a:r>
              <a:rPr lang="ru-RU" b="1" dirty="0"/>
              <a:t>умные указатели для COM</a:t>
            </a:r>
            <a:r>
              <a:rPr lang="ru-RU" dirty="0"/>
              <a:t>.</a:t>
            </a:r>
          </a:p>
          <a:p>
            <a:r>
              <a:rPr lang="ru-RU" dirty="0"/>
              <a:t>В ATL такими указателями являются: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endParaRPr lang="ru-RU" dirty="0"/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CComQIPtr</a:t>
            </a:r>
            <a:endParaRPr lang="ru-RU" dirty="0"/>
          </a:p>
          <a:p>
            <a:br>
              <a:rPr lang="ru-RU" dirty="0"/>
            </a:br>
            <a:endParaRPr lang="ru-RU" dirty="0"/>
          </a:p>
          <a:p>
            <a:r>
              <a:rPr lang="ru-RU" b="1" dirty="0" err="1"/>
              <a:t>CComPtr</a:t>
            </a:r>
            <a:endParaRPr lang="ru-RU" b="1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&lt;T&gt;</a:t>
            </a:r>
            <a:r>
              <a:rPr lang="ru-RU" dirty="0"/>
              <a:t> — это обёртка над указателем на COM-интерфейс.</a:t>
            </a:r>
          </a:p>
          <a:p>
            <a:r>
              <a:rPr lang="ru-RU" dirty="0"/>
              <a:t>Она автоматически:</a:t>
            </a:r>
          </a:p>
          <a:p>
            <a:r>
              <a:rPr lang="ru-RU" dirty="0"/>
              <a:t>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при копировании,</a:t>
            </a:r>
          </a:p>
          <a:p>
            <a:r>
              <a:rPr lang="ru-RU" dirty="0"/>
              <a:t>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 деструкторе,</a:t>
            </a:r>
          </a:p>
          <a:p>
            <a:r>
              <a:rPr lang="ru-RU" dirty="0"/>
              <a:t>освобождает объект при выходе из области видимости.</a:t>
            </a:r>
          </a:p>
          <a:p>
            <a:r>
              <a:rPr lang="ru-RU" dirty="0"/>
              <a:t>Фактически это RAII для COM.</a:t>
            </a:r>
          </a:p>
          <a:p>
            <a:r>
              <a:rPr lang="ru-RU" dirty="0"/>
              <a:t>То есть мы переносим управление временем жизни с программиста на объект-обёртку.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 err="1"/>
              <a:t>CComQIPtr</a:t>
            </a:r>
            <a:endParaRPr lang="ru-RU" b="1" dirty="0"/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CComQIPtr</a:t>
            </a:r>
            <a:r>
              <a:rPr lang="ru-RU" dirty="0"/>
              <a:t> — это расширенная версия, которая автоматически вызывает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QueryInterface</a:t>
            </a:r>
            <a:r>
              <a:rPr lang="ru-RU" dirty="0"/>
              <a:t> при преобразовании к другому интерфейсу.</a:t>
            </a:r>
          </a:p>
          <a:p>
            <a:r>
              <a:rPr lang="ru-RU" dirty="0"/>
              <a:t>Она удобна, когда нужно безопасно получить другой интерфейс у объекта.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Важная ремарка</a:t>
            </a:r>
          </a:p>
          <a:p>
            <a:r>
              <a:rPr lang="ru-RU" dirty="0"/>
              <a:t>Важно понимать: </a:t>
            </a:r>
            <a:r>
              <a:rPr lang="ru-RU" b="1" dirty="0"/>
              <a:t>ATL — это не единственный способ работать с COM в C++</a:t>
            </a:r>
            <a:r>
              <a:rPr lang="ru-RU" dirty="0"/>
              <a:t>.</a:t>
            </a:r>
          </a:p>
          <a:p>
            <a:r>
              <a:rPr lang="ru-RU" dirty="0"/>
              <a:t>Существуют и другие варианты: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Microsoft::WRL::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ComPtr</a:t>
            </a:r>
            <a:r>
              <a:rPr lang="ru-RU" dirty="0"/>
              <a:t> (Windows </a:t>
            </a:r>
            <a:r>
              <a:rPr lang="ru-RU" dirty="0" err="1"/>
              <a:t>Runtime</a:t>
            </a:r>
            <a:r>
              <a:rPr lang="ru-RU" dirty="0"/>
              <a:t> Library),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com_ptr_t</a:t>
            </a:r>
            <a:r>
              <a:rPr lang="ru-RU" dirty="0"/>
              <a:t>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comdef.h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,</a:t>
            </a:r>
          </a:p>
          <a:p>
            <a:r>
              <a:rPr lang="ru-RU" dirty="0"/>
              <a:t>умные указатели из современных библиотек,</a:t>
            </a:r>
          </a:p>
          <a:p>
            <a:r>
              <a:rPr lang="ru-RU" dirty="0"/>
              <a:t>или даже полностью ручное управление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AddRef</a:t>
            </a:r>
            <a:r>
              <a:rPr lang="ru-RU" dirty="0"/>
              <a:t> /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dirty="0"/>
              <a:t>.</a:t>
            </a:r>
          </a:p>
          <a:p>
            <a:r>
              <a:rPr lang="ru-RU" dirty="0"/>
              <a:t>ATL — просто один из удобных и исторически распространённых вариантов, особенно в классических Win32-приложениях.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Главное, что нужно запомнить</a:t>
            </a:r>
          </a:p>
          <a:p>
            <a:r>
              <a:rPr lang="ru-RU" dirty="0"/>
              <a:t>При работе с COM:</a:t>
            </a:r>
          </a:p>
          <a:p>
            <a:r>
              <a:rPr lang="ru-RU" dirty="0"/>
              <a:t>никогда не храните «сырые» указатели без крайней необходимости,</a:t>
            </a:r>
          </a:p>
          <a:p>
            <a:r>
              <a:rPr lang="ru-RU" dirty="0"/>
              <a:t>используйте умные указатели,</a:t>
            </a:r>
          </a:p>
          <a:p>
            <a:r>
              <a:rPr lang="ru-RU" dirty="0"/>
              <a:t>позволяйте RAII управлять временем жизни объектов.</a:t>
            </a:r>
          </a:p>
          <a:p>
            <a:r>
              <a:rPr lang="ru-RU" dirty="0"/>
              <a:t>Это избавляет от огромного класса трудноуловимых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4101484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После того как мы создали фабрику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r>
              <a:rPr lang="ru-RU" dirty="0"/>
              <a:t>, следующим шагом является создание </a:t>
            </a:r>
            <a:r>
              <a:rPr lang="ru-RU" b="1" dirty="0"/>
              <a:t>цели рисования</a:t>
            </a:r>
            <a:r>
              <a:rPr lang="ru-RU" dirty="0"/>
              <a:t>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.</a:t>
            </a:r>
          </a:p>
          <a:p>
            <a:r>
              <a:rPr lang="ru-RU" dirty="0"/>
              <a:t>Это один из ключевых объектов Direct2D.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 — это интерфейс, который представляет поверхность для рисования, связанную с конкретным окном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</a:t>
            </a:r>
            <a:r>
              <a:rPr lang="ru-RU" dirty="0"/>
              <a:t>).</a:t>
            </a:r>
          </a:p>
          <a:p>
            <a:r>
              <a:rPr lang="ru-RU" dirty="0"/>
              <a:t>Проще говоря:</a:t>
            </a:r>
          </a:p>
          <a:p>
            <a:r>
              <a:rPr lang="ru-RU" dirty="0"/>
              <a:t>Если Factory — это фабрика объектов,</a:t>
            </a:r>
            <a:br>
              <a:rPr lang="ru-RU" dirty="0"/>
            </a:br>
            <a:r>
              <a:rPr lang="ru-RU" dirty="0"/>
              <a:t>то </a:t>
            </a:r>
            <a:r>
              <a:rPr lang="ru-RU" dirty="0" err="1"/>
              <a:t>RenderTarget</a:t>
            </a:r>
            <a:r>
              <a:rPr lang="ru-RU" dirty="0"/>
              <a:t> — это «холст», на котором мы рисуем.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Наследование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 наследуется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ID2D1RenderTarget</a:t>
            </a:r>
            <a:r>
              <a:rPr lang="ru-RU" dirty="0"/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ID2D1RenderTarget</a:t>
            </a:r>
            <a:r>
              <a:rPr lang="ru-RU" dirty="0"/>
              <a:t> — это более общий интерфейс цели рисования.</a:t>
            </a:r>
            <a:br>
              <a:rPr lang="ru-RU" dirty="0"/>
            </a:br>
            <a:r>
              <a:rPr lang="ru-RU" dirty="0"/>
              <a:t>Существуют разные типы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target’ов</a:t>
            </a:r>
            <a:r>
              <a:rPr lang="ru-RU" dirty="0"/>
              <a:t>:</a:t>
            </a:r>
          </a:p>
          <a:p>
            <a:r>
              <a:rPr lang="ru-RU" dirty="0"/>
              <a:t>для окна,</a:t>
            </a:r>
          </a:p>
          <a:p>
            <a:r>
              <a:rPr lang="ru-RU" dirty="0"/>
              <a:t>для текстуры,</a:t>
            </a:r>
          </a:p>
          <a:p>
            <a:r>
              <a:rPr lang="ru-RU" dirty="0"/>
              <a:t>для печати,</a:t>
            </a:r>
          </a:p>
          <a:p>
            <a:r>
              <a:rPr lang="ru-RU" dirty="0"/>
              <a:t>для </a:t>
            </a:r>
            <a:r>
              <a:rPr lang="ru-RU" dirty="0" err="1"/>
              <a:t>offscreen</a:t>
            </a:r>
            <a:r>
              <a:rPr lang="ru-RU" dirty="0"/>
              <a:t>-буфера.</a:t>
            </a:r>
          </a:p>
          <a:p>
            <a:r>
              <a:rPr lang="ru-RU" dirty="0"/>
              <a:t>В нашем случае используется вариант, привязанный к окну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HwndRenderTarget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Что умеет </a:t>
            </a:r>
            <a:r>
              <a:rPr lang="ru-RU" b="1" dirty="0" err="1"/>
              <a:t>RenderTarget</a:t>
            </a:r>
            <a:r>
              <a:rPr lang="ru-RU" b="1" dirty="0"/>
              <a:t>?</a:t>
            </a:r>
          </a:p>
          <a:p>
            <a:r>
              <a:rPr lang="ru-RU" dirty="0"/>
              <a:t>Он содержит:</a:t>
            </a:r>
          </a:p>
          <a:p>
            <a:r>
              <a:rPr lang="ru-RU" dirty="0"/>
              <a:t>методы рисования примитивов</a:t>
            </a:r>
            <a:br>
              <a:rPr lang="ru-RU" dirty="0"/>
            </a:br>
            <a:r>
              <a:rPr lang="ru-RU" dirty="0"/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DrawLine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FillEllipse</a:t>
            </a:r>
            <a:r>
              <a:rPr lang="ru-RU" dirty="0"/>
              <a:t> и т.д.)</a:t>
            </a:r>
          </a:p>
          <a:p>
            <a:r>
              <a:rPr lang="ru-RU" dirty="0"/>
              <a:t>методы очистки поверхности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ru-RU" dirty="0"/>
              <a:t>)</a:t>
            </a:r>
          </a:p>
          <a:p>
            <a:r>
              <a:rPr lang="ru-RU" dirty="0"/>
              <a:t>методы создания ресурсов, зависящих от устройства:</a:t>
            </a:r>
          </a:p>
          <a:p>
            <a:pPr lvl="1"/>
            <a:r>
              <a:rPr lang="ru-RU" dirty="0"/>
              <a:t>кистей,</a:t>
            </a:r>
          </a:p>
          <a:p>
            <a:pPr lvl="1"/>
            <a:r>
              <a:rPr lang="ru-RU" dirty="0"/>
              <a:t>геометрий,</a:t>
            </a:r>
          </a:p>
          <a:p>
            <a:pPr lvl="1"/>
            <a:r>
              <a:rPr lang="ru-RU" dirty="0"/>
              <a:t>градиентов,</a:t>
            </a:r>
          </a:p>
          <a:p>
            <a:pPr lvl="1"/>
            <a:r>
              <a:rPr lang="ru-RU" dirty="0"/>
              <a:t>текстур и т.п.</a:t>
            </a:r>
          </a:p>
          <a:p>
            <a:r>
              <a:rPr lang="ru-RU" dirty="0"/>
              <a:t>Важно понимать:</a:t>
            </a:r>
            <a:br>
              <a:rPr lang="ru-RU" dirty="0"/>
            </a:br>
            <a:r>
              <a:rPr lang="ru-RU" dirty="0"/>
              <a:t>многие ресурсы создаются именно через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, потому что они связаны с конкретным графическим устройством.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 err="1"/>
              <a:t>BeginDraw</a:t>
            </a:r>
            <a:r>
              <a:rPr lang="ru-RU" b="1" dirty="0"/>
              <a:t> / </a:t>
            </a:r>
            <a:r>
              <a:rPr lang="ru-RU" b="1" dirty="0" err="1"/>
              <a:t>EndDraw</a:t>
            </a:r>
            <a:endParaRPr lang="ru-RU" b="1" dirty="0"/>
          </a:p>
          <a:p>
            <a:r>
              <a:rPr lang="ru-RU" dirty="0"/>
              <a:t>В Direct2D рисование выполняется строго между вызовами: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Это похоже на открытие и закрытие транзакции рисования.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сообщает системе: мы начинаем формировать кадр.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завершает рисование и передаёт результат графической подсистеме.</a:t>
            </a:r>
          </a:p>
          <a:p>
            <a:r>
              <a:rPr lang="ru-RU" dirty="0"/>
              <a:t>Если во время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происходит ошибка, например, устройство было потеряно, метод может вернуть код ошибки — и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 нужно пересоздать.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Концептуально</a:t>
            </a:r>
          </a:p>
          <a:p>
            <a:r>
              <a:rPr lang="ru-RU" dirty="0"/>
              <a:t>В GDI мы работали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Direct2D аналогом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HDC</a:t>
            </a:r>
            <a:r>
              <a:rPr lang="ru-RU" dirty="0"/>
              <a:t> является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ru-RU" dirty="0"/>
              <a:t>.</a:t>
            </a:r>
          </a:p>
          <a:p>
            <a:r>
              <a:rPr lang="ru-RU" dirty="0"/>
              <a:t>Но в отличие от GDI:</a:t>
            </a:r>
          </a:p>
          <a:p>
            <a:r>
              <a:rPr lang="ru-RU" dirty="0"/>
              <a:t>здесь встроено аппаратное ускорение,</a:t>
            </a:r>
          </a:p>
          <a:p>
            <a:r>
              <a:rPr lang="ru-RU" dirty="0"/>
              <a:t>поддерживается сглаживание,</a:t>
            </a:r>
          </a:p>
          <a:p>
            <a:r>
              <a:rPr lang="ru-RU" dirty="0"/>
              <a:t>прозрачность,</a:t>
            </a:r>
          </a:p>
          <a:p>
            <a:r>
              <a:rPr lang="ru-RU" dirty="0"/>
              <a:t>современная модель композиции.</a:t>
            </a:r>
          </a:p>
          <a:p>
            <a:r>
              <a:rPr lang="ru-RU" dirty="0"/>
              <a:t>Таким образом,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 — это центральный объект, через который выполняется весь реальный вывод графики в окне.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407413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Теперь посмотрим, как именно создаётся цель рисования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.</a:t>
            </a:r>
          </a:p>
          <a:p>
            <a:r>
              <a:rPr lang="ru-RU" dirty="0"/>
              <a:t>Мы оборачиваем создание в структуру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DeviceResources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удобный приём — инкапсулировать ресурсы устройства в отдельный объект.</a:t>
            </a:r>
          </a:p>
          <a:p>
            <a:r>
              <a:rPr lang="ru-RU" dirty="0"/>
              <a:t>Почему так делается?</a:t>
            </a:r>
          </a:p>
          <a:p>
            <a:r>
              <a:rPr lang="ru-RU" dirty="0"/>
              <a:t>Потому что ресурсы Direct2D могут становиться недействительными, например, при потере устройства.</a:t>
            </a:r>
            <a:br>
              <a:rPr lang="ru-RU" dirty="0"/>
            </a:br>
            <a:r>
              <a:rPr lang="ru-RU" dirty="0"/>
              <a:t>И удобно иметь отдельную сущность, которую можно пересоздать целиком.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Что происходит в конструкторе?</a:t>
            </a:r>
          </a:p>
          <a:p>
            <a:r>
              <a:rPr lang="ru-RU" dirty="0"/>
              <a:t>В конструкторе мы получаем:</a:t>
            </a:r>
          </a:p>
          <a:p>
            <a:r>
              <a:rPr lang="ru-RU" dirty="0"/>
              <a:t>ссылку на фабрику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ID2D1Factory</a:t>
            </a:r>
            <a:endParaRPr lang="ru-RU" dirty="0"/>
          </a:p>
          <a:p>
            <a:r>
              <a:rPr lang="ru-RU" dirty="0"/>
              <a:t>дескриптор окна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</a:t>
            </a:r>
            <a:endParaRPr lang="ru-RU" dirty="0"/>
          </a:p>
          <a:p>
            <a:r>
              <a:rPr lang="ru-RU" dirty="0"/>
              <a:t>Сначала определяем размер клиентской области окна: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GetClientRect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&amp;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clientRect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Это важно, потому что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 создаётся с конкретными размерами.</a:t>
            </a:r>
          </a:p>
          <a:p>
            <a:r>
              <a:rPr lang="ru-RU" dirty="0"/>
              <a:t>Затем формируем структуру размера: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SizeU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height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И после этого вызываем: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factory.CreateHwndRenderTarget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Параметры </a:t>
            </a:r>
            <a:r>
              <a:rPr lang="ru-RU" b="1" dirty="0" err="1"/>
              <a:t>CreateHwndRenderTarget</a:t>
            </a:r>
            <a:endParaRPr lang="ru-RU" b="1" dirty="0"/>
          </a:p>
          <a:p>
            <a:r>
              <a:rPr lang="ru-RU" dirty="0"/>
              <a:t>Функция принимает два набора параметров:</a:t>
            </a:r>
          </a:p>
          <a:p>
            <a:r>
              <a:rPr lang="ru-RU" dirty="0"/>
              <a:t>1️⃣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RenderTargetProperties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— общие свойства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br>
              <a:rPr lang="ru-RU" dirty="0"/>
            </a:br>
            <a:r>
              <a:rPr lang="ru-RU" dirty="0"/>
              <a:t>(например, тип рендеринга, формат пикселей и т.д.)</a:t>
            </a:r>
          </a:p>
          <a:p>
            <a:r>
              <a:rPr lang="ru-RU" dirty="0"/>
              <a:t>2️⃣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HwndRenderTargetProperties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hWnd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— параметры, специфичные для окна:</a:t>
            </a:r>
          </a:p>
          <a:p>
            <a:r>
              <a:rPr lang="ru-RU" dirty="0"/>
              <a:t>дескриптор окна</a:t>
            </a:r>
          </a:p>
          <a:p>
            <a:r>
              <a:rPr lang="ru-RU" dirty="0"/>
              <a:t>размер области рисования</a:t>
            </a:r>
          </a:p>
          <a:p>
            <a:r>
              <a:rPr lang="ru-RU" dirty="0"/>
              <a:t>В результате создаётся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ID2D1HwndRenderTarget</a:t>
            </a:r>
            <a:r>
              <a:rPr lang="ru-RU" dirty="0"/>
              <a:t>, который сохраняется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CComPtr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Проверка успешности</a:t>
            </a:r>
          </a:p>
          <a:p>
            <a:r>
              <a:rPr lang="ru-RU" dirty="0"/>
              <a:t>Мы используем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ATLENSURE_SUCCEEDED</a:t>
            </a:r>
            <a:r>
              <a:rPr lang="ru-RU" dirty="0"/>
              <a:t>, чтобы убедиться, что создание прошло успешно.</a:t>
            </a:r>
            <a:br>
              <a:rPr lang="ru-RU" dirty="0"/>
            </a:br>
            <a:r>
              <a:rPr lang="ru-RU" dirty="0"/>
              <a:t>Если нет — будет выброшено исключение.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 err="1"/>
              <a:t>operator</a:t>
            </a:r>
            <a:r>
              <a:rPr lang="ru-RU" b="1" dirty="0"/>
              <a:t> </a:t>
            </a:r>
            <a:r>
              <a:rPr lang="ru-RU" b="1" dirty="0" err="1"/>
              <a:t>bool</a:t>
            </a:r>
            <a:r>
              <a:rPr lang="ru-RU" b="1" dirty="0"/>
              <a:t>()</a:t>
            </a:r>
          </a:p>
          <a:p>
            <a:r>
              <a:rPr lang="ru-RU" dirty="0"/>
              <a:t>Обратите внимание на: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explicit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operator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renderTarget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}</a:t>
            </a:r>
          </a:p>
          <a:p>
            <a:r>
              <a:rPr lang="ru-RU" dirty="0"/>
              <a:t>Это позволяет писать: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m_deviceResources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...</a:t>
            </a:r>
          </a:p>
          <a:p>
            <a:r>
              <a:rPr lang="ru-RU" dirty="0"/>
              <a:t>То есть проверять, был ли успешно создан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Архитектурно</a:t>
            </a:r>
          </a:p>
          <a:p>
            <a:r>
              <a:rPr lang="ru-RU" dirty="0"/>
              <a:t>Здесь важно понять концепцию:</a:t>
            </a:r>
          </a:p>
          <a:p>
            <a:r>
              <a:rPr lang="ru-RU" dirty="0"/>
              <a:t>Factory создаёт ресурсы уровня приложения.</a:t>
            </a:r>
          </a:p>
          <a:p>
            <a:r>
              <a:rPr lang="ru-RU" dirty="0" err="1"/>
              <a:t>RenderTarget</a:t>
            </a:r>
            <a:r>
              <a:rPr lang="ru-RU" dirty="0"/>
              <a:t> создаёт ресурсы уровня устройства.</a:t>
            </a:r>
          </a:p>
          <a:p>
            <a:r>
              <a:rPr lang="ru-RU" dirty="0" err="1"/>
              <a:t>DeviceResources</a:t>
            </a:r>
            <a:r>
              <a:rPr lang="ru-RU" dirty="0"/>
              <a:t> инкапсулирует всё, что связано с конкретным окном и видеоустройством.</a:t>
            </a:r>
          </a:p>
          <a:p>
            <a:r>
              <a:rPr lang="ru-RU" dirty="0"/>
              <a:t>Это уже более современный, архитектурно аккуратный подход по сравнению с классическим GDI, где всё крутилось вокруг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HDC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мы создаём «холст» для рисования, привязанный к окну, и готовы выполнять отрисовку кадра.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4571220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В начале вызывается: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ValidateRect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dirty="0"/>
              <a:t>Это сообщает системе, что область окна считается перерисованной.</a:t>
            </a:r>
            <a:br>
              <a:rPr lang="ru-RU" dirty="0"/>
            </a:br>
            <a:r>
              <a:rPr lang="ru-RU" dirty="0"/>
              <a:t>В </a:t>
            </a:r>
            <a:r>
              <a:rPr lang="en-US" dirty="0"/>
              <a:t>Direct2D</a:t>
            </a:r>
            <a:r>
              <a:rPr lang="ru-RU" dirty="0"/>
              <a:t> мы можем не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BeginPaint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EndPaint</a:t>
            </a:r>
            <a:r>
              <a:rPr lang="ru-RU" dirty="0"/>
              <a:t> напрямую, как в чистом </a:t>
            </a:r>
            <a:r>
              <a:rPr lang="ru-RU" dirty="0" err="1"/>
              <a:t>WinAPI</a:t>
            </a:r>
            <a:r>
              <a:rPr lang="ru-RU" dirty="0"/>
              <a:t>, а просто подтвердить обработку перерисовки.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Создание ресурсов при необходимости</a:t>
            </a:r>
          </a:p>
          <a:p>
            <a:r>
              <a:rPr lang="ru-RU" dirty="0"/>
              <a:t>Далее вызывается: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CreateDeviceResources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Эта функция проверяет, существует ли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нет — создаёт его.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m_deviceResources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m_deviceResources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{ *m_d2dFactory,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m_hWnd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};</a:t>
            </a:r>
          </a:p>
          <a:p>
            <a:r>
              <a:rPr lang="ru-RU" dirty="0"/>
              <a:t>Это важный момент.</a:t>
            </a:r>
          </a:p>
          <a:p>
            <a:r>
              <a:rPr lang="ru-RU" dirty="0"/>
              <a:t>В Direct2D ресурсы устройства могут быть потеряны — например, при смене видеорежима или перезапуске драйвера.</a:t>
            </a:r>
            <a:br>
              <a:rPr lang="ru-RU" dirty="0"/>
            </a:br>
            <a:r>
              <a:rPr lang="ru-RU" dirty="0"/>
              <a:t>Поэтому создание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 делается лениво — по требованию.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Начало рисования</a:t>
            </a:r>
          </a:p>
          <a:p>
            <a:r>
              <a:rPr lang="ru-RU" dirty="0"/>
              <a:t>Затем начинается сам процесс отрисовки: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Это сигнал Direct2D: мы начинаем формировать кадр.</a:t>
            </a:r>
          </a:p>
          <a:p>
            <a:r>
              <a:rPr lang="ru-RU" dirty="0"/>
              <a:t>Далее выполняются команды рисования.</a:t>
            </a:r>
            <a:br>
              <a:rPr lang="ru-RU" dirty="0"/>
            </a:br>
            <a:r>
              <a:rPr lang="ru-RU" dirty="0"/>
              <a:t>В данном примере мы просто очищаем окно чёрным цветом: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-&gt;Clear(D2D1::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(D2D1::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ColorF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::Black));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Завершение рисования</a:t>
            </a:r>
          </a:p>
          <a:p>
            <a:r>
              <a:rPr lang="ru-RU" dirty="0"/>
              <a:t>После этого вызывается: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HRESULT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завершает построение кадра и передаёт его графической подсистеме.</a:t>
            </a:r>
          </a:p>
          <a:p>
            <a:r>
              <a:rPr lang="ru-RU" dirty="0"/>
              <a:t>Но здесь есть очень важный момент.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D2DERR_RECREATE_TARGET</a:t>
            </a:r>
            <a:r>
              <a:rPr lang="ru-RU" dirty="0"/>
              <a:t>, это означает, что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 стал недействительным — устройство потеряно.</a:t>
            </a:r>
          </a:p>
          <a:p>
            <a:r>
              <a:rPr lang="ru-RU" dirty="0"/>
              <a:t>В этом случае мы делаем: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m_deviceResources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{};</a:t>
            </a:r>
          </a:p>
          <a:p>
            <a:r>
              <a:rPr lang="ru-RU" dirty="0"/>
              <a:t>То есть уничтожаем текущие ресурсы.</a:t>
            </a:r>
            <a:br>
              <a:rPr lang="ru-RU" dirty="0"/>
            </a:br>
            <a:r>
              <a:rPr lang="ru-RU" dirty="0"/>
              <a:t>На следующем вызове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WM_PAINT</a:t>
            </a:r>
            <a:r>
              <a:rPr lang="ru-RU" dirty="0"/>
              <a:t> они будут созданы заново.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 err="1"/>
              <a:t>try</a:t>
            </a:r>
            <a:r>
              <a:rPr lang="ru-RU" b="1" dirty="0"/>
              <a:t> / </a:t>
            </a:r>
            <a:r>
              <a:rPr lang="ru-RU" b="1" dirty="0" err="1"/>
              <a:t>catch</a:t>
            </a:r>
            <a:endParaRPr lang="ru-RU" b="1" dirty="0"/>
          </a:p>
          <a:p>
            <a:r>
              <a:rPr lang="ru-RU" dirty="0"/>
              <a:t>Весь код обёрнут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, потому что мы используем ATL-макросы, которые могут выбрасывать исключения при ошибках.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Главное отличие от GDI</a:t>
            </a:r>
          </a:p>
          <a:p>
            <a:r>
              <a:rPr lang="ru-RU" dirty="0"/>
              <a:t>В GDI мы работали через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HDC</a:t>
            </a:r>
            <a:r>
              <a:rPr lang="ru-RU" dirty="0"/>
              <a:t> и вручную управляли ресурсами.</a:t>
            </a:r>
          </a:p>
          <a:p>
            <a:r>
              <a:rPr lang="ru-RU" dirty="0"/>
              <a:t>В Direct2D:</a:t>
            </a:r>
          </a:p>
          <a:p>
            <a:r>
              <a:rPr lang="ru-RU" dirty="0"/>
              <a:t>мы рисуем через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,</a:t>
            </a:r>
          </a:p>
          <a:p>
            <a:r>
              <a:rPr lang="ru-RU" dirty="0"/>
              <a:t>обязаны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EndDraw</a:t>
            </a:r>
            <a:r>
              <a:rPr lang="ru-RU" dirty="0"/>
              <a:t>,</a:t>
            </a:r>
          </a:p>
          <a:p>
            <a:r>
              <a:rPr lang="ru-RU" dirty="0"/>
              <a:t>и должны учитывать возможность потери устройства.</a:t>
            </a:r>
          </a:p>
          <a:p>
            <a:r>
              <a:rPr lang="ru-RU" dirty="0"/>
              <a:t>Это более современная, но и более строгая модель работы.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Таким образом, обработка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WM_PAINT</a:t>
            </a:r>
            <a:r>
              <a:rPr lang="ru-RU" dirty="0"/>
              <a:t> в Direct2D сводится к:</a:t>
            </a:r>
          </a:p>
          <a:p>
            <a:r>
              <a:rPr lang="ru-RU" dirty="0"/>
              <a:t>Убедиться, что ресурсы созданы.</a:t>
            </a:r>
          </a:p>
          <a:p>
            <a:r>
              <a:rPr lang="ru-RU" dirty="0" err="1"/>
              <a:t>BeginDraw</a:t>
            </a:r>
            <a:r>
              <a:rPr lang="ru-RU" dirty="0"/>
              <a:t>.</a:t>
            </a:r>
          </a:p>
          <a:p>
            <a:r>
              <a:rPr lang="ru-RU" dirty="0"/>
              <a:t>Выполнить команды рисования.</a:t>
            </a:r>
          </a:p>
          <a:p>
            <a:r>
              <a:rPr lang="ru-RU" dirty="0" err="1"/>
              <a:t>EndDraw</a:t>
            </a:r>
            <a:r>
              <a:rPr lang="ru-RU" dirty="0"/>
              <a:t>.</a:t>
            </a:r>
          </a:p>
          <a:p>
            <a:r>
              <a:rPr lang="ru-RU" dirty="0"/>
              <a:t>При необходимости пересоздать ресурсы.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839555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Теперь посмотрим, как выглядит реальный код рисования в Direct2D.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DrawWorld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отвечает за отрисовку нашей модели — в данном случае набора «шариков».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Прямоугольная граница мира</a:t>
            </a:r>
          </a:p>
          <a:p>
            <a:r>
              <a:rPr lang="ru-RU" dirty="0"/>
              <a:t>Сначала мы рисуем прямоугольник: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m_renderTarget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ru-RU" dirty="0"/>
              <a:t>Здесь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D2D1::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RectF</a:t>
            </a:r>
            <a:r>
              <a:rPr lang="ru-RU" dirty="0"/>
              <a:t>.</a:t>
            </a:r>
          </a:p>
          <a:p>
            <a:r>
              <a:rPr lang="ru-RU" dirty="0"/>
              <a:t>Обратите внимание на букву </a:t>
            </a:r>
            <a:r>
              <a:rPr lang="ru-RU" b="1" dirty="0"/>
              <a:t>F</a:t>
            </a:r>
            <a:r>
              <a:rPr lang="ru-RU" dirty="0"/>
              <a:t> — это координаты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</a:p>
          <a:p>
            <a:r>
              <a:rPr lang="ru-RU" dirty="0"/>
              <a:t>В отличие от GDI, где всё строилось в целых числах, Direct2D работает в вещественных координатах.</a:t>
            </a:r>
            <a:br>
              <a:rPr lang="ru-RU" dirty="0"/>
            </a:br>
            <a:r>
              <a:rPr lang="ru-RU" dirty="0"/>
              <a:t>Это позволяет:</a:t>
            </a:r>
          </a:p>
          <a:p>
            <a:r>
              <a:rPr lang="ru-RU" dirty="0"/>
              <a:t>выполнять плавные трансформации,</a:t>
            </a:r>
          </a:p>
          <a:p>
            <a:r>
              <a:rPr lang="ru-RU" dirty="0"/>
              <a:t>получать сглаживание,</a:t>
            </a:r>
          </a:p>
          <a:p>
            <a:r>
              <a:rPr lang="ru-RU" dirty="0"/>
              <a:t>делать масштабирование без потери качества.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Отрисовка частиц</a:t>
            </a:r>
          </a:p>
          <a:p>
            <a:r>
              <a:rPr lang="ru-RU" dirty="0"/>
              <a:t>Далее мы проходим по всем частицам: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particle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m_world.GetParticles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</a:p>
          <a:p>
            <a:r>
              <a:rPr lang="ru-RU" dirty="0"/>
              <a:t>Каждая частица описывается структурой: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Particle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Point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position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};</a:t>
            </a:r>
          </a:p>
          <a:p>
            <a:r>
              <a:rPr lang="ru-RU" dirty="0"/>
              <a:t>То есть у неё есть положение и скорость.</a:t>
            </a:r>
            <a:br>
              <a:rPr lang="ru-RU" dirty="0"/>
            </a:br>
            <a:r>
              <a:rPr lang="ru-RU" dirty="0"/>
              <a:t>Скорость используется для анимации, а положение — для отрисовки.</a:t>
            </a:r>
          </a:p>
          <a:p>
            <a:r>
              <a:rPr lang="ru-RU" dirty="0"/>
              <a:t>Для каждой частицы вызывается: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FillEllipse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ru-RU" dirty="0"/>
              <a:t>Мы создаём окружность с радиусом 5 пикселей и заливаем её кистью.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Что важно здесь понять</a:t>
            </a:r>
          </a:p>
          <a:p>
            <a:r>
              <a:rPr lang="ru-RU" dirty="0"/>
              <a:t>1️⃣ Direct2D предоставляет высокоуровневые примитивы:</a:t>
            </a:r>
          </a:p>
          <a:p>
            <a:r>
              <a:rPr lang="ru-RU" dirty="0" err="1"/>
              <a:t>DrawRectangle</a:t>
            </a:r>
            <a:endParaRPr lang="ru-RU" dirty="0"/>
          </a:p>
          <a:p>
            <a:r>
              <a:rPr lang="ru-RU" dirty="0" err="1"/>
              <a:t>FillEllipse</a:t>
            </a:r>
            <a:endParaRPr lang="ru-RU" dirty="0"/>
          </a:p>
          <a:p>
            <a:r>
              <a:rPr lang="ru-RU" dirty="0" err="1"/>
              <a:t>DrawLine</a:t>
            </a:r>
            <a:endParaRPr lang="ru-RU" dirty="0"/>
          </a:p>
          <a:p>
            <a:r>
              <a:rPr lang="ru-RU" dirty="0"/>
              <a:t>и т.д.</a:t>
            </a:r>
          </a:p>
          <a:p>
            <a:r>
              <a:rPr lang="ru-RU" dirty="0"/>
              <a:t>Нам не нужно вручную вычислять пиксели.</a:t>
            </a:r>
          </a:p>
          <a:p>
            <a:r>
              <a:rPr lang="ru-RU" dirty="0"/>
              <a:t>2️⃣ Все координаты — вещественные числа.</a:t>
            </a:r>
            <a:br>
              <a:rPr lang="ru-RU" dirty="0"/>
            </a:br>
            <a:r>
              <a:rPr lang="ru-RU" dirty="0"/>
              <a:t>Это означает, что движение частиц может быть плавным, не «прыгающим» по целым координатам.</a:t>
            </a:r>
          </a:p>
          <a:p>
            <a:r>
              <a:rPr lang="ru-RU" dirty="0"/>
              <a:t>3️⃣ Мы используем одну кисть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m_brush</a:t>
            </a:r>
            <a:r>
              <a:rPr lang="ru-RU" dirty="0"/>
              <a:t>, созданную заранее через </a:t>
            </a:r>
            <a:r>
              <a:rPr lang="ru-RU" dirty="0" err="1"/>
              <a:t>render</a:t>
            </a:r>
            <a:r>
              <a:rPr lang="ru-RU" dirty="0"/>
              <a:t> </a:t>
            </a:r>
            <a:r>
              <a:rPr lang="ru-RU" dirty="0" err="1"/>
              <a:t>target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b="1" dirty="0"/>
              <a:t>Связь с анимацией</a:t>
            </a:r>
          </a:p>
          <a:p>
            <a:r>
              <a:rPr lang="ru-RU" dirty="0"/>
              <a:t>Если в каждом кадре:</a:t>
            </a:r>
          </a:p>
          <a:p>
            <a:r>
              <a:rPr lang="ru-RU" dirty="0"/>
              <a:t>обновлять положение частиц,</a:t>
            </a:r>
          </a:p>
          <a:p>
            <a:r>
              <a:rPr lang="ru-RU" dirty="0"/>
              <a:t>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InvalidateRect</a:t>
            </a:r>
            <a:r>
              <a:rPr lang="ru-RU" dirty="0"/>
              <a:t>,</a:t>
            </a:r>
          </a:p>
          <a:p>
            <a:r>
              <a:rPr lang="ru-RU" dirty="0"/>
              <a:t>и затем перерисовывать сцену,</a:t>
            </a:r>
          </a:p>
          <a:p>
            <a:r>
              <a:rPr lang="ru-RU" dirty="0"/>
              <a:t>мы получим полноценную анимацию.</a:t>
            </a:r>
          </a:p>
          <a:p>
            <a:r>
              <a:rPr lang="ru-RU" dirty="0"/>
              <a:t>При этом:</a:t>
            </a:r>
          </a:p>
          <a:p>
            <a:r>
              <a:rPr lang="ru-RU" dirty="0"/>
              <a:t>сглаживание выполняется автоматически,</a:t>
            </a:r>
          </a:p>
          <a:p>
            <a:r>
              <a:rPr lang="ru-RU" dirty="0"/>
              <a:t>отрисовка ускоряется видеокартой,</a:t>
            </a:r>
          </a:p>
          <a:p>
            <a:r>
              <a:rPr lang="ru-RU" dirty="0"/>
              <a:t>код остаётся достаточно компактным.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dirty="0"/>
              <a:t>Таким образом, этот пример показывает главное преимущество Direct2D:</a:t>
            </a:r>
            <a:br>
              <a:rPr lang="ru-RU" dirty="0"/>
            </a:br>
            <a:r>
              <a:rPr lang="ru-RU" dirty="0"/>
              <a:t>мы описываем сцену на уровне геометрии, а всю сложную работу — растеризацию, сглаживание и вывод на экран — выполняет графическая подсистема и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5275271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79EEB-8595-469D-9DCB-0DEFD48E3573}" type="slidenum">
              <a:rPr lang="ru-RU" altLang="ru-RU" smtClean="0"/>
              <a:pPr/>
              <a:t>66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609729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>
            <a:extLst>
              <a:ext uri="{FF2B5EF4-FFF2-40B4-BE49-F238E27FC236}">
                <a16:creationId xmlns:a16="http://schemas.microsoft.com/office/drawing/2014/main" id="{B0878CD4-DE43-99D2-9C08-2B301215F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667CA0-0E47-4E21-8C91-87A11FD459A7}" type="slidenum">
              <a:rPr lang="ru-RU" altLang="ru-RU">
                <a:latin typeface="Calibri" panose="020F0502020204030204" pitchFamily="34" charset="0"/>
              </a:rPr>
              <a:pPr eaLnBrk="1" hangingPunct="1"/>
              <a:t>67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5587" name="Rectangle 2">
            <a:extLst>
              <a:ext uri="{FF2B5EF4-FFF2-40B4-BE49-F238E27FC236}">
                <a16:creationId xmlns:a16="http://schemas.microsoft.com/office/drawing/2014/main" id="{AEFEEE70-D67F-FBD5-6ABC-E8706A329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8" name="Rectangle 3">
            <a:extLst>
              <a:ext uri="{FF2B5EF4-FFF2-40B4-BE49-F238E27FC236}">
                <a16:creationId xmlns:a16="http://schemas.microsoft.com/office/drawing/2014/main" id="{2146290C-52DE-7BC9-14D8-A362F9AADA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1BE9F90D-B62C-A42C-74D1-8ED10D20B3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DD9FDA3-9AB7-4325-8D10-3661532DA5CD}" type="slidenum">
              <a:rPr lang="ru-RU" altLang="ru-RU">
                <a:latin typeface="Calibri" panose="020F0502020204030204" pitchFamily="34" charset="0"/>
              </a:rPr>
              <a:pPr eaLnBrk="1" hangingPunct="1"/>
              <a:t>68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29571A92-8749-B59A-AE3C-DC9938B332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23800D4F-DB3E-C7CF-07AE-EA7FAD7BC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379015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F206EC9C-E99D-83C8-9F7F-E9446910E8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480C1D-75DB-4D8E-9137-7AD6006C440D}" type="slidenum">
              <a:rPr lang="ru-RU" altLang="ru-RU">
                <a:latin typeface="Calibri" panose="020F0502020204030204" pitchFamily="34" charset="0"/>
              </a:rPr>
              <a:pPr eaLnBrk="1" hangingPunct="1"/>
              <a:t>69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B9919554-0317-515E-1C6C-C6AAF9BDC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6613BC14-A9B9-80AB-5C34-45A7518D2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45242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10DDE9BF-F1C8-8908-6162-021EF34A36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0F3E32-476C-40E2-B29F-46DA3CD13AF3}" type="slidenum">
              <a:rPr lang="ru-RU" altLang="ru-RU">
                <a:latin typeface="Calibri" panose="020F0502020204030204" pitchFamily="34" charset="0"/>
              </a:rPr>
              <a:pPr eaLnBrk="1" hangingPunct="1"/>
              <a:t>70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CE9067C3-3916-B191-1622-AA9176B06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25B4B39E-EAFF-1CFC-8359-0D3EAEE0DD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9870867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650F11EC-EB4F-52CB-36B1-B40171A4FE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14F227-2AD2-4D80-B730-21633ACE982F}" type="slidenum">
              <a:rPr lang="ru-RU" altLang="ru-RU">
                <a:latin typeface="Calibri" panose="020F0502020204030204" pitchFamily="34" charset="0"/>
              </a:rPr>
              <a:pPr eaLnBrk="1" hangingPunct="1"/>
              <a:t>71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B490ADC3-4CF1-8639-7C3D-315578938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A3FD483C-7377-F18A-B2A7-745F458760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2009375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32461E25-CD64-0ED8-951B-970D88C6E4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6DCDAB-6302-4BC2-86DF-8F4F2DDF16F3}" type="slidenum">
              <a:rPr lang="ru-RU" altLang="ru-RU">
                <a:latin typeface="Calibri" panose="020F0502020204030204" pitchFamily="34" charset="0"/>
              </a:rPr>
              <a:pPr eaLnBrk="1" hangingPunct="1"/>
              <a:t>72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D5675A5A-0555-1B9B-D496-7B240EE04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33CA6CFB-1312-C904-5D05-2518BACE2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2653646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F62B518-37C9-DB0E-43BC-8DC62293A0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12FCE76-A993-49C3-949B-DE43E45B67D3}" type="slidenum">
              <a:rPr lang="ru-RU" altLang="ru-RU">
                <a:latin typeface="Calibri" panose="020F0502020204030204" pitchFamily="34" charset="0"/>
              </a:rPr>
              <a:pPr eaLnBrk="1" hangingPunct="1"/>
              <a:t>73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0F7A25F-6A52-1AD1-ACF3-34FB4B55EA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5EF9482D-E356-4C59-246F-13AD93B52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2360370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3F8D5AFF-853B-1B6E-1A34-D817BF4407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A49CF71-4F38-421C-8FCA-02C8CE6340BD}" type="slidenum">
              <a:rPr lang="ru-RU" altLang="ru-RU">
                <a:latin typeface="Calibri" panose="020F0502020204030204" pitchFamily="34" charset="0"/>
              </a:rPr>
              <a:pPr eaLnBrk="1" hangingPunct="1"/>
              <a:t>74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91EE07E7-7A70-9821-7B3B-9EA350A3FC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24B72108-A9CC-DF2A-C91C-C13BF5E62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084116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C564CC41-7202-DBE2-90B2-F43227D90F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6BA2439-74FC-4B42-840C-5517C3F13FCA}" type="slidenum">
              <a:rPr lang="ru-RU" altLang="ru-RU">
                <a:latin typeface="Calibri" panose="020F0502020204030204" pitchFamily="34" charset="0"/>
              </a:rPr>
              <a:pPr eaLnBrk="1" hangingPunct="1"/>
              <a:t>75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A72D0075-089C-FD16-A26B-35AFCF365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100BCBE7-59D6-33DD-7141-051E1D541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5180102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522500B0-B1BC-A913-7818-34EE98D457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979E26B-7095-4355-B952-BDE5075C8C0C}" type="slidenum">
              <a:rPr lang="ru-RU" altLang="ru-RU">
                <a:latin typeface="Calibri" panose="020F0502020204030204" pitchFamily="34" charset="0"/>
              </a:rPr>
              <a:pPr eaLnBrk="1" hangingPunct="1"/>
              <a:t>76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232E8218-E335-C11C-3951-B370895AA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79649472-540E-97BA-6F7D-A558952C4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211437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016D5226-0413-00C9-2276-EF2F9255A9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D809CC6-BBE7-46C0-88EC-9137DB3763AC}" type="slidenum">
              <a:rPr lang="ru-RU" altLang="ru-RU">
                <a:latin typeface="Calibri" panose="020F0502020204030204" pitchFamily="34" charset="0"/>
              </a:rPr>
              <a:pPr eaLnBrk="1" hangingPunct="1"/>
              <a:t>77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087F4C6F-2459-3C1C-86E4-4CC900FC83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6682AA7D-C0F4-F319-0C61-2B9DC0782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421289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A73C448C-CFA3-3CC7-A781-736254283D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7910BC-D344-4835-AB01-D1419B5DF998}" type="slidenum">
              <a:rPr lang="ru-RU" altLang="ru-RU">
                <a:latin typeface="Calibri" panose="020F0502020204030204" pitchFamily="34" charset="0"/>
              </a:rPr>
              <a:pPr eaLnBrk="1" hangingPunct="1"/>
              <a:t>78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30B63FEE-80F2-0247-DED6-CA5B85A8B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C0CA0138-0356-23C8-1CB8-1621CBB5A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628460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25A69654-CB66-A553-F0AE-0B50554897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0510DBA-3226-4409-95C3-69721ED9624A}" type="slidenum">
              <a:rPr lang="ru-RU" altLang="ru-RU">
                <a:latin typeface="Calibri" panose="020F0502020204030204" pitchFamily="34" charset="0"/>
              </a:rPr>
              <a:pPr eaLnBrk="1" hangingPunct="1"/>
              <a:t>79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ADE88AC7-5B32-4C39-150F-711606D2F4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F3122AF3-A5C8-96AB-EA40-C05A73191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7113268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23AC9C5F-5868-4AF1-93E1-097AF73B7C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D26498-37B1-46A7-8ECC-0324448EE3C8}" type="slidenum">
              <a:rPr lang="ru-RU" altLang="ru-RU">
                <a:latin typeface="Calibri" panose="020F0502020204030204" pitchFamily="34" charset="0"/>
              </a:rPr>
              <a:pPr eaLnBrk="1" hangingPunct="1"/>
              <a:t>80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2035" name="Rectangle 2">
            <a:extLst>
              <a:ext uri="{FF2B5EF4-FFF2-40B4-BE49-F238E27FC236}">
                <a16:creationId xmlns:a16="http://schemas.microsoft.com/office/drawing/2014/main" id="{17B8237F-5B7A-1098-B006-48D7B4ADDA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6" name="Rectangle 3">
            <a:extLst>
              <a:ext uri="{FF2B5EF4-FFF2-40B4-BE49-F238E27FC236}">
                <a16:creationId xmlns:a16="http://schemas.microsoft.com/office/drawing/2014/main" id="{95564CCF-07A8-E3E0-C9AC-B99EC5D1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9528625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>
            <a:extLst>
              <a:ext uri="{FF2B5EF4-FFF2-40B4-BE49-F238E27FC236}">
                <a16:creationId xmlns:a16="http://schemas.microsoft.com/office/drawing/2014/main" id="{9C3AD8B8-D5CB-DFEC-477A-32A83C64A6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7218E3-092C-47EA-9E80-D28F2B20DF70}" type="slidenum">
              <a:rPr lang="ru-RU" altLang="ru-RU">
                <a:latin typeface="Calibri" panose="020F0502020204030204" pitchFamily="34" charset="0"/>
              </a:rPr>
              <a:pPr eaLnBrk="1" hangingPunct="1"/>
              <a:t>81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3EE55352-16E4-1041-2B9D-42D72AC0A7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41053E0E-84A0-8ED2-A768-E735CA0AB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6643438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C3694C48-4F3E-98CF-3ED6-0458A83B7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40F877-053A-45AE-9DAB-5EE454299A7C}" type="slidenum">
              <a:rPr lang="ru-RU" altLang="ru-RU">
                <a:latin typeface="Calibri" panose="020F0502020204030204" pitchFamily="34" charset="0"/>
              </a:rPr>
              <a:pPr eaLnBrk="1" hangingPunct="1"/>
              <a:t>82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47BD6A89-96B1-552D-5956-64A0C5C8B6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633680CA-6E69-871E-B076-67F3C6FF0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18978079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0981A63B-2C91-9EF5-B377-D9AE63E46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A50E1B0-EA00-47FD-8DE5-67F6C5E0B217}" type="slidenum">
              <a:rPr lang="ru-RU" altLang="ru-RU">
                <a:latin typeface="Calibri" panose="020F0502020204030204" pitchFamily="34" charset="0"/>
              </a:rPr>
              <a:pPr eaLnBrk="1" hangingPunct="1"/>
              <a:t>83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6131" name="Rectangle 2">
            <a:extLst>
              <a:ext uri="{FF2B5EF4-FFF2-40B4-BE49-F238E27FC236}">
                <a16:creationId xmlns:a16="http://schemas.microsoft.com/office/drawing/2014/main" id="{22EB47FD-F6A1-5773-70E7-558EFF37E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2" name="Rectangle 3">
            <a:extLst>
              <a:ext uri="{FF2B5EF4-FFF2-40B4-BE49-F238E27FC236}">
                <a16:creationId xmlns:a16="http://schemas.microsoft.com/office/drawing/2014/main" id="{AC083DD8-C5F0-EA91-204D-155F2C7B3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6879019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>
            <a:extLst>
              <a:ext uri="{FF2B5EF4-FFF2-40B4-BE49-F238E27FC236}">
                <a16:creationId xmlns:a16="http://schemas.microsoft.com/office/drawing/2014/main" id="{CECABB29-325C-E2A2-C989-1C79B6F3A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A65E25-D813-4BEE-AB22-1BAC59FAF37D}" type="slidenum">
              <a:rPr lang="ru-RU" altLang="ru-RU">
                <a:latin typeface="Calibri" panose="020F0502020204030204" pitchFamily="34" charset="0"/>
              </a:rPr>
              <a:pPr eaLnBrk="1" hangingPunct="1"/>
              <a:t>84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D04096A8-46F1-6EB3-903D-2B81F31550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F0FA3537-5315-3846-8764-D05CFF30E7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3355691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512CA6E8-E836-94D6-59F6-2514E62F77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ECC775-3DCA-4905-AE8A-A2EE79981955}" type="slidenum">
              <a:rPr lang="ru-RU" altLang="ru-RU">
                <a:latin typeface="Calibri" panose="020F0502020204030204" pitchFamily="34" charset="0"/>
              </a:rPr>
              <a:pPr eaLnBrk="1" hangingPunct="1"/>
              <a:t>85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B4F2FA72-2A66-2902-CA47-C4AD1E4631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044D2C9C-2577-8D69-B257-9C7F861AF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3687792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>
            <a:extLst>
              <a:ext uri="{FF2B5EF4-FFF2-40B4-BE49-F238E27FC236}">
                <a16:creationId xmlns:a16="http://schemas.microsoft.com/office/drawing/2014/main" id="{44511865-D75E-B6F4-CD06-32638650F2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85E4DD-34C1-40A3-ABD2-A73E6F86DC24}" type="slidenum">
              <a:rPr lang="ru-RU" altLang="ru-RU">
                <a:latin typeface="Calibri" panose="020F0502020204030204" pitchFamily="34" charset="0"/>
              </a:rPr>
              <a:pPr eaLnBrk="1" hangingPunct="1"/>
              <a:t>86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88419" name="Rectangle 2">
            <a:extLst>
              <a:ext uri="{FF2B5EF4-FFF2-40B4-BE49-F238E27FC236}">
                <a16:creationId xmlns:a16="http://schemas.microsoft.com/office/drawing/2014/main" id="{FDB7E7C1-5319-D172-48BE-941668E04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20" name="Rectangle 3">
            <a:extLst>
              <a:ext uri="{FF2B5EF4-FFF2-40B4-BE49-F238E27FC236}">
                <a16:creationId xmlns:a16="http://schemas.microsoft.com/office/drawing/2014/main" id="{32735064-0458-05E0-8A77-53842E212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651468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5320AF51-B779-D419-6368-EE17CAA236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BE1BC55-40EA-43F9-8094-A11AA9658757}" type="slidenum">
              <a:rPr lang="ru-RU" altLang="ru-RU">
                <a:latin typeface="Calibri" panose="020F0502020204030204" pitchFamily="34" charset="0"/>
              </a:rPr>
              <a:pPr eaLnBrk="1" hangingPunct="1"/>
              <a:t>87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0467" name="Rectangle 2">
            <a:extLst>
              <a:ext uri="{FF2B5EF4-FFF2-40B4-BE49-F238E27FC236}">
                <a16:creationId xmlns:a16="http://schemas.microsoft.com/office/drawing/2014/main" id="{7D91F84F-025D-C1F7-6C87-C91E8469E0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0468" name="Rectangle 3">
            <a:extLst>
              <a:ext uri="{FF2B5EF4-FFF2-40B4-BE49-F238E27FC236}">
                <a16:creationId xmlns:a16="http://schemas.microsoft.com/office/drawing/2014/main" id="{F641BAE6-3665-9ADE-77EC-77BCA25E3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1246474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>
            <a:extLst>
              <a:ext uri="{FF2B5EF4-FFF2-40B4-BE49-F238E27FC236}">
                <a16:creationId xmlns:a16="http://schemas.microsoft.com/office/drawing/2014/main" id="{BB8C1162-3582-3DA2-0208-C5AC8BA578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5883B8-BA33-4194-8F5C-E62E6CE05DAE}" type="slidenum">
              <a:rPr lang="ru-RU" altLang="ru-RU">
                <a:latin typeface="Calibri" panose="020F0502020204030204" pitchFamily="34" charset="0"/>
              </a:rPr>
              <a:pPr eaLnBrk="1" hangingPunct="1"/>
              <a:t>88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1491" name="Rectangle 2">
            <a:extLst>
              <a:ext uri="{FF2B5EF4-FFF2-40B4-BE49-F238E27FC236}">
                <a16:creationId xmlns:a16="http://schemas.microsoft.com/office/drawing/2014/main" id="{FED520D9-F4A9-CA6F-1312-0C37D70A5E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1492" name="Rectangle 3">
            <a:extLst>
              <a:ext uri="{FF2B5EF4-FFF2-40B4-BE49-F238E27FC236}">
                <a16:creationId xmlns:a16="http://schemas.microsoft.com/office/drawing/2014/main" id="{370B2D41-51D4-B2E9-9931-CD8F2EC090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7139356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>
            <a:extLst>
              <a:ext uri="{FF2B5EF4-FFF2-40B4-BE49-F238E27FC236}">
                <a16:creationId xmlns:a16="http://schemas.microsoft.com/office/drawing/2014/main" id="{BC053AF3-E0A5-26CF-8177-6D2A498BD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F9419A-1044-4132-8136-D61AB484B683}" type="slidenum">
              <a:rPr lang="ru-RU" altLang="ru-RU">
                <a:latin typeface="Calibri" panose="020F0502020204030204" pitchFamily="34" charset="0"/>
              </a:rPr>
              <a:pPr eaLnBrk="1" hangingPunct="1"/>
              <a:t>89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F42C5A9A-71CD-E944-9E4E-6D88853D7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5B795D8B-5664-7C7A-85F3-BD5565D55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2207381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>
            <a:extLst>
              <a:ext uri="{FF2B5EF4-FFF2-40B4-BE49-F238E27FC236}">
                <a16:creationId xmlns:a16="http://schemas.microsoft.com/office/drawing/2014/main" id="{FEDF005F-8A37-EA62-AA1B-AE5EB06760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0DF41E3-EBC1-484B-86E0-9B27DE9DF341}" type="slidenum">
              <a:rPr lang="ru-RU" altLang="ru-RU">
                <a:latin typeface="Calibri" panose="020F0502020204030204" pitchFamily="34" charset="0"/>
              </a:rPr>
              <a:pPr eaLnBrk="1" hangingPunct="1"/>
              <a:t>90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3841A3AF-4565-892C-5907-4972DF9D4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83FE5796-0698-7E83-0238-52388DA0D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28219872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>
            <a:extLst>
              <a:ext uri="{FF2B5EF4-FFF2-40B4-BE49-F238E27FC236}">
                <a16:creationId xmlns:a16="http://schemas.microsoft.com/office/drawing/2014/main" id="{B42AC3B5-164C-829C-7256-11D42C9244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EA383E-865A-4A92-AD34-B42F53F6A45E}" type="slidenum">
              <a:rPr lang="ru-RU" altLang="ru-RU">
                <a:latin typeface="Calibri" panose="020F0502020204030204" pitchFamily="34" charset="0"/>
              </a:rPr>
              <a:pPr eaLnBrk="1" hangingPunct="1"/>
              <a:t>91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194563" name="Rectangle 2">
            <a:extLst>
              <a:ext uri="{FF2B5EF4-FFF2-40B4-BE49-F238E27FC236}">
                <a16:creationId xmlns:a16="http://schemas.microsoft.com/office/drawing/2014/main" id="{CE0468B5-07EF-6A60-086C-265811415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4" name="Rectangle 3">
            <a:extLst>
              <a:ext uri="{FF2B5EF4-FFF2-40B4-BE49-F238E27FC236}">
                <a16:creationId xmlns:a16="http://schemas.microsoft.com/office/drawing/2014/main" id="{FAC43576-D9DD-09E9-100A-D85DBE8ED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1823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B8EA6-0BB8-47BA-B853-D8F513687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5E7F76-6EBB-7098-60C1-D7BA3DB6A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52A2DF-8E96-A318-77A0-8EFD43F6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43F565-758A-409F-9F6C-61783E319620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6531E1-41AE-A1D4-D10C-8AAE36D6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00726-1948-C9F5-F699-1EFC56F5B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E4694-4F83-4E95-9A25-BE32E8658FE3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2666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E1E70-C259-BEB6-7372-FCB79EE8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2AC742-0A6E-B05A-9D5F-418E02BF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812826-AE57-A1B2-5C5D-3C94795C6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A2DA25-4492-4900-B4D7-F6136300315E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C715C-93B0-52CB-FD8C-4EAAE443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78587-8D5E-0634-16F1-AD72C38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CAC19-A1BF-4EB6-91E4-29AD74F53739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8269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F2E14-AE01-B949-68B4-7506DE6C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C66571-C33F-5BDE-CD56-4052B33B8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827DC2-AD32-ACFB-899D-A8A020D2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3D1CA5-E8DE-4F16-9882-CB76A523D2DD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D65D06-8925-4689-BB55-F88C957F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52608E-4E42-14C4-C002-D9369D30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9DE1E-480D-42DB-A5EE-2CBFD2EB2250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8377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ABD958-4D6B-FA54-82AD-9ECFABA84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5564FA-1313-DFFC-A077-F7469D8B85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7C20D1-B484-B2DB-E8BB-0B4133E6D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694241-5E21-BDA6-CA40-10BBEAEA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052D55-0A71-4E92-AE3D-A5F8841A09F3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D9CDE5-1552-8E59-518D-BA06C1CB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45A3BB-0411-D5C9-A965-4009C0A0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1276-F6FB-4E2D-A16E-250E631C8DC7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0908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93A15-C1B2-9DBF-F41E-9FD3D382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C6014A-D27A-D953-7BDD-F2A6A6408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8765C5-0124-EE58-8026-2E2771592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738898-B7AF-75F4-CFDD-D91D2CF61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35B88A-8A54-17C9-6DD7-FA751A4601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18B871B-755B-0A3F-F373-ADF6FE2E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FD9BC6-41F5-412B-A61C-A6CFFFE689C6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958B12-B6AB-91C5-2045-EDB41609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AC5983-1ABC-B817-1D26-C266B3DD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DE7F5-DE24-4309-BDBE-6B3B387BF009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69646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66D164-539A-4803-C5E7-00E1274D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40FBC0-D245-22D0-549A-0B0BE868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DAB6D2-89EC-47DA-A945-B609C82004EC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A5ED85-EEA2-39E4-A805-2EC5EFBB4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5FD7F2-A60E-18F7-F3F0-452472BF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54686-50E2-4CDC-ACA1-4A569735C20E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7678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0F1B81F-47CA-B3A2-94BD-786B28F6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12AA05-D8EA-4016-8351-92D96DABB6B3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F15F01-BD14-60B2-B786-9D1D9196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CD984A-7CC8-1677-BB20-0FB6A557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027EA-5B10-46F4-BA06-BDB385BD5A8B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8502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083A5-149D-A9B9-E721-F05C2E5D8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90B7F7-1637-C00B-B162-82556F266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15F590-FD07-BA53-1ECF-9B641723E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AE9492-1D25-8A5D-7ED4-16826D4FD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711984-F624-4D08-ACBA-3BEA5189D8A5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3EA88D-C480-D7E3-FE1E-F307B3FB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5220B5-0270-7901-D7B4-19D4F223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78B61-36D2-426E-B3A4-E76595814A8B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6749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ED047-048E-E7F2-BF4E-FAAA402B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35E7659-2F45-FB12-0A2C-61A2E4810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8033F-0396-7D68-599D-76F5E2714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C32977-E707-EE66-4334-FBA59FFC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26A5EC-05F2-44CA-BBC6-EF8D3CB73E99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2DA3F2-77F9-BCDF-3E0D-7F67C554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5146D6-9031-4750-9BA1-3F862586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38CDD-CEF4-4047-865C-B315CF05667E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1589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ADB83-A212-2765-D0C7-069A42E6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366B1-45D8-330B-38D4-FAF3DB000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A53DB3-20D4-9038-5B8A-3923AF26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58B202-AC43-4A8F-BF73-ABDA881E163D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D38CD6-BB0F-94D3-5ED2-14AAADDD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8AA007-CD33-CC76-DFDE-8B718014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5D4B3-476F-42EE-9B7C-218EBA398AC3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337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CEEB43-010F-327E-36D5-74759D65F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E05DC0-8B51-B2F7-ABC3-4A35F8570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89818A-EF8F-E22D-D283-17D865E4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91889F-8489-4A0F-9A82-0B79C4A4DE25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2523A9-CC86-1B14-BB88-36B726B0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D09102-2AC8-6642-60B4-4060C1C4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AAC86-6ABE-4664-B8F3-41512A4D3DDA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50671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Заголовок и два объекта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576917" y="2017713"/>
            <a:ext cx="50800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EE958B7E-D496-C043-7EDF-26039BCA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A05661D4-2FC1-B6CE-6EE6-FF78B5BB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E13DCD9-7BEC-07B5-EFDB-4090C671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5B44437-BB92-4871-BD41-373495267F5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7754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Заголовок и объект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9F3A38-BC2E-6DDF-72A0-EF178B8E20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6AD95A-E61D-E752-C240-4AB63949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3279AA-FDCE-D1EA-B3EA-4BA53865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1817C33-8F27-446E-8771-524C86AED32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63410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7E344F-C0CB-0541-A53E-EDC986072A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51A853-EC70-1BDE-5CEF-87350E37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517826-03A0-6DFD-6B55-63D6FC10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4FAF45B0-0365-4C5C-9CB0-DE08E7C9DDB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9203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D7FD5-1BC7-73E5-0D2A-4F8033C2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FF13F7-F93B-53EE-3E8B-C34620C94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B345E1-F9C4-E2D1-8BAD-395795454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AE5F972-270B-421B-9AD7-9D03B5D9D443}" type="datetimeFigureOut">
              <a:rPr lang="ru-RU" smtClean="0"/>
              <a:pPr>
                <a:defRPr/>
              </a:pPr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76C8E0-D0B7-4267-5740-F3217B381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79A634-2ECE-1406-173B-CF67B9A56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12A30-DBF2-4F0A-9A5F-C2C73FEDF60C}" type="slidenum">
              <a:rPr lang="ru-RU" altLang="ru-RU" smtClean="0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5395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d2d1/nf-d2d1-d2d1createfactory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d2d1/nn-d2d1-id2d1hwndrendertarget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9753E0-C67F-4C05-ABA6-39889B93F2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ru-RU" dirty="0"/>
              <a:t>Программирование </a:t>
            </a:r>
            <a:r>
              <a:rPr lang="en-US" dirty="0"/>
              <a:t>2D </a:t>
            </a:r>
            <a:r>
              <a:rPr lang="ru-RU" dirty="0"/>
              <a:t>графики в </a:t>
            </a:r>
            <a:r>
              <a:rPr lang="en-US" dirty="0"/>
              <a:t>Windows</a:t>
            </a:r>
            <a:endParaRPr lang="ru-R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21E8077-F047-8F0F-3B76-AB9B91A2C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ECE53E1-6DAA-AD44-F878-04D5576D8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GDI </a:t>
            </a:r>
            <a:r>
              <a:rPr lang="ru-RU" altLang="ru-RU"/>
              <a:t>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CF8E79B-FDD5-9D42-6104-43D250CABE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GDI (Graphics Device Interface) – API </a:t>
            </a:r>
            <a:r>
              <a:rPr lang="ru-RU" altLang="ru-RU"/>
              <a:t>фирмы </a:t>
            </a:r>
            <a:r>
              <a:rPr lang="en-US" altLang="ru-RU"/>
              <a:t>Microsoft</a:t>
            </a:r>
            <a:r>
              <a:rPr lang="ru-RU" altLang="ru-RU"/>
              <a:t> для аппаратно-независимого программирования различных графических устройств</a:t>
            </a:r>
          </a:p>
          <a:p>
            <a:pPr lvl="1" eaLnBrk="1" hangingPunct="1"/>
            <a:r>
              <a:rPr lang="ru-RU" altLang="ru-RU"/>
              <a:t>Видеоадаптеры</a:t>
            </a:r>
          </a:p>
          <a:p>
            <a:pPr lvl="1" eaLnBrk="1" hangingPunct="1"/>
            <a:r>
              <a:rPr lang="ru-RU" altLang="ru-RU"/>
              <a:t>Принтеры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67FCC7B-4322-99F1-9ACC-E86B621C3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Эволюция </a:t>
            </a:r>
            <a:r>
              <a:rPr lang="en-US" altLang="ru-RU"/>
              <a:t>GDI</a:t>
            </a:r>
            <a:endParaRPr lang="ru-RU" altLang="ru-RU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5435E82-8CAA-515F-0C95-C8CF396C1A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/>
              <a:t>Изначально разработана для </a:t>
            </a:r>
            <a:r>
              <a:rPr lang="en-US" altLang="ru-RU" sz="2800"/>
              <a:t>Windows 3.1</a:t>
            </a:r>
            <a:endParaRPr lang="ru-RU" altLang="ru-RU" sz="2800"/>
          </a:p>
          <a:p>
            <a:pPr lvl="1" eaLnBrk="1" hangingPunct="1"/>
            <a:r>
              <a:rPr lang="ru-RU" altLang="ru-RU"/>
              <a:t>16-битное графическое ядро по наследству перешло и в </a:t>
            </a:r>
            <a:r>
              <a:rPr lang="en-US" altLang="ru-RU"/>
              <a:t>Windows 95/98</a:t>
            </a:r>
            <a:endParaRPr lang="ru-RU" altLang="ru-RU"/>
          </a:p>
          <a:p>
            <a:pPr lvl="1" eaLnBrk="1" hangingPunct="1"/>
            <a:r>
              <a:rPr lang="ru-RU" altLang="ru-RU"/>
              <a:t>В </a:t>
            </a:r>
            <a:r>
              <a:rPr lang="en-US" altLang="ru-RU"/>
              <a:t>Window</a:t>
            </a:r>
            <a:r>
              <a:rPr lang="ru-RU" altLang="ru-RU"/>
              <a:t> </a:t>
            </a:r>
            <a:r>
              <a:rPr lang="en-US" altLang="ru-RU"/>
              <a:t>NT/2000+ </a:t>
            </a:r>
            <a:r>
              <a:rPr lang="ru-RU" altLang="ru-RU"/>
              <a:t>используется 32-битное графическое ядро, предоставляющее больше возможностей</a:t>
            </a:r>
          </a:p>
          <a:p>
            <a:pPr eaLnBrk="1" hangingPunct="1"/>
            <a:r>
              <a:rPr lang="en-US" altLang="ru-RU" sz="2800"/>
              <a:t>GDI+ </a:t>
            </a:r>
            <a:r>
              <a:rPr lang="ru-RU" altLang="ru-RU" sz="2800"/>
              <a:t>- это новое</a:t>
            </a:r>
            <a:r>
              <a:rPr lang="en-US" altLang="ru-RU" sz="2800"/>
              <a:t> </a:t>
            </a:r>
            <a:r>
              <a:rPr lang="ru-RU" altLang="ru-RU" sz="2800"/>
              <a:t>графическое </a:t>
            </a:r>
            <a:r>
              <a:rPr lang="en-US" altLang="ru-RU" sz="2800"/>
              <a:t>API</a:t>
            </a:r>
            <a:r>
              <a:rPr lang="ru-RU" altLang="ru-RU" sz="2800"/>
              <a:t>, появившееся в </a:t>
            </a:r>
            <a:r>
              <a:rPr lang="en-US" altLang="ru-RU" sz="2800"/>
              <a:t>Windows XP/2003 Server</a:t>
            </a:r>
            <a:endParaRPr lang="ru-RU" altLang="ru-RU" sz="2800"/>
          </a:p>
          <a:p>
            <a:pPr lvl="1" eaLnBrk="1" hangingPunct="1"/>
            <a:r>
              <a:rPr lang="ru-RU" altLang="ru-RU"/>
              <a:t>Объектно-ориентированный интерфейс предоставленный в виде набора </a:t>
            </a:r>
            <a:r>
              <a:rPr lang="en-US" altLang="ru-RU"/>
              <a:t>C++ </a:t>
            </a:r>
            <a:r>
              <a:rPr lang="ru-RU" altLang="ru-RU"/>
              <a:t>классов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50AF911-A959-BCC2-C5F4-6A8AC9322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GDI </a:t>
            </a:r>
            <a:r>
              <a:rPr lang="ru-RU"/>
              <a:t>с точки зрения программиста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62927EE-C6DF-BF68-9273-6BAD97619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ru-RU" sz="2800"/>
              <a:t>GDI </a:t>
            </a:r>
            <a:r>
              <a:rPr lang="ru-RU" altLang="ru-RU" sz="2800"/>
              <a:t>– это библиотека, содержащая сотни функций, доступных из прикладных программ</a:t>
            </a:r>
          </a:p>
          <a:p>
            <a:pPr lvl="1" eaLnBrk="1" hangingPunct="1"/>
            <a:r>
              <a:rPr lang="en-US" altLang="ru-RU"/>
              <a:t>GDI32.DLL</a:t>
            </a:r>
            <a:r>
              <a:rPr lang="ru-RU" altLang="ru-RU"/>
              <a:t> - динамически линкуемая библиотека содержащая реализацию этих функций</a:t>
            </a:r>
          </a:p>
          <a:p>
            <a:pPr lvl="2" eaLnBrk="1" hangingPunct="1"/>
            <a:r>
              <a:rPr lang="en-US" altLang="ru-RU" sz="2000"/>
              <a:t>Gdi32.lib</a:t>
            </a:r>
            <a:r>
              <a:rPr lang="ru-RU" altLang="ru-RU" sz="2000"/>
              <a:t> - содержит ссылки на эти функции</a:t>
            </a:r>
          </a:p>
          <a:p>
            <a:pPr lvl="1" eaLnBrk="1" hangingPunct="1"/>
            <a:r>
              <a:rPr lang="ru-RU" altLang="ru-RU"/>
              <a:t>Wingdi.h – заголовочный файл, содержащий объявления функций, типов библиотеки </a:t>
            </a:r>
            <a:r>
              <a:rPr lang="en-US" altLang="ru-RU"/>
              <a:t>GDI</a:t>
            </a:r>
            <a:endParaRPr lang="ru-RU" alt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D41505-A287-BE5D-E7BC-0F17B4232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Абстрагирование различных графических устройств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D4C84A4-D86F-E441-2699-444963D0D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/>
              <a:t>Аппаратно-независимый </a:t>
            </a:r>
            <a:r>
              <a:rPr lang="en-US" altLang="ru-RU"/>
              <a:t>API </a:t>
            </a:r>
            <a:r>
              <a:rPr lang="ru-RU" altLang="ru-RU"/>
              <a:t>должен хорошо абстрагировать разнообразные графических устройства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/>
              <a:t>Предоставлять возможности всевозможных устройств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/>
              <a:t>Скрывать различия между различными устройствами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В </a:t>
            </a:r>
            <a:r>
              <a:rPr lang="en-US" altLang="ru-RU"/>
              <a:t>GDI </a:t>
            </a:r>
            <a:r>
              <a:rPr lang="ru-RU" altLang="ru-RU"/>
              <a:t>данную абстракцию осуществляет </a:t>
            </a:r>
            <a:r>
              <a:rPr lang="ru-RU" altLang="ru-RU" b="1"/>
              <a:t>Контекст Устройства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82801F7-91BC-707B-35CC-6830AA7FB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/>
              <a:t>Многоуровневая архитектура графической подсистемы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588749-8562-5F37-DBEC-87B630FFFC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Верхний слой – клиентские </a:t>
            </a:r>
            <a:r>
              <a:rPr lang="en-US" altLang="ru-RU" sz="2800" dirty="0"/>
              <a:t>API</a:t>
            </a:r>
            <a:endParaRPr lang="ru-RU" altLang="ru-RU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ru-RU" dirty="0"/>
              <a:t>GDI, Direct2D, Direct3D, OpenGL, GDI+</a:t>
            </a:r>
            <a:endParaRPr lang="ru-RU" altLang="ru-RU" dirty="0"/>
          </a:p>
          <a:p>
            <a:pPr lvl="2" eaLnBrk="1" hangingPunct="1">
              <a:lnSpc>
                <a:spcPct val="90000"/>
              </a:lnSpc>
            </a:pPr>
            <a:r>
              <a:rPr lang="ru-RU" altLang="ru-RU" sz="2000" dirty="0"/>
              <a:t>используются прикладными программами</a:t>
            </a:r>
          </a:p>
          <a:p>
            <a:pPr lvl="2" eaLnBrk="1" hangingPunct="1">
              <a:lnSpc>
                <a:spcPct val="90000"/>
              </a:lnSpc>
            </a:pPr>
            <a:r>
              <a:rPr lang="ru-RU" altLang="ru-RU" sz="2000" dirty="0"/>
              <a:t>Находятся в адресном пространстве приложения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Средний слой – т.н. </a:t>
            </a:r>
            <a:r>
              <a:rPr lang="en-US" altLang="ru-RU" sz="2800" dirty="0"/>
              <a:t>Graphics Engine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 dirty="0"/>
              <a:t>Часть ядра ОС</a:t>
            </a:r>
          </a:p>
          <a:p>
            <a:pPr lvl="2" eaLnBrk="1" hangingPunct="1">
              <a:lnSpc>
                <a:spcPct val="90000"/>
              </a:lnSpc>
            </a:pPr>
            <a:r>
              <a:rPr lang="ru-RU" altLang="ru-RU" sz="2000" dirty="0"/>
              <a:t>Содержит сотни функций, используемых верхним слоем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 dirty="0"/>
              <a:t>Нижний слой – драйвер устройства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 dirty="0"/>
              <a:t>Осуществляет непосредственное взаимодействие с графическим устройством</a:t>
            </a:r>
          </a:p>
          <a:p>
            <a:pPr lvl="2" eaLnBrk="1" hangingPunct="1">
              <a:lnSpc>
                <a:spcPct val="90000"/>
              </a:lnSpc>
            </a:pPr>
            <a:r>
              <a:rPr lang="ru-RU" altLang="ru-RU" sz="2000" dirty="0"/>
              <a:t>Используется средним слоем для доступа к устройству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FD3A3B64-5D86-25C5-4532-5E863E65E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196976"/>
            <a:ext cx="2952750" cy="504825"/>
          </a:xfrm>
          <a:prstGeom prst="rect">
            <a:avLst/>
          </a:prstGeom>
          <a:solidFill>
            <a:srgbClr val="B3EF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Приложение</a:t>
            </a: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FD1D80B6-8CDE-4388-FFDE-A6121CAE6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276476"/>
            <a:ext cx="2952750" cy="504825"/>
          </a:xfrm>
          <a:prstGeom prst="rect">
            <a:avLst/>
          </a:prstGeom>
          <a:solidFill>
            <a:srgbClr val="B3EF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/>
              <a:t>GDI</a:t>
            </a:r>
            <a:endParaRPr lang="ru-RU" altLang="ru-RU" sz="1800"/>
          </a:p>
        </p:txBody>
      </p:sp>
      <p:sp>
        <p:nvSpPr>
          <p:cNvPr id="14340" name="Rectangle 7">
            <a:extLst>
              <a:ext uri="{FF2B5EF4-FFF2-40B4-BE49-F238E27FC236}">
                <a16:creationId xmlns:a16="http://schemas.microsoft.com/office/drawing/2014/main" id="{76EA219A-82DD-C364-53F3-0A55C207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355976"/>
            <a:ext cx="2952750" cy="504825"/>
          </a:xfrm>
          <a:prstGeom prst="rect">
            <a:avLst/>
          </a:prstGeom>
          <a:solidFill>
            <a:srgbClr val="B3EF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/>
              <a:t>Graphics Engine</a:t>
            </a:r>
            <a:endParaRPr lang="ru-RU" altLang="ru-RU" sz="1800"/>
          </a:p>
        </p:txBody>
      </p:sp>
      <p:sp>
        <p:nvSpPr>
          <p:cNvPr id="14341" name="Rectangle 8">
            <a:extLst>
              <a:ext uri="{FF2B5EF4-FFF2-40B4-BE49-F238E27FC236}">
                <a16:creationId xmlns:a16="http://schemas.microsoft.com/office/drawing/2014/main" id="{838A1E57-5362-3D51-2CA7-84C1CB715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435476"/>
            <a:ext cx="2952750" cy="504825"/>
          </a:xfrm>
          <a:prstGeom prst="rect">
            <a:avLst/>
          </a:prstGeom>
          <a:solidFill>
            <a:srgbClr val="B3EF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Драйвер устройства</a:t>
            </a:r>
          </a:p>
        </p:txBody>
      </p:sp>
      <p:sp>
        <p:nvSpPr>
          <p:cNvPr id="14342" name="Rectangle 9">
            <a:extLst>
              <a:ext uri="{FF2B5EF4-FFF2-40B4-BE49-F238E27FC236}">
                <a16:creationId xmlns:a16="http://schemas.microsoft.com/office/drawing/2014/main" id="{50D370E7-0A5B-0E49-7960-2D61DBC38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5561014"/>
            <a:ext cx="2952750" cy="504825"/>
          </a:xfrm>
          <a:prstGeom prst="rect">
            <a:avLst/>
          </a:prstGeom>
          <a:solidFill>
            <a:srgbClr val="B3EFE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Аппаратное устройство</a:t>
            </a:r>
          </a:p>
        </p:txBody>
      </p:sp>
      <p:sp>
        <p:nvSpPr>
          <p:cNvPr id="14343" name="AutoShape 10">
            <a:extLst>
              <a:ext uri="{FF2B5EF4-FFF2-40B4-BE49-F238E27FC236}">
                <a16:creationId xmlns:a16="http://schemas.microsoft.com/office/drawing/2014/main" id="{F23D76FD-A182-36A9-6DED-A87F7F365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00213"/>
            <a:ext cx="433388" cy="576262"/>
          </a:xfrm>
          <a:prstGeom prst="upDownArrow">
            <a:avLst>
              <a:gd name="adj1" fmla="val 36259"/>
              <a:gd name="adj2" fmla="val 3901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4344" name="AutoShape 11">
            <a:extLst>
              <a:ext uri="{FF2B5EF4-FFF2-40B4-BE49-F238E27FC236}">
                <a16:creationId xmlns:a16="http://schemas.microsoft.com/office/drawing/2014/main" id="{97DC414F-DE42-3D69-ACD1-0765B2B3B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779713"/>
            <a:ext cx="433388" cy="576262"/>
          </a:xfrm>
          <a:prstGeom prst="upDownArrow">
            <a:avLst>
              <a:gd name="adj1" fmla="val 36259"/>
              <a:gd name="adj2" fmla="val 3901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4345" name="AutoShape 12">
            <a:extLst>
              <a:ext uri="{FF2B5EF4-FFF2-40B4-BE49-F238E27FC236}">
                <a16:creationId xmlns:a16="http://schemas.microsoft.com/office/drawing/2014/main" id="{9CC84FDC-3B1E-7237-CF08-116BB01AA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859213"/>
            <a:ext cx="433388" cy="576262"/>
          </a:xfrm>
          <a:prstGeom prst="upDownArrow">
            <a:avLst>
              <a:gd name="adj1" fmla="val 36259"/>
              <a:gd name="adj2" fmla="val 3901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14346" name="AutoShape 13">
            <a:extLst>
              <a:ext uri="{FF2B5EF4-FFF2-40B4-BE49-F238E27FC236}">
                <a16:creationId xmlns:a16="http://schemas.microsoft.com/office/drawing/2014/main" id="{2EEFC5CE-EFDC-CB76-4820-2BC5DE713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940301"/>
            <a:ext cx="433388" cy="576263"/>
          </a:xfrm>
          <a:prstGeom prst="upDownArrow">
            <a:avLst>
              <a:gd name="adj1" fmla="val 36259"/>
              <a:gd name="adj2" fmla="val 3901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5761B14-F781-D09B-27B0-CBAD93591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Device Context - </a:t>
            </a:r>
            <a:r>
              <a:rPr lang="ru-RU"/>
              <a:t>Контекст устройства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5259414-CC68-5E69-986A-3BE7B17D5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Внутренняя структура данных графической системы, служащая для взаимодействия с драйвером графического устройства</a:t>
            </a:r>
          </a:p>
          <a:p>
            <a:pPr lvl="1" eaLnBrk="1" hangingPunct="1"/>
            <a:r>
              <a:rPr lang="ru-RU" altLang="ru-RU" dirty="0"/>
              <a:t>Обеспечивает абстракцию графического устройства</a:t>
            </a:r>
          </a:p>
          <a:p>
            <a:pPr lvl="1" eaLnBrk="1" hangingPunct="1"/>
            <a:r>
              <a:rPr lang="ru-RU" altLang="ru-RU" dirty="0"/>
              <a:t>Хранение информации о текущих графических атрибутах устройства – цвет, шрифт, кисти, перья и т.п., а также о текущем графическом режиме</a:t>
            </a:r>
          </a:p>
          <a:p>
            <a:pPr lvl="1" eaLnBrk="1" hangingPunct="1"/>
            <a:endParaRPr lang="ru-RU" alt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436E0C8-9A01-A103-13D3-4AD2B999A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Сокрытие деталей реализации контекста устройства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A840B61-039E-28D0-D5A2-69B467FF4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altLang="ru-RU" dirty="0"/>
              <a:t>Структура контекста устройства напрямую не доступна приложениям</a:t>
            </a:r>
          </a:p>
          <a:p>
            <a:pPr lvl="1"/>
            <a:r>
              <a:rPr lang="ru-RU" altLang="ru-RU" dirty="0"/>
              <a:t>Приложение получает дескриптор </a:t>
            </a:r>
            <a:r>
              <a:rPr lang="en-US" altLang="ru-RU" dirty="0"/>
              <a:t>(HANDLE) </a:t>
            </a:r>
            <a:r>
              <a:rPr lang="ru-RU" altLang="ru-RU" dirty="0"/>
              <a:t>устройства – </a:t>
            </a:r>
            <a:r>
              <a:rPr lang="en-US" altLang="ru-RU" b="1" dirty="0"/>
              <a:t>HDC</a:t>
            </a:r>
            <a:r>
              <a:rPr lang="en-US" altLang="ru-RU" dirty="0"/>
              <a:t> – 32-</a:t>
            </a:r>
            <a:r>
              <a:rPr lang="ru-RU" altLang="ru-RU" dirty="0"/>
              <a:t>битное значение </a:t>
            </a:r>
          </a:p>
          <a:p>
            <a:r>
              <a:rPr lang="ru-RU" altLang="ru-RU" dirty="0"/>
              <a:t>Функции, работающие с контекстом устройства, используют дескриптор для идентификации контекста устройства</a:t>
            </a:r>
          </a:p>
          <a:p>
            <a:pPr lvl="1"/>
            <a:r>
              <a:rPr lang="ru-RU" altLang="ru-RU" dirty="0"/>
              <a:t>Такой подход позволяет развивать структуру контекста устройства в новых версиях ОС, сохраняя совместимость с уже существующими приложениями – формат дескриптора </a:t>
            </a:r>
            <a:r>
              <a:rPr lang="ru-RU" altLang="ru-RU" dirty="0" err="1"/>
              <a:t>недокументирован</a:t>
            </a:r>
            <a:endParaRPr lang="ru-RU" alt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27D0F7-4162-E68E-4EA6-B8B449DF6B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Создание контекста устройства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6034C63-9D76-FCAC-E13E-B58633BC93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Создать контекст устройства и получить его дескриптор можно при помощи функции </a:t>
            </a:r>
            <a:r>
              <a:rPr lang="en-US" altLang="ru-RU" b="1"/>
              <a:t>CreateDC</a:t>
            </a:r>
            <a:r>
              <a:rPr lang="en-US" altLang="ru-RU"/>
              <a:t>()</a:t>
            </a:r>
          </a:p>
          <a:p>
            <a:pPr lvl="1" eaLnBrk="1" hangingPunct="1"/>
            <a:r>
              <a:rPr lang="ru-RU" altLang="ru-RU"/>
              <a:t>Данных подход позволяет создать новый контекст устройства, связанный с принтером или монитором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97B1334-8D8A-DFCC-3EA9-F23A4B3F1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/>
              <a:t>Получение контекста устройства, связанного с окном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D15106E-83C3-4AFE-9331-729424F1E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/>
              <a:t>Контекст устройства для рисования по всей поверхности окна</a:t>
            </a:r>
          </a:p>
          <a:p>
            <a:pPr lvl="1" eaLnBrk="1" hangingPunct="1"/>
            <a:r>
              <a:rPr lang="ru-RU" altLang="ru-RU" b="1"/>
              <a:t>GetWindowDC</a:t>
            </a:r>
            <a:r>
              <a:rPr lang="ru-RU" altLang="ru-RU"/>
              <a:t>()</a:t>
            </a:r>
          </a:p>
          <a:p>
            <a:pPr eaLnBrk="1" hangingPunct="1"/>
            <a:r>
              <a:rPr lang="ru-RU" altLang="ru-RU" sz="2800"/>
              <a:t>Контекст устройства для рисования по клиентской области окна</a:t>
            </a:r>
          </a:p>
          <a:p>
            <a:pPr lvl="1" eaLnBrk="1" hangingPunct="1"/>
            <a:r>
              <a:rPr lang="ru-RU" altLang="ru-RU" b="1"/>
              <a:t>GetDC</a:t>
            </a:r>
            <a:r>
              <a:rPr lang="ru-RU" altLang="ru-RU"/>
              <a:t>()</a:t>
            </a:r>
          </a:p>
          <a:p>
            <a:pPr lvl="1" eaLnBrk="1" hangingPunct="1"/>
            <a:r>
              <a:rPr lang="ru-RU" altLang="ru-RU" b="1"/>
              <a:t>GetDCEx</a:t>
            </a:r>
            <a:r>
              <a:rPr lang="ru-RU" altLang="ru-RU"/>
              <a:t>(</a:t>
            </a:r>
            <a:r>
              <a:rPr lang="en-US" altLang="ru-RU"/>
              <a:t>)</a:t>
            </a:r>
            <a:endParaRPr lang="ru-RU" altLang="ru-RU"/>
          </a:p>
          <a:p>
            <a:pPr lvl="1" eaLnBrk="1" hangingPunct="1"/>
            <a:r>
              <a:rPr lang="ru-RU" altLang="ru-RU" b="1"/>
              <a:t>BeginPaint</a:t>
            </a:r>
            <a:r>
              <a:rPr lang="ru-RU" altLang="ru-RU"/>
              <a:t>() – получение контекста устройства для рисования в области окна, требующей обновления в ответ на событие </a:t>
            </a:r>
            <a:r>
              <a:rPr lang="en-US" altLang="ru-RU"/>
              <a:t>WM_PAINT</a:t>
            </a:r>
            <a:endParaRPr lang="ru-RU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A2AEE9F-1FAD-4049-CC51-3C329BE889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Memory Device Context</a:t>
            </a:r>
            <a:endParaRPr lang="ru-RU" altLang="ru-RU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D1FD157-6FA1-41C5-693A-C3F3EB3027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dirty="0"/>
              <a:t>Memory Device Context </a:t>
            </a:r>
            <a:r>
              <a:rPr lang="ru-RU" altLang="ru-RU" dirty="0"/>
              <a:t>позволяет рисовать на растровом изображении, находящемся в памяти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 dirty="0"/>
              <a:t>Часто используется для формирования изображения на «теневом экране», которое может быть отображено на графическом устройстве</a:t>
            </a:r>
          </a:p>
          <a:p>
            <a:r>
              <a:rPr lang="ru-RU" altLang="ru-RU" dirty="0"/>
              <a:t>Создается при помощи функции </a:t>
            </a:r>
            <a:r>
              <a:rPr lang="en-US" altLang="ru-RU" b="1" dirty="0" err="1"/>
              <a:t>CreateCompatibleDC</a:t>
            </a:r>
            <a:r>
              <a:rPr lang="en-US" altLang="ru-RU" dirty="0"/>
              <a:t>()</a:t>
            </a:r>
            <a:endParaRPr lang="ru-RU" alt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2C1C1D5-AB71-6C83-B90A-DD2C66622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Удаление контекста устройства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92A8E2A-55ED-2E94-D2FA-DBE7D5D3E1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Хранение информации о контексте устройства требует определенного объема памяти</a:t>
            </a:r>
          </a:p>
          <a:p>
            <a:pPr lvl="1" eaLnBrk="1" hangingPunct="1"/>
            <a:r>
              <a:rPr lang="ru-RU" altLang="ru-RU" dirty="0"/>
              <a:t>Количество контекстов устройства в системе ограничено</a:t>
            </a:r>
          </a:p>
          <a:p>
            <a:r>
              <a:rPr lang="ru-RU" altLang="ru-RU" dirty="0"/>
              <a:t>Ставший ненужным контекст устройства, созданный при помощи </a:t>
            </a:r>
            <a:r>
              <a:rPr lang="en-US" altLang="ru-RU" b="1" dirty="0" err="1"/>
              <a:t>CreateDC</a:t>
            </a:r>
            <a:r>
              <a:rPr lang="en-US" altLang="ru-RU" dirty="0"/>
              <a:t> </a:t>
            </a:r>
            <a:r>
              <a:rPr lang="ru-RU" altLang="ru-RU" dirty="0"/>
              <a:t>или </a:t>
            </a:r>
            <a:r>
              <a:rPr lang="en-US" altLang="ru-RU" b="1" dirty="0" err="1"/>
              <a:t>CreateCompatibleDC</a:t>
            </a:r>
            <a:r>
              <a:rPr lang="ru-RU" altLang="ru-RU" dirty="0"/>
              <a:t>, необходимо удалить при помощи функции </a:t>
            </a:r>
            <a:r>
              <a:rPr lang="en-US" altLang="ru-RU" b="1" dirty="0" err="1"/>
              <a:t>DeleteDC</a:t>
            </a:r>
            <a:r>
              <a:rPr lang="en-US" altLang="ru-RU" dirty="0"/>
              <a:t>()</a:t>
            </a:r>
            <a:endParaRPr lang="ru-RU" alt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3745430-7FE4-0A07-B20E-C86F61FB8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Освобождение контекста устройства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285F70D-52C6-20B9-B0BC-2E25212FA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Контекст устройства полученный при помощи функций </a:t>
            </a:r>
            <a:r>
              <a:rPr lang="en-US" altLang="ru-RU" b="1"/>
              <a:t>GetDC</a:t>
            </a:r>
            <a:r>
              <a:rPr lang="en-US" altLang="ru-RU"/>
              <a:t>()/</a:t>
            </a:r>
            <a:r>
              <a:rPr lang="en-US" altLang="ru-RU" b="1"/>
              <a:t>GetWindowDC</a:t>
            </a:r>
            <a:r>
              <a:rPr lang="en-US" altLang="ru-RU"/>
              <a:t>()/</a:t>
            </a:r>
            <a:r>
              <a:rPr lang="en-US" altLang="ru-RU" b="1"/>
              <a:t>GetDCEx</a:t>
            </a:r>
            <a:r>
              <a:rPr lang="ru-RU" altLang="ru-RU"/>
              <a:t> необходимо освобождать при помощи функции </a:t>
            </a:r>
            <a:r>
              <a:rPr lang="en-US" altLang="ru-RU" b="1"/>
              <a:t>ReleaseDC</a:t>
            </a:r>
            <a:r>
              <a:rPr lang="en-US" altLang="ru-RU"/>
              <a:t>()</a:t>
            </a:r>
            <a:endParaRPr lang="ru-RU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C058217-223E-79EF-3E01-B31DED7FC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Обработка сообщения </a:t>
            </a:r>
            <a:r>
              <a:rPr lang="en-US"/>
              <a:t>WM_PAINT</a:t>
            </a:r>
            <a:endParaRPr lang="ru-RU"/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589CCC8A-DCB9-8957-7F49-8AB3C425E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90688"/>
            <a:ext cx="9650413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53340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defTabSz="53340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defTabSz="5334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tabLst>
                <a:tab pos="533400" algn="l"/>
              </a:tabLst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defTabSz="5334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defTabSz="5334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tabLst>
                <a:tab pos="533400" algn="l"/>
              </a:tabLst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</a:rPr>
              <a:t>LRESULT CALLBACK </a:t>
            </a:r>
            <a:r>
              <a:rPr lang="ru-RU" altLang="ru-RU" sz="1800" dirty="0" err="1">
                <a:latin typeface="Consolas" panose="020B0609020204030204" pitchFamily="49" charset="0"/>
              </a:rPr>
              <a:t>MainWndProc</a:t>
            </a:r>
            <a:r>
              <a:rPr lang="ru-RU" altLang="ru-RU" sz="1800" dirty="0">
                <a:latin typeface="Consolas" panose="020B0609020204030204" pitchFamily="49" charset="0"/>
              </a:rPr>
              <a:t>(HWND </a:t>
            </a:r>
            <a:r>
              <a:rPr lang="ru-RU" altLang="ru-RU" sz="1800" dirty="0" err="1">
                <a:latin typeface="Consolas" panose="020B0609020204030204" pitchFamily="49" charset="0"/>
              </a:rPr>
              <a:t>hWnd</a:t>
            </a:r>
            <a:r>
              <a:rPr lang="ru-RU" altLang="ru-RU" sz="1800" dirty="0">
                <a:latin typeface="Consolas" panose="020B0609020204030204" pitchFamily="49" charset="0"/>
              </a:rPr>
              <a:t>, UINT </a:t>
            </a:r>
            <a:r>
              <a:rPr lang="ru-RU" altLang="ru-RU" sz="1800" dirty="0" err="1">
                <a:latin typeface="Consolas" panose="020B0609020204030204" pitchFamily="49" charset="0"/>
              </a:rPr>
              <a:t>uMsg</a:t>
            </a:r>
            <a:r>
              <a:rPr lang="ru-RU" altLang="ru-RU" sz="1800" dirty="0">
                <a:latin typeface="Consolas" panose="020B0609020204030204" pitchFamily="49" charset="0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</a:rPr>
              <a:t>WPARAM </a:t>
            </a:r>
            <a:r>
              <a:rPr lang="ru-RU" altLang="ru-RU" sz="1800" dirty="0" err="1">
                <a:latin typeface="Consolas" panose="020B0609020204030204" pitchFamily="49" charset="0"/>
              </a:rPr>
              <a:t>wParam</a:t>
            </a:r>
            <a:r>
              <a:rPr lang="ru-RU" altLang="ru-RU" sz="1800" dirty="0">
                <a:latin typeface="Consolas" panose="020B0609020204030204" pitchFamily="49" charset="0"/>
              </a:rPr>
              <a:t>, LPARAM </a:t>
            </a:r>
            <a:r>
              <a:rPr lang="ru-RU" altLang="ru-RU" sz="1800" dirty="0" err="1">
                <a:latin typeface="Consolas" panose="020B0609020204030204" pitchFamily="49" charset="0"/>
              </a:rPr>
              <a:t>lParam</a:t>
            </a:r>
            <a:r>
              <a:rPr lang="ru-RU" altLang="ru-RU" sz="18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</a:rPr>
              <a:t>{</a:t>
            </a:r>
            <a:endParaRPr lang="en-US" altLang="ru-RU" sz="18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switch (</a:t>
            </a:r>
            <a:r>
              <a:rPr lang="en-US" altLang="ru-RU" sz="1800" dirty="0" err="1">
                <a:latin typeface="Consolas" panose="020B0609020204030204" pitchFamily="49" charset="0"/>
              </a:rPr>
              <a:t>uMsg</a:t>
            </a:r>
            <a:r>
              <a:rPr lang="en-US" altLang="ru-RU" sz="1800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case </a:t>
            </a:r>
            <a:r>
              <a:rPr lang="en-US" altLang="ru-RU" sz="1800" b="1" dirty="0">
                <a:latin typeface="Consolas" panose="020B0609020204030204" pitchFamily="49" charset="0"/>
              </a:rPr>
              <a:t>WM_PAINT</a:t>
            </a:r>
            <a:r>
              <a:rPr lang="en-US" altLang="ru-RU" sz="1800" dirty="0">
                <a:latin typeface="Consolas" panose="020B0609020204030204" pitchFamily="49" charset="0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	PAINTSTRUCT </a:t>
            </a:r>
            <a:r>
              <a:rPr lang="en-US" altLang="ru-RU" sz="1800" dirty="0" err="1">
                <a:latin typeface="Consolas" panose="020B0609020204030204" pitchFamily="49" charset="0"/>
              </a:rPr>
              <a:t>ps</a:t>
            </a:r>
            <a:r>
              <a:rPr lang="en-US" altLang="ru-RU" sz="18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	HDC dc = </a:t>
            </a:r>
            <a:r>
              <a:rPr lang="en-US" altLang="ru-RU" sz="1800" b="1" dirty="0" err="1">
                <a:latin typeface="Consolas" panose="020B0609020204030204" pitchFamily="49" charset="0"/>
              </a:rPr>
              <a:t>BeginPaint</a:t>
            </a:r>
            <a:r>
              <a:rPr lang="en-US" altLang="ru-RU" sz="1800" dirty="0">
                <a:latin typeface="Consolas" panose="020B0609020204030204" pitchFamily="49" charset="0"/>
              </a:rPr>
              <a:t>(</a:t>
            </a:r>
            <a:r>
              <a:rPr lang="en-US" altLang="ru-RU" sz="1800" dirty="0" err="1">
                <a:latin typeface="Consolas" panose="020B0609020204030204" pitchFamily="49" charset="0"/>
              </a:rPr>
              <a:t>hWnd</a:t>
            </a:r>
            <a:r>
              <a:rPr lang="en-US" altLang="ru-RU" sz="1800" dirty="0">
                <a:latin typeface="Consolas" panose="020B0609020204030204" pitchFamily="49" charset="0"/>
              </a:rPr>
              <a:t>, &amp;</a:t>
            </a:r>
            <a:r>
              <a:rPr lang="en-US" altLang="ru-RU" sz="1800" dirty="0" err="1">
                <a:latin typeface="Consolas" panose="020B0609020204030204" pitchFamily="49" charset="0"/>
              </a:rPr>
              <a:t>ps</a:t>
            </a:r>
            <a:r>
              <a:rPr lang="en-US" altLang="ru-RU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	// </a:t>
            </a:r>
            <a:r>
              <a:rPr lang="ru-RU" altLang="ru-RU" sz="1800" dirty="0">
                <a:latin typeface="Consolas" panose="020B0609020204030204" pitchFamily="49" charset="0"/>
              </a:rPr>
              <a:t>выполняем рисование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</a:rPr>
              <a:t>			</a:t>
            </a:r>
            <a:r>
              <a:rPr lang="en-US" altLang="ru-RU" sz="1800" dirty="0">
                <a:latin typeface="Consolas" panose="020B0609020204030204" pitchFamily="49" charset="0"/>
              </a:rPr>
              <a:t>// </a:t>
            </a:r>
            <a:r>
              <a:rPr lang="ru-RU" altLang="ru-RU" sz="1800" dirty="0">
                <a:latin typeface="Consolas" panose="020B0609020204030204" pitchFamily="49" charset="0"/>
              </a:rPr>
              <a:t>...</a:t>
            </a:r>
            <a:endParaRPr lang="en-US" altLang="ru-RU" sz="18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	</a:t>
            </a:r>
            <a:r>
              <a:rPr lang="en-US" altLang="ru-RU" sz="1800" b="1" dirty="0" err="1">
                <a:latin typeface="Consolas" panose="020B0609020204030204" pitchFamily="49" charset="0"/>
              </a:rPr>
              <a:t>EndPaint</a:t>
            </a:r>
            <a:r>
              <a:rPr lang="en-US" altLang="ru-RU" sz="1800" dirty="0">
                <a:latin typeface="Consolas" panose="020B0609020204030204" pitchFamily="49" charset="0"/>
              </a:rPr>
              <a:t>(</a:t>
            </a:r>
            <a:r>
              <a:rPr lang="en-US" altLang="ru-RU" sz="1800" dirty="0" err="1">
                <a:latin typeface="Consolas" panose="020B0609020204030204" pitchFamily="49" charset="0"/>
              </a:rPr>
              <a:t>hWnd</a:t>
            </a:r>
            <a:r>
              <a:rPr lang="en-US" altLang="ru-RU" sz="1800" dirty="0">
                <a:latin typeface="Consolas" panose="020B0609020204030204" pitchFamily="49" charset="0"/>
              </a:rPr>
              <a:t>, &amp;</a:t>
            </a:r>
            <a:r>
              <a:rPr lang="en-US" altLang="ru-RU" sz="1800" dirty="0" err="1">
                <a:latin typeface="Consolas" panose="020B0609020204030204" pitchFamily="49" charset="0"/>
              </a:rPr>
              <a:t>ps</a:t>
            </a:r>
            <a:r>
              <a:rPr lang="en-US" altLang="ru-RU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	break;</a:t>
            </a:r>
            <a:endParaRPr lang="ru-RU" altLang="ru-RU" sz="18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</a:rPr>
              <a:t>	</a:t>
            </a:r>
            <a:r>
              <a:rPr lang="en-US" altLang="ru-RU" sz="1800" dirty="0">
                <a:latin typeface="Consolas" panose="020B0609020204030204" pitchFamily="49" charset="0"/>
              </a:rPr>
              <a:t>//</a:t>
            </a:r>
            <a:r>
              <a:rPr lang="ru-RU" altLang="ru-RU" sz="1800" dirty="0">
                <a:latin typeface="Consolas" panose="020B0609020204030204" pitchFamily="49" charset="0"/>
              </a:rPr>
              <a:t> обработка остальных сообщений</a:t>
            </a:r>
            <a:endParaRPr lang="en-US" altLang="ru-RU" sz="18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ru-RU" sz="18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1318502-45C1-9046-FC07-49D29D749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Графические объекты </a:t>
            </a:r>
            <a:r>
              <a:rPr lang="en-US" altLang="ru-RU"/>
              <a:t>GDI</a:t>
            </a:r>
            <a:endParaRPr lang="ru-RU" altLang="ru-RU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4CE2C60-BB2F-80C1-7D6D-BEDA27AF4C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/>
              <a:t>Для отображения графики и текста </a:t>
            </a:r>
            <a:r>
              <a:rPr lang="en-US" altLang="ru-RU"/>
              <a:t>GDI </a:t>
            </a:r>
            <a:r>
              <a:rPr lang="ru-RU" altLang="ru-RU"/>
              <a:t>использует следующие графические объекты</a:t>
            </a:r>
            <a:r>
              <a:rPr lang="en-US" altLang="ru-RU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Bitmap –</a:t>
            </a:r>
            <a:r>
              <a:rPr lang="ru-RU" altLang="ru-RU"/>
              <a:t> растровое изображение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Brush – </a:t>
            </a:r>
            <a:r>
              <a:rPr lang="ru-RU" altLang="ru-RU"/>
              <a:t>кисть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Font – </a:t>
            </a:r>
            <a:r>
              <a:rPr lang="ru-RU" altLang="ru-RU"/>
              <a:t>шрифт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Metafile – </a:t>
            </a:r>
            <a:r>
              <a:rPr lang="ru-RU" altLang="ru-RU"/>
              <a:t>метафайл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Path – </a:t>
            </a:r>
            <a:r>
              <a:rPr lang="ru-RU" altLang="ru-RU"/>
              <a:t>путь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Pen – </a:t>
            </a:r>
            <a:r>
              <a:rPr lang="ru-RU" altLang="ru-RU"/>
              <a:t>перо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Region - </a:t>
            </a:r>
            <a:r>
              <a:rPr lang="ru-RU" altLang="ru-RU"/>
              <a:t>регион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85F608D-19C3-AFAD-E40E-AD7E00AE2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Bitmap</a:t>
            </a:r>
            <a:endParaRPr lang="ru-RU" altLang="ru-RU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B229AD3-044C-1757-74E3-38DD3CB06B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Растровое изображение, имеющее определенный формат пикселей и, возможно, палитру</a:t>
            </a:r>
          </a:p>
          <a:p>
            <a:pPr eaLnBrk="1" hangingPunct="1"/>
            <a:r>
              <a:rPr lang="ru-RU" altLang="ru-RU"/>
              <a:t>Типы растровых изображений</a:t>
            </a:r>
            <a:r>
              <a:rPr lang="en-US" altLang="ru-RU"/>
              <a:t>:</a:t>
            </a:r>
          </a:p>
          <a:p>
            <a:pPr lvl="1" eaLnBrk="1" hangingPunct="1"/>
            <a:r>
              <a:rPr lang="en-US" altLang="ru-RU"/>
              <a:t>DDB – device-dependent bitmap</a:t>
            </a:r>
          </a:p>
          <a:p>
            <a:pPr lvl="1" eaLnBrk="1" hangingPunct="1"/>
            <a:r>
              <a:rPr lang="en-US" altLang="ru-RU"/>
              <a:t>DIB – device-independent bitmap</a:t>
            </a:r>
          </a:p>
          <a:p>
            <a:pPr eaLnBrk="1" hangingPunct="1"/>
            <a:r>
              <a:rPr lang="en-US" altLang="ru-RU" b="1"/>
              <a:t>HBITMAP</a:t>
            </a:r>
            <a:r>
              <a:rPr lang="en-US" altLang="ru-RU"/>
              <a:t> – </a:t>
            </a:r>
            <a:r>
              <a:rPr lang="ru-RU" altLang="ru-RU"/>
              <a:t>дескриптор объекта «</a:t>
            </a:r>
            <a:r>
              <a:rPr lang="en-US" altLang="ru-RU"/>
              <a:t>Bitmap</a:t>
            </a:r>
            <a:r>
              <a:rPr lang="ru-RU" altLang="ru-RU"/>
              <a:t>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2640215-FD6C-6A37-C2B1-E2CC9D558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использования растровых изображений</a:t>
            </a:r>
          </a:p>
        </p:txBody>
      </p:sp>
      <p:pic>
        <p:nvPicPr>
          <p:cNvPr id="25603" name="Picture 6">
            <a:extLst>
              <a:ext uri="{FF2B5EF4-FFF2-40B4-BE49-F238E27FC236}">
                <a16:creationId xmlns:a16="http://schemas.microsoft.com/office/drawing/2014/main" id="{4A99487C-5FF6-E815-3687-CC7D1133C7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458" y="1825625"/>
            <a:ext cx="5688094" cy="4667250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E838DD7-D18D-F944-2BB7-BD0D08CAC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Brush</a:t>
            </a:r>
            <a:endParaRPr lang="ru-RU" altLang="ru-RU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4D593E8-19AD-24D5-9816-3EFD65C1B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/>
              <a:t>Графический объект, используемый </a:t>
            </a:r>
            <a:r>
              <a:rPr lang="en-US" altLang="ru-RU"/>
              <a:t>GDI </a:t>
            </a:r>
            <a:r>
              <a:rPr lang="ru-RU" altLang="ru-RU"/>
              <a:t>для заполнения внутренностей замкнутых примитивов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/>
              <a:t>Эллипс, многоугольник, путь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/>
              <a:t>Заполнение внутренней области может быть как сплошным, заштрихованным, использовать шаблон или растровое  изображение</a:t>
            </a:r>
            <a:endParaRPr lang="en-US" altLang="ru-RU"/>
          </a:p>
          <a:p>
            <a:pPr eaLnBrk="1" hangingPunct="1">
              <a:lnSpc>
                <a:spcPct val="90000"/>
              </a:lnSpc>
            </a:pPr>
            <a:r>
              <a:rPr lang="en-US" altLang="ru-RU" b="1"/>
              <a:t>HBRUSH</a:t>
            </a:r>
            <a:r>
              <a:rPr lang="en-US" altLang="ru-RU"/>
              <a:t> – </a:t>
            </a:r>
            <a:r>
              <a:rPr lang="ru-RU" altLang="ru-RU"/>
              <a:t>дескриптор объекта «кисть»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0" name="Rectangle 6">
            <a:extLst>
              <a:ext uri="{FF2B5EF4-FFF2-40B4-BE49-F238E27FC236}">
                <a16:creationId xmlns:a16="http://schemas.microsoft.com/office/drawing/2014/main" id="{F0D9C71E-BD39-7BC3-F28B-90C70D86C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Пример использования кистей</a:t>
            </a:r>
          </a:p>
        </p:txBody>
      </p:sp>
      <p:pic>
        <p:nvPicPr>
          <p:cNvPr id="27651" name="Picture 10" descr="Rectangle filled with solid blue brush and ellipse filled with red and blue hatch brush">
            <a:extLst>
              <a:ext uri="{FF2B5EF4-FFF2-40B4-BE49-F238E27FC236}">
                <a16:creationId xmlns:a16="http://schemas.microsoft.com/office/drawing/2014/main" id="{6C480E98-141D-5140-1898-44E39BEDD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1450" y="2565400"/>
            <a:ext cx="6624638" cy="1987550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709BF95-42B1-82E4-2DDB-167653E40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Типы кистей</a:t>
            </a:r>
          </a:p>
        </p:txBody>
      </p:sp>
      <p:pic>
        <p:nvPicPr>
          <p:cNvPr id="28675" name="Picture 5" descr="Patterns of the four logical brushes">
            <a:extLst>
              <a:ext uri="{FF2B5EF4-FFF2-40B4-BE49-F238E27FC236}">
                <a16:creationId xmlns:a16="http://schemas.microsoft.com/office/drawing/2014/main" id="{D48897C5-4B46-97CE-EA13-2F27191AF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2852738"/>
            <a:ext cx="4608512" cy="172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510F110-9B5B-75CC-3D4E-B30962333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Font</a:t>
            </a:r>
            <a:endParaRPr lang="ru-RU" altLang="ru-RU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64B4922-EE2A-DB35-268E-220AC11F4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800"/>
              <a:t>Шрифт – графический объект </a:t>
            </a:r>
            <a:r>
              <a:rPr lang="en-US" sz="2800"/>
              <a:t>GDI, </a:t>
            </a:r>
            <a:r>
              <a:rPr lang="ru-RU" sz="2800"/>
              <a:t>используемый для вывода текста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/>
              <a:t>Шрифт определяет начертание символов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800"/>
              <a:t>Типы шрифтов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/>
              <a:t>Растровые шрифты (определяют набор растровых изображения символов)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/>
              <a:t>Векторные шрифты (отрезки линий, определяющие внешний вид символов)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/>
              <a:t>TrueType-</a:t>
            </a:r>
            <a:r>
              <a:rPr lang="ru-RU"/>
              <a:t> и </a:t>
            </a:r>
            <a:r>
              <a:rPr lang="en-US"/>
              <a:t>OpenType</a:t>
            </a:r>
            <a:r>
              <a:rPr lang="ru-RU"/>
              <a:t>-шрифты (содержат команды рисования линий и кривых)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/>
              <a:t>HFONT</a:t>
            </a:r>
            <a:r>
              <a:rPr lang="en-US" sz="2800"/>
              <a:t> – </a:t>
            </a:r>
            <a:r>
              <a:rPr lang="ru-RU" sz="2800"/>
              <a:t>дескриптор объекта </a:t>
            </a:r>
            <a:r>
              <a:rPr lang="en-US" sz="2800"/>
              <a:t>“</a:t>
            </a:r>
            <a:r>
              <a:rPr lang="ru-RU" sz="2800"/>
              <a:t>шрифт»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DF5C97D-DD81-1E3D-ACB5-589864441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Metafile</a:t>
            </a:r>
            <a:endParaRPr lang="ru-RU" altLang="ru-RU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D7817E6-0F56-3087-393A-F5E2D01A20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/>
              <a:t>Метафайл – это массив структур переменной длины, называемых записями, хранящий информацию о командах </a:t>
            </a:r>
            <a:r>
              <a:rPr lang="en-US" altLang="ru-RU" sz="2800"/>
              <a:t>GDI</a:t>
            </a:r>
            <a:r>
              <a:rPr lang="ru-RU" altLang="ru-RU" sz="2800"/>
              <a:t>, необходимых для отображения изображения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/>
              <a:t>Обеспечивает лучшую независимость от графических устройств, чем </a:t>
            </a:r>
            <a:r>
              <a:rPr lang="en-US" altLang="ru-RU" sz="2800" b="1"/>
              <a:t>bitmap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/>
              <a:t>Типы метафайлов: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WMF – windows metafile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ru-RU"/>
              <a:t>EMF – enhanced metafile</a:t>
            </a:r>
            <a:endParaRPr lang="ru-RU" altLang="ru-RU"/>
          </a:p>
          <a:p>
            <a:pPr eaLnBrk="1" hangingPunct="1">
              <a:lnSpc>
                <a:spcPct val="90000"/>
              </a:lnSpc>
            </a:pPr>
            <a:r>
              <a:rPr lang="en-US" altLang="ru-RU" sz="2800" b="1"/>
              <a:t>HDC</a:t>
            </a:r>
            <a:r>
              <a:rPr lang="en-US" altLang="ru-RU" sz="2800"/>
              <a:t> – </a:t>
            </a:r>
            <a:r>
              <a:rPr lang="ru-RU" altLang="ru-RU" sz="2800"/>
              <a:t>дескриптор метафайла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DC14A159-D280-D562-8577-4B05332D2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 метафайла</a:t>
            </a:r>
          </a:p>
        </p:txBody>
      </p:sp>
      <p:pic>
        <p:nvPicPr>
          <p:cNvPr id="32771" name="Picture 6" descr="J0234131">
            <a:extLst>
              <a:ext uri="{FF2B5EF4-FFF2-40B4-BE49-F238E27FC236}">
                <a16:creationId xmlns:a16="http://schemas.microsoft.com/office/drawing/2014/main" id="{C960FA51-642D-8308-ED0D-920CF2F561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7" y="1773317"/>
            <a:ext cx="4176466" cy="4455954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987E4A4-D40C-6381-87F0-A8842CC17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Path</a:t>
            </a:r>
            <a:endParaRPr lang="ru-RU" altLang="ru-RU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DD87D83-78E8-78CE-A48A-3B5883BA46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/>
              <a:t>Путь – одна или несколько фигур, с заполнением внутренностей и/или обводкой</a:t>
            </a:r>
          </a:p>
          <a:p>
            <a:pPr eaLnBrk="1" hangingPunct="1"/>
            <a:r>
              <a:rPr lang="ru-RU" altLang="ru-RU" sz="2800"/>
              <a:t>Приложение может использовать пути для создания сложных векторных фигур из более простых (многоугольников, текстов, кривых и отрезков линий)</a:t>
            </a:r>
          </a:p>
          <a:p>
            <a:pPr eaLnBrk="1" hangingPunct="1"/>
            <a:r>
              <a:rPr lang="en-US" altLang="ru-RU" sz="2800" b="1"/>
              <a:t>HPATH</a:t>
            </a:r>
            <a:r>
              <a:rPr lang="en-US" altLang="ru-RU" sz="2800"/>
              <a:t> – </a:t>
            </a:r>
            <a:r>
              <a:rPr lang="ru-RU" altLang="ru-RU" sz="2800"/>
              <a:t>дескриптор объекта «путь»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880F4F8-4EDA-4BD6-9E02-8081243AA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 использования пути</a:t>
            </a:r>
          </a:p>
        </p:txBody>
      </p:sp>
      <p:pic>
        <p:nvPicPr>
          <p:cNvPr id="34819" name="Picture 7" descr="path made up of an arc, a cardinal spline, a string, and a pie">
            <a:extLst>
              <a:ext uri="{FF2B5EF4-FFF2-40B4-BE49-F238E27FC236}">
                <a16:creationId xmlns:a16="http://schemas.microsoft.com/office/drawing/2014/main" id="{B58EF343-9615-FF4C-2B60-6934DCD1343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9150" y="2924176"/>
            <a:ext cx="5327650" cy="1185863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1CB9DF0-AAD0-7E27-AB9B-87A3EBBA7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ru-RU"/>
              <a:t>Pen</a:t>
            </a:r>
            <a:endParaRPr lang="ru-RU" altLang="ru-RU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62CC683-69DA-4D70-431D-DC4437B88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altLang="ru-RU" dirty="0"/>
              <a:t>Перо – графический объект, используемый для рисования линий и кривых</a:t>
            </a:r>
          </a:p>
          <a:p>
            <a:r>
              <a:rPr lang="ru-RU" altLang="ru-RU" dirty="0"/>
              <a:t>Типы перьев</a:t>
            </a:r>
          </a:p>
          <a:p>
            <a:pPr lvl="1"/>
            <a:r>
              <a:rPr lang="en-US" altLang="ru-RU" dirty="0"/>
              <a:t>Cosmetic – </a:t>
            </a:r>
            <a:r>
              <a:rPr lang="ru-RU" altLang="ru-RU" dirty="0"/>
              <a:t>задают толщину линии в единицах физического устройства </a:t>
            </a:r>
            <a:endParaRPr lang="en-US" altLang="ru-RU" dirty="0"/>
          </a:p>
          <a:p>
            <a:pPr lvl="1"/>
            <a:r>
              <a:rPr lang="en-US" altLang="ru-RU" dirty="0"/>
              <a:t>Geometric</a:t>
            </a:r>
            <a:r>
              <a:rPr lang="ru-RU" altLang="ru-RU" dirty="0"/>
              <a:t> – задают толщину линий в логических единицах</a:t>
            </a:r>
          </a:p>
          <a:p>
            <a:r>
              <a:rPr lang="en-US" altLang="ru-RU" b="1" dirty="0"/>
              <a:t>HPEN</a:t>
            </a:r>
            <a:r>
              <a:rPr lang="en-US" altLang="ru-RU" dirty="0"/>
              <a:t> – </a:t>
            </a:r>
            <a:r>
              <a:rPr lang="ru-RU" altLang="ru-RU" dirty="0"/>
              <a:t>дескриптор объекта «Перо»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4">
            <a:extLst>
              <a:ext uri="{FF2B5EF4-FFF2-40B4-BE49-F238E27FC236}">
                <a16:creationId xmlns:a16="http://schemas.microsoft.com/office/drawing/2014/main" id="{C008BC42-87E4-A275-3289-B7D7222A7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Пример использования перьев для рисования векторных примитивов</a:t>
            </a:r>
          </a:p>
        </p:txBody>
      </p:sp>
      <p:pic>
        <p:nvPicPr>
          <p:cNvPr id="36867" name="Picture 7">
            <a:extLst>
              <a:ext uri="{FF2B5EF4-FFF2-40B4-BE49-F238E27FC236}">
                <a16:creationId xmlns:a16="http://schemas.microsoft.com/office/drawing/2014/main" id="{46DE9A4F-6B6A-95CA-2330-D3A3B7B1D6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898" y="1825625"/>
            <a:ext cx="5620204" cy="4351338"/>
          </a:xfr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53BD87A-28B7-659A-2FC0-5B130592C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u-RU"/>
              <a:t>Region</a:t>
            </a:r>
            <a:endParaRPr lang="ru-RU" altLang="ru-RU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F88DC4B-1BCD-6198-4425-F37DDD12F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/>
              <a:t>Регион – это прямоугольник, многоугольник, эллипс или комбинация нескольких данных фигур. Регион может быть закрашен, инвертирован, обведен, а также может быть использован для проверки попадания точки в область региона и создания областей отсечения</a:t>
            </a:r>
          </a:p>
          <a:p>
            <a:pPr eaLnBrk="1" hangingPunct="1"/>
            <a:r>
              <a:rPr lang="en-US" altLang="ru-RU" sz="2800" b="1"/>
              <a:t>HRGN</a:t>
            </a:r>
            <a:r>
              <a:rPr lang="en-US" altLang="ru-RU" sz="2800"/>
              <a:t> – </a:t>
            </a:r>
            <a:r>
              <a:rPr lang="ru-RU" altLang="ru-RU" sz="2800"/>
              <a:t>дескриптор объекта «регион»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6B8AFDA4-64FB-87D5-3AE6-CABD2ED4B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 региона</a:t>
            </a:r>
          </a:p>
        </p:txBody>
      </p:sp>
      <p:pic>
        <p:nvPicPr>
          <p:cNvPr id="38915" name="Picture 8" descr="Clipped Strings">
            <a:extLst>
              <a:ext uri="{FF2B5EF4-FFF2-40B4-BE49-F238E27FC236}">
                <a16:creationId xmlns:a16="http://schemas.microsoft.com/office/drawing/2014/main" id="{B379C042-6657-E99E-20BF-39954D6CF3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7213" y="2708276"/>
            <a:ext cx="3097212" cy="3076575"/>
          </a:xfr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4">
            <a:extLst>
              <a:ext uri="{FF2B5EF4-FFF2-40B4-BE49-F238E27FC236}">
                <a16:creationId xmlns:a16="http://schemas.microsoft.com/office/drawing/2014/main" id="{009ADCFF-9AE1-0CAE-F3D1-CEA0CF94A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Типы регионов</a:t>
            </a:r>
          </a:p>
        </p:txBody>
      </p:sp>
      <p:pic>
        <p:nvPicPr>
          <p:cNvPr id="39939" name="Picture 6" descr="Rectangular, elliptical, and polygonal regions">
            <a:extLst>
              <a:ext uri="{FF2B5EF4-FFF2-40B4-BE49-F238E27FC236}">
                <a16:creationId xmlns:a16="http://schemas.microsoft.com/office/drawing/2014/main" id="{EB160FEE-B9A8-9BDE-DB36-3C7ADDBE3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2276475"/>
            <a:ext cx="5545137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88C239F0-B6CB-B50C-C451-D75E5456C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ru-RU"/>
              <a:t>Работа с графическими объектами GDI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051810-6515-6675-81C6-F09358D1E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501D709-E3B5-F3F0-6930-F3BA7C08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Принципы графического вывода в </a:t>
            </a:r>
            <a:r>
              <a:rPr lang="en-US" dirty="0"/>
              <a:t>GDI</a:t>
            </a:r>
            <a:endParaRPr lang="ru-RU" dirty="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DFCCD11-35CF-1357-A338-CFB23714CD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b="1" dirty="0"/>
              <a:t>Графические объекты</a:t>
            </a:r>
            <a:r>
              <a:rPr lang="ru-RU" dirty="0"/>
              <a:t> используются для отображения графики и текста графическом устройстве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Перья для рисования линий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Кисти для заливки фигур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Шрифты для вывода текста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Растры для вывода растровых изображений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И т.п.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dirty="0"/>
              <a:t>Работа с графическим устройством происходит с использованием </a:t>
            </a:r>
            <a:r>
              <a:rPr lang="ru-RU" b="1" dirty="0"/>
              <a:t>контекста устройства</a:t>
            </a:r>
            <a:r>
              <a:rPr lang="ru-RU" dirty="0"/>
              <a:t> – внутренней структуры </a:t>
            </a:r>
            <a:r>
              <a:rPr lang="en-US" dirty="0"/>
              <a:t>GDI</a:t>
            </a:r>
            <a:r>
              <a:rPr lang="ru-RU" dirty="0"/>
              <a:t>, скрытой от приложения за дескриптором контекста устройства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EA82874-AD0B-4CA2-AEFA-568FA61DE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Содержимое контекста устройства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EE15751-B066-0734-10FD-D0FDA9328A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В контексте устройства содержится информация как о самом устройстве, так и выбранных в нем в данный момент графических объектах</a:t>
            </a:r>
          </a:p>
          <a:p>
            <a:pPr lvl="1" eaLnBrk="1" hangingPunct="1"/>
            <a:r>
              <a:rPr lang="ru-RU" altLang="ru-RU"/>
              <a:t>Текущий шрифт</a:t>
            </a:r>
          </a:p>
          <a:p>
            <a:pPr lvl="1" eaLnBrk="1" hangingPunct="1"/>
            <a:r>
              <a:rPr lang="ru-RU" altLang="ru-RU"/>
              <a:t>Текущий регион</a:t>
            </a:r>
          </a:p>
          <a:p>
            <a:pPr lvl="1" eaLnBrk="1" hangingPunct="1"/>
            <a:r>
              <a:rPr lang="ru-RU" altLang="ru-RU"/>
              <a:t>Текущее перо</a:t>
            </a:r>
          </a:p>
          <a:p>
            <a:pPr lvl="1" eaLnBrk="1" hangingPunct="1"/>
            <a:r>
              <a:rPr lang="ru-RU" altLang="ru-RU"/>
              <a:t>И т.д.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FBB8466-760A-7016-6C41-0835BC3216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Создание графических объектов </a:t>
            </a:r>
            <a:r>
              <a:rPr lang="en-US"/>
              <a:t>GDI</a:t>
            </a:r>
            <a:endParaRPr lang="ru-RU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A7BD766F-E6B8-1920-D09B-295052BE3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Практически всегда приложению требуется выводить графику с использованием собственных графических объектов</a:t>
            </a:r>
          </a:p>
          <a:p>
            <a:pPr eaLnBrk="1" hangingPunct="1"/>
            <a:r>
              <a:rPr lang="ru-RU" altLang="ru-RU"/>
              <a:t>Для создания графических объектов </a:t>
            </a:r>
            <a:r>
              <a:rPr lang="en-US" altLang="ru-RU"/>
              <a:t>GDI </a:t>
            </a:r>
            <a:r>
              <a:rPr lang="ru-RU" altLang="ru-RU"/>
              <a:t>служат функции соответствующие типу объектов</a:t>
            </a:r>
          </a:p>
          <a:p>
            <a:pPr lvl="1" eaLnBrk="1" hangingPunct="1"/>
            <a:r>
              <a:rPr lang="en-US" altLang="ru-RU" b="1"/>
              <a:t>CreatePen</a:t>
            </a:r>
            <a:r>
              <a:rPr lang="en-US" altLang="ru-RU"/>
              <a:t>(), </a:t>
            </a:r>
            <a:r>
              <a:rPr lang="en-US" altLang="ru-RU" b="1"/>
              <a:t>CreateFont</a:t>
            </a:r>
            <a:r>
              <a:rPr lang="en-US" altLang="ru-RU"/>
              <a:t>(), </a:t>
            </a:r>
            <a:r>
              <a:rPr lang="en-US" altLang="ru-RU" b="1"/>
              <a:t>CreateBrush</a:t>
            </a:r>
            <a:r>
              <a:rPr lang="en-US" altLang="ru-RU"/>
              <a:t>(), </a:t>
            </a:r>
            <a:r>
              <a:rPr lang="ru-RU" altLang="ru-RU"/>
              <a:t>и т.п.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EBDD1A6-79C8-D12B-A945-642687D21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000"/>
              <a:t>Выбор графического объекта в контекст устройства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49BC265-4EC5-9873-859D-67572C8F7E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ru-RU" sz="2800" dirty="0"/>
              <a:t>Контекст устройства работает с выбранными в нем объектами</a:t>
            </a:r>
          </a:p>
          <a:p>
            <a:pPr lvl="1" eaLnBrk="1" hangingPunct="1">
              <a:defRPr/>
            </a:pPr>
            <a:r>
              <a:rPr lang="ru-RU" dirty="0"/>
              <a:t>Приложение выбирает нужный объект в контекст устройства при помощи функции </a:t>
            </a:r>
            <a:r>
              <a:rPr lang="en-US" b="1" dirty="0" err="1"/>
              <a:t>SelectObject</a:t>
            </a:r>
            <a:r>
              <a:rPr lang="ru-RU" dirty="0"/>
              <a:t>()</a:t>
            </a:r>
            <a:endParaRPr lang="en-US" dirty="0"/>
          </a:p>
          <a:p>
            <a:pPr lvl="2" eaLnBrk="1" hangingPunct="1">
              <a:defRPr/>
            </a:pPr>
            <a:r>
              <a:rPr lang="ru-RU" dirty="0"/>
              <a:t>Функция </a:t>
            </a:r>
            <a:r>
              <a:rPr lang="en-US" dirty="0" err="1"/>
              <a:t>SelectObject</a:t>
            </a:r>
            <a:r>
              <a:rPr lang="ru-RU" dirty="0"/>
              <a:t> также «освобождает» ранее выбранный объект данного типа и возвращает его дескриптор</a:t>
            </a:r>
            <a:endParaRPr lang="en-US" dirty="0"/>
          </a:p>
          <a:p>
            <a:pPr lvl="2" eaLnBrk="1" hangingPunct="1">
              <a:defRPr/>
            </a:pPr>
            <a:r>
              <a:rPr lang="ru-RU" dirty="0"/>
              <a:t>Один и тот же объект может быть выбран одновременно в несколько устройств</a:t>
            </a:r>
            <a:endParaRPr lang="en-US" dirty="0"/>
          </a:p>
          <a:p>
            <a:pPr eaLnBrk="1" hangingPunct="1">
              <a:defRPr/>
            </a:pPr>
            <a:r>
              <a:rPr lang="ru-RU" sz="2800" dirty="0"/>
              <a:t>По окончании графического вывода приложение должно </a:t>
            </a:r>
            <a:r>
              <a:rPr lang="ru-RU" sz="2800" b="1" dirty="0"/>
              <a:t>восстановить ранее выбранные графические объекты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396ADB70-600F-0E63-CB14-A5E6D9673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Удаление графических объектов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F9490AA-99EF-5884-B1C3-57B4B8E6F2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Количество графических объектов в системе ограничено</a:t>
            </a:r>
          </a:p>
          <a:p>
            <a:pPr lvl="1" eaLnBrk="1" hangingPunct="1"/>
            <a:r>
              <a:rPr lang="ru-RU" altLang="ru-RU"/>
              <a:t>Объекты, ставшие ненужными, необходимо удалять при помощи функции </a:t>
            </a:r>
            <a:r>
              <a:rPr lang="en-US" altLang="ru-RU" b="1"/>
              <a:t>DeleteObject</a:t>
            </a:r>
            <a:r>
              <a:rPr lang="en-US" altLang="ru-RU"/>
              <a:t>()</a:t>
            </a:r>
          </a:p>
          <a:p>
            <a:pPr lvl="1" eaLnBrk="1" hangingPunct="1"/>
            <a:r>
              <a:rPr lang="ru-RU" altLang="ru-RU">
                <a:solidFill>
                  <a:srgbClr val="FF0000"/>
                </a:solidFill>
              </a:rPr>
              <a:t>Необходимо следить за тем, чтобы объект перед своим удалением не был выбран ни в одном контексте устройства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3ABDBD0D-21FD-AA02-1944-E947AD95C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47107" name="Rectangle 5">
            <a:extLst>
              <a:ext uri="{FF2B5EF4-FFF2-40B4-BE49-F238E27FC236}">
                <a16:creationId xmlns:a16="http://schemas.microsoft.com/office/drawing/2014/main" id="{5C10FB5A-FDB7-F8ED-F740-EB367646C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464" y="1772816"/>
            <a:ext cx="9396537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533400"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defTabSz="53340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defTabSz="5334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defTabSz="5334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defTabSz="5334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defTabSz="533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 err="1">
                <a:latin typeface="Consolas" panose="020B0609020204030204" pitchFamily="49" charset="0"/>
              </a:rPr>
              <a:t>void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 err="1">
                <a:latin typeface="Consolas" panose="020B0609020204030204" pitchFamily="49" charset="0"/>
              </a:rPr>
              <a:t>OnPaint</a:t>
            </a:r>
            <a:r>
              <a:rPr lang="ru-RU" altLang="ru-RU" sz="1800" b="1" dirty="0">
                <a:latin typeface="Consolas" panose="020B0609020204030204" pitchFamily="49" charset="0"/>
              </a:rPr>
              <a:t>(HDC </a:t>
            </a:r>
            <a:r>
              <a:rPr lang="ru-RU" altLang="ru-RU" sz="1800" b="1" dirty="0" err="1">
                <a:latin typeface="Consolas" panose="020B0609020204030204" pitchFamily="49" charset="0"/>
              </a:rPr>
              <a:t>hdc</a:t>
            </a:r>
            <a:r>
              <a:rPr lang="ru-RU" altLang="ru-RU" sz="1800" b="1" dirty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i="1" dirty="0">
                <a:latin typeface="Consolas" panose="020B0609020204030204" pitchFamily="49" charset="0"/>
              </a:rPr>
              <a:t>	</a:t>
            </a:r>
            <a:r>
              <a:rPr lang="ru-RU" altLang="ru-RU" sz="1800" i="1" dirty="0">
                <a:latin typeface="Consolas" panose="020B0609020204030204" pitchFamily="49" charset="0"/>
              </a:rPr>
              <a:t>// выбираем новый шрифт и сохраняем предыдущий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	HGDIOBJ </a:t>
            </a:r>
            <a:r>
              <a:rPr lang="ru-RU" altLang="ru-RU" sz="1800" b="1" dirty="0" err="1">
                <a:latin typeface="Consolas" panose="020B0609020204030204" pitchFamily="49" charset="0"/>
              </a:rPr>
              <a:t>oldFont</a:t>
            </a:r>
            <a:r>
              <a:rPr lang="ru-RU" altLang="ru-RU" sz="1800" b="1" dirty="0">
                <a:latin typeface="Consolas" panose="020B0609020204030204" pitchFamily="49" charset="0"/>
              </a:rPr>
              <a:t> = </a:t>
            </a:r>
            <a:r>
              <a:rPr lang="ru-RU" altLang="ru-RU" sz="1800" b="1" dirty="0" err="1">
                <a:latin typeface="Consolas" panose="020B0609020204030204" pitchFamily="49" charset="0"/>
              </a:rPr>
              <a:t>SelectObject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ru-RU" altLang="ru-RU" sz="1800" b="1" dirty="0" err="1">
                <a:latin typeface="Consolas" panose="020B0609020204030204" pitchFamily="49" charset="0"/>
              </a:rPr>
              <a:t>hdc</a:t>
            </a:r>
            <a:r>
              <a:rPr lang="ru-RU" altLang="ru-RU" sz="1800" b="1" dirty="0">
                <a:latin typeface="Consolas" panose="020B0609020204030204" pitchFamily="49" charset="0"/>
              </a:rPr>
              <a:t>, </a:t>
            </a:r>
            <a:r>
              <a:rPr lang="en-US" altLang="ru-RU" sz="1800" b="1" dirty="0" err="1">
                <a:latin typeface="Consolas" panose="020B0609020204030204" pitchFamily="49" charset="0"/>
              </a:rPr>
              <a:t>newFont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 b="1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	</a:t>
            </a:r>
            <a:r>
              <a:rPr lang="ru-RU" altLang="ru-RU" sz="1800" b="1" dirty="0" err="1">
                <a:latin typeface="Consolas" panose="020B0609020204030204" pitchFamily="49" charset="0"/>
              </a:rPr>
              <a:t>SetTextColor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ru-RU" altLang="ru-RU" sz="1800" b="1" dirty="0" err="1">
                <a:latin typeface="Consolas" panose="020B0609020204030204" pitchFamily="49" charset="0"/>
              </a:rPr>
              <a:t>hdc</a:t>
            </a:r>
            <a:r>
              <a:rPr lang="ru-RU" altLang="ru-RU" sz="1800" b="1" dirty="0">
                <a:latin typeface="Consolas" panose="020B0609020204030204" pitchFamily="49" charset="0"/>
              </a:rPr>
              <a:t>, RGB(70, 120, 35));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ru-RU" sz="1800" b="1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i="1" dirty="0">
                <a:latin typeface="Consolas" panose="020B0609020204030204" pitchFamily="49" charset="0"/>
              </a:rPr>
              <a:t>	// выводим текст на экран новым цветом и шрифтом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	</a:t>
            </a:r>
            <a:r>
              <a:rPr lang="ru-RU" altLang="ru-RU" sz="1800" b="1" dirty="0" err="1">
                <a:latin typeface="Consolas" panose="020B0609020204030204" pitchFamily="49" charset="0"/>
              </a:rPr>
              <a:t>TextOut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ru-RU" altLang="ru-RU" sz="1800" b="1" dirty="0" err="1">
                <a:latin typeface="Consolas" panose="020B0609020204030204" pitchFamily="49" charset="0"/>
              </a:rPr>
              <a:t>hdc</a:t>
            </a:r>
            <a:r>
              <a:rPr lang="ru-RU" altLang="ru-RU" sz="1800" b="1" dirty="0">
                <a:latin typeface="Consolas" panose="020B0609020204030204" pitchFamily="49" charset="0"/>
              </a:rPr>
              <a:t>, 0, 0, </a:t>
            </a:r>
            <a:r>
              <a:rPr lang="en-US" altLang="ru-RU" sz="1800" b="1" dirty="0">
                <a:latin typeface="Consolas" panose="020B0609020204030204" pitchFamily="49" charset="0"/>
              </a:rPr>
              <a:t>“hello”</a:t>
            </a:r>
            <a:r>
              <a:rPr lang="ru-RU" altLang="ru-RU" sz="1800" b="1" dirty="0">
                <a:latin typeface="Consolas" panose="020B0609020204030204" pitchFamily="49" charset="0"/>
              </a:rPr>
              <a:t>, </a:t>
            </a:r>
            <a:r>
              <a:rPr lang="ru-RU" altLang="ru-RU" sz="1800" b="1" dirty="0" err="1">
                <a:latin typeface="Consolas" panose="020B0609020204030204" pitchFamily="49" charset="0"/>
              </a:rPr>
              <a:t>strlen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en-US" altLang="ru-RU" sz="1800" b="1" dirty="0">
                <a:latin typeface="Consolas" panose="020B0609020204030204" pitchFamily="49" charset="0"/>
              </a:rPr>
              <a:t>“hello”</a:t>
            </a:r>
            <a:r>
              <a:rPr lang="ru-RU" altLang="ru-RU" sz="1800" b="1" dirty="0">
                <a:latin typeface="Consolas" panose="020B0609020204030204" pitchFamily="49" charset="0"/>
              </a:rPr>
              <a:t>));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 b="1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i="1" dirty="0">
                <a:latin typeface="Consolas" panose="020B0609020204030204" pitchFamily="49" charset="0"/>
              </a:rPr>
              <a:t>	// восстанавливаем предыдущий шрифт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	</a:t>
            </a:r>
            <a:r>
              <a:rPr lang="ru-RU" altLang="ru-RU" sz="1800" b="1" dirty="0" err="1">
                <a:latin typeface="Consolas" panose="020B0609020204030204" pitchFamily="49" charset="0"/>
              </a:rPr>
              <a:t>SelectObject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ru-RU" altLang="ru-RU" sz="1800" b="1" dirty="0" err="1">
                <a:latin typeface="Consolas" panose="020B0609020204030204" pitchFamily="49" charset="0"/>
              </a:rPr>
              <a:t>hdc</a:t>
            </a:r>
            <a:r>
              <a:rPr lang="ru-RU" altLang="ru-RU" sz="1800" b="1" dirty="0">
                <a:latin typeface="Consolas" panose="020B0609020204030204" pitchFamily="49" charset="0"/>
              </a:rPr>
              <a:t>, </a:t>
            </a:r>
            <a:r>
              <a:rPr lang="ru-RU" altLang="ru-RU" sz="1800" b="1" dirty="0" err="1">
                <a:latin typeface="Consolas" panose="020B0609020204030204" pitchFamily="49" charset="0"/>
              </a:rPr>
              <a:t>oldFont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59BF2DC1-318C-29E0-37DC-C394214CC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ru-RU"/>
              <a:t>Создание анимированных изображений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52A686-A760-712A-A47C-1ED0784D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FCB1BAE-084D-2D34-38CC-389D63F37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Что такое анимация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70C43E6-699B-C54E-26EB-9E6533398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b="1"/>
              <a:t>Анимация</a:t>
            </a:r>
            <a:r>
              <a:rPr lang="ru-RU" altLang="ru-RU"/>
              <a:t> (мультипликация) – «оживление» изображения при помощи быстрой смены отдельных статических изображений - кадров</a:t>
            </a:r>
          </a:p>
          <a:p>
            <a:pPr lvl="1" eaLnBrk="1" hangingPunct="1"/>
            <a:r>
              <a:rPr lang="ru-RU" altLang="ru-RU"/>
              <a:t>Исходя особенностей человеческого визуального восприятия для создания эффекта плавного движения скорость смены кадров должна быть не менее 18 кадров в секунду.</a:t>
            </a:r>
          </a:p>
          <a:p>
            <a:pPr lvl="1" eaLnBrk="1" hangingPunct="1"/>
            <a:r>
              <a:rPr lang="ru-RU" altLang="ru-RU"/>
              <a:t>Для получения наиболее плавного изображения частота смены кадров должна совпадать с частотой кадровой развертки монитора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0B08C023-55ED-7D07-FCAA-15238C216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Пример анимации</a:t>
            </a:r>
          </a:p>
        </p:txBody>
      </p:sp>
      <p:pic>
        <p:nvPicPr>
          <p:cNvPr id="50179" name="Picture 7" descr="animhorse">
            <a:extLst>
              <a:ext uri="{FF2B5EF4-FFF2-40B4-BE49-F238E27FC236}">
                <a16:creationId xmlns:a16="http://schemas.microsoft.com/office/drawing/2014/main" id="{551692FE-3AB8-14D1-7D32-498E8E9178AF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746" y="1981300"/>
            <a:ext cx="5392508" cy="4039988"/>
          </a:xfr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2E251D0-CD36-BB0D-8343-D1A235FC1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Создание анимации на компьютере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6691D2F-19E5-0AD4-581B-F67719FE68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altLang="ru-RU"/>
              <a:t>Принципы те же самые, что и в кинематографе</a:t>
            </a:r>
          </a:p>
          <a:p>
            <a:pPr lvl="1"/>
            <a:r>
              <a:rPr lang="ru-RU" altLang="ru-RU"/>
              <a:t>Необходимо отрисовывать на экране слегка отличающиеся изображения</a:t>
            </a:r>
          </a:p>
          <a:p>
            <a:pPr lvl="2"/>
            <a:r>
              <a:rPr lang="ru-RU" altLang="ru-RU"/>
              <a:t>Построение изображений может происходить как в реальном времени, так и заранее (возможны комбинированные методы)</a:t>
            </a:r>
          </a:p>
          <a:p>
            <a:pPr lvl="1"/>
            <a:r>
              <a:rPr lang="ru-RU" altLang="ru-RU"/>
              <a:t>От частоты смены кадров зависит плавность движения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01A52F9F-49CA-8C58-E8D6-F26C127FC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Способы вывода изображений с заданной периодичностью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6C2BA34E-2D5E-B862-4F76-6C49CFC77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таймера</a:t>
            </a:r>
          </a:p>
          <a:p>
            <a:pPr lvl="1"/>
            <a:r>
              <a:rPr lang="ru-RU" dirty="0"/>
              <a:t>Обработчик сообщения </a:t>
            </a:r>
            <a:r>
              <a:rPr lang="en-US" dirty="0"/>
              <a:t>WM_TIMER</a:t>
            </a:r>
            <a:r>
              <a:rPr lang="ru-RU" dirty="0"/>
              <a:t> инициирует перерисовку окна при помощи функции </a:t>
            </a:r>
            <a:r>
              <a:rPr lang="en-US" dirty="0" err="1"/>
              <a:t>RedrawWindow</a:t>
            </a:r>
            <a:r>
              <a:rPr lang="en-US" dirty="0"/>
              <a:t>()</a:t>
            </a:r>
          </a:p>
          <a:p>
            <a:r>
              <a:rPr lang="ru-RU" dirty="0"/>
              <a:t>Инициирование перерисовки окна в цикле выборки сообщений</a:t>
            </a:r>
          </a:p>
          <a:p>
            <a:pPr lvl="1"/>
            <a:r>
              <a:rPr lang="ru-RU" dirty="0"/>
              <a:t>Этот способ часто применяется в компьютерных играх</a:t>
            </a:r>
          </a:p>
          <a:p>
            <a:r>
              <a:rPr lang="ru-RU" dirty="0"/>
              <a:t>Использование многопоточности (</a:t>
            </a:r>
            <a:r>
              <a:rPr lang="en-US" dirty="0"/>
              <a:t>multi-threading)</a:t>
            </a:r>
          </a:p>
          <a:p>
            <a:pPr lvl="1"/>
            <a:r>
              <a:rPr lang="en-US" dirty="0"/>
              <a:t>GUI-</a:t>
            </a:r>
            <a:r>
              <a:rPr lang="ru-RU" dirty="0"/>
              <a:t>поток занимается отрисовкой результатов работы параллельно работающего потока</a:t>
            </a:r>
          </a:p>
          <a:p>
            <a:pPr lvl="1"/>
            <a:r>
              <a:rPr lang="ru-RU" dirty="0"/>
              <a:t>Нужна синхронизация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B4ED926-304E-9237-5E38-4D56BB3C1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Проблемы с мерцанием изображения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B1CF81F-547D-6F43-4E97-1D5D5ADD0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800"/>
              <a:t>Построение изображения в видеопамяти занимает определенное время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/>
              <a:t>При этом видеоконтроллер непрерывно формирует сигнал кадровой развертки на монитор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/>
              <a:t>Возникает проблема с мерцанием изображения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800"/>
              <a:t>Рассмотрим причину этого процесса в замедленном режиме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Rectangle 16">
            <a:extLst>
              <a:ext uri="{FF2B5EF4-FFF2-40B4-BE49-F238E27FC236}">
                <a16:creationId xmlns:a16="http://schemas.microsoft.com/office/drawing/2014/main" id="{23938AFF-EF72-B1E1-B7A2-46E59ADB5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Кадр 1</a:t>
            </a:r>
          </a:p>
        </p:txBody>
      </p:sp>
      <p:graphicFrame>
        <p:nvGraphicFramePr>
          <p:cNvPr id="88084" name="Object 2">
            <a:extLst>
              <a:ext uri="{FF2B5EF4-FFF2-40B4-BE49-F238E27FC236}">
                <a16:creationId xmlns:a16="http://schemas.microsoft.com/office/drawing/2014/main" id="{2743373A-A0EB-4A1C-B335-144C6CF73B9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6769100" y="2420938"/>
          <a:ext cx="3898900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3898413" imgH="2920635" progId="Photoshop.Image.8">
                  <p:embed/>
                </p:oleObj>
              </mc:Choice>
              <mc:Fallback>
                <p:oleObj name="Image" r:id="rId3" imgW="3898413" imgH="2920635" progId="Photoshop.Image.8">
                  <p:embed/>
                  <p:pic>
                    <p:nvPicPr>
                      <p:cNvPr id="88084" name="Object 2">
                        <a:extLst>
                          <a:ext uri="{FF2B5EF4-FFF2-40B4-BE49-F238E27FC236}">
                            <a16:creationId xmlns:a16="http://schemas.microsoft.com/office/drawing/2014/main" id="{2743373A-A0EB-4A1C-B335-144C6CF73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2420938"/>
                        <a:ext cx="3898900" cy="292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8069" name="Picture 5">
            <a:extLst>
              <a:ext uri="{FF2B5EF4-FFF2-40B4-BE49-F238E27FC236}">
                <a16:creationId xmlns:a16="http://schemas.microsoft.com/office/drawing/2014/main" id="{50951CBB-C0BF-C9AF-C688-0FF4D29A9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405064"/>
            <a:ext cx="3960813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70" name="Picture 6" descr="1">
            <a:extLst>
              <a:ext uri="{FF2B5EF4-FFF2-40B4-BE49-F238E27FC236}">
                <a16:creationId xmlns:a16="http://schemas.microsoft.com/office/drawing/2014/main" id="{65F68A0E-C8A9-93FB-92CE-33CC8E016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6" y="2420939"/>
            <a:ext cx="3960813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1" name="Line 7">
            <a:extLst>
              <a:ext uri="{FF2B5EF4-FFF2-40B4-BE49-F238E27FC236}">
                <a16:creationId xmlns:a16="http://schemas.microsoft.com/office/drawing/2014/main" id="{A3A7B981-656D-F81B-8B06-8AB6607E3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412" y="2420938"/>
            <a:ext cx="91455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4279" name="Text Box 19">
            <a:extLst>
              <a:ext uri="{FF2B5EF4-FFF2-40B4-BE49-F238E27FC236}">
                <a16:creationId xmlns:a16="http://schemas.microsoft.com/office/drawing/2014/main" id="{739A558F-BB4A-34A8-0609-99FFFFF59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5661026"/>
            <a:ext cx="384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Изображение на экране монитора</a:t>
            </a:r>
          </a:p>
        </p:txBody>
      </p:sp>
      <p:sp>
        <p:nvSpPr>
          <p:cNvPr id="54280" name="Text Box 22">
            <a:extLst>
              <a:ext uri="{FF2B5EF4-FFF2-40B4-BE49-F238E27FC236}">
                <a16:creationId xmlns:a16="http://schemas.microsoft.com/office/drawing/2014/main" id="{72B6D4B3-89DD-F509-03BC-650094DDE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661025"/>
            <a:ext cx="2911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Содержимое видеобуфера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15607E-6 L -2.77778E-6 0.43006 " pathEditMode="relative" rAng="0" ptsTypes="AA">
                                      <p:cBhvr>
                                        <p:cTn id="11" dur="11500" fill="hold"/>
                                        <p:tgtEl>
                                          <p:spTgt spid="880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50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1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17">
            <a:extLst>
              <a:ext uri="{FF2B5EF4-FFF2-40B4-BE49-F238E27FC236}">
                <a16:creationId xmlns:a16="http://schemas.microsoft.com/office/drawing/2014/main" id="{0E58BB94-6E73-4F4B-58F3-031081846B02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2405063"/>
            <a:ext cx="3960813" cy="2982912"/>
            <a:chOff x="0" y="1515"/>
            <a:chExt cx="2495" cy="1879"/>
          </a:xfrm>
        </p:grpSpPr>
        <p:pic>
          <p:nvPicPr>
            <p:cNvPr id="55306" name="Picture 3">
              <a:extLst>
                <a:ext uri="{FF2B5EF4-FFF2-40B4-BE49-F238E27FC236}">
                  <a16:creationId xmlns:a16="http://schemas.microsoft.com/office/drawing/2014/main" id="{2B5A5961-AD40-4FDE-83BE-C843EFFF2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15"/>
              <a:ext cx="2495" cy="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7" name="Picture 4" descr="1">
              <a:extLst>
                <a:ext uri="{FF2B5EF4-FFF2-40B4-BE49-F238E27FC236}">
                  <a16:creationId xmlns:a16="http://schemas.microsoft.com/office/drawing/2014/main" id="{143E48BD-AF0D-D93A-3AC7-CF92118A55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5"/>
              <a:ext cx="2495" cy="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6261" name="Rectangle 5">
            <a:extLst>
              <a:ext uri="{FF2B5EF4-FFF2-40B4-BE49-F238E27FC236}">
                <a16:creationId xmlns:a16="http://schemas.microsoft.com/office/drawing/2014/main" id="{71E53DF5-CB2C-DFFB-EF03-178CC1014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Кадр 2</a:t>
            </a:r>
          </a:p>
        </p:txBody>
      </p:sp>
      <p:pic>
        <p:nvPicPr>
          <p:cNvPr id="96267" name="Picture 11">
            <a:extLst>
              <a:ext uri="{FF2B5EF4-FFF2-40B4-BE49-F238E27FC236}">
                <a16:creationId xmlns:a16="http://schemas.microsoft.com/office/drawing/2014/main" id="{460F949F-FEAD-567D-0CB8-47C100805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420939"/>
            <a:ext cx="3960813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69" name="Picture 13" descr="2">
            <a:extLst>
              <a:ext uri="{FF2B5EF4-FFF2-40B4-BE49-F238E27FC236}">
                <a16:creationId xmlns:a16="http://schemas.microsoft.com/office/drawing/2014/main" id="{7109080D-3EA1-6D8F-E0D5-D11D78333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39243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270" name="Picture 14">
            <a:extLst>
              <a:ext uri="{FF2B5EF4-FFF2-40B4-BE49-F238E27FC236}">
                <a16:creationId xmlns:a16="http://schemas.microsoft.com/office/drawing/2014/main" id="{6CE57635-0160-C8CA-3801-1E5E80731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420938"/>
            <a:ext cx="39243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2" name="Line 6">
            <a:extLst>
              <a:ext uri="{FF2B5EF4-FFF2-40B4-BE49-F238E27FC236}">
                <a16:creationId xmlns:a16="http://schemas.microsoft.com/office/drawing/2014/main" id="{4DD3B46C-3E93-A88E-D54B-666BD82CB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412" y="2420938"/>
            <a:ext cx="91455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5304" name="Text Box 15">
            <a:extLst>
              <a:ext uri="{FF2B5EF4-FFF2-40B4-BE49-F238E27FC236}">
                <a16:creationId xmlns:a16="http://schemas.microsoft.com/office/drawing/2014/main" id="{CB271621-4127-2171-D949-432DDB54B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5661026"/>
            <a:ext cx="384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Изображение на экране монитора</a:t>
            </a:r>
          </a:p>
        </p:txBody>
      </p:sp>
      <p:sp>
        <p:nvSpPr>
          <p:cNvPr id="55305" name="Text Box 16">
            <a:extLst>
              <a:ext uri="{FF2B5EF4-FFF2-40B4-BE49-F238E27FC236}">
                <a16:creationId xmlns:a16="http://schemas.microsoft.com/office/drawing/2014/main" id="{E5C29BD2-F2A7-CB20-8E37-2936A8495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661025"/>
            <a:ext cx="2911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Содержимое видеобуфера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77778E-6 -1.15607E-6 L -2.77778E-6 0.43006 " pathEditMode="relative" rAng="0" ptsTypes="AA">
                                      <p:cBhvr>
                                        <p:cTn id="8" dur="11500" fill="hold"/>
                                        <p:tgtEl>
                                          <p:spTgt spid="96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50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9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1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3" name="Rectangle 5">
            <a:extLst>
              <a:ext uri="{FF2B5EF4-FFF2-40B4-BE49-F238E27FC236}">
                <a16:creationId xmlns:a16="http://schemas.microsoft.com/office/drawing/2014/main" id="{3E4B8D12-EF0D-EEB7-B938-A866ED3772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4964" y="0"/>
            <a:ext cx="7793037" cy="1462088"/>
          </a:xfrm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Кадр 3</a:t>
            </a:r>
          </a:p>
        </p:txBody>
      </p:sp>
      <p:sp>
        <p:nvSpPr>
          <p:cNvPr id="56323" name="Text Box 6">
            <a:extLst>
              <a:ext uri="{FF2B5EF4-FFF2-40B4-BE49-F238E27FC236}">
                <a16:creationId xmlns:a16="http://schemas.microsoft.com/office/drawing/2014/main" id="{546AC968-B071-D307-21AC-72F26B39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661025"/>
            <a:ext cx="2911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Содержимое видеобуфера</a:t>
            </a:r>
          </a:p>
        </p:txBody>
      </p:sp>
      <p:grpSp>
        <p:nvGrpSpPr>
          <p:cNvPr id="56324" name="Group 12">
            <a:extLst>
              <a:ext uri="{FF2B5EF4-FFF2-40B4-BE49-F238E27FC236}">
                <a16:creationId xmlns:a16="http://schemas.microsoft.com/office/drawing/2014/main" id="{BCF5641A-B305-394E-BE1C-0A4EBD5A432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2420939"/>
            <a:ext cx="3960813" cy="2967037"/>
            <a:chOff x="0" y="1525"/>
            <a:chExt cx="2495" cy="1869"/>
          </a:xfrm>
        </p:grpSpPr>
        <p:pic>
          <p:nvPicPr>
            <p:cNvPr id="56330" name="Picture 7">
              <a:extLst>
                <a:ext uri="{FF2B5EF4-FFF2-40B4-BE49-F238E27FC236}">
                  <a16:creationId xmlns:a16="http://schemas.microsoft.com/office/drawing/2014/main" id="{659B58A2-B4AC-E521-7B87-42A507CE7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5"/>
              <a:ext cx="2495" cy="1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31" name="Picture 9" descr="2">
              <a:extLst>
                <a:ext uri="{FF2B5EF4-FFF2-40B4-BE49-F238E27FC236}">
                  <a16:creationId xmlns:a16="http://schemas.microsoft.com/office/drawing/2014/main" id="{CDB96AB4-DE7E-6CBD-16CB-4C9AC1C07F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5"/>
              <a:ext cx="2472" cy="1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9341" name="Picture 13">
            <a:extLst>
              <a:ext uri="{FF2B5EF4-FFF2-40B4-BE49-F238E27FC236}">
                <a16:creationId xmlns:a16="http://schemas.microsoft.com/office/drawing/2014/main" id="{C7124883-2765-DF87-B075-980C67A61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420939"/>
            <a:ext cx="3960813" cy="296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42" name="Picture 14" descr="3">
            <a:extLst>
              <a:ext uri="{FF2B5EF4-FFF2-40B4-BE49-F238E27FC236}">
                <a16:creationId xmlns:a16="http://schemas.microsoft.com/office/drawing/2014/main" id="{FB46ACD6-0C89-6BEA-BAC7-62081B6AE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39243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43" name="Picture 15">
            <a:extLst>
              <a:ext uri="{FF2B5EF4-FFF2-40B4-BE49-F238E27FC236}">
                <a16:creationId xmlns:a16="http://schemas.microsoft.com/office/drawing/2014/main" id="{6AE272A4-1E40-6084-A037-C4B4F119D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2420938"/>
            <a:ext cx="3924300" cy="294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9" name="Line 11">
            <a:extLst>
              <a:ext uri="{FF2B5EF4-FFF2-40B4-BE49-F238E27FC236}">
                <a16:creationId xmlns:a16="http://schemas.microsoft.com/office/drawing/2014/main" id="{BE1C42DB-8F9B-6C59-1E7D-89DB74B42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412" y="2420938"/>
            <a:ext cx="91455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6329" name="Text Box 16">
            <a:extLst>
              <a:ext uri="{FF2B5EF4-FFF2-40B4-BE49-F238E27FC236}">
                <a16:creationId xmlns:a16="http://schemas.microsoft.com/office/drawing/2014/main" id="{E8FAF4ED-9D88-CBC6-74FC-86D59A3ED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0" y="5661026"/>
            <a:ext cx="3841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Изображение на экране монитора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2.77778E-6 -1.15607E-6 L -2.77778E-6 0.43006 " pathEditMode="relative" rAng="0" ptsTypes="AA">
                                      <p:cBhvr>
                                        <p:cTn id="8" dur="11500" fill="hold"/>
                                        <p:tgtEl>
                                          <p:spTgt spid="993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50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1500"/>
                                        <p:tgtEl>
                                          <p:spTgt spid="9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6DCAF9BE-2DCB-8339-D18C-40D1D04AE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На самом деле все обстоит гораздо хуже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C040289-0C90-19C5-52DF-57B848F37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/>
              <a:t>При большем количестве объектов, участвующих в анимации, мерцание становится еще более заметным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Ходом построения кадровой развертки на экране монитора управлять не получится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Однако выход есть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Какой?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69E85A3-6F3D-0D9C-7D69-25E84D929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Решение данной проблемы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F42DC9E-9CE9-7AF8-0119-350C4F859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Необходимо производить рисование во внеэкранное растровое изображение в памяти – </a:t>
            </a:r>
            <a:r>
              <a:rPr lang="ru-RU" altLang="ru-RU" b="1"/>
              <a:t>теневом буфере кадра</a:t>
            </a:r>
          </a:p>
          <a:p>
            <a:pPr eaLnBrk="1" hangingPunct="1"/>
            <a:r>
              <a:rPr lang="ru-RU" altLang="ru-RU"/>
              <a:t>После полного построения изображения в теневом буфере кадра его содержимое перебрасывается на экран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F77938A-9D14-C9A8-8437-50C4918EA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4964" y="0"/>
            <a:ext cx="7793037" cy="1462088"/>
          </a:xfrm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Исправленный вариант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D3351A84-C94B-0796-866B-9AF80A6D2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97426"/>
            <a:ext cx="25378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Содержимое теневого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буфера кадра</a:t>
            </a:r>
          </a:p>
        </p:txBody>
      </p:sp>
      <p:pic>
        <p:nvPicPr>
          <p:cNvPr id="103431" name="Picture 7">
            <a:extLst>
              <a:ext uri="{FF2B5EF4-FFF2-40B4-BE49-F238E27FC236}">
                <a16:creationId xmlns:a16="http://schemas.microsoft.com/office/drawing/2014/main" id="{6F0489E6-73C4-F3EC-105E-47CE914FE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2914650" cy="218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2" name="Picture 8" descr="3">
            <a:extLst>
              <a:ext uri="{FF2B5EF4-FFF2-40B4-BE49-F238E27FC236}">
                <a16:creationId xmlns:a16="http://schemas.microsoft.com/office/drawing/2014/main" id="{B52A9C67-0A37-E494-9718-6BDD6EDB0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20938"/>
            <a:ext cx="291465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Text Box 11">
            <a:extLst>
              <a:ext uri="{FF2B5EF4-FFF2-40B4-BE49-F238E27FC236}">
                <a16:creationId xmlns:a16="http://schemas.microsoft.com/office/drawing/2014/main" id="{E21D6170-C5CC-3055-3292-636E78B8F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9" y="4797425"/>
            <a:ext cx="2022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Изображение на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экране монитора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44C39D3A-70A3-3261-22F8-25264E67C55E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2420938"/>
            <a:ext cx="2914650" cy="2184400"/>
            <a:chOff x="1973" y="1525"/>
            <a:chExt cx="1836" cy="1376"/>
          </a:xfrm>
        </p:grpSpPr>
        <p:pic>
          <p:nvPicPr>
            <p:cNvPr id="59409" name="Picture 16">
              <a:extLst>
                <a:ext uri="{FF2B5EF4-FFF2-40B4-BE49-F238E27FC236}">
                  <a16:creationId xmlns:a16="http://schemas.microsoft.com/office/drawing/2014/main" id="{AD459DFB-0F79-F18F-DBE1-4C77182DB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1525"/>
              <a:ext cx="1836" cy="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0" name="Picture 17" descr="3">
              <a:extLst>
                <a:ext uri="{FF2B5EF4-FFF2-40B4-BE49-F238E27FC236}">
                  <a16:creationId xmlns:a16="http://schemas.microsoft.com/office/drawing/2014/main" id="{72A413BB-A5B0-7467-F4DD-8319EC547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1525"/>
              <a:ext cx="1836" cy="1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54774290-6F2E-21C3-8D03-EC19F3088550}"/>
              </a:ext>
            </a:extLst>
          </p:cNvPr>
          <p:cNvGrpSpPr>
            <a:grpSpLocks/>
          </p:cNvGrpSpPr>
          <p:nvPr/>
        </p:nvGrpSpPr>
        <p:grpSpPr bwMode="auto">
          <a:xfrm>
            <a:off x="7753350" y="2420938"/>
            <a:ext cx="2914650" cy="2184400"/>
            <a:chOff x="1973" y="1525"/>
            <a:chExt cx="1836" cy="1376"/>
          </a:xfrm>
        </p:grpSpPr>
        <p:pic>
          <p:nvPicPr>
            <p:cNvPr id="59407" name="Picture 23">
              <a:extLst>
                <a:ext uri="{FF2B5EF4-FFF2-40B4-BE49-F238E27FC236}">
                  <a16:creationId xmlns:a16="http://schemas.microsoft.com/office/drawing/2014/main" id="{690F937F-272B-28E3-D0AB-A607BA605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1525"/>
              <a:ext cx="1836" cy="1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8" name="Picture 24" descr="3">
              <a:extLst>
                <a:ext uri="{FF2B5EF4-FFF2-40B4-BE49-F238E27FC236}">
                  <a16:creationId xmlns:a16="http://schemas.microsoft.com/office/drawing/2014/main" id="{BAADC49E-D315-E21B-D81D-19CE4505D5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1525"/>
              <a:ext cx="1836" cy="1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9401" name="Text Box 25">
            <a:extLst>
              <a:ext uri="{FF2B5EF4-FFF2-40B4-BE49-F238E27FC236}">
                <a16:creationId xmlns:a16="http://schemas.microsoft.com/office/drawing/2014/main" id="{7EF14DCC-05C6-D4D6-0A0F-812BC1693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4" y="4797425"/>
            <a:ext cx="29110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Содержимое видеобуфера</a:t>
            </a:r>
          </a:p>
        </p:txBody>
      </p:sp>
      <p:sp>
        <p:nvSpPr>
          <p:cNvPr id="103451" name="Text Box 27">
            <a:extLst>
              <a:ext uri="{FF2B5EF4-FFF2-40B4-BE49-F238E27FC236}">
                <a16:creationId xmlns:a16="http://schemas.microsoft.com/office/drawing/2014/main" id="{903DA374-A52B-C2B9-A464-E884B0DCD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184467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00"/>
              <a:t>Кадр 1</a:t>
            </a:r>
          </a:p>
        </p:txBody>
      </p:sp>
      <p:sp>
        <p:nvSpPr>
          <p:cNvPr id="103452" name="Text Box 28">
            <a:extLst>
              <a:ext uri="{FF2B5EF4-FFF2-40B4-BE49-F238E27FC236}">
                <a16:creationId xmlns:a16="http://schemas.microsoft.com/office/drawing/2014/main" id="{8ACD0A6F-A146-CB28-B84A-43F379E92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184467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2400"/>
              <a:t>Кадр 2</a:t>
            </a:r>
          </a:p>
        </p:txBody>
      </p:sp>
      <p:sp>
        <p:nvSpPr>
          <p:cNvPr id="103453" name="Text Box 29">
            <a:extLst>
              <a:ext uri="{FF2B5EF4-FFF2-40B4-BE49-F238E27FC236}">
                <a16:creationId xmlns:a16="http://schemas.microsoft.com/office/drawing/2014/main" id="{9B05220C-C1EC-405F-A0BE-AE384BDBD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5734050"/>
            <a:ext cx="55367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Этап 1. Построение изображения в теневом буфере</a:t>
            </a:r>
          </a:p>
        </p:txBody>
      </p:sp>
      <p:sp>
        <p:nvSpPr>
          <p:cNvPr id="103454" name="Text Box 30">
            <a:extLst>
              <a:ext uri="{FF2B5EF4-FFF2-40B4-BE49-F238E27FC236}">
                <a16:creationId xmlns:a16="http://schemas.microsoft.com/office/drawing/2014/main" id="{8C9ADAC2-22C3-C9AD-86C2-60CF9907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6165850"/>
            <a:ext cx="70537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/>
              <a:t>Этап 2. Копирование содержимого теневого буфера в видеобуфер</a:t>
            </a:r>
          </a:p>
        </p:txBody>
      </p:sp>
      <p:sp>
        <p:nvSpPr>
          <p:cNvPr id="103434" name="Line 10">
            <a:extLst>
              <a:ext uri="{FF2B5EF4-FFF2-40B4-BE49-F238E27FC236}">
                <a16:creationId xmlns:a16="http://schemas.microsoft.com/office/drawing/2014/main" id="{7F65AA22-B2E2-AE30-09CB-458BAA3E7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412" y="2420938"/>
            <a:ext cx="9145588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7.40741E-7 L 3.61111E-6 0.31505 " pathEditMode="relative" rAng="0" ptsTypes="AA">
                                      <p:cBhvr>
                                        <p:cTn id="8" dur="11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animMotion origin="layout" path="M 3.61111E-6 7.40741E-7 L 3.61111E-6 0.31505 " pathEditMode="relative" rAng="0" ptsTypes="AA">
                                      <p:cBhvr>
                                        <p:cTn id="19" dur="115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74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103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0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1" grpId="0"/>
      <p:bldP spid="103451" grpId="1"/>
      <p:bldP spid="103452" grpId="0"/>
      <p:bldP spid="103453" grpId="0"/>
      <p:bldP spid="103453" grpId="1"/>
      <p:bldP spid="103454" grpId="0"/>
      <p:bldP spid="103454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EEA31432-6BC6-D748-D0F7-370E0D3DC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Обработка сообщения </a:t>
            </a:r>
            <a:r>
              <a:rPr lang="en-US"/>
              <a:t>WM_ERASEBKGND</a:t>
            </a:r>
            <a:endParaRPr lang="ru-RU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3136DE8-4C72-6D23-141E-AAFD7F993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800"/>
              <a:t>Несмотря на это, мерцание все равно будет происходить, т.к. окну перед сообщением </a:t>
            </a:r>
            <a:r>
              <a:rPr lang="en-US" altLang="ru-RU" sz="2800" b="1"/>
              <a:t>WM_PAINT</a:t>
            </a:r>
            <a:r>
              <a:rPr lang="en-US" altLang="ru-RU" sz="2800"/>
              <a:t> </a:t>
            </a:r>
            <a:r>
              <a:rPr lang="ru-RU" altLang="ru-RU" sz="2800"/>
              <a:t>может придти сообщение </a:t>
            </a:r>
            <a:r>
              <a:rPr lang="en-US" altLang="ru-RU" sz="2800" b="1"/>
              <a:t>WM_ERASEBKGND</a:t>
            </a:r>
            <a:r>
              <a:rPr lang="en-US" altLang="ru-RU" sz="2800"/>
              <a:t>, </a:t>
            </a:r>
            <a:r>
              <a:rPr lang="ru-RU" altLang="ru-RU" sz="2800"/>
              <a:t>обработчик по умолчанию которого стирает изображение с поверхности окна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800"/>
              <a:t>Необходимо перехватывать сообщение </a:t>
            </a:r>
            <a:r>
              <a:rPr lang="en-US" altLang="ru-RU" sz="2800" b="1"/>
              <a:t>WM_ERASEBKGND</a:t>
            </a:r>
            <a:r>
              <a:rPr lang="en-US" altLang="ru-RU" sz="2800"/>
              <a:t> </a:t>
            </a:r>
            <a:r>
              <a:rPr lang="ru-RU" altLang="ru-RU" sz="2800"/>
              <a:t>и не производить в нем очистку области окна, в которую будет копироваться содержимое теневого буфера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altLang="ru-RU"/>
              <a:t>В простейшем случае можно вообще ничего в данном обработчике не делать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C8529B5-023E-3FFA-9CDF-59314EE7DA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ru-RU"/>
              <a:t>Достоинства и </a:t>
            </a:r>
            <a:br>
              <a:rPr lang="en-US"/>
            </a:br>
            <a:r>
              <a:rPr lang="ru-RU"/>
              <a:t>недостатки </a:t>
            </a:r>
            <a:r>
              <a:rPr lang="en-US"/>
              <a:t>GDI</a:t>
            </a:r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850506-095D-5249-B4A4-1E6BF2466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C1B8264-F8F8-44AF-27B4-F7F3838A4E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Достоинства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9D10A81-7A2B-ACE4-C8F0-E945F62AF4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/>
              <a:t>Абстрагирование от особенности работы различных графических устройств</a:t>
            </a:r>
          </a:p>
          <a:p>
            <a:pPr lvl="1" eaLnBrk="1" hangingPunct="1">
              <a:lnSpc>
                <a:spcPct val="90000"/>
              </a:lnSpc>
            </a:pPr>
            <a:r>
              <a:rPr lang="ru-RU" altLang="ru-RU"/>
              <a:t>Один и тот же код может с легкостью производить вывод на различные графические устройства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/>
              <a:t>Данная особенность сделала </a:t>
            </a:r>
            <a:r>
              <a:rPr lang="en-US" altLang="ru-RU"/>
              <a:t>GDI</a:t>
            </a:r>
            <a:r>
              <a:rPr lang="ru-RU" altLang="ru-RU"/>
              <a:t> основным инструментом программирования пользовательского интерфейса </a:t>
            </a:r>
            <a:r>
              <a:rPr lang="en-US" altLang="ru-RU"/>
              <a:t>Windows</a:t>
            </a:r>
            <a:endParaRPr lang="ru-RU" alt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431340F8-8BBE-62EB-F6ED-1A64AB738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Недостатки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53C2DE5-B29C-DC9B-A90D-4F4D233B39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Огромное количество функций усложняет изучение данного </a:t>
            </a:r>
            <a:r>
              <a:rPr lang="en-US" sz="2400" dirty="0"/>
              <a:t>API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Отсутствие сглаживания векторных примитивов, растровых изображений и шрифтов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Слабые возможности по работе с полупрозрачными изображениями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Отсутствие поддержки изображений в формате, отличном от </a:t>
            </a:r>
            <a:r>
              <a:rPr lang="en-US" sz="2400" dirty="0"/>
              <a:t>BMP </a:t>
            </a:r>
            <a:r>
              <a:rPr lang="ru-RU" sz="2400" dirty="0"/>
              <a:t>и </a:t>
            </a:r>
            <a:r>
              <a:rPr lang="en-US" sz="2400" dirty="0"/>
              <a:t>WMF/EMF</a:t>
            </a:r>
            <a:endParaRPr lang="ru-RU" sz="2400" dirty="0"/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Управление ресурсами целиком возложено на программиста, а не на библиотеку</a:t>
            </a:r>
            <a:endParaRPr lang="en-US" sz="2400" dirty="0"/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400" dirty="0"/>
              <a:t>За универсальность пришлось заплатить </a:t>
            </a:r>
            <a:r>
              <a:rPr lang="ru-RU" sz="2400" b="1" dirty="0"/>
              <a:t>низким быстродействием</a:t>
            </a:r>
            <a:r>
              <a:rPr lang="ru-RU" sz="2400" dirty="0"/>
              <a:t>, что сделало </a:t>
            </a:r>
            <a:r>
              <a:rPr lang="en-US" sz="2400" dirty="0"/>
              <a:t>GDI </a:t>
            </a:r>
            <a:r>
              <a:rPr lang="ru-RU" sz="2400" dirty="0"/>
              <a:t>малопригодным для динамических приложений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CD837B-9222-6001-CC4A-3B1BAA0D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2D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80576-A5BF-AC36-0386-736BC74D5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763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FEAE78-1E0F-514F-CC8C-5E199DB2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Direct2D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CB7D77-7072-B4EF-16CD-575EF2F4C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Высокопроизводительный графический </a:t>
            </a:r>
            <a:r>
              <a:rPr lang="en-US" dirty="0"/>
              <a:t>API </a:t>
            </a:r>
            <a:r>
              <a:rPr lang="ru-RU" dirty="0"/>
              <a:t>от </a:t>
            </a:r>
            <a:r>
              <a:rPr lang="en-US" dirty="0"/>
              <a:t>Microsoft </a:t>
            </a:r>
            <a:r>
              <a:rPr lang="ru-RU" dirty="0"/>
              <a:t>для вывода </a:t>
            </a:r>
            <a:r>
              <a:rPr lang="en-US" dirty="0"/>
              <a:t>2D-</a:t>
            </a:r>
            <a:r>
              <a:rPr lang="ru-RU" dirty="0"/>
              <a:t>графики</a:t>
            </a:r>
          </a:p>
          <a:p>
            <a:r>
              <a:rPr lang="ru-RU" dirty="0"/>
              <a:t>Поддерживает аппаратное ускорение через </a:t>
            </a:r>
            <a:r>
              <a:rPr lang="en-US" dirty="0"/>
              <a:t>Direct 3D</a:t>
            </a:r>
            <a:r>
              <a:rPr lang="ru-RU" dirty="0"/>
              <a:t>, что гораздо быстрее, чем </a:t>
            </a:r>
            <a:r>
              <a:rPr lang="en-US" dirty="0"/>
              <a:t>GDI </a:t>
            </a:r>
            <a:r>
              <a:rPr lang="ru-RU" dirty="0"/>
              <a:t>и </a:t>
            </a:r>
            <a:r>
              <a:rPr lang="en-US" dirty="0"/>
              <a:t>GDI+</a:t>
            </a:r>
            <a:endParaRPr lang="ru-RU" dirty="0"/>
          </a:p>
          <a:p>
            <a:r>
              <a:rPr lang="ru-RU" dirty="0"/>
              <a:t>Основан на технологии </a:t>
            </a:r>
            <a:r>
              <a:rPr lang="en-US" dirty="0"/>
              <a:t>COM</a:t>
            </a:r>
            <a:r>
              <a:rPr lang="ru-RU" dirty="0"/>
              <a:t> (</a:t>
            </a:r>
            <a:r>
              <a:rPr lang="en-US" dirty="0"/>
              <a:t>Component Object Model)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32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F459-BA3B-96D9-3FDD-843DE43A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</a:t>
            </a:r>
            <a:r>
              <a:rPr lang="en-US" dirty="0"/>
              <a:t>Direct2D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5934-1B34-4E89-5B82-3D27B16C0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Создаём объект </a:t>
            </a:r>
            <a:r>
              <a:rPr lang="en-US" dirty="0"/>
              <a:t>Direct2D</a:t>
            </a:r>
            <a:r>
              <a:rPr lang="ru-RU" dirty="0"/>
              <a:t> </a:t>
            </a:r>
            <a:r>
              <a:rPr lang="en-US" dirty="0"/>
              <a:t>Factory</a:t>
            </a:r>
            <a:r>
              <a:rPr lang="ru-RU" dirty="0"/>
              <a:t> функцией </a:t>
            </a:r>
            <a:r>
              <a:rPr lang="en-US" dirty="0">
                <a:hlinkClick r:id="rId3"/>
              </a:rPr>
              <a:t>D2D1CreateFactory</a:t>
            </a:r>
            <a:endParaRPr lang="en-US" dirty="0"/>
          </a:p>
          <a:p>
            <a:r>
              <a:rPr lang="ru-RU" dirty="0"/>
              <a:t>Этот объект создаёт ресурсы </a:t>
            </a:r>
            <a:r>
              <a:rPr lang="en-US" dirty="0"/>
              <a:t>Direct2D</a:t>
            </a:r>
            <a:r>
              <a:rPr lang="ru-RU" dirty="0"/>
              <a:t>, в частности, </a:t>
            </a:r>
            <a:r>
              <a:rPr lang="en-US" dirty="0"/>
              <a:t>Render Target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7AB61-7978-E0D2-3D46-11A08B566030}"/>
              </a:ext>
            </a:extLst>
          </p:cNvPr>
          <p:cNvSpPr txBox="1"/>
          <p:nvPr/>
        </p:nvSpPr>
        <p:spPr>
          <a:xfrm>
            <a:off x="838200" y="3140968"/>
            <a:ext cx="10154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COM_DECLSPEC_NOTHROW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D2D1CreateFactory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_In_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D2D1_FACTORY_TYPE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factoryType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_Out_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17484-346D-D812-7672-A38DF36874EB}"/>
              </a:ext>
            </a:extLst>
          </p:cNvPr>
          <p:cNvSpPr txBox="1"/>
          <p:nvPr/>
        </p:nvSpPr>
        <p:spPr>
          <a:xfrm>
            <a:off x="838200" y="4738549"/>
            <a:ext cx="95770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D2D1_FACTORY_TYPE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D2D1_FACTORY_TYPE_SINGLE_THREADED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D2D1_FACTORY_TYPE_MULTI_THREADED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D2D1_FACTORY_TYPE_FORCE_DWORD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0xffffffff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D2D1_FACTORY_TYPE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7894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FACBA-91CF-EA40-2AF4-96689F8F8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объекта </a:t>
            </a:r>
            <a:r>
              <a:rPr lang="en-US" dirty="0"/>
              <a:t>Direct2D1 Factory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5DDE0-9E15-249B-EEEF-771539250BB6}"/>
              </a:ext>
            </a:extLst>
          </p:cNvPr>
          <p:cNvSpPr txBox="1"/>
          <p:nvPr/>
        </p:nvSpPr>
        <p:spPr>
          <a:xfrm>
            <a:off x="838200" y="1997839"/>
            <a:ext cx="103703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CWindowImpl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ATLENSURE_SUCCEEDED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D2D1CreateFactory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(D2D1_FACTORY_TYPE_SINGLE_THREADED, &amp;m_d2dFactory));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ATL::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CComPtr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&lt;ID2D1Factory&gt; m_d2dFactory;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34141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A296BA-B440-5683-54D8-2EE2E803F66B}"/>
              </a:ext>
            </a:extLst>
          </p:cNvPr>
          <p:cNvSpPr txBox="1"/>
          <p:nvPr/>
        </p:nvSpPr>
        <p:spPr>
          <a:xfrm>
            <a:off x="-13895" y="0"/>
            <a:ext cx="8739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ATLENSURE_SUCCEEDED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                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                                                           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                  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ATLENSURE_THROW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SUCCEEDED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C17E99-4D85-CE78-2617-EF6DC1C7F506}"/>
              </a:ext>
            </a:extLst>
          </p:cNvPr>
          <p:cNvSpPr txBox="1"/>
          <p:nvPr/>
        </p:nvSpPr>
        <p:spPr>
          <a:xfrm>
            <a:off x="0" y="1674674"/>
            <a:ext cx="8208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ATLENSURE_THROW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                                      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atl_condVal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=!!(expr);            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ATLASSUME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atl_condVal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     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(!(__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atl_condVal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866F4-226B-264E-B3C0-1AFEF5001E11}"/>
              </a:ext>
            </a:extLst>
          </p:cNvPr>
          <p:cNvSpPr txBox="1"/>
          <p:nvPr/>
        </p:nvSpPr>
        <p:spPr>
          <a:xfrm>
            <a:off x="-26476" y="403518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ATL::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AtlThrowImpl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32095-DE2F-6A13-43F6-2F974F39DDA8}"/>
              </a:ext>
            </a:extLst>
          </p:cNvPr>
          <p:cNvSpPr txBox="1"/>
          <p:nvPr/>
        </p:nvSpPr>
        <p:spPr>
          <a:xfrm>
            <a:off x="-26476" y="4584006"/>
            <a:ext cx="114263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ATL_NOINLINE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declspec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WINAPI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AtlThrowImpl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_In_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ATLTRACE(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atlTraceException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, 0, _T("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AtlThrow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= 0x%x\n"), 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CAtlException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1B922A-8623-A409-2C51-0FB9CD68B244}"/>
              </a:ext>
            </a:extLst>
          </p:cNvPr>
          <p:cNvSpPr txBox="1"/>
          <p:nvPr/>
        </p:nvSpPr>
        <p:spPr>
          <a:xfrm>
            <a:off x="-12094" y="358466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ATLASSUME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do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(expr); 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Analysis_assume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_(!!(expr));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5EF13D-0E6B-77F0-0018-73E3B01A0113}"/>
              </a:ext>
            </a:extLst>
          </p:cNvPr>
          <p:cNvSpPr txBox="1"/>
          <p:nvPr/>
        </p:nvSpPr>
        <p:spPr>
          <a:xfrm>
            <a:off x="6071236" y="1656813"/>
            <a:ext cx="61247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SUCCEEDED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(((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FAILED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(((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4909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D6BB72-89D1-395D-6533-2E0B75ED83B6}"/>
              </a:ext>
            </a:extLst>
          </p:cNvPr>
          <p:cNvSpPr txBox="1"/>
          <p:nvPr/>
        </p:nvSpPr>
        <p:spPr>
          <a:xfrm>
            <a:off x="6312024" y="1988840"/>
            <a:ext cx="54726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ID2D1Factory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public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IUnknown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77758-F87D-C952-BF7F-519DCFE3DA03}"/>
              </a:ext>
            </a:extLst>
          </p:cNvPr>
          <p:cNvSpPr txBox="1"/>
          <p:nvPr/>
        </p:nvSpPr>
        <p:spPr>
          <a:xfrm>
            <a:off x="6312024" y="3717032"/>
            <a:ext cx="58799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struct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IUnknown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QueryInterface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REFIID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riid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__RPC_FAR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**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ppvObject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AddRef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D16A11E-4A1A-76BB-48F8-20F81932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 err="1"/>
              <a:t>IUnknown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7DD59D-5F00-06CF-2A16-35B57F94C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Базовый интерфейс, от которого наследуются все </a:t>
            </a:r>
            <a:r>
              <a:rPr lang="en-US" dirty="0"/>
              <a:t>COM-</a:t>
            </a:r>
            <a:r>
              <a:rPr lang="ru-RU" dirty="0"/>
              <a:t>совместимые интерфейсы</a:t>
            </a:r>
          </a:p>
          <a:p>
            <a:r>
              <a:rPr lang="ru-RU" dirty="0"/>
              <a:t>Содержит методы</a:t>
            </a:r>
          </a:p>
          <a:p>
            <a:pPr lvl="1"/>
            <a:r>
              <a:rPr lang="en-US" dirty="0" err="1"/>
              <a:t>AddRef</a:t>
            </a:r>
            <a:r>
              <a:rPr lang="en-US" dirty="0"/>
              <a:t> – </a:t>
            </a:r>
            <a:r>
              <a:rPr lang="ru-RU" dirty="0"/>
              <a:t>увеличивает счётчик ссылок на объект</a:t>
            </a:r>
          </a:p>
          <a:p>
            <a:pPr lvl="1"/>
            <a:r>
              <a:rPr lang="en-US" dirty="0"/>
              <a:t>Release – </a:t>
            </a:r>
            <a:r>
              <a:rPr lang="ru-RU" dirty="0"/>
              <a:t>уменьшает счётчик ссылок на объект</a:t>
            </a:r>
          </a:p>
          <a:p>
            <a:pPr lvl="2"/>
            <a:r>
              <a:rPr lang="ru-RU" dirty="0"/>
              <a:t>При обнулении счётчика объект удаляется из памяти</a:t>
            </a:r>
          </a:p>
          <a:p>
            <a:pPr lvl="1"/>
            <a:r>
              <a:rPr lang="en-US" dirty="0" err="1"/>
              <a:t>QueryInterface</a:t>
            </a:r>
            <a:r>
              <a:rPr lang="en-US" dirty="0"/>
              <a:t> – </a:t>
            </a:r>
            <a:r>
              <a:rPr lang="ru-RU" dirty="0"/>
              <a:t>запрашивает интерфейс у объекта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32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DB15-7522-43DC-F9AB-8FBA7FE4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Умные указатели </a:t>
            </a:r>
            <a:r>
              <a:rPr lang="en-US" dirty="0"/>
              <a:t>ATL::</a:t>
            </a:r>
            <a:r>
              <a:rPr lang="en-US" dirty="0" err="1"/>
              <a:t>CComPtr</a:t>
            </a:r>
            <a:r>
              <a:rPr lang="ru-RU" dirty="0"/>
              <a:t>, </a:t>
            </a:r>
            <a:r>
              <a:rPr lang="en-US" dirty="0"/>
              <a:t>ATL::</a:t>
            </a:r>
            <a:r>
              <a:rPr lang="en-US" dirty="0" err="1"/>
              <a:t>CComQIPtr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A196A-11F7-50F1-542A-815A5046E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Хранит указатель на </a:t>
            </a:r>
            <a:r>
              <a:rPr lang="en-US" dirty="0"/>
              <a:t>COM-</a:t>
            </a:r>
            <a:r>
              <a:rPr lang="ru-RU" dirty="0"/>
              <a:t>интерфейс и автоматизирует управление временем жизни </a:t>
            </a:r>
            <a:r>
              <a:rPr lang="en-US" dirty="0"/>
              <a:t>COM-</a:t>
            </a:r>
            <a:r>
              <a:rPr lang="ru-RU" dirty="0"/>
              <a:t>объекта</a:t>
            </a:r>
          </a:p>
          <a:p>
            <a:pPr lvl="1"/>
            <a:r>
              <a:rPr lang="ru-RU" dirty="0"/>
              <a:t>При копировании указателя вызывает </a:t>
            </a:r>
            <a:r>
              <a:rPr lang="en-US" dirty="0" err="1"/>
              <a:t>AddRef</a:t>
            </a:r>
            <a:endParaRPr lang="ru-RU" dirty="0"/>
          </a:p>
          <a:p>
            <a:pPr lvl="1"/>
            <a:r>
              <a:rPr lang="ru-RU" dirty="0"/>
              <a:t>Деструктор указателя вызывает </a:t>
            </a:r>
            <a:r>
              <a:rPr lang="en-US" dirty="0"/>
              <a:t>Release</a:t>
            </a:r>
          </a:p>
          <a:p>
            <a:r>
              <a:rPr lang="ru-RU" dirty="0"/>
              <a:t>Используйте эти указатели для надежного управления временем жизни </a:t>
            </a:r>
            <a:r>
              <a:rPr lang="en-US" dirty="0"/>
              <a:t>COM-</a:t>
            </a:r>
            <a:r>
              <a:rPr lang="ru-RU" dirty="0"/>
              <a:t>объектов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0165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6BA8-75D3-5422-51E9-81FF222C9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</a:t>
            </a:r>
            <a:r>
              <a:rPr lang="en-US" dirty="0">
                <a:hlinkClick r:id="rId3"/>
              </a:rPr>
              <a:t>ID2D1HwndRenderTarget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93DEB-E8D2-454D-8A66-4A788710A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Интерфейс, представляющий цель рисования, связанную с окном</a:t>
            </a:r>
          </a:p>
          <a:p>
            <a:pPr lvl="1"/>
            <a:r>
              <a:rPr lang="ru-RU" dirty="0"/>
              <a:t>Наследуется от </a:t>
            </a:r>
            <a:r>
              <a:rPr lang="en-US" dirty="0"/>
              <a:t>ID2D1RenderTarget</a:t>
            </a:r>
            <a:endParaRPr lang="ru-RU" dirty="0"/>
          </a:p>
          <a:p>
            <a:r>
              <a:rPr lang="ru-RU" dirty="0"/>
              <a:t>Позволяет управлять окном</a:t>
            </a:r>
          </a:p>
          <a:p>
            <a:r>
              <a:rPr lang="ru-RU" dirty="0"/>
              <a:t>Содержит методы рисования и создания графических ресурсов, связанных с устройством</a:t>
            </a:r>
          </a:p>
          <a:p>
            <a:pPr lvl="1"/>
            <a:r>
              <a:rPr lang="ru-RU" dirty="0"/>
              <a:t>Кисти, перья и т.п.</a:t>
            </a:r>
          </a:p>
          <a:p>
            <a:r>
              <a:rPr lang="ru-RU" dirty="0"/>
              <a:t>Рисование выполняется между вызовами </a:t>
            </a:r>
            <a:r>
              <a:rPr lang="ru-RU" dirty="0" err="1"/>
              <a:t>метдов</a:t>
            </a:r>
            <a:r>
              <a:rPr lang="ru-RU" dirty="0"/>
              <a:t> </a:t>
            </a:r>
            <a:r>
              <a:rPr lang="en-US" dirty="0" err="1"/>
              <a:t>BeginDraw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EndDraw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592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9A0C2-C11C-C63C-6E68-36B99F5C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Создаём цель для рисования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6F54C8-4465-899C-933D-2CF1CFE11EDE}"/>
              </a:ext>
            </a:extLst>
          </p:cNvPr>
          <p:cNvSpPr txBox="1"/>
          <p:nvPr/>
        </p:nvSpPr>
        <p:spPr>
          <a:xfrm>
            <a:off x="838200" y="1772815"/>
            <a:ext cx="105863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DeviceResources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ID2D1Factory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HWND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hWnd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clientRect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ATLENSURE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GetClientRect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hWnd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clientRect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D2D1::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SizeU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clientRect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clientRect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ATLENSURE_SUCCEEDED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CreateHwndRenderTarget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D2D1::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RenderTargetProperties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D2D1::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HwndRenderTargetProperties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hWnd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size),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&amp;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ATL::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CComPtr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ID2D1HwndRenderTarget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3914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1DEF-7AAB-B355-32C3-25EB3288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Обработка </a:t>
            </a:r>
            <a:r>
              <a:rPr lang="en-US" dirty="0"/>
              <a:t>WM_PAINT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131F0-60FE-DCE4-A7B5-6DE5B26F7D9E}"/>
              </a:ext>
            </a:extLst>
          </p:cNvPr>
          <p:cNvSpPr txBox="1"/>
          <p:nvPr/>
        </p:nvSpPr>
        <p:spPr>
          <a:xfrm>
            <a:off x="838199" y="1916832"/>
            <a:ext cx="105156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OnPaint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(WTL::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CDCHandle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noexcept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ValidateRect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m_deviceResources.renderTarget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rt-&gt;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BeginDraw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rt-&gt;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(D2D1::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(D2D1::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ColorF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::Black));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rt-&gt;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D2DERR_RECREATE_TARGET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D8D8CA-4CDA-0841-DE1F-A8CF0EA6A981}"/>
              </a:ext>
            </a:extLst>
          </p:cNvPr>
          <p:cNvSpPr txBox="1"/>
          <p:nvPr/>
        </p:nvSpPr>
        <p:spPr>
          <a:xfrm>
            <a:off x="5735960" y="5657414"/>
            <a:ext cx="645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CreateDeviceResources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m_deviceResources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*m_d2dFactory,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m_hWnd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248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AD076-C7BC-4D0C-8D07-0A950A0C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Рисуем шарики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E3600-DDDB-D4DB-63B4-60C5B4DB67BE}"/>
              </a:ext>
            </a:extLst>
          </p:cNvPr>
          <p:cNvSpPr txBox="1"/>
          <p:nvPr/>
        </p:nvSpPr>
        <p:spPr>
          <a:xfrm>
            <a:off x="838200" y="1717253"/>
            <a:ext cx="86421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DrawWorld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DrawRectangle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D2D1::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RectF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m_world.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().width),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m_world.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().height)),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m_brush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m_world.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GetParticles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m_renderTarget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FillEllipse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D2D1::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particle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position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},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m_brush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8C830-526D-5B3B-4A07-5687E493677B}"/>
              </a:ext>
            </a:extLst>
          </p:cNvPr>
          <p:cNvSpPr txBox="1"/>
          <p:nvPr/>
        </p:nvSpPr>
        <p:spPr>
          <a:xfrm>
            <a:off x="9095656" y="2060848"/>
            <a:ext cx="3096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Particle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position;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speed;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51063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6665B-6E9B-610A-567C-30AAF3B7B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99AB13-C478-C349-1830-15802DECA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934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665D6B05-B263-8624-3155-7D5B71EB0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И это далеко не все!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B599A54-5150-674C-E498-D488A4C9F0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Это был лишь краткий обзор базовых возможностей </a:t>
            </a:r>
            <a:r>
              <a:rPr lang="en-US" altLang="ru-RU"/>
              <a:t>GDI+</a:t>
            </a:r>
          </a:p>
          <a:p>
            <a:pPr eaLnBrk="1" hangingPunct="1"/>
            <a:r>
              <a:rPr lang="ru-RU" altLang="ru-RU"/>
              <a:t>Подробное описание возможностей </a:t>
            </a:r>
            <a:r>
              <a:rPr lang="en-US" altLang="ru-RU"/>
              <a:t>GDI+</a:t>
            </a:r>
            <a:r>
              <a:rPr lang="ru-RU" altLang="ru-RU"/>
              <a:t>, классов и методов данной библиотеки можно найти в </a:t>
            </a:r>
            <a:r>
              <a:rPr lang="en-US" altLang="ru-RU"/>
              <a:t>MSDN</a:t>
            </a:r>
            <a:endParaRPr lang="ru-RU" altLang="ru-RU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26E10E8-CC82-DF84-7704-4F976A043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ru-RU"/>
              <a:t>Программирование графики с использованием </a:t>
            </a:r>
            <a:r>
              <a:rPr lang="en-US"/>
              <a:t>GDI+</a:t>
            </a:r>
            <a:endParaRPr lang="ru-RU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D824F5-44DE-F69C-C316-7E880ECFD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709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3DF97991-9D40-012F-D7CE-90F71C8B8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Что такое </a:t>
            </a:r>
            <a:r>
              <a:rPr lang="en-US" altLang="ru-RU"/>
              <a:t>GDI+ </a:t>
            </a:r>
            <a:endParaRPr lang="ru-RU" altLang="ru-RU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8AA1F308-80C8-D434-B365-B08BC6DE2C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Объектно-ориентированная библиотека для вывода графики</a:t>
            </a:r>
            <a:endParaRPr lang="en-US" altLang="ru-RU"/>
          </a:p>
          <a:p>
            <a:pPr lvl="1" eaLnBrk="1" hangingPunct="1"/>
            <a:r>
              <a:rPr lang="ru-RU" altLang="ru-RU"/>
              <a:t>Представлена в виде нескольких десятков классов на С++</a:t>
            </a:r>
          </a:p>
          <a:p>
            <a:pPr lvl="1" eaLnBrk="1" hangingPunct="1"/>
            <a:r>
              <a:rPr lang="ru-RU" altLang="ru-RU"/>
              <a:t>Появилась начиная с </a:t>
            </a:r>
            <a:r>
              <a:rPr lang="en-US" altLang="ru-RU"/>
              <a:t>Windows XP</a:t>
            </a:r>
          </a:p>
          <a:p>
            <a:pPr lvl="1" eaLnBrk="1" hangingPunct="1"/>
            <a:r>
              <a:rPr lang="ru-RU" altLang="ru-RU"/>
              <a:t>Доступна в виде </a:t>
            </a:r>
            <a:r>
              <a:rPr lang="en-US" altLang="ru-RU"/>
              <a:t>redistributable packages </a:t>
            </a:r>
            <a:r>
              <a:rPr lang="ru-RU" altLang="ru-RU"/>
              <a:t>для </a:t>
            </a:r>
            <a:r>
              <a:rPr lang="en-US" altLang="ru-RU"/>
              <a:t>Windows 98/ME/NT4/2000</a:t>
            </a:r>
            <a:endParaRPr lang="ru-RU" altLang="ru-RU"/>
          </a:p>
          <a:p>
            <a:pPr eaLnBrk="1" hangingPunct="1"/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560121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ECD5389-439F-91B5-EF7F-2791CFDF5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Достоинства и недостатки </a:t>
            </a:r>
            <a:r>
              <a:rPr lang="en-US" dirty="0"/>
              <a:t>GDI+</a:t>
            </a:r>
            <a:endParaRPr lang="ru-RU" dirty="0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AFBACD9-84E5-A3B3-6342-6E82811C7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800" dirty="0"/>
              <a:t>Достоинства</a:t>
            </a:r>
          </a:p>
          <a:p>
            <a:pPr marL="640080" lvl="1" indent="-246888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Улучшены возможности по работе с текстом, векторной и растровой графикой</a:t>
            </a:r>
          </a:p>
          <a:p>
            <a:pPr marL="640080" lvl="1" indent="-246888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Вместо сотен функций </a:t>
            </a:r>
            <a:r>
              <a:rPr lang="en-US" dirty="0"/>
              <a:t>GDI+ </a:t>
            </a:r>
            <a:r>
              <a:rPr lang="ru-RU" dirty="0"/>
              <a:t>предоставляет несколько десятков хорошо спроектированных </a:t>
            </a:r>
            <a:r>
              <a:rPr lang="en-US" dirty="0"/>
              <a:t>C++ </a:t>
            </a:r>
            <a:r>
              <a:rPr lang="ru-RU" dirty="0"/>
              <a:t>классов</a:t>
            </a:r>
          </a:p>
          <a:p>
            <a:pPr marL="640080" lvl="1" indent="-246888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Большая часть работы по управлению ресурсами возложена на библиотеку и компилятор</a:t>
            </a:r>
          </a:p>
          <a:p>
            <a:pPr marL="640080" lvl="1" indent="-246888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Разработчики</a:t>
            </a:r>
            <a:r>
              <a:rPr lang="en-US" dirty="0"/>
              <a:t> </a:t>
            </a:r>
            <a:r>
              <a:rPr lang="ru-RU" dirty="0"/>
              <a:t>рекомендуют использовать </a:t>
            </a:r>
            <a:r>
              <a:rPr lang="en-US" dirty="0"/>
              <a:t>GDI+ </a:t>
            </a:r>
            <a:r>
              <a:rPr lang="ru-RU" dirty="0"/>
              <a:t>вместо </a:t>
            </a:r>
            <a:r>
              <a:rPr lang="en-US" dirty="0"/>
              <a:t>GDI</a:t>
            </a:r>
            <a:r>
              <a:rPr lang="ru-RU" dirty="0"/>
              <a:t> в новых программах</a:t>
            </a:r>
          </a:p>
          <a:p>
            <a:pPr marL="274320" indent="-27432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800" dirty="0"/>
              <a:t>Недостаток – низкая производительность</a:t>
            </a:r>
          </a:p>
          <a:p>
            <a:pPr marL="640080" lvl="1" indent="-246888" eaLnBrk="1" fontAlgn="auto" hangingPunct="1">
              <a:lnSpc>
                <a:spcPct val="8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Универсальность и в этот раз делает </a:t>
            </a:r>
            <a:r>
              <a:rPr lang="en-US" dirty="0"/>
              <a:t>GDI+ </a:t>
            </a:r>
            <a:r>
              <a:rPr lang="ru-RU" dirty="0"/>
              <a:t>малопригодной для создания динамических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2869412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0060FD54-4FAD-C53D-C1AC-CEA129EAF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Применение </a:t>
            </a:r>
            <a:r>
              <a:rPr lang="en-US" altLang="ru-RU"/>
              <a:t>GDI+</a:t>
            </a:r>
            <a:endParaRPr lang="ru-RU" altLang="ru-RU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FF9827F-0850-6071-610A-90B053E3B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Двумерная векторная графика</a:t>
            </a:r>
          </a:p>
          <a:p>
            <a:pPr eaLnBrk="1" hangingPunct="1"/>
            <a:r>
              <a:rPr lang="ru-RU" altLang="ru-RU"/>
              <a:t>Обработка растровых изображений</a:t>
            </a:r>
          </a:p>
          <a:p>
            <a:pPr eaLnBrk="1" hangingPunct="1"/>
            <a:r>
              <a:rPr lang="ru-RU" altLang="ru-RU"/>
              <a:t>Вывод текстов</a:t>
            </a:r>
          </a:p>
        </p:txBody>
      </p:sp>
    </p:spTree>
    <p:extLst>
      <p:ext uri="{BB962C8B-B14F-4D97-AF65-F5344CB8AC3E}">
        <p14:creationId xmlns:p14="http://schemas.microsoft.com/office/powerpoint/2010/main" val="1117615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00AA4B3-1AAF-B4BA-32D5-12FDAA97D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Сравнение </a:t>
            </a:r>
            <a:r>
              <a:rPr lang="en-US" dirty="0"/>
              <a:t>GDI+ </a:t>
            </a:r>
            <a:r>
              <a:rPr lang="ru-RU" dirty="0"/>
              <a:t>и </a:t>
            </a:r>
            <a:r>
              <a:rPr lang="en-US" dirty="0"/>
              <a:t>GDI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4DD973-C7D2-82C0-906B-286D5B56A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318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>
            <a:extLst>
              <a:ext uri="{FF2B5EF4-FFF2-40B4-BE49-F238E27FC236}">
                <a16:creationId xmlns:a16="http://schemas.microsoft.com/office/drawing/2014/main" id="{DA3BE031-D46E-B8FB-6A1B-49EB5EB4D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Градиентные кисти</a:t>
            </a:r>
          </a:p>
        </p:txBody>
      </p:sp>
      <p:pic>
        <p:nvPicPr>
          <p:cNvPr id="69637" name="Picture 18" descr="Path Filled with Gradient Brush">
            <a:extLst>
              <a:ext uri="{FF2B5EF4-FFF2-40B4-BE49-F238E27FC236}">
                <a16:creationId xmlns:a16="http://schemas.microsoft.com/office/drawing/2014/main" id="{AF318315-8836-73CE-D6D8-E649A26531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904" y="2492896"/>
            <a:ext cx="2391109" cy="1305107"/>
          </a:xfrm>
          <a:noFill/>
        </p:spPr>
      </p:pic>
      <p:pic>
        <p:nvPicPr>
          <p:cNvPr id="69635" name="Picture 11" descr="Horizontal and Diagonal Gradient Brush">
            <a:extLst>
              <a:ext uri="{FF2B5EF4-FFF2-40B4-BE49-F238E27FC236}">
                <a16:creationId xmlns:a16="http://schemas.microsoft.com/office/drawing/2014/main" id="{0C3E45BC-856C-090A-CBEF-F369805494B3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432" y="2096400"/>
            <a:ext cx="3333750" cy="1314450"/>
          </a:xfrm>
          <a:noFill/>
        </p:spPr>
      </p:pic>
    </p:spTree>
    <p:extLst>
      <p:ext uri="{BB962C8B-B14F-4D97-AF65-F5344CB8AC3E}">
        <p14:creationId xmlns:p14="http://schemas.microsoft.com/office/powerpoint/2010/main" val="39160705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4DC30C5-A76A-0CA9-469E-BC6972D03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Фундаментальные сплайны (</a:t>
            </a:r>
            <a:r>
              <a:rPr lang="en-US" dirty="0"/>
              <a:t>Cardinal Splines)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6DB97C-717A-503E-5BD5-496AC32985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ru-RU" dirty="0"/>
              <a:t>Cardinal spline – </a:t>
            </a:r>
            <a:r>
              <a:rPr lang="ru-RU" altLang="ru-RU" dirty="0"/>
              <a:t>последовательность отдельных кривых, соединенных в виде одной кривой</a:t>
            </a:r>
          </a:p>
          <a:p>
            <a:r>
              <a:rPr lang="ru-RU" altLang="ru-RU" dirty="0"/>
              <a:t>Такие сплайны проходят через заданные точки, не образуя острых углов</a:t>
            </a:r>
          </a:p>
          <a:p>
            <a:endParaRPr lang="en-US" dirty="0"/>
          </a:p>
        </p:txBody>
      </p:sp>
      <p:pic>
        <p:nvPicPr>
          <p:cNvPr id="13" name="Content Placeholder 12" descr="Cardinal Splines">
            <a:extLst>
              <a:ext uri="{FF2B5EF4-FFF2-40B4-BE49-F238E27FC236}">
                <a16:creationId xmlns:a16="http://schemas.microsoft.com/office/drawing/2014/main" id="{A692A599-6AB7-34D1-1EE7-3EBFF1EA7C4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504" y="2780928"/>
            <a:ext cx="4438992" cy="24407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935982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05883B4-8E3C-C739-FB89-907684374A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Независимые объекты путей</a:t>
            </a:r>
            <a:br>
              <a:rPr lang="ru-RU"/>
            </a:br>
            <a:r>
              <a:rPr lang="en-US"/>
              <a:t>(Independent Path Objects)</a:t>
            </a:r>
            <a:endParaRPr lang="ru-RU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6857B16-2801-E86E-F445-EA76754EB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800" dirty="0"/>
              <a:t>В </a:t>
            </a:r>
            <a:r>
              <a:rPr lang="en-US" altLang="ru-RU" sz="2800" dirty="0"/>
              <a:t>GDI </a:t>
            </a:r>
            <a:r>
              <a:rPr lang="ru-RU" altLang="ru-RU" sz="2800" dirty="0"/>
              <a:t>путь относится к контексту устройства и после своего рисования путь уничтожается</a:t>
            </a:r>
          </a:p>
          <a:p>
            <a:pPr eaLnBrk="1" hangingPunct="1"/>
            <a:r>
              <a:rPr lang="ru-RU" altLang="ru-RU" sz="2800" dirty="0"/>
              <a:t>В </a:t>
            </a:r>
            <a:r>
              <a:rPr lang="en-US" altLang="ru-RU" sz="2800" dirty="0"/>
              <a:t>GDI+</a:t>
            </a:r>
            <a:r>
              <a:rPr lang="ru-RU" altLang="ru-RU" sz="2800" dirty="0"/>
              <a:t> рисование выполняется при помощи объекта </a:t>
            </a:r>
            <a:r>
              <a:rPr lang="en-US" altLang="ru-RU" sz="2800" b="1" dirty="0"/>
              <a:t>Graphics</a:t>
            </a:r>
            <a:r>
              <a:rPr lang="ru-RU" altLang="ru-RU" sz="2800" dirty="0"/>
              <a:t>, в то время как пути хранятся в объектах </a:t>
            </a:r>
            <a:r>
              <a:rPr lang="en-US" altLang="ru-RU" sz="2800" b="1" dirty="0" err="1"/>
              <a:t>GraphicsPath</a:t>
            </a:r>
            <a:endParaRPr lang="ru-RU" altLang="ru-RU" sz="2800" dirty="0"/>
          </a:p>
          <a:p>
            <a:pPr lvl="1" eaLnBrk="1" hangingPunct="1"/>
            <a:r>
              <a:rPr lang="ru-RU" altLang="ru-RU" dirty="0"/>
              <a:t>Можно рисовать один и тот же путь несколько раз</a:t>
            </a:r>
          </a:p>
        </p:txBody>
      </p:sp>
    </p:spTree>
    <p:extLst>
      <p:ext uri="{BB962C8B-B14F-4D97-AF65-F5344CB8AC3E}">
        <p14:creationId xmlns:p14="http://schemas.microsoft.com/office/powerpoint/2010/main" val="32627944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EB58351-1B06-22B7-5B14-76156DB20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Трансформации и матрицы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ADD6B-AC95-F8B2-4771-BBC5CECFD1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ru-RU" dirty="0"/>
              <a:t>GDI+ </a:t>
            </a:r>
            <a:r>
              <a:rPr lang="ru-RU" altLang="ru-RU" dirty="0"/>
              <a:t>предоставляет класс </a:t>
            </a:r>
            <a:r>
              <a:rPr lang="en-US" altLang="ru-RU" dirty="0"/>
              <a:t>Matrix</a:t>
            </a:r>
            <a:r>
              <a:rPr lang="ru-RU" altLang="ru-RU" dirty="0"/>
              <a:t>, упрощающий повороты, переносы, масштабирование объектов, а также их комбинирование</a:t>
            </a:r>
          </a:p>
          <a:p>
            <a:r>
              <a:rPr lang="ru-RU" altLang="ru-RU" dirty="0"/>
              <a:t>На рисунке показан результат применения двух трансформаций к пути (масштабирование и поворот)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Content Placeholder 8" descr="Path before and after transformations">
            <a:extLst>
              <a:ext uri="{FF2B5EF4-FFF2-40B4-BE49-F238E27FC236}">
                <a16:creationId xmlns:a16="http://schemas.microsoft.com/office/drawing/2014/main" id="{880E6DE3-12EE-FDAA-DD11-ED8F149F06A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034" y="2204864"/>
            <a:ext cx="3903932" cy="35928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44262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F7CC641-37D6-7821-3C26-764DAE40D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Трансформации регионов</a:t>
            </a:r>
          </a:p>
        </p:txBody>
      </p:sp>
      <p:sp>
        <p:nvSpPr>
          <p:cNvPr id="73731" name="Rectangle 5">
            <a:extLst>
              <a:ext uri="{FF2B5EF4-FFF2-40B4-BE49-F238E27FC236}">
                <a16:creationId xmlns:a16="http://schemas.microsoft.com/office/drawing/2014/main" id="{5E72C758-F0BD-E466-C4FB-013B19350EA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ru-RU" sz="2800"/>
              <a:t>GDI+ </a:t>
            </a:r>
            <a:r>
              <a:rPr lang="ru-RU" altLang="ru-RU" sz="2800"/>
              <a:t>позволяет применять матричные преобразования к регионам</a:t>
            </a:r>
          </a:p>
          <a:p>
            <a:pPr lvl="1" eaLnBrk="1" hangingPunct="1"/>
            <a:r>
              <a:rPr lang="ru-RU" altLang="ru-RU"/>
              <a:t>Это дает возможность их масштабирования, поворота и переноса</a:t>
            </a:r>
          </a:p>
        </p:txBody>
      </p:sp>
      <p:pic>
        <p:nvPicPr>
          <p:cNvPr id="8" name="Picture 8" descr="Scalable Regions">
            <a:extLst>
              <a:ext uri="{FF2B5EF4-FFF2-40B4-BE49-F238E27FC236}">
                <a16:creationId xmlns:a16="http://schemas.microsoft.com/office/drawing/2014/main" id="{A85AB769-B196-3408-8039-C358FD4D6C9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97625" y="2420888"/>
            <a:ext cx="4730750" cy="3160812"/>
          </a:xfrm>
          <a:noFill/>
        </p:spPr>
      </p:pic>
    </p:spTree>
    <p:extLst>
      <p:ext uri="{BB962C8B-B14F-4D97-AF65-F5344CB8AC3E}">
        <p14:creationId xmlns:p14="http://schemas.microsoft.com/office/powerpoint/2010/main" val="34780109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FF561E3-EA39-3C6D-3722-0054A5DB34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Смешивание цветов и полупрозрачность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ABECF-E4C5-1324-EBC1-087D756574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ru-RU" sz="2800" dirty="0"/>
              <a:t>GDI+ </a:t>
            </a:r>
            <a:r>
              <a:rPr lang="ru-RU" altLang="ru-RU" sz="2800" dirty="0"/>
              <a:t>поддерживает полупрозрачность заливки или линий при выводе графики</a:t>
            </a:r>
          </a:p>
          <a:p>
            <a:endParaRPr lang="en-US" dirty="0"/>
          </a:p>
        </p:txBody>
      </p:sp>
      <p:pic>
        <p:nvPicPr>
          <p:cNvPr id="6" name="Picture 8" descr="Alpha Blending">
            <a:extLst>
              <a:ext uri="{FF2B5EF4-FFF2-40B4-BE49-F238E27FC236}">
                <a16:creationId xmlns:a16="http://schemas.microsoft.com/office/drawing/2014/main" id="{796F6304-8FCD-253D-6769-96843582B15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15077" y="3139161"/>
            <a:ext cx="2295845" cy="17242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771615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B3D6DDE1-6E91-0121-EF04-B28FE0446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Долой дескрипторы и контексты устройств!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C576C89-033B-B1B9-59D9-FEBDA8CE6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u-RU" dirty="0"/>
              <a:t>GDI+ </a:t>
            </a:r>
            <a:r>
              <a:rPr lang="ru-RU" altLang="ru-RU" dirty="0"/>
              <a:t>предоставляет пользователю класс </a:t>
            </a:r>
            <a:r>
              <a:rPr lang="en-US" altLang="ru-RU" b="1" dirty="0"/>
              <a:t>Graphics</a:t>
            </a:r>
            <a:r>
              <a:rPr lang="ru-RU" altLang="ru-RU" dirty="0"/>
              <a:t>, инкапсулирующий работу с графикой</a:t>
            </a:r>
          </a:p>
          <a:p>
            <a:r>
              <a:rPr lang="ru-RU" altLang="ru-RU" dirty="0"/>
              <a:t>Как и контекст устройства он связан с определенным окном</a:t>
            </a:r>
          </a:p>
          <a:p>
            <a:r>
              <a:rPr lang="ru-RU" altLang="ru-RU" dirty="0"/>
              <a:t>Однако он не связан с кистью, перьями и шрифтами</a:t>
            </a:r>
          </a:p>
          <a:p>
            <a:pPr lvl="1"/>
            <a:r>
              <a:rPr lang="ru-RU" altLang="ru-RU" dirty="0"/>
              <a:t>Нужные объекты </a:t>
            </a:r>
            <a:r>
              <a:rPr lang="en-US" altLang="ru-RU" dirty="0"/>
              <a:t>GDI+ </a:t>
            </a:r>
            <a:r>
              <a:rPr lang="ru-RU" altLang="ru-RU" dirty="0"/>
              <a:t>передаются в методы рисования класса </a:t>
            </a:r>
            <a:r>
              <a:rPr lang="en-US" altLang="ru-RU" dirty="0"/>
              <a:t>Graphics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6080579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>
            <a:extLst>
              <a:ext uri="{FF2B5EF4-FFF2-40B4-BE49-F238E27FC236}">
                <a16:creationId xmlns:a16="http://schemas.microsoft.com/office/drawing/2014/main" id="{431530A7-A5EA-0E10-FF76-CA201A56B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Рисование линии при помощи </a:t>
            </a:r>
            <a:r>
              <a:rPr lang="en-US"/>
              <a:t>GDI</a:t>
            </a:r>
            <a:endParaRPr lang="ru-RU"/>
          </a:p>
        </p:txBody>
      </p:sp>
      <p:sp>
        <p:nvSpPr>
          <p:cNvPr id="76803" name="Rectangle 9">
            <a:extLst>
              <a:ext uri="{FF2B5EF4-FFF2-40B4-BE49-F238E27FC236}">
                <a16:creationId xmlns:a16="http://schemas.microsoft.com/office/drawing/2014/main" id="{2BE6AF25-8BC6-FD8B-B907-7991291D5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16832"/>
            <a:ext cx="9145588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HDC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PAINTSTRUCT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HPEN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hPen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HPEN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hPenOld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BeginPaint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hWnd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hPen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CreatePen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(PS_SOLID, 3, RGB(255, 0, 0));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hPenOld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(HPEN)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SelectObject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hPen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MoveToEx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20, 10, NULL);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LineTo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200, 100);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SelectObject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hPenOld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DeleteObject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hPen</a:t>
            </a:r>
            <a:r>
              <a:rPr lang="ru-RU" altLang="ru-RU" sz="18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EndPaint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hWnd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8383898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BBFE390-2E8A-CCBA-CA23-6C60D855D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/>
              <a:t>Рисование линии при помощи </a:t>
            </a:r>
            <a:r>
              <a:rPr lang="en-US" dirty="0"/>
              <a:t>GDI</a:t>
            </a:r>
            <a:endParaRPr lang="ru-RU" dirty="0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740790E-D5C9-1039-5D6A-751E0D48B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2856"/>
            <a:ext cx="9145588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PAINTSTRUCT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BeginPaint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hWnd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фигурные скобки нужны, чтобы объект </a:t>
            </a:r>
            <a:r>
              <a:rPr lang="en-US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Graphics</a:t>
            </a:r>
            <a:endParaRPr lang="ru-RU" altLang="ru-RU" sz="1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уничтожился до вызова </a:t>
            </a:r>
            <a:r>
              <a:rPr lang="en-US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EndPaint</a:t>
            </a:r>
            <a:r>
              <a:rPr lang="en-US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endParaRPr lang="ru-RU" altLang="ru-RU" sz="18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Pen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myPen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(Color(255, 255, 0, 0), 3);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b="1" dirty="0">
                <a:latin typeface="Consolas" panose="020B0609020204030204" pitchFamily="49" charset="0"/>
                <a:cs typeface="Courier New" panose="02070309020205020404" pitchFamily="49" charset="0"/>
              </a:rPr>
              <a:t>Graphics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myGraphics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hdc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myGraphics.DrawLine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myPen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, 20, 10, 200, 100);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EndPaint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hWnd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, &amp;</a:t>
            </a:r>
            <a:r>
              <a:rPr lang="ru-RU" altLang="ru-RU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ps</a:t>
            </a:r>
            <a:r>
              <a:rPr lang="ru-RU" altLang="ru-RU" sz="18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4854010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1C62A49-A99B-1603-D3F8-46C7237D1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3200"/>
              <a:t>Кисти, перья, пути, изображения и шрифты – теперь параметры методов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FA02A62-5302-389B-980D-E37DA3A67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Объекты </a:t>
            </a:r>
            <a:r>
              <a:rPr lang="en-US" altLang="ru-RU" dirty="0"/>
              <a:t>GDI+ </a:t>
            </a:r>
            <a:r>
              <a:rPr lang="ru-RU" altLang="ru-RU" dirty="0"/>
              <a:t>создаются и хранятся отдельно от класса </a:t>
            </a:r>
            <a:r>
              <a:rPr lang="en-US" altLang="ru-RU" b="1" dirty="0"/>
              <a:t>Graphics</a:t>
            </a:r>
            <a:r>
              <a:rPr lang="en-US" altLang="ru-RU" dirty="0"/>
              <a:t>.</a:t>
            </a:r>
          </a:p>
          <a:p>
            <a:r>
              <a:rPr lang="ru-RU" altLang="ru-RU" dirty="0"/>
              <a:t>Методы класса </a:t>
            </a:r>
            <a:r>
              <a:rPr lang="en-US" altLang="ru-RU" dirty="0"/>
              <a:t>Graphics</a:t>
            </a:r>
            <a:r>
              <a:rPr lang="ru-RU" altLang="ru-RU" dirty="0"/>
              <a:t>, выполняющие рисование,</a:t>
            </a:r>
            <a:r>
              <a:rPr lang="en-US" altLang="ru-RU" dirty="0"/>
              <a:t> </a:t>
            </a:r>
            <a:r>
              <a:rPr lang="ru-RU" altLang="ru-RU" dirty="0"/>
              <a:t>принимают указатель на нужный им объект</a:t>
            </a:r>
          </a:p>
        </p:txBody>
      </p:sp>
    </p:spTree>
    <p:extLst>
      <p:ext uri="{BB962C8B-B14F-4D97-AF65-F5344CB8AC3E}">
        <p14:creationId xmlns:p14="http://schemas.microsoft.com/office/powerpoint/2010/main" val="36991844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101C7980-6B07-CF76-F635-D0A8DE236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Перегрузка методов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FF5A607B-40BE-1CEF-41FE-186DA56AFB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dirty="0"/>
              <a:t>Многие методы </a:t>
            </a:r>
            <a:r>
              <a:rPr lang="en-US" altLang="ru-RU" dirty="0"/>
              <a:t>GDI+ </a:t>
            </a:r>
            <a:r>
              <a:rPr lang="ru-RU" altLang="ru-RU" dirty="0"/>
              <a:t>перегружены, т.е. имеют одно имя, но различные списки параметров</a:t>
            </a:r>
          </a:p>
          <a:p>
            <a:r>
              <a:rPr lang="ru-RU" altLang="ru-RU" dirty="0"/>
              <a:t>Программист может использовать более удобный в конкретной ситуации способ вызова метода</a:t>
            </a:r>
          </a:p>
        </p:txBody>
      </p:sp>
    </p:spTree>
    <p:extLst>
      <p:ext uri="{BB962C8B-B14F-4D97-AF65-F5344CB8AC3E}">
        <p14:creationId xmlns:p14="http://schemas.microsoft.com/office/powerpoint/2010/main" val="5400108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AFCDF99E-A283-82CA-C75E-DFAAD57A70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Прочие улучшения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8D23C713-E667-C04B-7AA4-92D22CD400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altLang="ru-RU" sz="2800"/>
              <a:t>Отказ от текущей позиции рисования линий</a:t>
            </a:r>
          </a:p>
          <a:p>
            <a:pPr lvl="1" eaLnBrk="1" hangingPunct="1">
              <a:lnSpc>
                <a:spcPct val="80000"/>
              </a:lnSpc>
            </a:pPr>
            <a:r>
              <a:rPr lang="ru-RU" altLang="ru-RU"/>
              <a:t>Методы рисования линий принимают начальную и конечную точки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altLang="ru-RU"/>
              <a:t>Нет необходимости в </a:t>
            </a:r>
            <a:r>
              <a:rPr lang="en-US" altLang="ru-RU"/>
              <a:t>MoveTo/LineTo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800"/>
              <a:t>Отделение методов рисования от методов заливки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ru-RU"/>
              <a:t>DrawRectangle </a:t>
            </a:r>
            <a:r>
              <a:rPr lang="ru-RU" altLang="ru-RU"/>
              <a:t>и </a:t>
            </a:r>
            <a:r>
              <a:rPr lang="en-US" altLang="ru-RU"/>
              <a:t>FillRectangle</a:t>
            </a:r>
            <a:endParaRPr lang="ru-RU" altLang="ru-RU"/>
          </a:p>
          <a:p>
            <a:pPr eaLnBrk="1" hangingPunct="1">
              <a:lnSpc>
                <a:spcPct val="80000"/>
              </a:lnSpc>
            </a:pPr>
            <a:r>
              <a:rPr lang="ru-RU" altLang="ru-RU" sz="2800"/>
              <a:t>Цвет в </a:t>
            </a:r>
            <a:r>
              <a:rPr lang="en-US" altLang="ru-RU" sz="2800"/>
              <a:t>GDI+ </a:t>
            </a:r>
            <a:r>
              <a:rPr lang="ru-RU" altLang="ru-RU" sz="2800"/>
              <a:t>имеет </a:t>
            </a:r>
            <a:r>
              <a:rPr lang="en-US" altLang="ru-RU" sz="2800"/>
              <a:t>Alpha </a:t>
            </a:r>
            <a:r>
              <a:rPr lang="ru-RU" altLang="ru-RU" sz="2800"/>
              <a:t>составляющую, задающую прозрачность</a:t>
            </a:r>
            <a:endParaRPr lang="en-US" altLang="ru-RU" sz="2800"/>
          </a:p>
          <a:p>
            <a:pPr eaLnBrk="1" hangingPunct="1">
              <a:lnSpc>
                <a:spcPct val="80000"/>
              </a:lnSpc>
            </a:pPr>
            <a:r>
              <a:rPr lang="ru-RU" altLang="ru-RU" sz="2800"/>
              <a:t>Упрощение создания и комбинирования регионов</a:t>
            </a:r>
          </a:p>
        </p:txBody>
      </p:sp>
    </p:spTree>
    <p:extLst>
      <p:ext uri="{BB962C8B-B14F-4D97-AF65-F5344CB8AC3E}">
        <p14:creationId xmlns:p14="http://schemas.microsoft.com/office/powerpoint/2010/main" val="34703829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8122D2A-D997-1650-B749-55973ACEE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Поддержка различных форматов изображений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4EFD6FC-0973-99A3-AD6E-A8866A9C7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400" dirty="0"/>
              <a:t>GDI+ </a:t>
            </a:r>
            <a:r>
              <a:rPr lang="ru-RU" sz="2400" dirty="0"/>
              <a:t>предоставляет классы </a:t>
            </a:r>
            <a:r>
              <a:rPr lang="en-US" sz="2400" dirty="0"/>
              <a:t>Image, Bitmap </a:t>
            </a:r>
            <a:r>
              <a:rPr lang="ru-RU" sz="2400" dirty="0"/>
              <a:t>и </a:t>
            </a:r>
            <a:r>
              <a:rPr lang="en-US" sz="2400" dirty="0"/>
              <a:t>Metafile </a:t>
            </a:r>
            <a:r>
              <a:rPr lang="ru-RU" sz="2400" dirty="0"/>
              <a:t>для загрузки, сохранения и обработки изображений различных форматов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BMP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GIF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JPEG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/>
              <a:t>PNG</a:t>
            </a:r>
            <a:endParaRPr lang="en-US" sz="2000" dirty="0"/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 err="1"/>
              <a:t>Exif</a:t>
            </a:r>
            <a:endParaRPr lang="en-US" sz="2000" dirty="0"/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TIFF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ICON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WMF</a:t>
            </a:r>
          </a:p>
          <a:p>
            <a:pPr marL="640080" lvl="1" indent="-246888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/>
              <a:t>EMF</a:t>
            </a:r>
            <a:endParaRPr lang="ru-RU" sz="2000" dirty="0"/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ru-RU" sz="2200" dirty="0"/>
              <a:t>Поддержки данных форматов раньше приходилось реализовывать самостоятельно либо использовать сторонние библиотеки</a:t>
            </a:r>
          </a:p>
        </p:txBody>
      </p:sp>
    </p:spTree>
    <p:extLst>
      <p:ext uri="{BB962C8B-B14F-4D97-AF65-F5344CB8AC3E}">
        <p14:creationId xmlns:p14="http://schemas.microsoft.com/office/powerpoint/2010/main" val="14087540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3A290AD4-BB45-FA55-D1D3-1C1637BAE8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Антиалиасинг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A0319-AE51-EFFC-BD5B-1055540D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 sz="2400" dirty="0" err="1"/>
              <a:t>Антиалиасинг</a:t>
            </a:r>
            <a:r>
              <a:rPr lang="ru-RU" altLang="ru-RU" sz="2400" dirty="0"/>
              <a:t> позволяет уменьшить ступенчатость при отображении векторных примитивов на растровом дисплее</a:t>
            </a:r>
          </a:p>
          <a:p>
            <a:pPr marL="0" indent="0" eaLnBrk="1" hangingPunct="1">
              <a:buNone/>
            </a:pPr>
            <a:r>
              <a:rPr lang="ru-RU" altLang="ru-RU" sz="2000" dirty="0" err="1">
                <a:latin typeface="Consolas" panose="020B0609020204030204" pitchFamily="49" charset="0"/>
              </a:rPr>
              <a:t>myGraphics.SetSmoothingMode</a:t>
            </a:r>
            <a:r>
              <a:rPr lang="ru-RU" altLang="ru-RU" sz="2000" dirty="0">
                <a:latin typeface="Consolas" panose="020B0609020204030204" pitchFamily="49" charset="0"/>
              </a:rPr>
              <a:t>(</a:t>
            </a:r>
            <a:r>
              <a:rPr lang="ru-RU" altLang="ru-RU" sz="2000" dirty="0" err="1">
                <a:latin typeface="Consolas" panose="020B0609020204030204" pitchFamily="49" charset="0"/>
              </a:rPr>
              <a:t>SmoothingModeAntiAlias</a:t>
            </a:r>
            <a:r>
              <a:rPr lang="ru-RU" altLang="ru-RU" sz="2000" dirty="0">
                <a:latin typeface="Consolas" panose="020B0609020204030204" pitchFamily="49" charset="0"/>
              </a:rPr>
              <a:t>);</a:t>
            </a:r>
            <a:br>
              <a:rPr lang="ru-RU" altLang="ru-RU" sz="2000" dirty="0">
                <a:latin typeface="Consolas" panose="020B0609020204030204" pitchFamily="49" charset="0"/>
              </a:rPr>
            </a:br>
            <a:r>
              <a:rPr lang="ru-RU" altLang="ru-RU" sz="2000" dirty="0" err="1">
                <a:latin typeface="Consolas" panose="020B0609020204030204" pitchFamily="49" charset="0"/>
              </a:rPr>
              <a:t>myGraphics.DrawLine</a:t>
            </a:r>
            <a:r>
              <a:rPr lang="ru-RU" altLang="ru-RU" sz="2000" dirty="0">
                <a:latin typeface="Consolas" panose="020B0609020204030204" pitchFamily="49" charset="0"/>
              </a:rPr>
              <a:t>(&amp;</a:t>
            </a:r>
            <a:r>
              <a:rPr lang="ru-RU" altLang="ru-RU" sz="2000" dirty="0" err="1">
                <a:latin typeface="Consolas" panose="020B0609020204030204" pitchFamily="49" charset="0"/>
              </a:rPr>
              <a:t>myPen</a:t>
            </a:r>
            <a:r>
              <a:rPr lang="ru-RU" altLang="ru-RU" sz="2000" dirty="0">
                <a:latin typeface="Consolas" panose="020B0609020204030204" pitchFamily="49" charset="0"/>
              </a:rPr>
              <a:t>, 0, 0, 12, 8);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16" descr="Red line without antialiasing">
            <a:extLst>
              <a:ext uri="{FF2B5EF4-FFF2-40B4-BE49-F238E27FC236}">
                <a16:creationId xmlns:a16="http://schemas.microsoft.com/office/drawing/2014/main" id="{B3E6A63A-F4B6-8B68-8D2B-EBE8919B6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3732396"/>
            <a:ext cx="2804674" cy="1869782"/>
          </a:xfrm>
          <a:prstGeom prst="rect">
            <a:avLst/>
          </a:prstGeom>
          <a:noFill/>
        </p:spPr>
      </p:pic>
      <p:pic>
        <p:nvPicPr>
          <p:cNvPr id="10" name="Picture 19" descr="Red line with antialiasing">
            <a:extLst>
              <a:ext uri="{FF2B5EF4-FFF2-40B4-BE49-F238E27FC236}">
                <a16:creationId xmlns:a16="http://schemas.microsoft.com/office/drawing/2014/main" id="{FDB8F6DB-DD16-6400-27E1-D5523942A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3732396"/>
            <a:ext cx="2804674" cy="1869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811009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79A048B5-AD2F-2BF7-1717-5A3E67B0B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Загрузка растрового изображения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F20709E4-3663-43F5-B6A9-60867E50BC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Загрузка растрового изображения из файла при помощи</a:t>
            </a:r>
            <a:r>
              <a:rPr lang="en-US" altLang="ru-RU"/>
              <a:t> GDI+ </a:t>
            </a:r>
            <a:r>
              <a:rPr lang="ru-RU" altLang="ru-RU"/>
              <a:t>выполняется очень просто – достаточно передать имя файла в конструктор класса </a:t>
            </a:r>
            <a:r>
              <a:rPr lang="en-US" altLang="ru-RU"/>
              <a:t>Bitmap</a:t>
            </a:r>
          </a:p>
          <a:p>
            <a:pPr lvl="1" eaLnBrk="1" hangingPunct="1"/>
            <a:r>
              <a:rPr lang="ru-RU" altLang="ru-RU"/>
              <a:t>Bitmap myBitmap(L"Spiral.png"); </a:t>
            </a:r>
          </a:p>
          <a:p>
            <a:pPr eaLnBrk="1" hangingPunct="1"/>
            <a:r>
              <a:rPr lang="ru-RU" altLang="ru-RU"/>
              <a:t>Важное замечание - загрузка изображения из файла занимает некоторое время</a:t>
            </a:r>
          </a:p>
          <a:p>
            <a:pPr lvl="1" eaLnBrk="1" hangingPunct="1"/>
            <a:r>
              <a:rPr lang="ru-RU" altLang="ru-RU"/>
              <a:t>Для многократного рисования изображения нужно сохранить его после создания в переменной, а не загружать каждый раз заново</a:t>
            </a:r>
          </a:p>
        </p:txBody>
      </p:sp>
    </p:spTree>
    <p:extLst>
      <p:ext uri="{BB962C8B-B14F-4D97-AF65-F5344CB8AC3E}">
        <p14:creationId xmlns:p14="http://schemas.microsoft.com/office/powerpoint/2010/main" val="29284127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CB37BD3-4CEA-127F-1729-0E03A3A80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/>
              <a:t>Рисование растрового изображения</a:t>
            </a:r>
          </a:p>
        </p:txBody>
      </p:sp>
      <p:pic>
        <p:nvPicPr>
          <p:cNvPr id="96260" name="Picture 7" descr="image drawn at point 10, 10">
            <a:extLst>
              <a:ext uri="{FF2B5EF4-FFF2-40B4-BE49-F238E27FC236}">
                <a16:creationId xmlns:a16="http://schemas.microsoft.com/office/drawing/2014/main" id="{2F440E84-84AF-FA7C-E203-B671490D8D0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29188" y="1736726"/>
            <a:ext cx="3327400" cy="2543175"/>
          </a:xfrm>
          <a:noFill/>
        </p:spPr>
      </p:pic>
      <p:sp>
        <p:nvSpPr>
          <p:cNvPr id="96259" name="Rectangle 3">
            <a:extLst>
              <a:ext uri="{FF2B5EF4-FFF2-40B4-BE49-F238E27FC236}">
                <a16:creationId xmlns:a16="http://schemas.microsoft.com/office/drawing/2014/main" id="{D140BDEF-EA79-6B1D-57E2-4CF55B86509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/>
            <a:r>
              <a:rPr lang="ru-RU" altLang="ru-RU" sz="2800"/>
              <a:t>Для рисования растрового изображения служит команда </a:t>
            </a:r>
            <a:r>
              <a:rPr lang="en-US" altLang="ru-RU" sz="2800"/>
              <a:t>DrawImage</a:t>
            </a:r>
          </a:p>
          <a:p>
            <a:pPr eaLnBrk="1" hangingPunct="1"/>
            <a:r>
              <a:rPr lang="ru-RU" altLang="ru-RU" sz="2800"/>
              <a:t>Пример:</a:t>
            </a:r>
          </a:p>
          <a:p>
            <a:pPr lvl="1" eaLnBrk="1" hangingPunct="1"/>
            <a:r>
              <a:rPr lang="ru-RU" altLang="ru-RU"/>
              <a:t>myGraphics.DrawImage(&amp;myBitmap, 10, 10); </a:t>
            </a:r>
          </a:p>
        </p:txBody>
      </p:sp>
    </p:spTree>
    <p:extLst>
      <p:ext uri="{BB962C8B-B14F-4D97-AF65-F5344CB8AC3E}">
        <p14:creationId xmlns:p14="http://schemas.microsoft.com/office/powerpoint/2010/main" val="15888203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B7E68642-13B4-0C2B-6EC2-05CE3241F1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ru-RU"/>
              <a:t>Вывод текста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507589-E795-5E7B-D495-9D5946BC1D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1037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88042FC4-7914-A8FA-D5BE-E5A133E73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Создание шрифта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4C0FDF1C-2E7C-DEDC-333A-8235D6833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Для создания шрифта необходимо указать семейство шрифта, размер, стиль и единицы измерения</a:t>
            </a:r>
          </a:p>
          <a:p>
            <a:pPr lvl="1" eaLnBrk="1" hangingPunct="1"/>
            <a:r>
              <a:rPr lang="ru-RU" altLang="ru-RU" sz="2000" b="1">
                <a:latin typeface="Courier New" panose="02070309020205020404" pitchFamily="49" charset="0"/>
                <a:cs typeface="Courier New" panose="02070309020205020404" pitchFamily="49" charset="0"/>
              </a:rPr>
              <a:t>FontFamily</a:t>
            </a:r>
            <a:r>
              <a:rPr lang="ru-RU" altLang="ru-RU" sz="2000">
                <a:latin typeface="Courier New" panose="02070309020205020404" pitchFamily="49" charset="0"/>
                <a:cs typeface="Courier New" panose="02070309020205020404" pitchFamily="49" charset="0"/>
              </a:rPr>
              <a:t> fontFamily(L"Arial");</a:t>
            </a:r>
            <a:br>
              <a:rPr lang="ru-RU" altLang="ru-RU" sz="2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altLang="ru-RU" sz="2000" b="1">
                <a:latin typeface="Courier New" panose="02070309020205020404" pitchFamily="49" charset="0"/>
                <a:cs typeface="Courier New" panose="02070309020205020404" pitchFamily="49" charset="0"/>
              </a:rPr>
              <a:t>Font</a:t>
            </a:r>
            <a:r>
              <a:rPr lang="ru-RU" altLang="ru-RU" sz="2000">
                <a:latin typeface="Courier New" panose="02070309020205020404" pitchFamily="49" charset="0"/>
                <a:cs typeface="Courier New" panose="02070309020205020404" pitchFamily="49" charset="0"/>
              </a:rPr>
              <a:t> font(&amp;fontFamily, 16, FontStyleRegular, UnitPixel); </a:t>
            </a:r>
          </a:p>
        </p:txBody>
      </p:sp>
    </p:spTree>
    <p:extLst>
      <p:ext uri="{BB962C8B-B14F-4D97-AF65-F5344CB8AC3E}">
        <p14:creationId xmlns:p14="http://schemas.microsoft.com/office/powerpoint/2010/main" val="42040815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C269AD9-45E7-8D7D-212C-B5EFF759C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Вывод текста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7D5CDDB2-3E07-0F66-9001-88A84241C5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Для вывода текста служит метод </a:t>
            </a:r>
            <a:r>
              <a:rPr lang="en-US" altLang="ru-RU"/>
              <a:t>DrawString</a:t>
            </a:r>
            <a:r>
              <a:rPr lang="ru-RU" altLang="ru-RU"/>
              <a:t> объекта </a:t>
            </a:r>
            <a:r>
              <a:rPr lang="en-US" altLang="ru-RU"/>
              <a:t>Graphics</a:t>
            </a:r>
          </a:p>
          <a:p>
            <a:pPr lvl="1" eaLnBrk="1" hangingPunct="1"/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FontFamily fontFamily(L"Times New Roman");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Font font(&amp;fontFamily, 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24, 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FontStyleRegular, 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UnitPixel);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PointF pointF(30.0f, 10.0f);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SolidBrush solidBrush(Color(255, 0, 0, 255));</a:t>
            </a: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ru-RU" sz="18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graphics.</a:t>
            </a:r>
            <a:r>
              <a:rPr lang="ru-RU" altLang="ru-RU" sz="1800" b="1">
                <a:latin typeface="Courier New" panose="02070309020205020404" pitchFamily="49" charset="0"/>
                <a:cs typeface="Courier New" panose="02070309020205020404" pitchFamily="49" charset="0"/>
              </a:rPr>
              <a:t>DrawString</a:t>
            </a:r>
            <a:r>
              <a:rPr lang="ru-RU" altLang="ru-RU" sz="1800">
                <a:latin typeface="Courier New" panose="02070309020205020404" pitchFamily="49" charset="0"/>
                <a:cs typeface="Courier New" panose="02070309020205020404" pitchFamily="49" charset="0"/>
              </a:rPr>
              <a:t>(L"Hello", -1, &amp;font, pointF, &amp;solidBrush); </a:t>
            </a:r>
          </a:p>
        </p:txBody>
      </p:sp>
    </p:spTree>
    <p:extLst>
      <p:ext uri="{BB962C8B-B14F-4D97-AF65-F5344CB8AC3E}">
        <p14:creationId xmlns:p14="http://schemas.microsoft.com/office/powerpoint/2010/main" val="8125941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SLIDE_COUNT" val="92"/>
  <p:tag name="ISPRING_ULTRA_SCORM_DURATION" val="3600"/>
  <p:tag name="ISPRING_ULTRA_SCORM_QUIZ_NUMBER" val="0"/>
  <p:tag name="GENSWF_OUTPUT_FILE_NAME" val="gdigdiplus"/>
  <p:tag name="ISPRINGONLINETAGS" val="cg компьютерная графика gdi gdi+ animation анимация windows"/>
  <p:tag name="ISPRINGONLINEDESCRIPTION" val="Лекция №2 по компьютерной графике. Посвящена описанию графического вывода в системе Windows при помощи библиотек GDI и GDI+"/>
  <p:tag name="ISPRINGONLINETOPIC" val="Education"/>
  <p:tag name="ISPRINGONLINELANG" val="ru"/>
  <p:tag name="ISPRINGONLINEALLOWACCESS" val="1"/>
  <p:tag name="ISPRINGONLINEUPLOADPRESENTATION" val="1"/>
  <p:tag name="ISPRINGONLINEALLOWDOWNLOAD" val="0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1023</TotalTime>
  <Words>6485</Words>
  <Application>Microsoft Office PowerPoint</Application>
  <PresentationFormat>Widescreen</PresentationFormat>
  <Paragraphs>936</Paragraphs>
  <Slides>91</Slides>
  <Notes>91</Notes>
  <HiddenSlides>25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Arial</vt:lpstr>
      <vt:lpstr>Calibri</vt:lpstr>
      <vt:lpstr>Calibri Light</vt:lpstr>
      <vt:lpstr>Consolas</vt:lpstr>
      <vt:lpstr>Courier New</vt:lpstr>
      <vt:lpstr>Wingdings 2</vt:lpstr>
      <vt:lpstr>Тема Office</vt:lpstr>
      <vt:lpstr>Image</vt:lpstr>
      <vt:lpstr>Программирование 2D графики в Windows</vt:lpstr>
      <vt:lpstr>GDI  </vt:lpstr>
      <vt:lpstr>Эволюция GDI</vt:lpstr>
      <vt:lpstr>GDI с точки зрения программиста</vt:lpstr>
      <vt:lpstr>Абстрагирование различных графических устройств</vt:lpstr>
      <vt:lpstr>Многоуровневая архитектура графической подсистемы</vt:lpstr>
      <vt:lpstr>PowerPoint Presentation</vt:lpstr>
      <vt:lpstr>Device Context - Контекст устройства</vt:lpstr>
      <vt:lpstr>Сокрытие деталей реализации контекста устройства</vt:lpstr>
      <vt:lpstr>Создание контекста устройства</vt:lpstr>
      <vt:lpstr>Получение контекста устройства, связанного с окном</vt:lpstr>
      <vt:lpstr>Memory Device Context</vt:lpstr>
      <vt:lpstr>Удаление контекста устройства</vt:lpstr>
      <vt:lpstr>Освобождение контекста устройства</vt:lpstr>
      <vt:lpstr>Обработка сообщения WM_PAINT</vt:lpstr>
      <vt:lpstr>Графические объекты GDI</vt:lpstr>
      <vt:lpstr>Bitmap</vt:lpstr>
      <vt:lpstr>Пример использования растровых изображений</vt:lpstr>
      <vt:lpstr>Brush</vt:lpstr>
      <vt:lpstr>Пример использования кистей</vt:lpstr>
      <vt:lpstr>Типы кистей</vt:lpstr>
      <vt:lpstr>Font</vt:lpstr>
      <vt:lpstr>Metafile</vt:lpstr>
      <vt:lpstr>Пример метафайла</vt:lpstr>
      <vt:lpstr>Path</vt:lpstr>
      <vt:lpstr>Пример использования пути</vt:lpstr>
      <vt:lpstr>Pen</vt:lpstr>
      <vt:lpstr>Пример использования перьев для рисования векторных примитивов</vt:lpstr>
      <vt:lpstr>Region</vt:lpstr>
      <vt:lpstr>Пример региона</vt:lpstr>
      <vt:lpstr>Типы регионов</vt:lpstr>
      <vt:lpstr>Работа с графическими объектами GDI</vt:lpstr>
      <vt:lpstr>Принципы графического вывода в GDI</vt:lpstr>
      <vt:lpstr>Содержимое контекста устройства</vt:lpstr>
      <vt:lpstr>Создание графических объектов GDI</vt:lpstr>
      <vt:lpstr>Выбор графического объекта в контекст устройства</vt:lpstr>
      <vt:lpstr>Удаление графических объектов</vt:lpstr>
      <vt:lpstr>Пример</vt:lpstr>
      <vt:lpstr>Создание анимированных изображений</vt:lpstr>
      <vt:lpstr>Что такое анимация</vt:lpstr>
      <vt:lpstr>Пример анимации</vt:lpstr>
      <vt:lpstr>Создание анимации на компьютере</vt:lpstr>
      <vt:lpstr>Способы вывода изображений с заданной периодичностью</vt:lpstr>
      <vt:lpstr>Проблемы с мерцанием изображения</vt:lpstr>
      <vt:lpstr>Кадр 1</vt:lpstr>
      <vt:lpstr>Кадр 2</vt:lpstr>
      <vt:lpstr>Кадр 3</vt:lpstr>
      <vt:lpstr>На самом деле все обстоит гораздо хуже</vt:lpstr>
      <vt:lpstr>Решение данной проблемы</vt:lpstr>
      <vt:lpstr>Исправленный вариант</vt:lpstr>
      <vt:lpstr>Обработка сообщения WM_ERASEBKGND</vt:lpstr>
      <vt:lpstr>Достоинства и  недостатки GDI</vt:lpstr>
      <vt:lpstr>Достоинства</vt:lpstr>
      <vt:lpstr>Недостатки</vt:lpstr>
      <vt:lpstr>Direct 2D</vt:lpstr>
      <vt:lpstr>Что такое Direct2D</vt:lpstr>
      <vt:lpstr>Инициализация Direct2D</vt:lpstr>
      <vt:lpstr>Инициализация объекта Direct2D1 Factory</vt:lpstr>
      <vt:lpstr>PowerPoint Presentation</vt:lpstr>
      <vt:lpstr>Интерфейс IUnknown</vt:lpstr>
      <vt:lpstr>Умные указатели ATL::CComPtr, ATL::CComQIPtr</vt:lpstr>
      <vt:lpstr>Создаём ID2D1HwndRenderTarget</vt:lpstr>
      <vt:lpstr>Создаём цель для рисования</vt:lpstr>
      <vt:lpstr>Обработка WM_PAINT</vt:lpstr>
      <vt:lpstr>Рисуем шарики</vt:lpstr>
      <vt:lpstr>Вопросы?</vt:lpstr>
      <vt:lpstr>И это далеко не все!</vt:lpstr>
      <vt:lpstr>Программирование графики с использованием GDI+</vt:lpstr>
      <vt:lpstr>Что такое GDI+ </vt:lpstr>
      <vt:lpstr>Достоинства и недостатки GDI+</vt:lpstr>
      <vt:lpstr>Применение GDI+</vt:lpstr>
      <vt:lpstr>Сравнение GDI+ и GDI</vt:lpstr>
      <vt:lpstr>Градиентные кисти</vt:lpstr>
      <vt:lpstr>Фундаментальные сплайны (Cardinal Splines)</vt:lpstr>
      <vt:lpstr>Независимые объекты путей (Independent Path Objects)</vt:lpstr>
      <vt:lpstr>Трансформации и матрицы</vt:lpstr>
      <vt:lpstr>Трансформации регионов</vt:lpstr>
      <vt:lpstr>Смешивание цветов и полупрозрачность</vt:lpstr>
      <vt:lpstr>Долой дескрипторы и контексты устройств!</vt:lpstr>
      <vt:lpstr>Рисование линии при помощи GDI</vt:lpstr>
      <vt:lpstr>Рисование линии при помощи GDI</vt:lpstr>
      <vt:lpstr>Кисти, перья, пути, изображения и шрифты – теперь параметры методов</vt:lpstr>
      <vt:lpstr>Перегрузка методов</vt:lpstr>
      <vt:lpstr>Прочие улучшения</vt:lpstr>
      <vt:lpstr>Поддержка различных форматов изображений</vt:lpstr>
      <vt:lpstr>Антиалиасинг</vt:lpstr>
      <vt:lpstr>Загрузка растрового изображения</vt:lpstr>
      <vt:lpstr>Рисование растрового изображения</vt:lpstr>
      <vt:lpstr>Вывод текста</vt:lpstr>
      <vt:lpstr>Создание шрифта</vt:lpstr>
      <vt:lpstr>Вывод текста</vt:lpstr>
    </vt:vector>
  </TitlesOfParts>
  <Company>CPSLabs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компьютерной графики с использованием GDI и GDI+</dc:title>
  <dc:creator>Eugene Kalinin</dc:creator>
  <cp:lastModifiedBy>Алексей Малов</cp:lastModifiedBy>
  <cp:revision>48</cp:revision>
  <dcterms:created xsi:type="dcterms:W3CDTF">2009-09-15T09:43:22Z</dcterms:created>
  <dcterms:modified xsi:type="dcterms:W3CDTF">2026-03-14T15:58:25Z</dcterms:modified>
</cp:coreProperties>
</file>