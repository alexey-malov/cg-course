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84"/>
  </p:notesMasterIdLst>
  <p:sldIdLst>
    <p:sldId id="432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5" r:id="rId10"/>
    <p:sldId id="266" r:id="rId11"/>
    <p:sldId id="416" r:id="rId12"/>
    <p:sldId id="264" r:id="rId13"/>
    <p:sldId id="267" r:id="rId14"/>
    <p:sldId id="268" r:id="rId15"/>
    <p:sldId id="269" r:id="rId16"/>
    <p:sldId id="270" r:id="rId17"/>
    <p:sldId id="271" r:id="rId18"/>
    <p:sldId id="427" r:id="rId19"/>
    <p:sldId id="272" r:id="rId20"/>
    <p:sldId id="273" r:id="rId21"/>
    <p:sldId id="417" r:id="rId22"/>
    <p:sldId id="274" r:id="rId23"/>
    <p:sldId id="419" r:id="rId24"/>
    <p:sldId id="275" r:id="rId25"/>
    <p:sldId id="276" r:id="rId26"/>
    <p:sldId id="277" r:id="rId27"/>
    <p:sldId id="420" r:id="rId28"/>
    <p:sldId id="278" r:id="rId29"/>
    <p:sldId id="279" r:id="rId30"/>
    <p:sldId id="280" r:id="rId31"/>
    <p:sldId id="281" r:id="rId32"/>
    <p:sldId id="282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412" r:id="rId49"/>
    <p:sldId id="299" r:id="rId50"/>
    <p:sldId id="300" r:id="rId51"/>
    <p:sldId id="301" r:id="rId52"/>
    <p:sldId id="302" r:id="rId53"/>
    <p:sldId id="303" r:id="rId54"/>
    <p:sldId id="304" r:id="rId55"/>
    <p:sldId id="428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4" r:id="rId74"/>
    <p:sldId id="323" r:id="rId75"/>
    <p:sldId id="425" r:id="rId76"/>
    <p:sldId id="426" r:id="rId77"/>
    <p:sldId id="413" r:id="rId78"/>
    <p:sldId id="405" r:id="rId79"/>
    <p:sldId id="325" r:id="rId80"/>
    <p:sldId id="326" r:id="rId81"/>
    <p:sldId id="327" r:id="rId82"/>
    <p:sldId id="328" r:id="rId83"/>
    <p:sldId id="407" r:id="rId84"/>
    <p:sldId id="414" r:id="rId85"/>
    <p:sldId id="406" r:id="rId86"/>
    <p:sldId id="329" r:id="rId87"/>
    <p:sldId id="408" r:id="rId88"/>
    <p:sldId id="332" r:id="rId89"/>
    <p:sldId id="409" r:id="rId90"/>
    <p:sldId id="334" r:id="rId91"/>
    <p:sldId id="335" r:id="rId92"/>
    <p:sldId id="336" r:id="rId93"/>
    <p:sldId id="338" r:id="rId94"/>
    <p:sldId id="337" r:id="rId95"/>
    <p:sldId id="415" r:id="rId96"/>
    <p:sldId id="433" r:id="rId97"/>
    <p:sldId id="339" r:id="rId98"/>
    <p:sldId id="340" r:id="rId99"/>
    <p:sldId id="341" r:id="rId100"/>
    <p:sldId id="342" r:id="rId101"/>
    <p:sldId id="343" r:id="rId102"/>
    <p:sldId id="411" r:id="rId103"/>
    <p:sldId id="344" r:id="rId104"/>
    <p:sldId id="345" r:id="rId105"/>
    <p:sldId id="346" r:id="rId106"/>
    <p:sldId id="347" r:id="rId107"/>
    <p:sldId id="348" r:id="rId108"/>
    <p:sldId id="349" r:id="rId109"/>
    <p:sldId id="350" r:id="rId110"/>
    <p:sldId id="351" r:id="rId111"/>
    <p:sldId id="352" r:id="rId112"/>
    <p:sldId id="353" r:id="rId113"/>
    <p:sldId id="354" r:id="rId114"/>
    <p:sldId id="355" r:id="rId115"/>
    <p:sldId id="410" r:id="rId116"/>
    <p:sldId id="356" r:id="rId117"/>
    <p:sldId id="357" r:id="rId118"/>
    <p:sldId id="358" r:id="rId119"/>
    <p:sldId id="359" r:id="rId120"/>
    <p:sldId id="360" r:id="rId121"/>
    <p:sldId id="362" r:id="rId122"/>
    <p:sldId id="361" r:id="rId123"/>
    <p:sldId id="363" r:id="rId124"/>
    <p:sldId id="364" r:id="rId125"/>
    <p:sldId id="365" r:id="rId126"/>
    <p:sldId id="366" r:id="rId127"/>
    <p:sldId id="368" r:id="rId128"/>
    <p:sldId id="369" r:id="rId129"/>
    <p:sldId id="370" r:id="rId130"/>
    <p:sldId id="371" r:id="rId131"/>
    <p:sldId id="373" r:id="rId132"/>
    <p:sldId id="375" r:id="rId133"/>
    <p:sldId id="374" r:id="rId134"/>
    <p:sldId id="429" r:id="rId135"/>
    <p:sldId id="376" r:id="rId136"/>
    <p:sldId id="430" r:id="rId137"/>
    <p:sldId id="377" r:id="rId138"/>
    <p:sldId id="378" r:id="rId139"/>
    <p:sldId id="379" r:id="rId140"/>
    <p:sldId id="380" r:id="rId141"/>
    <p:sldId id="381" r:id="rId142"/>
    <p:sldId id="382" r:id="rId143"/>
    <p:sldId id="383" r:id="rId144"/>
    <p:sldId id="384" r:id="rId145"/>
    <p:sldId id="385" r:id="rId146"/>
    <p:sldId id="386" r:id="rId147"/>
    <p:sldId id="431" r:id="rId148"/>
    <p:sldId id="387" r:id="rId149"/>
    <p:sldId id="388" r:id="rId150"/>
    <p:sldId id="389" r:id="rId151"/>
    <p:sldId id="390" r:id="rId152"/>
    <p:sldId id="391" r:id="rId153"/>
    <p:sldId id="392" r:id="rId154"/>
    <p:sldId id="421" r:id="rId155"/>
    <p:sldId id="393" r:id="rId156"/>
    <p:sldId id="394" r:id="rId157"/>
    <p:sldId id="395" r:id="rId158"/>
    <p:sldId id="396" r:id="rId159"/>
    <p:sldId id="397" r:id="rId160"/>
    <p:sldId id="398" r:id="rId161"/>
    <p:sldId id="422" r:id="rId162"/>
    <p:sldId id="399" r:id="rId163"/>
    <p:sldId id="401" r:id="rId164"/>
    <p:sldId id="402" r:id="rId165"/>
    <p:sldId id="403" r:id="rId166"/>
    <p:sldId id="434" r:id="rId167"/>
    <p:sldId id="435" r:id="rId168"/>
    <p:sldId id="436" r:id="rId169"/>
    <p:sldId id="437" r:id="rId170"/>
    <p:sldId id="438" r:id="rId171"/>
    <p:sldId id="439" r:id="rId172"/>
    <p:sldId id="440" r:id="rId173"/>
    <p:sldId id="441" r:id="rId174"/>
    <p:sldId id="442" r:id="rId175"/>
    <p:sldId id="443" r:id="rId176"/>
    <p:sldId id="444" r:id="rId177"/>
    <p:sldId id="445" r:id="rId178"/>
    <p:sldId id="446" r:id="rId179"/>
    <p:sldId id="447" r:id="rId180"/>
    <p:sldId id="448" r:id="rId181"/>
    <p:sldId id="449" r:id="rId182"/>
    <p:sldId id="404" r:id="rId183"/>
  </p:sldIdLst>
  <p:sldSz cx="12192000" cy="6858000"/>
  <p:notesSz cx="6858000" cy="9144000"/>
  <p:custDataLst>
    <p:tags r:id="rId185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2A34024-E20E-4EBD-A92E-7374D8628FBC}">
          <p14:sldIdLst>
            <p14:sldId id="432"/>
          </p14:sldIdLst>
        </p14:section>
        <p14:section name="Введение" id="{B4336778-C2B4-4858-B0C0-8B7708B45B31}">
          <p14:sldIdLst>
            <p14:sldId id="257"/>
            <p14:sldId id="258"/>
            <p14:sldId id="260"/>
            <p14:sldId id="259"/>
          </p14:sldIdLst>
        </p14:section>
        <p14:section name="Системы координат" id="{162370DB-6435-445D-BBC7-7A42C9F48CF2}">
          <p14:sldIdLst>
            <p14:sldId id="261"/>
            <p14:sldId id="262"/>
            <p14:sldId id="263"/>
            <p14:sldId id="265"/>
            <p14:sldId id="266"/>
            <p14:sldId id="416"/>
          </p14:sldIdLst>
        </p14:section>
        <p14:section name="Векторы и точки" id="{5A0A4DC7-5073-4647-8470-6280E92633D1}">
          <p14:sldIdLst>
            <p14:sldId id="264"/>
            <p14:sldId id="267"/>
            <p14:sldId id="268"/>
            <p14:sldId id="269"/>
            <p14:sldId id="270"/>
            <p14:sldId id="271"/>
            <p14:sldId id="427"/>
            <p14:sldId id="272"/>
          </p14:sldIdLst>
        </p14:section>
        <p14:section name="Линейная, аффинная, выпуклая комбинации векторов" id="{7EA54321-47A7-48BA-8ABF-E114F6FBB4DC}">
          <p14:sldIdLst>
            <p14:sldId id="273"/>
            <p14:sldId id="417"/>
            <p14:sldId id="274"/>
            <p14:sldId id="419"/>
            <p14:sldId id="275"/>
            <p14:sldId id="276"/>
            <p14:sldId id="277"/>
            <p14:sldId id="420"/>
          </p14:sldIdLst>
        </p14:section>
        <p14:section name="Длина вектора, нормирование" id="{13C063EC-88BE-46A0-A18A-F6B27DEDE199}">
          <p14:sldIdLst>
            <p14:sldId id="278"/>
            <p14:sldId id="279"/>
          </p14:sldIdLst>
        </p14:section>
        <p14:section name="Скалярное произведение" id="{270E15D1-218C-4C42-BCAC-827B11C3BE5A}">
          <p14:sldIdLst>
            <p14:sldId id="280"/>
            <p14:sldId id="281"/>
            <p14:sldId id="282"/>
            <p14:sldId id="284"/>
            <p14:sldId id="285"/>
          </p14:sldIdLst>
        </p14:section>
        <p14:section name="Перп-вектор" id="{92012922-EE73-4A72-98D2-08DD280F5CF8}">
          <p14:sldIdLst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Отражение" id="{6B3829AB-B80F-4565-9C5A-EB2241D38293}">
          <p14:sldIdLst>
            <p14:sldId id="293"/>
            <p14:sldId id="294"/>
          </p14:sldIdLst>
        </p14:section>
        <p14:section name="Векторное произведение" id="{42E0C4CE-ECFF-4937-86D2-2D0E0CD8250D}">
          <p14:sldIdLst>
            <p14:sldId id="295"/>
            <p14:sldId id="296"/>
            <p14:sldId id="297"/>
            <p14:sldId id="298"/>
            <p14:sldId id="412"/>
          </p14:sldIdLst>
        </p14:section>
        <p14:section name="Однородное представление точек и векторов" id="{86F4AADE-BFAC-4A19-A2D7-C2D09D2E5983}">
          <p14:sldIdLst>
            <p14:sldId id="299"/>
            <p14:sldId id="300"/>
            <p14:sldId id="301"/>
            <p14:sldId id="302"/>
            <p14:sldId id="303"/>
            <p14:sldId id="304"/>
            <p14:sldId id="428"/>
            <p14:sldId id="305"/>
          </p14:sldIdLst>
        </p14:section>
        <p14:section name="Линейные комбинации векторов и точек" id="{1F54CCC4-7D89-4F8C-90C3-D99D2F82B803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4"/>
          </p14:sldIdLst>
        </p14:section>
        <p14:section name="Преобразования" id="{158FBEAC-E2D4-4BBD-A881-D05208B658E1}">
          <p14:sldIdLst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4"/>
          </p14:sldIdLst>
        </p14:section>
        <p14:section name="Аффинные преобразования" id="{618DF15E-179F-4ACC-95D0-4ED41E6CBB0C}">
          <p14:sldIdLst>
            <p14:sldId id="323"/>
            <p14:sldId id="425"/>
            <p14:sldId id="426"/>
            <p14:sldId id="413"/>
            <p14:sldId id="405"/>
            <p14:sldId id="325"/>
            <p14:sldId id="326"/>
            <p14:sldId id="327"/>
            <p14:sldId id="328"/>
            <p14:sldId id="407"/>
            <p14:sldId id="414"/>
            <p14:sldId id="406"/>
            <p14:sldId id="329"/>
            <p14:sldId id="408"/>
            <p14:sldId id="332"/>
            <p14:sldId id="409"/>
            <p14:sldId id="334"/>
            <p14:sldId id="335"/>
          </p14:sldIdLst>
        </p14:section>
        <p14:section name="Инвертирование аффинного преобразования" id="{EFDBB573-0B6D-4FE8-AB2A-A4A5E1EC1BC2}">
          <p14:sldIdLst>
            <p14:sldId id="336"/>
            <p14:sldId id="338"/>
            <p14:sldId id="337"/>
            <p14:sldId id="415"/>
            <p14:sldId id="433"/>
          </p14:sldIdLst>
        </p14:section>
        <p14:section name="Композиция аффинных преобразований" id="{CE13CFAE-4F1A-4CC8-A43C-2142247EF280}">
          <p14:sldIdLst>
            <p14:sldId id="339"/>
            <p14:sldId id="340"/>
            <p14:sldId id="341"/>
            <p14:sldId id="342"/>
            <p14:sldId id="343"/>
            <p14:sldId id="411"/>
          </p14:sldIdLst>
        </p14:section>
        <p14:section name="Трехмерные аффинные преобразования" id="{592DD3A5-8286-4DF4-8830-B5CE626CC1D0}">
          <p14:sldIdLst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410"/>
            <p14:sldId id="356"/>
            <p14:sldId id="357"/>
          </p14:sldIdLst>
        </p14:section>
        <p14:section name="Изменение систем координат" id="{63D48EE4-160B-4994-A392-0156CA00C381}">
          <p14:sldIdLst>
            <p14:sldId id="358"/>
            <p14:sldId id="359"/>
            <p14:sldId id="360"/>
            <p14:sldId id="362"/>
            <p14:sldId id="361"/>
          </p14:sldIdLst>
        </p14:section>
        <p14:section name="Рисование трёхмерной сцены" id="{CA410F73-B176-493C-8E4F-8CBDA1742B9F}">
          <p14:sldIdLst>
            <p14:sldId id="363"/>
            <p14:sldId id="364"/>
            <p14:sldId id="365"/>
            <p14:sldId id="366"/>
            <p14:sldId id="368"/>
            <p14:sldId id="369"/>
            <p14:sldId id="370"/>
            <p14:sldId id="371"/>
            <p14:sldId id="373"/>
            <p14:sldId id="375"/>
            <p14:sldId id="374"/>
            <p14:sldId id="429"/>
            <p14:sldId id="376"/>
            <p14:sldId id="430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431"/>
            <p14:sldId id="387"/>
            <p14:sldId id="388"/>
            <p14:sldId id="389"/>
            <p14:sldId id="390"/>
            <p14:sldId id="391"/>
            <p14:sldId id="392"/>
            <p14:sldId id="421"/>
            <p14:sldId id="393"/>
            <p14:sldId id="394"/>
            <p14:sldId id="395"/>
            <p14:sldId id="396"/>
            <p14:sldId id="397"/>
            <p14:sldId id="398"/>
            <p14:sldId id="422"/>
            <p14:sldId id="399"/>
            <p14:sldId id="401"/>
            <p14:sldId id="402"/>
            <p14:sldId id="403"/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  <p14:sldId id="4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CF60C"/>
    <a:srgbClr val="0F6FC6"/>
    <a:srgbClr val="000000"/>
    <a:srgbClr val="333333"/>
    <a:srgbClr val="9999FF"/>
    <a:srgbClr val="E1DD37"/>
    <a:srgbClr val="DDDDDD"/>
    <a:srgbClr val="C0C0C0"/>
    <a:srgbClr val="535E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92" autoAdjust="0"/>
    <p:restoredTop sz="84504" autoAdjust="0"/>
  </p:normalViewPr>
  <p:slideViewPr>
    <p:cSldViewPr>
      <p:cViewPr varScale="1">
        <p:scale>
          <a:sx n="82" d="100"/>
          <a:sy n="82" d="100"/>
        </p:scale>
        <p:origin x="1032" y="300"/>
      </p:cViewPr>
      <p:guideLst>
        <p:guide orient="horz" pos="220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notesMaster" Target="notesMasters/notesMaster1.xml"/><Relationship Id="rId189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presProps" Target="pres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Зависимость</a:t>
            </a:r>
            <a:r>
              <a:rPr lang="ru-RU" baseline="0"/>
              <a:t> псевдоглубины от координаты </a:t>
            </a:r>
            <a:r>
              <a:rPr lang="en-US" baseline="0"/>
              <a:t>Z</a:t>
            </a:r>
            <a:endParaRPr lang="de-DE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[Book1]Sheet1!$A$4:$A$132</c:f>
              <c:numCache>
                <c:formatCode>General</c:formatCode>
                <c:ptCount val="129"/>
                <c:pt idx="0">
                  <c:v>2</c:v>
                </c:pt>
                <c:pt idx="1">
                  <c:v>1.7</c:v>
                </c:pt>
                <c:pt idx="2">
                  <c:v>1.4</c:v>
                </c:pt>
                <c:pt idx="3">
                  <c:v>1.1000000000000001</c:v>
                </c:pt>
                <c:pt idx="4">
                  <c:v>0.8</c:v>
                </c:pt>
                <c:pt idx="5">
                  <c:v>0.5</c:v>
                </c:pt>
                <c:pt idx="6">
                  <c:v>0.2</c:v>
                </c:pt>
                <c:pt idx="7">
                  <c:v>-0.1</c:v>
                </c:pt>
                <c:pt idx="8">
                  <c:v>-0.4</c:v>
                </c:pt>
                <c:pt idx="9">
                  <c:v>-0.7</c:v>
                </c:pt>
                <c:pt idx="10">
                  <c:v>-1</c:v>
                </c:pt>
                <c:pt idx="11">
                  <c:v>-1.3</c:v>
                </c:pt>
                <c:pt idx="12">
                  <c:v>-1.6</c:v>
                </c:pt>
                <c:pt idx="13">
                  <c:v>-1.9</c:v>
                </c:pt>
                <c:pt idx="14">
                  <c:v>-2.2000000000000002</c:v>
                </c:pt>
                <c:pt idx="15">
                  <c:v>-2.5</c:v>
                </c:pt>
                <c:pt idx="16">
                  <c:v>-2.8</c:v>
                </c:pt>
                <c:pt idx="17">
                  <c:v>-3.1</c:v>
                </c:pt>
                <c:pt idx="18">
                  <c:v>-3.4</c:v>
                </c:pt>
                <c:pt idx="19">
                  <c:v>-3.7</c:v>
                </c:pt>
                <c:pt idx="20">
                  <c:v>-4</c:v>
                </c:pt>
                <c:pt idx="21">
                  <c:v>-4.3</c:v>
                </c:pt>
                <c:pt idx="22">
                  <c:v>-4.5999999999999996</c:v>
                </c:pt>
                <c:pt idx="23">
                  <c:v>-4.9000000000000004</c:v>
                </c:pt>
                <c:pt idx="24">
                  <c:v>-5.2</c:v>
                </c:pt>
                <c:pt idx="25">
                  <c:v>-5.5</c:v>
                </c:pt>
                <c:pt idx="26">
                  <c:v>-5.8</c:v>
                </c:pt>
                <c:pt idx="27">
                  <c:v>-6.1</c:v>
                </c:pt>
                <c:pt idx="28">
                  <c:v>-6.4</c:v>
                </c:pt>
                <c:pt idx="29">
                  <c:v>-6.7</c:v>
                </c:pt>
                <c:pt idx="30">
                  <c:v>-7</c:v>
                </c:pt>
                <c:pt idx="31">
                  <c:v>-7.3</c:v>
                </c:pt>
                <c:pt idx="32">
                  <c:v>-7.6</c:v>
                </c:pt>
                <c:pt idx="33">
                  <c:v>-7.9</c:v>
                </c:pt>
                <c:pt idx="34">
                  <c:v>-8.1999999999999993</c:v>
                </c:pt>
                <c:pt idx="35">
                  <c:v>-8.5</c:v>
                </c:pt>
                <c:pt idx="36">
                  <c:v>-8.8000000000000007</c:v>
                </c:pt>
                <c:pt idx="37">
                  <c:v>-9.1</c:v>
                </c:pt>
                <c:pt idx="38">
                  <c:v>-9.4</c:v>
                </c:pt>
                <c:pt idx="39">
                  <c:v>-9.6999999999999993</c:v>
                </c:pt>
                <c:pt idx="40">
                  <c:v>-10</c:v>
                </c:pt>
                <c:pt idx="41">
                  <c:v>-10.3</c:v>
                </c:pt>
                <c:pt idx="42">
                  <c:v>-10.6</c:v>
                </c:pt>
                <c:pt idx="43">
                  <c:v>-10.9</c:v>
                </c:pt>
                <c:pt idx="44">
                  <c:v>-11.2</c:v>
                </c:pt>
                <c:pt idx="45">
                  <c:v>-11.5</c:v>
                </c:pt>
                <c:pt idx="46">
                  <c:v>-11.8</c:v>
                </c:pt>
                <c:pt idx="47">
                  <c:v>-12.1</c:v>
                </c:pt>
                <c:pt idx="48">
                  <c:v>-12.4</c:v>
                </c:pt>
                <c:pt idx="49">
                  <c:v>-12.7</c:v>
                </c:pt>
                <c:pt idx="50">
                  <c:v>-13</c:v>
                </c:pt>
                <c:pt idx="51">
                  <c:v>-13.3</c:v>
                </c:pt>
                <c:pt idx="52">
                  <c:v>-13.6</c:v>
                </c:pt>
                <c:pt idx="53">
                  <c:v>-13.9</c:v>
                </c:pt>
                <c:pt idx="54">
                  <c:v>-14.2</c:v>
                </c:pt>
                <c:pt idx="55">
                  <c:v>-14.5</c:v>
                </c:pt>
                <c:pt idx="56">
                  <c:v>-14.8</c:v>
                </c:pt>
                <c:pt idx="57">
                  <c:v>-15.1</c:v>
                </c:pt>
                <c:pt idx="58">
                  <c:v>-15.4</c:v>
                </c:pt>
                <c:pt idx="59">
                  <c:v>-15.7</c:v>
                </c:pt>
                <c:pt idx="60">
                  <c:v>-16</c:v>
                </c:pt>
                <c:pt idx="61">
                  <c:v>-16.3</c:v>
                </c:pt>
                <c:pt idx="62">
                  <c:v>-16.600000000000001</c:v>
                </c:pt>
                <c:pt idx="63">
                  <c:v>-16.899999999999999</c:v>
                </c:pt>
                <c:pt idx="64">
                  <c:v>-17.2</c:v>
                </c:pt>
                <c:pt idx="65">
                  <c:v>-17.5</c:v>
                </c:pt>
                <c:pt idx="66">
                  <c:v>-17.8</c:v>
                </c:pt>
                <c:pt idx="67">
                  <c:v>-18.100000000000001</c:v>
                </c:pt>
                <c:pt idx="68">
                  <c:v>-18.399999999999999</c:v>
                </c:pt>
                <c:pt idx="69">
                  <c:v>-18.7</c:v>
                </c:pt>
                <c:pt idx="70">
                  <c:v>-19</c:v>
                </c:pt>
                <c:pt idx="71">
                  <c:v>-19.3</c:v>
                </c:pt>
                <c:pt idx="72">
                  <c:v>-19.600000000000001</c:v>
                </c:pt>
                <c:pt idx="73">
                  <c:v>-19.899999999999999</c:v>
                </c:pt>
                <c:pt idx="74">
                  <c:v>-20.2</c:v>
                </c:pt>
                <c:pt idx="75">
                  <c:v>-20.5</c:v>
                </c:pt>
                <c:pt idx="76">
                  <c:v>-20.8</c:v>
                </c:pt>
                <c:pt idx="77">
                  <c:v>-21.1</c:v>
                </c:pt>
                <c:pt idx="78">
                  <c:v>-21.4</c:v>
                </c:pt>
                <c:pt idx="79">
                  <c:v>-21.7</c:v>
                </c:pt>
                <c:pt idx="80">
                  <c:v>-22</c:v>
                </c:pt>
                <c:pt idx="81">
                  <c:v>-22.3</c:v>
                </c:pt>
                <c:pt idx="82">
                  <c:v>-22.6</c:v>
                </c:pt>
                <c:pt idx="83">
                  <c:v>-22.9</c:v>
                </c:pt>
                <c:pt idx="84">
                  <c:v>-23.2</c:v>
                </c:pt>
                <c:pt idx="85">
                  <c:v>-23.5</c:v>
                </c:pt>
                <c:pt idx="86">
                  <c:v>-23.8</c:v>
                </c:pt>
                <c:pt idx="87">
                  <c:v>-24.1</c:v>
                </c:pt>
                <c:pt idx="88">
                  <c:v>-24.4</c:v>
                </c:pt>
                <c:pt idx="89">
                  <c:v>-24.7</c:v>
                </c:pt>
                <c:pt idx="90">
                  <c:v>-25</c:v>
                </c:pt>
                <c:pt idx="91">
                  <c:v>-25.3</c:v>
                </c:pt>
                <c:pt idx="92">
                  <c:v>-25.6</c:v>
                </c:pt>
                <c:pt idx="93">
                  <c:v>-25.9</c:v>
                </c:pt>
                <c:pt idx="94">
                  <c:v>-26.2</c:v>
                </c:pt>
                <c:pt idx="95">
                  <c:v>-26.5</c:v>
                </c:pt>
                <c:pt idx="96">
                  <c:v>-26.8</c:v>
                </c:pt>
                <c:pt idx="97">
                  <c:v>-27.1</c:v>
                </c:pt>
                <c:pt idx="98">
                  <c:v>-27.4</c:v>
                </c:pt>
                <c:pt idx="99">
                  <c:v>-27.7</c:v>
                </c:pt>
                <c:pt idx="100">
                  <c:v>-28</c:v>
                </c:pt>
                <c:pt idx="101">
                  <c:v>-28.3</c:v>
                </c:pt>
                <c:pt idx="102">
                  <c:v>-28.6</c:v>
                </c:pt>
                <c:pt idx="103">
                  <c:v>-28.9</c:v>
                </c:pt>
                <c:pt idx="104">
                  <c:v>-29.2</c:v>
                </c:pt>
                <c:pt idx="105">
                  <c:v>-29.5</c:v>
                </c:pt>
                <c:pt idx="106">
                  <c:v>-29.8</c:v>
                </c:pt>
                <c:pt idx="107">
                  <c:v>-30.1</c:v>
                </c:pt>
                <c:pt idx="108">
                  <c:v>-30.4</c:v>
                </c:pt>
                <c:pt idx="109">
                  <c:v>-30.7</c:v>
                </c:pt>
                <c:pt idx="110">
                  <c:v>-31</c:v>
                </c:pt>
                <c:pt idx="111">
                  <c:v>-31.3</c:v>
                </c:pt>
                <c:pt idx="112">
                  <c:v>-31.6</c:v>
                </c:pt>
                <c:pt idx="113">
                  <c:v>-31.9</c:v>
                </c:pt>
                <c:pt idx="114">
                  <c:v>-32.200000000000003</c:v>
                </c:pt>
                <c:pt idx="115">
                  <c:v>-32.5</c:v>
                </c:pt>
                <c:pt idx="116">
                  <c:v>-32.799999999999997</c:v>
                </c:pt>
                <c:pt idx="117">
                  <c:v>-33.1</c:v>
                </c:pt>
                <c:pt idx="118">
                  <c:v>-33.4</c:v>
                </c:pt>
                <c:pt idx="119">
                  <c:v>-33.700000000000003</c:v>
                </c:pt>
                <c:pt idx="120">
                  <c:v>-34</c:v>
                </c:pt>
                <c:pt idx="121">
                  <c:v>-34.299999999999997</c:v>
                </c:pt>
                <c:pt idx="122">
                  <c:v>-34.6</c:v>
                </c:pt>
                <c:pt idx="123">
                  <c:v>-34.9</c:v>
                </c:pt>
                <c:pt idx="124">
                  <c:v>-35.200000000000003</c:v>
                </c:pt>
                <c:pt idx="125">
                  <c:v>-35.5</c:v>
                </c:pt>
                <c:pt idx="126">
                  <c:v>-35.799999999999997</c:v>
                </c:pt>
                <c:pt idx="127">
                  <c:v>-36.1</c:v>
                </c:pt>
                <c:pt idx="128">
                  <c:v>-36.4</c:v>
                </c:pt>
              </c:numCache>
            </c:numRef>
          </c:cat>
          <c:val>
            <c:numRef>
              <c:f>[Book1]Sheet1!$B$4:$B$132</c:f>
              <c:numCache>
                <c:formatCode>General</c:formatCode>
                <c:ptCount val="129"/>
                <c:pt idx="0">
                  <c:v>7.4</c:v>
                </c:pt>
                <c:pt idx="1">
                  <c:v>8.4588235294117649</c:v>
                </c:pt>
                <c:pt idx="2">
                  <c:v>9.9714285714285715</c:v>
                </c:pt>
                <c:pt idx="3">
                  <c:v>12.309090909090907</c:v>
                </c:pt>
                <c:pt idx="4">
                  <c:v>16.399999999999999</c:v>
                </c:pt>
                <c:pt idx="5">
                  <c:v>25.4</c:v>
                </c:pt>
                <c:pt idx="6">
                  <c:v>61.399999999999991</c:v>
                </c:pt>
                <c:pt idx="7">
                  <c:v>-118.6</c:v>
                </c:pt>
                <c:pt idx="8">
                  <c:v>-28.599999999999998</c:v>
                </c:pt>
                <c:pt idx="9">
                  <c:v>-15.742857142857144</c:v>
                </c:pt>
                <c:pt idx="10">
                  <c:v>-10.6</c:v>
                </c:pt>
                <c:pt idx="11">
                  <c:v>-7.8307692307692305</c:v>
                </c:pt>
                <c:pt idx="12">
                  <c:v>-6.1</c:v>
                </c:pt>
                <c:pt idx="13">
                  <c:v>-4.9157894736842103</c:v>
                </c:pt>
                <c:pt idx="14">
                  <c:v>-4.0545454545454538</c:v>
                </c:pt>
                <c:pt idx="15">
                  <c:v>-3.4</c:v>
                </c:pt>
                <c:pt idx="16">
                  <c:v>-2.8857142857142861</c:v>
                </c:pt>
                <c:pt idx="17">
                  <c:v>-2.4709677419354836</c:v>
                </c:pt>
                <c:pt idx="18">
                  <c:v>-2.1294117647058823</c:v>
                </c:pt>
                <c:pt idx="19">
                  <c:v>-1.8432432432432433</c:v>
                </c:pt>
                <c:pt idx="20">
                  <c:v>-1.6</c:v>
                </c:pt>
                <c:pt idx="21">
                  <c:v>-1.3906976744186048</c:v>
                </c:pt>
                <c:pt idx="22">
                  <c:v>-1.2086956521739132</c:v>
                </c:pt>
                <c:pt idx="23">
                  <c:v>-1.0489795918367346</c:v>
                </c:pt>
                <c:pt idx="24">
                  <c:v>-0.9076923076923078</c:v>
                </c:pt>
                <c:pt idx="25">
                  <c:v>-0.78181818181818197</c:v>
                </c:pt>
                <c:pt idx="26">
                  <c:v>-0.66896551724137943</c:v>
                </c:pt>
                <c:pt idx="27">
                  <c:v>-0.56721311475409852</c:v>
                </c:pt>
                <c:pt idx="28">
                  <c:v>-0.47500000000000014</c:v>
                </c:pt>
                <c:pt idx="29">
                  <c:v>-0.39104477611940314</c:v>
                </c:pt>
                <c:pt idx="30">
                  <c:v>-0.31428571428571445</c:v>
                </c:pt>
                <c:pt idx="31">
                  <c:v>-0.24383561643835633</c:v>
                </c:pt>
                <c:pt idx="32">
                  <c:v>-0.1789473684210528</c:v>
                </c:pt>
                <c:pt idx="33">
                  <c:v>-0.11898734177215183</c:v>
                </c:pt>
                <c:pt idx="34">
                  <c:v>-6.3414634146341631E-2</c:v>
                </c:pt>
                <c:pt idx="35">
                  <c:v>-1.1764705882353108E-2</c:v>
                </c:pt>
                <c:pt idx="36">
                  <c:v>3.636363636363639E-2</c:v>
                </c:pt>
                <c:pt idx="37">
                  <c:v>8.1318681318681155E-2</c:v>
                </c:pt>
                <c:pt idx="38">
                  <c:v>0.12340425531914895</c:v>
                </c:pt>
                <c:pt idx="39">
                  <c:v>0.16288659793814417</c:v>
                </c:pt>
                <c:pt idx="40">
                  <c:v>0.2</c:v>
                </c:pt>
                <c:pt idx="41">
                  <c:v>0.2349514563106796</c:v>
                </c:pt>
                <c:pt idx="42">
                  <c:v>0.26792452830188662</c:v>
                </c:pt>
                <c:pt idx="43">
                  <c:v>0.29908256880733941</c:v>
                </c:pt>
                <c:pt idx="44">
                  <c:v>0.3285714285714284</c:v>
                </c:pt>
                <c:pt idx="45">
                  <c:v>0.35652173913043461</c:v>
                </c:pt>
                <c:pt idx="46">
                  <c:v>0.38305084745762707</c:v>
                </c:pt>
                <c:pt idx="47">
                  <c:v>0.40826446280991718</c:v>
                </c:pt>
                <c:pt idx="48">
                  <c:v>0.43225806451612897</c:v>
                </c:pt>
                <c:pt idx="49">
                  <c:v>0.45511811023622029</c:v>
                </c:pt>
                <c:pt idx="50">
                  <c:v>0.47692307692307689</c:v>
                </c:pt>
                <c:pt idx="51">
                  <c:v>0.49774436090225571</c:v>
                </c:pt>
                <c:pt idx="52">
                  <c:v>0.51764705882352935</c:v>
                </c:pt>
                <c:pt idx="53">
                  <c:v>0.53669064748201445</c:v>
                </c:pt>
                <c:pt idx="54">
                  <c:v>0.55492957746478866</c:v>
                </c:pt>
                <c:pt idx="55">
                  <c:v>0.57241379310344809</c:v>
                </c:pt>
                <c:pt idx="56">
                  <c:v>0.58918918918918906</c:v>
                </c:pt>
                <c:pt idx="57">
                  <c:v>0.60529801324503296</c:v>
                </c:pt>
                <c:pt idx="58">
                  <c:v>0.62077922077922065</c:v>
                </c:pt>
                <c:pt idx="59">
                  <c:v>0.63566878980891706</c:v>
                </c:pt>
                <c:pt idx="60">
                  <c:v>0.64999999999999991</c:v>
                </c:pt>
                <c:pt idx="61">
                  <c:v>0.66380368098159503</c:v>
                </c:pt>
                <c:pt idx="62">
                  <c:v>0.67710843373493979</c:v>
                </c:pt>
                <c:pt idx="63">
                  <c:v>0.6899408284023667</c:v>
                </c:pt>
                <c:pt idx="64">
                  <c:v>0.70232558139534873</c:v>
                </c:pt>
                <c:pt idx="65">
                  <c:v>0.7142857142857143</c:v>
                </c:pt>
                <c:pt idx="66">
                  <c:v>0.7258426966292133</c:v>
                </c:pt>
                <c:pt idx="67">
                  <c:v>0.7370165745856353</c:v>
                </c:pt>
                <c:pt idx="68">
                  <c:v>0.74782608695652164</c:v>
                </c:pt>
                <c:pt idx="69">
                  <c:v>0.75828877005347572</c:v>
                </c:pt>
                <c:pt idx="70">
                  <c:v>0.76842105263157878</c:v>
                </c:pt>
                <c:pt idx="71">
                  <c:v>0.77823834196891184</c:v>
                </c:pt>
                <c:pt idx="72">
                  <c:v>0.78775510204081634</c:v>
                </c:pt>
                <c:pt idx="73">
                  <c:v>0.79698492462311543</c:v>
                </c:pt>
                <c:pt idx="74">
                  <c:v>0.80594059405940588</c:v>
                </c:pt>
                <c:pt idx="75">
                  <c:v>0.81463414634146336</c:v>
                </c:pt>
                <c:pt idx="76">
                  <c:v>0.82307692307692293</c:v>
                </c:pt>
                <c:pt idx="77">
                  <c:v>0.83127962085308049</c:v>
                </c:pt>
                <c:pt idx="78">
                  <c:v>0.83925233644859809</c:v>
                </c:pt>
                <c:pt idx="79">
                  <c:v>0.84700460829493074</c:v>
                </c:pt>
                <c:pt idx="80">
                  <c:v>0.85454545454545439</c:v>
                </c:pt>
                <c:pt idx="81">
                  <c:v>0.86188340807174879</c:v>
                </c:pt>
                <c:pt idx="82">
                  <c:v>0.86902654867256635</c:v>
                </c:pt>
                <c:pt idx="83">
                  <c:v>0.8759825327510915</c:v>
                </c:pt>
                <c:pt idx="84">
                  <c:v>0.88275862068965505</c:v>
                </c:pt>
                <c:pt idx="85">
                  <c:v>0.88936170212765953</c:v>
                </c:pt>
                <c:pt idx="86">
                  <c:v>0.89579831932773113</c:v>
                </c:pt>
                <c:pt idx="87">
                  <c:v>0.90207468879668051</c:v>
                </c:pt>
                <c:pt idx="88">
                  <c:v>0.90819672131147533</c:v>
                </c:pt>
                <c:pt idx="89">
                  <c:v>0.91417004048582995</c:v>
                </c:pt>
                <c:pt idx="90">
                  <c:v>0.92</c:v>
                </c:pt>
                <c:pt idx="91">
                  <c:v>0.92569169960474318</c:v>
                </c:pt>
                <c:pt idx="92">
                  <c:v>0.9312499999999998</c:v>
                </c:pt>
                <c:pt idx="93">
                  <c:v>0.93667953667953663</c:v>
                </c:pt>
                <c:pt idx="94">
                  <c:v>0.94198473282442752</c:v>
                </c:pt>
                <c:pt idx="95">
                  <c:v>0.94716981132075451</c:v>
                </c:pt>
                <c:pt idx="96">
                  <c:v>0.95223880597014909</c:v>
                </c:pt>
                <c:pt idx="97">
                  <c:v>0.95719557195571947</c:v>
                </c:pt>
                <c:pt idx="98">
                  <c:v>0.96204379562043774</c:v>
                </c:pt>
                <c:pt idx="99">
                  <c:v>0.96678700361010816</c:v>
                </c:pt>
                <c:pt idx="100">
                  <c:v>0.97142857142857131</c:v>
                </c:pt>
                <c:pt idx="101">
                  <c:v>0.97597173144876315</c:v>
                </c:pt>
                <c:pt idx="102">
                  <c:v>0.98041958041958033</c:v>
                </c:pt>
                <c:pt idx="103">
                  <c:v>0.98477508650519019</c:v>
                </c:pt>
                <c:pt idx="104">
                  <c:v>0.98904109589041078</c:v>
                </c:pt>
                <c:pt idx="105">
                  <c:v>0.99322033898305073</c:v>
                </c:pt>
                <c:pt idx="106">
                  <c:v>0.99731543624161068</c:v>
                </c:pt>
                <c:pt idx="107">
                  <c:v>1.001328903654485</c:v>
                </c:pt>
                <c:pt idx="108">
                  <c:v>1.0052631578947366</c:v>
                </c:pt>
                <c:pt idx="109">
                  <c:v>1.0091205211726384</c:v>
                </c:pt>
                <c:pt idx="110">
                  <c:v>1.0129032258064516</c:v>
                </c:pt>
                <c:pt idx="111">
                  <c:v>1.0166134185303515</c:v>
                </c:pt>
                <c:pt idx="112">
                  <c:v>1.0202531645569621</c:v>
                </c:pt>
                <c:pt idx="113">
                  <c:v>1.0238244514106583</c:v>
                </c:pt>
                <c:pt idx="114">
                  <c:v>1.0273291925465837</c:v>
                </c:pt>
                <c:pt idx="115">
                  <c:v>1.0307692307692307</c:v>
                </c:pt>
                <c:pt idx="116">
                  <c:v>1.0341463414634147</c:v>
                </c:pt>
                <c:pt idx="117">
                  <c:v>1.0374622356495466</c:v>
                </c:pt>
                <c:pt idx="118">
                  <c:v>1.0407185628742515</c:v>
                </c:pt>
                <c:pt idx="119">
                  <c:v>1.0439169139465874</c:v>
                </c:pt>
                <c:pt idx="120">
                  <c:v>1.0470588235294116</c:v>
                </c:pt>
                <c:pt idx="121">
                  <c:v>1.0501457725947521</c:v>
                </c:pt>
                <c:pt idx="122">
                  <c:v>1.0531791907514449</c:v>
                </c:pt>
                <c:pt idx="123">
                  <c:v>1.056160458452722</c:v>
                </c:pt>
                <c:pt idx="124">
                  <c:v>1.0590909090909091</c:v>
                </c:pt>
                <c:pt idx="125">
                  <c:v>1.0619718309859154</c:v>
                </c:pt>
                <c:pt idx="126">
                  <c:v>1.0648044692737428</c:v>
                </c:pt>
                <c:pt idx="127">
                  <c:v>1.067590027700831</c:v>
                </c:pt>
                <c:pt idx="128">
                  <c:v>1.0703296703296703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79-4036-8CB3-E4A02E0C71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73644368"/>
        <c:axId val="1682258384"/>
      </c:lineChart>
      <c:catAx>
        <c:axId val="16736443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Координата</a:t>
                </a:r>
                <a:r>
                  <a:rPr lang="ru-RU" baseline="0"/>
                  <a:t> </a:t>
                </a:r>
                <a:r>
                  <a:rPr lang="en-US" baseline="0"/>
                  <a:t>Z</a:t>
                </a:r>
                <a:endParaRPr lang="de-DE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2258384"/>
        <c:crosses val="autoZero"/>
        <c:auto val="1"/>
        <c:lblAlgn val="ctr"/>
        <c:lblOffset val="100"/>
        <c:noMultiLvlLbl val="0"/>
      </c:catAx>
      <c:valAx>
        <c:axId val="1682258384"/>
        <c:scaling>
          <c:orientation val="minMax"/>
          <c:max val="3"/>
          <c:min val="-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Псевдоглубина</a:t>
                </a:r>
                <a:endParaRPr lang="de-DE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3644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81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2181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81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C547786C-2EF1-4006-89FA-243179D8369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079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611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862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7058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080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1008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57923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86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258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1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10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672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5914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22395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83887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1934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3696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03858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3534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8587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9423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2197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3500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7387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6535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8977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6911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6214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21794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5767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7155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7376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2976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865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5782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14505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0132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78082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26217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20870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621060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7387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69865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35324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17909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0098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68393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813594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73326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29261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306146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99509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67391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75300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37055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33059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074970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569705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742506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30197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59123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0067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18672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198719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080603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50567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922067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99545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963682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546600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56618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03593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27841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964519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241618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45154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1126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98257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31804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00507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41992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04769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302823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89140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994832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24100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19033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60994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86925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99136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7633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998877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5615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56634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223976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07141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05631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02360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215367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99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377744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099328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699015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134905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397083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3254603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45158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7298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292418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788703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109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7990594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679117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487989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488213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78119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924013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389107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506973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547136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919425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750662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223981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773984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Важным обстоятельством является тот факт, что сперва применяется преобразование </a:t>
            </a:r>
            <a:r>
              <a:rPr lang="en-US" dirty="0"/>
              <a:t>M</a:t>
            </a:r>
            <a:r>
              <a:rPr lang="en-US" baseline="-25000" dirty="0"/>
              <a:t>2</a:t>
            </a:r>
            <a:r>
              <a:rPr lang="en-US" dirty="0"/>
              <a:t>, </a:t>
            </a:r>
            <a:r>
              <a:rPr lang="ru-RU" dirty="0"/>
              <a:t>а затем </a:t>
            </a:r>
            <a:r>
              <a:rPr lang="en-US" dirty="0"/>
              <a:t>M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ru-RU" dirty="0"/>
              <a:t>т.е. в </a:t>
            </a:r>
            <a:r>
              <a:rPr lang="ru-RU" b="1" dirty="0"/>
              <a:t>обратном порядке</a:t>
            </a:r>
            <a:r>
              <a:rPr lang="ru-RU" dirty="0"/>
              <a:t> по сравнению с применением преобразований к точкам</a:t>
            </a:r>
          </a:p>
          <a:p>
            <a:r>
              <a:rPr lang="ru-RU" dirty="0"/>
              <a:t>Данный случай можно обобщить на произвольное количество преобразований координатного фрейма:</a:t>
            </a:r>
          </a:p>
          <a:p>
            <a:r>
              <a:rPr lang="en-US" dirty="0"/>
              <a:t>M = M</a:t>
            </a:r>
            <a:r>
              <a:rPr lang="en-US" baseline="-25000" dirty="0"/>
              <a:t>1</a:t>
            </a:r>
            <a:r>
              <a:rPr lang="en-US" dirty="0"/>
              <a:t> x M</a:t>
            </a:r>
            <a:r>
              <a:rPr lang="en-US" baseline="-25000" dirty="0"/>
              <a:t>2</a:t>
            </a:r>
            <a:r>
              <a:rPr lang="en-US" dirty="0"/>
              <a:t> x … x M</a:t>
            </a:r>
            <a:r>
              <a:rPr lang="en-US" baseline="-25000" dirty="0"/>
              <a:t>n</a:t>
            </a:r>
            <a:endParaRPr lang="ru-RU" baseline="-2500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696637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923690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81652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753E6A-F1DD-4299-BC30-94BA76D9040F}" type="slidenum">
              <a:rPr lang="ru-RU" smtClean="0"/>
              <a:pPr/>
              <a:t>125</a:t>
            </a:fld>
            <a:endParaRPr lang="ru-RU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28600" indent="-228600" eaLnBrk="1" hangingPunct="1">
              <a:buFontTx/>
              <a:buAutoNum type="arabicPeriod"/>
            </a:pPr>
            <a:r>
              <a:rPr lang="ru-RU"/>
              <a:t>Глаз. Некоторая точка пространства, определяющая местоположение камеры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ru-RU"/>
              <a:t>Отображаемый объем – часть четырехугольной пирамиды, вершина которой совпадает с глазом. Раствор этой пирамиды определяет угол зрения камеры.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ru-RU"/>
              <a:t>Ближняя и дальняя плоскости камеры имеют определенное форматное соотношение</a:t>
            </a:r>
            <a:r>
              <a:rPr lang="en-US"/>
              <a:t> (aspect ratio)</a:t>
            </a:r>
            <a:endParaRPr lang="ru-RU"/>
          </a:p>
          <a:p>
            <a:pPr marL="228600" indent="-228600" eaLnBrk="1" hangingPunct="1"/>
            <a:endParaRPr lang="ru-RU"/>
          </a:p>
          <a:p>
            <a:pPr marL="228600" indent="-228600" eaLnBrk="1" hangingPunct="1"/>
            <a:r>
              <a:rPr lang="ru-RU"/>
              <a:t>Точки, лежащие внутри отображаемого объема проецируются на плоскость просмотра</a:t>
            </a:r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C34E1E-DF2B-44F4-9FC3-50783E0748ED}" type="slidenum">
              <a:rPr lang="ru-RU" smtClean="0"/>
              <a:pPr/>
              <a:t>126</a:t>
            </a:fld>
            <a:endParaRPr lang="ru-RU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ru-RU"/>
              <a:t>Точки внутри видового объема проецируются на плоскость просмотра</a:t>
            </a:r>
          </a:p>
          <a:p>
            <a:pPr eaLnBrk="1" hangingPunct="1"/>
            <a:r>
              <a:rPr lang="ru-RU"/>
              <a:t>Полученное изображение преобразуется в порт просмотра (систему координат, связанную с устройством графического вывода)</a:t>
            </a:r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522592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5629125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144582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296902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Очевидно, что </a:t>
            </a:r>
            <a:r>
              <a:rPr lang="en-US" dirty="0"/>
              <a:t>n </a:t>
            </a:r>
            <a:r>
              <a:rPr lang="ru-RU" dirty="0"/>
              <a:t>должен быть параллелен </a:t>
            </a:r>
            <a:r>
              <a:rPr lang="en-US" dirty="0"/>
              <a:t>eye-look</a:t>
            </a:r>
            <a:r>
              <a:rPr lang="ru-RU" dirty="0"/>
              <a:t>. Нормированием займёмся позже.</a:t>
            </a:r>
          </a:p>
          <a:p>
            <a:r>
              <a:rPr lang="ru-RU" dirty="0"/>
              <a:t>Теперь надо найти векторы </a:t>
            </a:r>
            <a:r>
              <a:rPr lang="en-US" dirty="0"/>
              <a:t>u </a:t>
            </a:r>
            <a:r>
              <a:rPr lang="ru-RU" dirty="0"/>
              <a:t>и </a:t>
            </a:r>
            <a:r>
              <a:rPr lang="en-US" dirty="0"/>
              <a:t>v</a:t>
            </a:r>
            <a:r>
              <a:rPr lang="ru-RU" dirty="0"/>
              <a:t>, которые перпендикулярны вектору </a:t>
            </a:r>
            <a:r>
              <a:rPr lang="en-US" dirty="0"/>
              <a:t>n </a:t>
            </a:r>
            <a:r>
              <a:rPr lang="ru-RU" dirty="0"/>
              <a:t>и друг другу.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Направление </a:t>
            </a:r>
            <a:r>
              <a:rPr lang="en-US" dirty="0"/>
              <a:t>u </a:t>
            </a:r>
            <a:r>
              <a:rPr lang="ru-RU" dirty="0"/>
              <a:t>указывает «от камеры», поэтому можно сделать перпендикулярно к вектору </a:t>
            </a:r>
            <a:r>
              <a:rPr lang="en-US" dirty="0"/>
              <a:t>up</a:t>
            </a:r>
            <a:r>
              <a:rPr lang="ru-RU" dirty="0"/>
              <a:t>, который пользователь назначил вектором Вверх.</a:t>
            </a:r>
          </a:p>
          <a:p>
            <a:r>
              <a:rPr lang="ru-RU" dirty="0"/>
              <a:t>Вычислим </a:t>
            </a:r>
            <a:r>
              <a:rPr lang="en-US" dirty="0"/>
              <a:t>up</a:t>
            </a:r>
            <a:r>
              <a:rPr lang="ru-RU" dirty="0"/>
              <a:t> через векторное произведение </a:t>
            </a:r>
            <a:r>
              <a:rPr lang="en-US" dirty="0"/>
              <a:t>up </a:t>
            </a:r>
            <a:r>
              <a:rPr lang="ru-RU" dirty="0"/>
              <a:t>и </a:t>
            </a:r>
            <a:r>
              <a:rPr lang="en-US" dirty="0"/>
              <a:t>n</a:t>
            </a:r>
            <a:r>
              <a:rPr lang="ru-RU" dirty="0"/>
              <a:t>.</a:t>
            </a:r>
          </a:p>
          <a:p>
            <a:r>
              <a:rPr lang="ru-RU" dirty="0"/>
              <a:t>Пользователь не должен выбирать направление </a:t>
            </a:r>
            <a:r>
              <a:rPr lang="en-US" dirty="0"/>
              <a:t>up </a:t>
            </a:r>
            <a:r>
              <a:rPr lang="ru-RU" dirty="0"/>
              <a:t>параллельным вектору </a:t>
            </a:r>
            <a:r>
              <a:rPr lang="en-US" dirty="0"/>
              <a:t>n</a:t>
            </a:r>
            <a:r>
              <a:rPr lang="ru-RU" dirty="0"/>
              <a:t>, так как иначе длина </a:t>
            </a:r>
            <a:r>
              <a:rPr lang="en-US" dirty="0"/>
              <a:t>u </a:t>
            </a:r>
            <a:r>
              <a:rPr lang="ru-RU" dirty="0"/>
              <a:t>будет равна нулю.</a:t>
            </a:r>
          </a:p>
          <a:p>
            <a:r>
              <a:rPr lang="ru-RU" dirty="0"/>
              <a:t>Мы выбираем </a:t>
            </a:r>
            <a:r>
              <a:rPr lang="en-US" dirty="0"/>
              <a:t>u=up</a:t>
            </a:r>
            <a:r>
              <a:rPr lang="ru-RU" dirty="0"/>
              <a:t> </a:t>
            </a:r>
            <a:r>
              <a:rPr lang="en-US" dirty="0"/>
              <a:t>x n</a:t>
            </a:r>
            <a:r>
              <a:rPr lang="ru-RU" dirty="0"/>
              <a:t>, а не </a:t>
            </a:r>
            <a:r>
              <a:rPr lang="en-US" dirty="0"/>
              <a:t>n x up</a:t>
            </a:r>
            <a:r>
              <a:rPr lang="ru-RU" dirty="0"/>
              <a:t>, чтобы вектор </a:t>
            </a:r>
            <a:r>
              <a:rPr lang="en-US" dirty="0"/>
              <a:t>u </a:t>
            </a:r>
            <a:r>
              <a:rPr lang="ru-RU" dirty="0"/>
              <a:t>указывал вправо при взгляде вдоль направления </a:t>
            </a:r>
            <a:r>
              <a:rPr lang="en-US" dirty="0"/>
              <a:t>–n.</a:t>
            </a:r>
          </a:p>
          <a:p>
            <a:r>
              <a:rPr lang="ru-RU" dirty="0"/>
              <a:t>Имея </a:t>
            </a:r>
            <a:r>
              <a:rPr lang="en-US" dirty="0"/>
              <a:t>u </a:t>
            </a:r>
            <a:r>
              <a:rPr lang="ru-RU" dirty="0"/>
              <a:t>и </a:t>
            </a:r>
            <a:r>
              <a:rPr lang="en-US" dirty="0"/>
              <a:t>n</a:t>
            </a:r>
            <a:r>
              <a:rPr lang="ru-RU" dirty="0"/>
              <a:t> легко построить вектор </a:t>
            </a:r>
            <a:r>
              <a:rPr lang="en-US" dirty="0"/>
              <a:t>v</a:t>
            </a:r>
            <a:r>
              <a:rPr lang="ru-RU" dirty="0"/>
              <a:t>: он будет перпендикулярен векторам </a:t>
            </a:r>
            <a:r>
              <a:rPr lang="en-US" dirty="0"/>
              <a:t>u </a:t>
            </a:r>
            <a:r>
              <a:rPr lang="ru-RU" dirty="0"/>
              <a:t>и </a:t>
            </a:r>
            <a:r>
              <a:rPr lang="en-US" dirty="0"/>
              <a:t>n</a:t>
            </a:r>
            <a:r>
              <a:rPr lang="ru-RU" dirty="0"/>
              <a:t>, поэтому снова используем векторное произведение.</a:t>
            </a:r>
          </a:p>
          <a:p>
            <a:r>
              <a:rPr lang="ru-RU" dirty="0"/>
              <a:t>Как правило вектор </a:t>
            </a:r>
            <a:r>
              <a:rPr lang="en-US" dirty="0"/>
              <a:t>v </a:t>
            </a:r>
            <a:r>
              <a:rPr lang="ru-RU" dirty="0"/>
              <a:t>не параллелен вектору </a:t>
            </a:r>
            <a:r>
              <a:rPr lang="en-US" dirty="0"/>
              <a:t>up</a:t>
            </a:r>
            <a:r>
              <a:rPr lang="ru-RU" dirty="0"/>
              <a:t>: вектор </a:t>
            </a:r>
            <a:r>
              <a:rPr lang="en-US" dirty="0"/>
              <a:t>v</a:t>
            </a:r>
            <a:r>
              <a:rPr lang="ru-RU" dirty="0"/>
              <a:t> должен быть перпендикулярен к </a:t>
            </a:r>
            <a:r>
              <a:rPr lang="en-US" dirty="0"/>
              <a:t>n</a:t>
            </a:r>
            <a:r>
              <a:rPr lang="ru-RU" dirty="0"/>
              <a:t> и единственно используемое свойство вектора </a:t>
            </a:r>
            <a:r>
              <a:rPr lang="en-US" dirty="0"/>
              <a:t>up – </a:t>
            </a:r>
            <a:r>
              <a:rPr lang="ru-RU" dirty="0"/>
              <a:t>то что он </a:t>
            </a:r>
            <a:r>
              <a:rPr lang="ru-RU" dirty="0" err="1"/>
              <a:t>векторно</a:t>
            </a:r>
            <a:r>
              <a:rPr lang="ru-RU" dirty="0"/>
              <a:t> умножается на </a:t>
            </a:r>
            <a:r>
              <a:rPr lang="en-US" dirty="0"/>
              <a:t>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38894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553456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817554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238189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342723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582733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684884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5676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957880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5884170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033420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434309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308802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2064570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086162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рисунке начерчен график зависимости </a:t>
            </a:r>
            <a:r>
              <a:rPr lang="ru-RU" dirty="0" err="1"/>
              <a:t>псевдоглубины</a:t>
            </a:r>
            <a:r>
              <a:rPr lang="ru-RU" dirty="0"/>
              <a:t> от </a:t>
            </a:r>
            <a:r>
              <a:rPr lang="en-US" dirty="0"/>
              <a:t>–</a:t>
            </a:r>
            <a:r>
              <a:rPr lang="en-US" dirty="0" err="1"/>
              <a:t>Pz</a:t>
            </a:r>
            <a:r>
              <a:rPr lang="ru-RU" dirty="0"/>
              <a:t>. Она растёт от -1 для точки н </a:t>
            </a:r>
            <a:r>
              <a:rPr lang="ru-RU" dirty="0" err="1"/>
              <a:t>аближней</a:t>
            </a:r>
            <a:r>
              <a:rPr lang="ru-RU" dirty="0"/>
              <a:t> плоскости до 1 для точки на дальней плоскости.</a:t>
            </a:r>
          </a:p>
          <a:p>
            <a:r>
              <a:rPr lang="ru-RU" dirty="0"/>
              <a:t>Когда </a:t>
            </a:r>
            <a:r>
              <a:rPr lang="en-US" dirty="0" err="1"/>
              <a:t>Pz</a:t>
            </a:r>
            <a:r>
              <a:rPr lang="en-US" dirty="0"/>
              <a:t> </a:t>
            </a:r>
            <a:r>
              <a:rPr lang="ru-RU" dirty="0"/>
              <a:t>приближается к нулю, </a:t>
            </a:r>
            <a:r>
              <a:rPr lang="ru-RU" dirty="0" err="1"/>
              <a:t>псевдоглубина</a:t>
            </a:r>
            <a:r>
              <a:rPr lang="ru-RU" dirty="0"/>
              <a:t> стремится к минус бесконечности. Для точек находящихся позади глаза </a:t>
            </a:r>
            <a:r>
              <a:rPr lang="ru-RU" dirty="0" err="1"/>
              <a:t>псевдоглубина</a:t>
            </a:r>
            <a:r>
              <a:rPr lang="ru-RU" dirty="0"/>
              <a:t> большая и положительная.</a:t>
            </a:r>
          </a:p>
          <a:p>
            <a:r>
              <a:rPr lang="ru-RU" dirty="0"/>
              <a:t>Если мы будем отсекать точки, располагающиеся ближе ближней плоскости отсечения, визуальные артефакты будут не видны.</a:t>
            </a:r>
          </a:p>
          <a:p>
            <a:r>
              <a:rPr lang="ru-RU" dirty="0"/>
              <a:t>Значения </a:t>
            </a:r>
            <a:r>
              <a:rPr lang="ru-RU" dirty="0" err="1"/>
              <a:t>псевдоглубины</a:t>
            </a:r>
            <a:r>
              <a:rPr lang="ru-RU" dirty="0"/>
              <a:t> сгущаются по мере приближения к </a:t>
            </a:r>
            <a:r>
              <a:rPr lang="en-US" dirty="0" err="1"/>
              <a:t>zFar</a:t>
            </a:r>
            <a:r>
              <a:rPr lang="ru-RU" dirty="0"/>
              <a:t>. Из-за конечной точности чисел в памяти компьютера это может вызывать проблемы при работе </a:t>
            </a:r>
            <a:r>
              <a:rPr lang="en-US" dirty="0"/>
              <a:t>z-</a:t>
            </a:r>
            <a:r>
              <a:rPr lang="ru-RU" dirty="0"/>
              <a:t>буфера: фактические точки будут различны, но их </a:t>
            </a:r>
            <a:r>
              <a:rPr lang="ru-RU" dirty="0" err="1"/>
              <a:t>псевдоглубина</a:t>
            </a:r>
            <a:r>
              <a:rPr lang="ru-RU" dirty="0"/>
              <a:t> будет одинаковой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0521519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471937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0076514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30286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355640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377303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071177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640000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508070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933158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471533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058542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651764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341333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1764945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620100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029109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664704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232846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186976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говорили о математике:</a:t>
            </a:r>
            <a:br>
              <a:rPr lang="ru-RU" dirty="0"/>
            </a:br>
            <a:r>
              <a:rPr lang="ru-RU" dirty="0"/>
              <a:t>векторах, матрицах, системах координат и преобразованиях.</a:t>
            </a:r>
          </a:p>
          <a:p>
            <a:r>
              <a:rPr lang="ru-RU" dirty="0"/>
              <a:t>Теперь посмотрим, как всё это используется на практике.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Наша цель — написать очень простой программный рендерер, который сможет</a:t>
            </a:r>
            <a:r>
              <a:rPr lang="en-US" dirty="0"/>
              <a:t> </a:t>
            </a:r>
            <a:r>
              <a:rPr lang="ru-RU" dirty="0"/>
              <a:t>рисовать каркасные трёхмерные объекты с перспективой.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Мы не будем использовать OpenGL или DirectX.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Вместо этого мы возьмём самый простой инструмент — </a:t>
            </a:r>
            <a:r>
              <a:rPr lang="ru-RU" b="1" dirty="0"/>
              <a:t>GDI</a:t>
            </a:r>
            <a:r>
              <a:rPr lang="ru-RU" dirty="0"/>
              <a:t>, который умеет рисовать линии на экране.</a:t>
            </a:r>
          </a:p>
          <a:p>
            <a:r>
              <a:rPr lang="ru-RU" dirty="0"/>
              <a:t>То есть наша задача будет выглядеть так:</a:t>
            </a:r>
          </a:p>
          <a:p>
            <a:r>
              <a:rPr lang="en-US" dirty="0"/>
              <a:t>- </a:t>
            </a:r>
            <a:r>
              <a:rPr lang="ru-RU" dirty="0"/>
              <a:t>взять вершины 3D-объекта,</a:t>
            </a:r>
          </a:p>
          <a:p>
            <a:r>
              <a:rPr lang="en-US" dirty="0"/>
              <a:t>- </a:t>
            </a:r>
            <a:r>
              <a:rPr lang="ru-RU" dirty="0"/>
              <a:t>применить к ним преобразования,</a:t>
            </a:r>
          </a:p>
          <a:p>
            <a:r>
              <a:rPr lang="en-US" dirty="0"/>
              <a:t>- </a:t>
            </a:r>
            <a:r>
              <a:rPr lang="ru-RU" dirty="0"/>
              <a:t>превратить их координаты в экранные,</a:t>
            </a:r>
          </a:p>
          <a:p>
            <a:pPr marL="171450" indent="-171450">
              <a:buFontTx/>
              <a:buChar char="-"/>
            </a:pPr>
            <a:r>
              <a:rPr lang="ru-RU" dirty="0"/>
              <a:t>и соединить точки линиями.</a:t>
            </a:r>
            <a:endParaRPr lang="en-US" dirty="0"/>
          </a:p>
          <a:p>
            <a:pPr marL="0" indent="0">
              <a:buFontTx/>
              <a:buNone/>
            </a:pPr>
            <a:endParaRPr lang="ru-RU" dirty="0"/>
          </a:p>
          <a:p>
            <a:r>
              <a:rPr lang="ru-RU" dirty="0"/>
              <a:t>Для работы с векторами и матрицами мы будем использовать библиотеку </a:t>
            </a:r>
            <a:r>
              <a:rPr lang="ru-RU" b="1" dirty="0"/>
              <a:t>GLM</a:t>
            </a:r>
            <a:r>
              <a:rPr lang="ru-RU" dirty="0"/>
              <a:t>, чтобы не писать линейную алгебру вручную.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позволит нам сосредоточиться на главном:</a:t>
            </a:r>
            <a:br>
              <a:rPr lang="ru-RU" dirty="0"/>
            </a:br>
            <a:r>
              <a:rPr lang="ru-RU" dirty="0"/>
              <a:t>понять, </a:t>
            </a:r>
            <a:r>
              <a:rPr lang="ru-RU" b="1" dirty="0"/>
              <a:t>какие именно математические операции стоят за 3D-графикой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Когда вы увидите этот код, станет понятно, что внутри любого 3D-движка происходит примерно то же самое — просто гораздо быстрее и сложнее.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 это хороший способ убедиться, что за современным 3D-рендерингом нет никакой магии — только линейная алгебра и преобразования координат.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078745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Библиотека </a:t>
            </a:r>
            <a:r>
              <a:rPr lang="ru-RU" b="1" dirty="0"/>
              <a:t>GLM</a:t>
            </a:r>
            <a:r>
              <a:rPr lang="ru-RU" dirty="0"/>
              <a:t> уже предоставляет нам почти всё, что нужно для работы с математикой: векторы, матрицы и операции над ними. Поэтому писать собственную реализацию линейной алгебры нам не потребуется.</a:t>
            </a:r>
          </a:p>
          <a:p>
            <a:endParaRPr lang="ru-RU" dirty="0"/>
          </a:p>
          <a:p>
            <a:r>
              <a:rPr lang="ru-RU" dirty="0"/>
              <a:t>Нам нужно добавить только несколько простых структур, которые будут описывать данные для рендеринга.</a:t>
            </a:r>
          </a:p>
          <a:p>
            <a:endParaRPr lang="ru-RU" dirty="0"/>
          </a:p>
          <a:p>
            <a:r>
              <a:rPr lang="ru-RU" dirty="0"/>
              <a:t>Во-первых, структура </a:t>
            </a:r>
            <a:r>
              <a:rPr lang="ru-RU" b="1" dirty="0" err="1"/>
              <a:t>Vertex</a:t>
            </a:r>
            <a:r>
              <a:rPr lang="ru-RU" dirty="0"/>
              <a:t> — она задаёт вершину. В ней мы храним позицию вершины в однородных координатах и цвет, который будет использоваться при рисовании.</a:t>
            </a:r>
          </a:p>
          <a:p>
            <a:endParaRPr lang="ru-RU" dirty="0"/>
          </a:p>
          <a:p>
            <a:r>
              <a:rPr lang="ru-RU" dirty="0"/>
              <a:t>Во-вторых, перечисление </a:t>
            </a:r>
            <a:r>
              <a:rPr lang="ru-RU" b="1" dirty="0" err="1"/>
              <a:t>PrimitiveType</a:t>
            </a:r>
            <a:r>
              <a:rPr lang="ru-RU" dirty="0"/>
              <a:t>. Оно задаёт тип геометрических примитивов, которые мы хотим рисовать: точки, линии, треугольники или четырёхугольники.</a:t>
            </a:r>
          </a:p>
          <a:p>
            <a:endParaRPr lang="ru-RU" dirty="0"/>
          </a:p>
          <a:p>
            <a:r>
              <a:rPr lang="ru-RU" dirty="0"/>
              <a:t>И, наконец, структура </a:t>
            </a:r>
            <a:r>
              <a:rPr lang="ru-RU" b="1" dirty="0" err="1"/>
              <a:t>ViewPort</a:t>
            </a:r>
            <a:r>
              <a:rPr lang="ru-RU" dirty="0"/>
              <a:t>. Она описывает область окна, в которую будет выводиться изображение: положение верхнего левого угла и размеры области.</a:t>
            </a:r>
          </a:p>
          <a:p>
            <a:endParaRPr lang="ru-RU" dirty="0"/>
          </a:p>
          <a:p>
            <a:r>
              <a:rPr lang="ru-RU" dirty="0"/>
              <a:t>Таким образом, GLM берёт на себя математику, а мы добавляем минимальный набор структур, который позволяет описывать геометрию сцены и параметры вывода.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866006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Следующий шаг — задать параметры рендеринга: порт просмотра и матрицы преобразований.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b="1" dirty="0" err="1"/>
              <a:t>SetViewPort</a:t>
            </a:r>
            <a:r>
              <a:rPr lang="ru-RU" dirty="0"/>
              <a:t> задаёт область окна, в которую будет выводиться изображение. Именно в эту область позже будут преобразованы координаты после всех вычислений.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Методы </a:t>
            </a:r>
            <a:r>
              <a:rPr lang="ru-RU" b="1" dirty="0" err="1"/>
              <a:t>SetModelViewMatrix</a:t>
            </a:r>
            <a:r>
              <a:rPr lang="ru-RU" dirty="0"/>
              <a:t> и </a:t>
            </a:r>
            <a:r>
              <a:rPr lang="ru-RU" b="1" dirty="0" err="1"/>
              <a:t>SetProjectionMatrix</a:t>
            </a:r>
            <a:r>
              <a:rPr lang="ru-RU" dirty="0"/>
              <a:t> задают две основные матрицы графического конвейера: матрицу положения объекта и камеры, а также матрицу проекции.</a:t>
            </a:r>
          </a:p>
          <a:p>
            <a:r>
              <a:rPr lang="ru-RU" dirty="0"/>
              <a:t>После изменения любой из этих матриц мы сразу пересчитываем их произведение — </a:t>
            </a:r>
            <a:r>
              <a:rPr lang="ru-RU" b="1" dirty="0" err="1"/>
              <a:t>ModelViewProjection</a:t>
            </a:r>
            <a:r>
              <a:rPr lang="ru-RU" dirty="0"/>
              <a:t>. Это делается для того, чтобы потом при обработке каждой вершины не выполнять лишние умножения матриц.</a:t>
            </a:r>
          </a:p>
          <a:p>
            <a:r>
              <a:rPr lang="ru-RU" dirty="0"/>
              <a:t>Таким образом, при рендеринге вершины нам достаточно будет умножить её координаты всего на одну матрицу.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6940893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нам нужно выбрать, </a:t>
            </a:r>
            <a:r>
              <a:rPr lang="ru-RU" b="1" dirty="0"/>
              <a:t>каким способом рисовать примитивы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DrawPrimitives</a:t>
            </a:r>
            <a:r>
              <a:rPr lang="ru-RU" dirty="0"/>
              <a:t> принимает тип примитива и набор вершин. В зависимости от типа примитива выбирается соответствующий объект-рендерер.</a:t>
            </a:r>
          </a:p>
          <a:p>
            <a:r>
              <a:rPr lang="ru-RU" dirty="0"/>
              <a:t>Например: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PointRenderer</a:t>
            </a:r>
            <a:r>
              <a:rPr lang="ru-RU" dirty="0"/>
              <a:t> рисует точки,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LinesRenderer</a:t>
            </a:r>
            <a:r>
              <a:rPr lang="ru-RU" dirty="0"/>
              <a:t> — отрезки,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TrianglesRenderer</a:t>
            </a:r>
            <a:r>
              <a:rPr lang="ru-RU" dirty="0"/>
              <a:t> — треугольники,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QuadsRenderer</a:t>
            </a:r>
            <a:r>
              <a:rPr lang="ru-RU" dirty="0"/>
              <a:t> — четырёхугольники.</a:t>
            </a:r>
          </a:p>
          <a:p>
            <a:r>
              <a:rPr lang="ru-RU" dirty="0"/>
              <a:t>Каждый из этих классов знает, </a:t>
            </a:r>
            <a:r>
              <a:rPr lang="ru-RU" b="1" dirty="0"/>
              <a:t>как интерпретировать последовательность вершин</a:t>
            </a:r>
            <a:r>
              <a:rPr lang="ru-RU" dirty="0"/>
              <a:t> и какие линии нужно нарисовать.</a:t>
            </a:r>
          </a:p>
          <a:p>
            <a:r>
              <a:rPr lang="ru-RU" dirty="0"/>
              <a:t>После выбора конкретного рендерера управление передаётся функции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DrawPrimitivesImpl</a:t>
            </a:r>
            <a:r>
              <a:rPr lang="ru-RU" dirty="0"/>
              <a:t>, которая будет последовательно обрабатывать вершины и передавать их выбранному рендереру.</a:t>
            </a:r>
          </a:p>
          <a:p>
            <a:r>
              <a:rPr lang="ru-RU" dirty="0"/>
              <a:t>Таким образом, этот код просто выбирает </a:t>
            </a:r>
            <a:r>
              <a:rPr lang="ru-RU" b="1" dirty="0"/>
              <a:t>правильную стратегию рисования</a:t>
            </a:r>
            <a:r>
              <a:rPr lang="ru-RU" dirty="0"/>
              <a:t> для заданного типа примитивов.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823665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код — центральная часть нашего маленького рендерера.</a:t>
            </a:r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DrawPrimitivesImpl</a:t>
            </a:r>
            <a:r>
              <a:rPr lang="ru-RU" dirty="0"/>
              <a:t> последовательно проходит по всем вершинам.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Для каждой вершины сначала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TransformVertex</a:t>
            </a:r>
            <a:r>
              <a:rPr lang="ru-RU" dirty="0"/>
              <a:t> — это этап преобразования координат, где применяются наши матрицы.</a:t>
            </a:r>
          </a:p>
          <a:p>
            <a:r>
              <a:rPr lang="ru-RU" dirty="0"/>
              <a:t>После этого преобразованная вершина передаётся выбранному рендереру через метод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AddVertex</a:t>
            </a:r>
            <a:r>
              <a:rPr lang="ru-RU" dirty="0"/>
              <a:t>. Рендерер накапливает вершины и, когда их становится достаточно для построения примитива, рисует точки, линии, треугольники и другие примитивы.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Когда все вершины обработаны,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EndDraw</a:t>
            </a:r>
            <a:r>
              <a:rPr lang="ru-RU" dirty="0"/>
              <a:t>, чтобы завершить рисование.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провести аналогию с OpenGL, то этот код очень похож на работу </a:t>
            </a:r>
            <a:r>
              <a:rPr lang="ru-RU" b="1" dirty="0"/>
              <a:t>вершинного шейдера и этапа сборки примитивов</a:t>
            </a:r>
            <a:r>
              <a:rPr lang="ru-RU" dirty="0"/>
              <a:t>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TransformVertex</a:t>
            </a:r>
            <a:r>
              <a:rPr lang="ru-RU" dirty="0"/>
              <a:t> играет роль </a:t>
            </a:r>
            <a:r>
              <a:rPr lang="ru-RU" b="1" dirty="0" err="1"/>
              <a:t>vertex</a:t>
            </a:r>
            <a:r>
              <a:rPr lang="ru-RU" b="1" dirty="0"/>
              <a:t> </a:t>
            </a:r>
            <a:r>
              <a:rPr lang="ru-RU" b="1" dirty="0" err="1"/>
              <a:t>shader</a:t>
            </a:r>
            <a:r>
              <a:rPr lang="ru-RU" dirty="0"/>
              <a:t>, который преобразует координаты вершины.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AddVertex</a:t>
            </a:r>
            <a:r>
              <a:rPr lang="ru-RU" dirty="0"/>
              <a:t> напоминает этап </a:t>
            </a:r>
            <a:r>
              <a:rPr lang="ru-RU" b="1" dirty="0" err="1"/>
              <a:t>primitive</a:t>
            </a:r>
            <a:r>
              <a:rPr lang="ru-RU" b="1" dirty="0"/>
              <a:t> </a:t>
            </a:r>
            <a:r>
              <a:rPr lang="ru-RU" b="1" dirty="0" err="1"/>
              <a:t>assembly</a:t>
            </a:r>
            <a:r>
              <a:rPr lang="ru-RU" dirty="0"/>
              <a:t>, где вершины собираются в точки, линии или треугольники.</a:t>
            </a:r>
          </a:p>
          <a:p>
            <a:r>
              <a:rPr lang="ru-RU" dirty="0"/>
              <a:t>А сами вызовы GDI внутри рендереров — это упрощённая версия </a:t>
            </a:r>
            <a:r>
              <a:rPr lang="ru-RU" b="1" dirty="0"/>
              <a:t>растеризации</a:t>
            </a:r>
            <a:r>
              <a:rPr lang="ru-RU" dirty="0"/>
              <a:t>.</a:t>
            </a:r>
          </a:p>
          <a:p>
            <a:r>
              <a:rPr lang="ru-RU" dirty="0"/>
              <a:t>Таким образом мы вручную реализуем очень маленькую часть того конвейера, который обычно выполняет GPU.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692556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происходит самая важная часть нашего рендерера — </a:t>
            </a:r>
            <a:r>
              <a:rPr lang="ru-RU" b="1" dirty="0"/>
              <a:t>преобразование 3D-координат вершины в экранные координаты</a:t>
            </a:r>
            <a:r>
              <a:rPr lang="ru-RU" dirty="0"/>
              <a:t>.</a:t>
            </a:r>
          </a:p>
          <a:p>
            <a:r>
              <a:rPr lang="ru-RU" dirty="0"/>
              <a:t>Сначала мы умножаем позицию вершины на матрицу </a:t>
            </a:r>
            <a:r>
              <a:rPr lang="ru-RU" b="1" dirty="0" err="1"/>
              <a:t>ModelViewProjection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Это переводит точку из системы координат объекта через систему камеры в </a:t>
            </a:r>
            <a:r>
              <a:rPr lang="ru-RU" b="1" dirty="0" err="1"/>
              <a:t>clip</a:t>
            </a:r>
            <a:r>
              <a:rPr lang="ru-RU" b="1" dirty="0"/>
              <a:t> </a:t>
            </a:r>
            <a:r>
              <a:rPr lang="ru-RU" b="1" dirty="0" err="1"/>
              <a:t>space</a:t>
            </a:r>
            <a:r>
              <a:rPr lang="ru-RU" dirty="0"/>
              <a:t>.</a:t>
            </a:r>
          </a:p>
          <a:p>
            <a:r>
              <a:rPr lang="ru-RU" dirty="0"/>
              <a:t>Далее выполняется </a:t>
            </a:r>
            <a:r>
              <a:rPr lang="ru-RU" b="1" dirty="0"/>
              <a:t>перспективное деление</a:t>
            </a:r>
            <a:r>
              <a:rPr lang="ru-RU" dirty="0"/>
              <a:t> — координаты делятся на компоненту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w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После этого точка попадает в </a:t>
            </a:r>
            <a:r>
              <a:rPr lang="ru-RU" b="1" dirty="0"/>
              <a:t>нормализованное пространство устройства (NDC)</a:t>
            </a:r>
            <a:r>
              <a:rPr lang="ru-RU" dirty="0"/>
              <a:t>, где координаты лежат в диапазоне от −1 до 1.</a:t>
            </a:r>
          </a:p>
          <a:p>
            <a:r>
              <a:rPr lang="ru-RU" dirty="0"/>
              <a:t>Затем мы преобразуем этот диапазон в диапазон от 0 до 1, а потом масштабируем его в размеры нашего </a:t>
            </a:r>
            <a:r>
              <a:rPr lang="ru-RU" b="1" dirty="0"/>
              <a:t>порта просмотра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результате мы получаем обычные </a:t>
            </a:r>
            <a:r>
              <a:rPr lang="ru-RU" b="1" dirty="0"/>
              <a:t>экранные координаты</a:t>
            </a:r>
            <a:r>
              <a:rPr lang="ru-RU" dirty="0"/>
              <a:t>, которые уже можно использовать для рисования линий через GDI.</a:t>
            </a:r>
          </a:p>
          <a:p>
            <a:endParaRPr lang="ru-RU" dirty="0"/>
          </a:p>
          <a:p>
            <a:r>
              <a:rPr lang="ru-RU" dirty="0"/>
              <a:t>Если провести аналогию с OpenGL, то этот код вручную реализует сразу несколько этапов графического конвейера: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умножение на </a:t>
            </a:r>
            <a:r>
              <a:rPr lang="ru-RU" b="1" dirty="0"/>
              <a:t>MVP-матрицу</a:t>
            </a:r>
            <a:r>
              <a:rPr lang="ru-RU" dirty="0"/>
              <a:t> — как в </a:t>
            </a:r>
            <a:r>
              <a:rPr lang="ru-RU" dirty="0" err="1"/>
              <a:t>vertex</a:t>
            </a:r>
            <a:r>
              <a:rPr lang="ru-RU" dirty="0"/>
              <a:t> </a:t>
            </a:r>
            <a:r>
              <a:rPr lang="ru-RU" dirty="0" err="1"/>
              <a:t>shader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b="1" dirty="0" err="1"/>
              <a:t>perspective</a:t>
            </a:r>
            <a:r>
              <a:rPr lang="ru-RU" b="1" dirty="0"/>
              <a:t> </a:t>
            </a:r>
            <a:r>
              <a:rPr lang="ru-RU" b="1" dirty="0" err="1"/>
              <a:t>divide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преобразование </a:t>
            </a:r>
            <a:r>
              <a:rPr lang="ru-RU" b="1" dirty="0"/>
              <a:t>NDC → </a:t>
            </a:r>
            <a:r>
              <a:rPr lang="ru-RU" b="1" dirty="0" err="1"/>
              <a:t>viewport</a:t>
            </a:r>
            <a:endParaRPr lang="ru-RU" dirty="0"/>
          </a:p>
          <a:p>
            <a:r>
              <a:rPr lang="ru-RU" dirty="0"/>
              <a:t>Именно так каждая вершина трёхмерной модели в конечном итоге превращается в точку на экране.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559164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Начнём с самого простого случая — </a:t>
            </a:r>
            <a:r>
              <a:rPr lang="ru-RU" b="1" dirty="0"/>
              <a:t>рисования точек</a:t>
            </a:r>
            <a:r>
              <a:rPr lang="ru-RU" dirty="0"/>
              <a:t>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PointRenderer</a:t>
            </a:r>
            <a:r>
              <a:rPr lang="ru-RU" dirty="0"/>
              <a:t> получает уже преобразованные вершины, то есть их координаты находятся в экранном пространстве. Поэтому здесь никакой математики больше не требуется — мы просто рисуем пиксель в нужной позиции.</a:t>
            </a:r>
          </a:p>
          <a:p>
            <a:r>
              <a:rPr lang="ru-RU" dirty="0"/>
              <a:t>Для этого используется функция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SetPixel</a:t>
            </a:r>
            <a:r>
              <a:rPr lang="ru-RU" dirty="0"/>
              <a:t> из GDI. Она устанавливает цвет конкретного пикселя на экране.</a:t>
            </a:r>
          </a:p>
          <a:p>
            <a:r>
              <a:rPr lang="ru-RU" dirty="0"/>
              <a:t>Класс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BaseRenderer</a:t>
            </a:r>
            <a:r>
              <a:rPr lang="ru-RU" dirty="0"/>
              <a:t> хранит общий для всех рендереров контекст устройства и ссылку на объект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Renderer</a:t>
            </a:r>
            <a:r>
              <a:rPr lang="ru-RU" dirty="0"/>
              <a:t>, чтобы при необходимости можно было получить доступ к его параметрам.</a:t>
            </a:r>
          </a:p>
          <a:p>
            <a:r>
              <a:rPr lang="ru-RU" dirty="0"/>
              <a:t>В OpenGL этому этапу соответствует </a:t>
            </a:r>
            <a:r>
              <a:rPr lang="ru-RU" b="1" dirty="0"/>
              <a:t>растеризация точки</a:t>
            </a:r>
            <a:r>
              <a:rPr lang="ru-RU" dirty="0"/>
              <a:t>, когда вершина уже прошла через </a:t>
            </a:r>
            <a:r>
              <a:rPr lang="ru-RU" dirty="0" err="1"/>
              <a:t>vertex</a:t>
            </a:r>
            <a:r>
              <a:rPr lang="ru-RU" dirty="0"/>
              <a:t> </a:t>
            </a:r>
            <a:r>
              <a:rPr lang="ru-RU" dirty="0" err="1"/>
              <a:t>shader</a:t>
            </a:r>
            <a:r>
              <a:rPr lang="ru-RU" dirty="0"/>
              <a:t> и её координаты преобразованы в экранные. GPU просто закрашивает соответствующий пиксель.</a:t>
            </a:r>
          </a:p>
          <a:p>
            <a:r>
              <a:rPr lang="ru-RU" dirty="0"/>
              <a:t>В нашем случае мы делаем это вручную одной строкой кода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133702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Рисование линий устроено немного сложнее, чем рисование точек, потому что для линии нужны </a:t>
            </a:r>
            <a:r>
              <a:rPr lang="ru-RU" b="1" dirty="0"/>
              <a:t>две вершины</a:t>
            </a:r>
            <a:r>
              <a:rPr lang="ru-RU" dirty="0"/>
              <a:t>.</a:t>
            </a:r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AddVertex</a:t>
            </a:r>
            <a:r>
              <a:rPr lang="ru-RU" dirty="0"/>
              <a:t> получает вершины по одной. Первая вершина просто запоминается. Когда приходит вторая вершина, мы уже можем построить отрезок между ними.</a:t>
            </a:r>
          </a:p>
          <a:p>
            <a:endParaRPr lang="ru-RU" dirty="0"/>
          </a:p>
          <a:p>
            <a:r>
              <a:rPr lang="ru-RU" dirty="0"/>
              <a:t>После этого с помощью функций GDI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MoveTo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LineTo</a:t>
            </a:r>
            <a:r>
              <a:rPr lang="ru-RU" dirty="0"/>
              <a:t> рисуется линия между двумя экранными точками.</a:t>
            </a:r>
          </a:p>
          <a:p>
            <a:r>
              <a:rPr lang="ru-RU" dirty="0"/>
              <a:t>Затем состояние сбрасывается, и следующая пара вершин будет образовывать новую линию.</a:t>
            </a:r>
          </a:p>
          <a:p>
            <a:endParaRPr lang="ru-RU" dirty="0"/>
          </a:p>
          <a:p>
            <a:r>
              <a:rPr lang="ru-RU" dirty="0"/>
              <a:t>Если провести аналогию с OpenGL, это соответствует режиму </a:t>
            </a:r>
            <a:r>
              <a:rPr lang="ru-RU" b="1" dirty="0"/>
              <a:t>GL_LINES</a:t>
            </a:r>
            <a:r>
              <a:rPr lang="ru-RU" dirty="0"/>
              <a:t>, где каждая пара вершин интерпретируется как отдельный отрезок. Здесь мы реализуем тот же принцип вручную: берём вершины по две и соединяем их линией.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9955389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Треугольники обрабатываются похожим образом, но теперь нам нужно </a:t>
            </a:r>
            <a:r>
              <a:rPr lang="ru-RU" b="1" dirty="0"/>
              <a:t>три вершины</a:t>
            </a:r>
            <a:r>
              <a:rPr lang="ru-RU" dirty="0"/>
              <a:t>.</a:t>
            </a:r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AddVertex</a:t>
            </a:r>
            <a:r>
              <a:rPr lang="ru-RU" dirty="0"/>
              <a:t> последовательно накапливает вершины. Первые две вершины просто сохраняются. Когда приходит третья вершина, у нас уже есть полный треугольник.</a:t>
            </a:r>
          </a:p>
          <a:p>
            <a:r>
              <a:rPr lang="ru-RU" dirty="0"/>
              <a:t>После этого мы рисуем его каркас: соединяем три вершины линиями и замыкаем контур, возвращаясь к первой вершине.</a:t>
            </a:r>
          </a:p>
          <a:p>
            <a:r>
              <a:rPr lang="ru-RU" dirty="0"/>
              <a:t>Таким образом получается </a:t>
            </a:r>
            <a:r>
              <a:rPr lang="ru-RU" b="1" dirty="0" err="1"/>
              <a:t>wireframe</a:t>
            </a:r>
            <a:r>
              <a:rPr lang="ru-RU" b="1" dirty="0"/>
              <a:t>-представление треугольника</a:t>
            </a:r>
            <a:r>
              <a:rPr lang="ru-RU" dirty="0"/>
              <a:t>.</a:t>
            </a:r>
          </a:p>
          <a:p>
            <a:r>
              <a:rPr lang="ru-RU" dirty="0"/>
              <a:t>В OpenGL аналогичное поведение имеет режим </a:t>
            </a:r>
            <a:r>
              <a:rPr lang="ru-RU" b="1" dirty="0"/>
              <a:t>GL_TRIANGLES</a:t>
            </a:r>
            <a:r>
              <a:rPr lang="ru-RU" dirty="0"/>
              <a:t>, где каждые три последовательные вершины образуют один треугольник.</a:t>
            </a:r>
          </a:p>
          <a:p>
            <a:r>
              <a:rPr lang="ru-RU" dirty="0"/>
              <a:t>Разница лишь в том, что GPU обычно выполняет растеризацию и закрашивает внутренность треугольника, а мы здесь рисуем только его границы.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778007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Четырёхугольники обрабатываются почти так же, как треугольники, только теперь нам нужно </a:t>
            </a:r>
            <a:r>
              <a:rPr lang="ru-RU" b="1" dirty="0"/>
              <a:t>четыре вершины</a:t>
            </a:r>
            <a:r>
              <a:rPr lang="ru-RU" dirty="0"/>
              <a:t>.</a:t>
            </a:r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AddVertex</a:t>
            </a:r>
            <a:r>
              <a:rPr lang="ru-RU" dirty="0"/>
              <a:t> сначала накапливает первые три вершины. Когда приходит четвёртая вершина, мы уже можем построить полный четырёхугольник.</a:t>
            </a:r>
          </a:p>
          <a:p>
            <a:r>
              <a:rPr lang="ru-RU" dirty="0"/>
              <a:t>После этого рисуются четыре ребра: последовательно соединяются все вершины и затем контур замыкается, возвращаясь к первой вершине.</a:t>
            </a:r>
          </a:p>
          <a:p>
            <a:r>
              <a:rPr lang="ru-RU" dirty="0"/>
              <a:t>Таким образом мы получаем </a:t>
            </a:r>
            <a:r>
              <a:rPr lang="ru-RU" b="1" dirty="0"/>
              <a:t>каркас четырёхугольника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OpenGL раньше существовал аналогичный режим </a:t>
            </a:r>
            <a:r>
              <a:rPr lang="ru-RU" b="1" dirty="0"/>
              <a:t>GL_QUADS</a:t>
            </a:r>
            <a:r>
              <a:rPr lang="ru-RU" dirty="0"/>
              <a:t>, где каждые четыре вершины образовывали четырёхугольник. В современных версиях OpenGL этот режим убрали, и обычно такие примитивы разбивают на два треугольника. Но для простого учебного рендерера поддержка квадов делает код и примеры немного проще.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886228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Иногда вершины удобно хранить отдельно, а примитивы задавать </a:t>
            </a:r>
            <a:r>
              <a:rPr lang="ru-RU" b="1" dirty="0"/>
              <a:t>индексами этих вершин</a:t>
            </a:r>
            <a:r>
              <a:rPr lang="ru-RU" dirty="0"/>
              <a:t>. Именно для этого используется метод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DrawElements</a:t>
            </a:r>
            <a:r>
              <a:rPr lang="ru-RU" dirty="0"/>
              <a:t>.</a:t>
            </a:r>
          </a:p>
          <a:p>
            <a:r>
              <a:rPr lang="ru-RU" dirty="0"/>
              <a:t>Он принимает два набора данных: массив вершин и массив индексов. Индексы указывают, </a:t>
            </a:r>
            <a:r>
              <a:rPr lang="ru-RU" b="1" dirty="0"/>
              <a:t>какие именно вершины нужно использовать и в каком порядке</a:t>
            </a:r>
            <a:r>
              <a:rPr lang="ru-RU" dirty="0"/>
              <a:t>.</a:t>
            </a:r>
          </a:p>
          <a:p>
            <a:r>
              <a:rPr lang="ru-RU" dirty="0"/>
              <a:t>Внутри метода используется представление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transform</a:t>
            </a:r>
            <a:r>
              <a:rPr lang="ru-RU" dirty="0"/>
              <a:t>, которое просто превращает последовательность индексов в последовательность ссылок на соответствующие вершины. После этого управление передаётся обычному методу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DrawPrimitives</a:t>
            </a:r>
            <a:r>
              <a:rPr lang="ru-RU" dirty="0"/>
              <a:t>.</a:t>
            </a:r>
          </a:p>
          <a:p>
            <a:r>
              <a:rPr lang="ru-RU" dirty="0"/>
              <a:t>Такой подход позволяет </a:t>
            </a:r>
            <a:r>
              <a:rPr lang="ru-RU" b="1" dirty="0"/>
              <a:t>переиспользовать одни и те же вершины</a:t>
            </a:r>
            <a:r>
              <a:rPr lang="ru-RU" dirty="0"/>
              <a:t> в нескольких примитивах и уменьшить объём данных.</a:t>
            </a:r>
          </a:p>
          <a:p>
            <a:r>
              <a:rPr lang="ru-RU" dirty="0"/>
              <a:t>В OpenGL это полностью соответствует функции </a:t>
            </a:r>
            <a:r>
              <a:rPr lang="ru-RU" sz="1200" b="1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glDrawElements</a:t>
            </a:r>
            <a:r>
              <a:rPr lang="ru-RU" dirty="0"/>
              <a:t>, где геометрия также задаётся массивом вершин и массивом индексов.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696755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Последний шаг — связать наш рендерер с конкретным </a:t>
            </a:r>
            <a:r>
              <a:rPr lang="ru-RU" b="1" dirty="0"/>
              <a:t>контекстом рисования</a:t>
            </a:r>
            <a:r>
              <a:rPr lang="ru-RU" dirty="0"/>
              <a:t>.</a:t>
            </a:r>
          </a:p>
          <a:p>
            <a:r>
              <a:rPr lang="ru-RU" dirty="0"/>
              <a:t>Класс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RendererContext</a:t>
            </a:r>
            <a:r>
              <a:rPr lang="ru-RU" dirty="0"/>
              <a:t> хранит два объекта: GDI-контекст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CDCHandle</a:t>
            </a:r>
            <a:r>
              <a:rPr lang="ru-RU" dirty="0"/>
              <a:t>, через который происходит рисование, и ссылку на сам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Renderer</a:t>
            </a:r>
            <a:r>
              <a:rPr lang="ru-RU" dirty="0"/>
              <a:t>.</a:t>
            </a:r>
          </a:p>
          <a:p>
            <a:r>
              <a:rPr lang="ru-RU" dirty="0"/>
              <a:t>Методы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DrawPrimitives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DrawElements</a:t>
            </a:r>
            <a:r>
              <a:rPr lang="ru-RU" dirty="0"/>
              <a:t> просто передают вызов в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Renderer</a:t>
            </a:r>
            <a:r>
              <a:rPr lang="ru-RU" dirty="0"/>
              <a:t>, добавляя к нему текущий графический контекст.</a:t>
            </a:r>
          </a:p>
          <a:p>
            <a:r>
              <a:rPr lang="ru-RU" dirty="0"/>
              <a:t>Это позволяет удобно отделить </a:t>
            </a:r>
            <a:r>
              <a:rPr lang="ru-RU" b="1" dirty="0"/>
              <a:t>логику рендеринга</a:t>
            </a:r>
            <a:r>
              <a:rPr lang="ru-RU" dirty="0"/>
              <a:t> от </a:t>
            </a:r>
            <a:r>
              <a:rPr lang="ru-RU" b="1" dirty="0"/>
              <a:t>конкретного устройства вывода</a:t>
            </a:r>
            <a:r>
              <a:rPr lang="ru-RU" dirty="0"/>
              <a:t>.</a:t>
            </a:r>
          </a:p>
          <a:p>
            <a:r>
              <a:rPr lang="ru-RU" dirty="0"/>
              <a:t>Если провести аналогию с OpenGL, это похоже на работу </a:t>
            </a:r>
            <a:r>
              <a:rPr lang="ru-RU" b="1" dirty="0"/>
              <a:t>контекста OpenGL</a:t>
            </a:r>
            <a:r>
              <a:rPr lang="ru-RU" dirty="0"/>
              <a:t>, который хранит состояние и связывает команды рендеринга с конкретным окном или поверхностью вывода.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508484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нам нужен простой 3D-объект, который мы будем рисовать. В качестве примера возьмём </a:t>
            </a:r>
            <a:r>
              <a:rPr lang="ru-RU" b="1" dirty="0"/>
              <a:t>куб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Куб задаётся восемью вершинами. Каждая вершина имеет позицию в пространстве и цвет. Функция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MakeVertex</a:t>
            </a:r>
            <a:r>
              <a:rPr lang="ru-RU" dirty="0"/>
              <a:t> помогает создать вершину: она масштабирует координаты точки и формирует позицию в </a:t>
            </a:r>
            <a:r>
              <a:rPr lang="ru-RU" b="1" dirty="0"/>
              <a:t>однородных координатах</a:t>
            </a:r>
            <a:r>
              <a:rPr lang="ru-RU" dirty="0"/>
              <a:t>, добавляя компоненту </a:t>
            </a:r>
            <a:r>
              <a:rPr lang="ru-RU" sz="1200" kern="1200" dirty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w = 1</a:t>
            </a:r>
            <a:r>
              <a:rPr lang="ru-RU" dirty="0"/>
              <a:t>.</a:t>
            </a:r>
          </a:p>
          <a:p>
            <a:r>
              <a:rPr lang="ru-RU" dirty="0"/>
              <a:t>В классе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Cube</a:t>
            </a:r>
            <a:r>
              <a:rPr lang="ru-RU" dirty="0"/>
              <a:t> мы просто перечисляем восемь вершин куба. Координаты ±1 задают форму куба, а параметр </a:t>
            </a:r>
            <a:r>
              <a:rPr lang="ru-RU" sz="1200" kern="1200" dirty="0" err="1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size</a:t>
            </a:r>
            <a:r>
              <a:rPr lang="ru-RU" dirty="0"/>
              <a:t> позволяет масштабировать его до нужного размера.</a:t>
            </a:r>
          </a:p>
          <a:p>
            <a:r>
              <a:rPr lang="ru-RU" dirty="0"/>
              <a:t>Таким образом, объект описывается </a:t>
            </a:r>
            <a:r>
              <a:rPr lang="ru-RU" b="1" dirty="0"/>
              <a:t>набором вершин</a:t>
            </a:r>
            <a:r>
              <a:rPr lang="ru-RU" dirty="0"/>
              <a:t>, а позже при рисовании мы будем соединять эти вершины линиями, чтобы получить каркас куба.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266132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этот куб рисуется.</a:t>
            </a:r>
          </a:p>
          <a:p>
            <a:r>
              <a:rPr lang="ru-RU" dirty="0"/>
              <a:t>Помимо самих вершин, нам нужно описать какие вершины образуют грани куба. Для этого используется массив индексов. Каждый набор из четырёх индексов задаёт одну грань куба — четырёхугольник.</a:t>
            </a:r>
          </a:p>
          <a:p>
            <a:r>
              <a:rPr lang="ru-RU" dirty="0"/>
              <a:t>Например, первые четыре числа определяют вершины одной из граней. Следующие четыре — следующую грань и так далее. Всего у куба шесть граней, поэтому здесь шесть групп индексов.</a:t>
            </a:r>
          </a:p>
          <a:p>
            <a:r>
              <a:rPr lang="ru-RU" dirty="0"/>
              <a:t>Метод </a:t>
            </a:r>
            <a:r>
              <a:rPr lang="ru-RU" dirty="0" err="1"/>
              <a:t>DrawElements</a:t>
            </a:r>
            <a:r>
              <a:rPr lang="ru-RU" dirty="0"/>
              <a:t> получает массив вершин и массив индексов и строит примитивы в указанном порядке. Это позволяет переиспользовать одни и те же вершины для нескольких граней.</a:t>
            </a:r>
          </a:p>
          <a:p>
            <a:r>
              <a:rPr lang="ru-RU" dirty="0"/>
              <a:t>Справа показано, как пронумерованы вершины куба и какие оси используются. Это помогает понять, какие именно вершины образуют каждую грань.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328636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Наш рендерер очень простой и, конечно, у него есть множество ограничений.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Во-первых, здесь не выполняется </a:t>
            </a:r>
            <a:r>
              <a:rPr lang="ru-RU" b="1" dirty="0"/>
              <a:t>обрезка примитивов по границам </a:t>
            </a:r>
            <a:r>
              <a:rPr lang="ru-RU" b="1" dirty="0" err="1"/>
              <a:t>clip</a:t>
            </a:r>
            <a:r>
              <a:rPr lang="ru-RU" b="1" dirty="0"/>
              <a:t> </a:t>
            </a:r>
            <a:r>
              <a:rPr lang="ru-RU" b="1" dirty="0" err="1"/>
              <a:t>space</a:t>
            </a:r>
            <a:r>
              <a:rPr lang="ru-RU" dirty="0"/>
              <a:t>. В настоящем графическом конвейере GPU отбрасывает или обрезает части примитивов, которые выходят за пределы видимого объёма.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Во-вторых, мы не выполняем </a:t>
            </a:r>
            <a:r>
              <a:rPr lang="ru-RU" b="1" dirty="0"/>
              <a:t>заливку треугольников</a:t>
            </a:r>
            <a:r>
              <a:rPr lang="ru-RU" dirty="0"/>
              <a:t>. Мы рисуем только каркасные линии, поэтому получаем </a:t>
            </a:r>
            <a:r>
              <a:rPr lang="ru-RU" dirty="0" err="1"/>
              <a:t>wireframe</a:t>
            </a:r>
            <a:r>
              <a:rPr lang="ru-RU" dirty="0"/>
              <a:t>-изображение.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Также здесь нет </a:t>
            </a:r>
            <a:r>
              <a:rPr lang="ru-RU" b="1" dirty="0"/>
              <a:t>z-буфера</a:t>
            </a:r>
            <a:r>
              <a:rPr lang="ru-RU" dirty="0"/>
              <a:t>, который в нормальном рендерере отвечает за определение того, какая поверхность ближе к камере. Поэтому если грани перекрывают друг друга, порядок их отображения может быть неправильным.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И, наконец, мы не выполняем </a:t>
            </a:r>
            <a:r>
              <a:rPr lang="ru-RU" b="1" dirty="0"/>
              <a:t>интерполяцию атрибутов</a:t>
            </a:r>
            <a:r>
              <a:rPr lang="ru-RU" dirty="0"/>
              <a:t>, которая обычно используется для плавного изменения цвета, освещения или текстур внутри треугольника.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Но цель этого рендерера совсем не в том, чтобы заменить настоящий графический API. Его задача — </a:t>
            </a:r>
            <a:r>
              <a:rPr lang="ru-RU" b="1" dirty="0"/>
              <a:t>показать основные идеи</a:t>
            </a:r>
            <a:r>
              <a:rPr lang="ru-RU" dirty="0"/>
              <a:t>:</a:t>
            </a:r>
          </a:p>
          <a:p>
            <a:pPr marL="171450" indent="-171450">
              <a:buFontTx/>
              <a:buChar char="-"/>
            </a:pPr>
            <a:r>
              <a:rPr lang="ru-RU" dirty="0"/>
              <a:t>как вершины преобразуются матрицами,</a:t>
            </a:r>
            <a:br>
              <a:rPr lang="ru-RU" dirty="0"/>
            </a:br>
            <a:r>
              <a:rPr lang="en-US" dirty="0"/>
              <a:t>- </a:t>
            </a:r>
            <a:r>
              <a:rPr lang="ru-RU" dirty="0"/>
              <a:t>как работает перспективное деление,</a:t>
            </a:r>
            <a:br>
              <a:rPr lang="ru-RU" dirty="0"/>
            </a:br>
            <a:r>
              <a:rPr lang="en-US" dirty="0"/>
              <a:t>- </a:t>
            </a:r>
            <a:r>
              <a:rPr lang="ru-RU" dirty="0"/>
              <a:t>и как трёхмерная сцена в итоге превращается в двумерное изображение на экране.</a:t>
            </a:r>
            <a:endParaRPr lang="en-US" dirty="0"/>
          </a:p>
          <a:p>
            <a:pPr marL="171450" indent="-171450">
              <a:buFontTx/>
              <a:buChar char="-"/>
            </a:pPr>
            <a:endParaRPr lang="ru-RU" dirty="0"/>
          </a:p>
          <a:p>
            <a:r>
              <a:rPr lang="ru-RU" dirty="0"/>
              <a:t>То есть это маленькая модель того, что на самом деле делает GPU.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47786C-2EF1-4006-89FA-243179D8369C}" type="slidenum">
              <a:rPr lang="ru-RU" smtClean="0"/>
              <a:pPr>
                <a:defRPr/>
              </a:pPr>
              <a:t>181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627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DA84-7408-4639-B08C-008116359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5775FF-531C-4718-8F44-D2D5C2D9F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72058-CD9B-4292-8389-091CE8431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EC47D-EA22-41B7-8C5E-700D2107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1B103-109F-434F-B839-E71A0DC5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DAEFCC-492C-4AA6-8F44-6B6BCB4B1E1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761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D934F-697F-47CB-ABDD-4F6950A18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C3D12-E675-4427-A546-DAECD5EC0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3E43F-A94A-433B-B056-16C8FD3D7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F923C-835E-4109-9B4C-1DAC8B335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3E4FD-3414-49DF-9549-070D26DF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DAEFCC-492C-4AA6-8F44-6B6BCB4B1E1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4104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6D71C-BC2F-47B9-8F7A-8FC84483B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023D5-E9E4-49CF-B485-751A30C40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B3394-6698-4B0D-B799-D55F4D9BA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F163D-3D73-4827-A23C-ABC3DD652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EF558-37CC-4D25-AF3C-DD2507A92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DAEFCC-492C-4AA6-8F44-6B6BCB4B1E1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9205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0B3E4-02EA-4276-B853-7F93E6334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C9B73-187C-4CE7-91EE-9CCA96603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7D1B4-796D-4C1C-B516-C115CED96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FA1B3-1A75-4398-8EEC-192EACA5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C1CB3-148D-4612-BEF1-7A8A7005F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44260-2A55-4A1C-8A13-42819519E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DAEFCC-492C-4AA6-8F44-6B6BCB4B1E1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146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21C7-1CE4-4C3D-A138-EE5BB4B94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12F28-1728-41B5-8494-6D494246D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D7C2F-7F6D-4EE3-A300-5F757B3E1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56412-36F6-4E80-9A19-BE04A48C91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D0BF11-FA13-4C2E-8437-2DB0556EB0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85A7C8-8F20-41FD-A62F-9A276C20E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8A725C-6D1D-43CC-981A-D1C19EC16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6F3EA9-AF99-426F-B1A3-1BCD9891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DAEFCC-492C-4AA6-8F44-6B6BCB4B1E1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68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B059B-645D-406F-9463-9076F7E1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228A-E833-496C-A225-9C193A050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09853-4A88-4D0B-B1AC-60CE6A40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10E531-CF9C-4383-B998-5B6233420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DAEFCC-492C-4AA6-8F44-6B6BCB4B1E1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38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7F895-A445-471A-9BD9-DB515CDAB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6EA639-18A2-492A-B027-02A21EF4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37F33-04F0-4895-85BD-60DF56956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DAEFCC-492C-4AA6-8F44-6B6BCB4B1E1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53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D2E59-87B9-452A-BAA7-A48DAED01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2A2AE-4A0A-404D-A435-F2CDE942D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2367F-56E3-410A-86CE-0B680822D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211A3-C3A4-473D-9F65-765ECC1B0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204C9-429F-41C9-8CA5-3C3C120A1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BC943-F32D-481B-84E1-B0C87B76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DAEFCC-492C-4AA6-8F44-6B6BCB4B1E1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245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62011-29D8-43A5-9A7D-494AFCCD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B3F610-F9C1-4C72-A9EB-249F1AE095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D8E4E-1312-413C-AE00-02C3CEB95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2086F-97B6-465D-8511-3D6043C83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91C15-6419-4D9D-83B2-CDB3C69BB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CE0D8-A062-49FB-A7D2-58B127CFB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DAEFCC-492C-4AA6-8F44-6B6BCB4B1E1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1668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5CC1B-A0D5-4F98-8D38-37D94B362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BB234-3D94-49C8-A825-03F7D76B2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ECC5A-C2BA-48A4-84E9-C93E8DC0B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84672-98A2-42D8-B64C-20827F322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CC234-1979-4985-ADF6-055DBD1A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DAEFCC-492C-4AA6-8F44-6B6BCB4B1E1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8592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9751CD-FD3E-4AE0-97B5-C3E90FAEC5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C603-ADBE-4C5E-899B-F93CE1615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CDBA6-F063-43D8-9386-9ADC5BFE5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73265-2A1C-4B08-BB96-470CC51A8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884AE-3476-4BC0-84DD-35C8F8B70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DAEFCC-492C-4AA6-8F44-6B6BCB4B1E1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250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Заголовок и текст над объек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10363200" cy="1981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1576917" y="4151313"/>
            <a:ext cx="10363200" cy="1981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9F0502-4B43-420E-B097-93F0484C2D8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464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360834-071B-458E-9760-B816B0174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EB574-D9B5-43CE-99D6-1F58FAADF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03E0D-4686-4AC6-9042-927D6087A8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94C94-52F3-4178-89DD-AA5CFE0AC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E7331-AEFB-475E-8137-2970D2A8F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5DAEFCC-492C-4AA6-8F44-6B6BCB4B1E1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7873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1.png"/><Relationship Id="rId3" Type="http://schemas.openxmlformats.org/officeDocument/2006/relationships/image" Target="../media/image190.png"/><Relationship Id="rId7" Type="http://schemas.openxmlformats.org/officeDocument/2006/relationships/image" Target="../media/image46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49.png"/><Relationship Id="rId5" Type="http://schemas.openxmlformats.org/officeDocument/2006/relationships/image" Target="../media/image44.png"/><Relationship Id="rId10" Type="http://schemas.openxmlformats.org/officeDocument/2006/relationships/image" Target="../media/image200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u.wikipedia.org/wiki/%D0%9F%D1%80%D0%B0%D0%B2%D0%B8%D0%BB%D0%BE_%D0%A1%D0%B0%D1%80%D1%80%D1%8E%D1%81%D0%B0" TargetMode="Externa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2.png"/><Relationship Id="rId4" Type="http://schemas.openxmlformats.org/officeDocument/2006/relationships/image" Target="../media/image5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52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1.png"/><Relationship Id="rId5" Type="http://schemas.openxmlformats.org/officeDocument/2006/relationships/image" Target="../media/image69.png"/><Relationship Id="rId10" Type="http://schemas.openxmlformats.org/officeDocument/2006/relationships/image" Target="../media/image75.png"/><Relationship Id="rId4" Type="http://schemas.openxmlformats.org/officeDocument/2006/relationships/image" Target="../media/image57.png"/><Relationship Id="rId9" Type="http://schemas.openxmlformats.org/officeDocument/2006/relationships/image" Target="../media/image7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jpe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0.png"/><Relationship Id="rId5" Type="http://schemas.openxmlformats.org/officeDocument/2006/relationships/image" Target="../media/image350.png"/><Relationship Id="rId4" Type="http://schemas.openxmlformats.org/officeDocument/2006/relationships/image" Target="../media/image84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1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0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0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image" Target="../media/image1080.pn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6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6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6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137.png"/><Relationship Id="rId3" Type="http://schemas.openxmlformats.org/officeDocument/2006/relationships/image" Target="../media/image126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11" Type="http://schemas.openxmlformats.org/officeDocument/2006/relationships/image" Target="../media/image135.png"/><Relationship Id="rId5" Type="http://schemas.openxmlformats.org/officeDocument/2006/relationships/image" Target="../media/image128.png"/><Relationship Id="rId10" Type="http://schemas.openxmlformats.org/officeDocument/2006/relationships/image" Target="../media/image134.png"/><Relationship Id="rId4" Type="http://schemas.openxmlformats.org/officeDocument/2006/relationships/image" Target="../media/image127.png"/><Relationship Id="rId9" Type="http://schemas.openxmlformats.org/officeDocument/2006/relationships/image" Target="../media/image133.png"/><Relationship Id="rId14" Type="http://schemas.openxmlformats.org/officeDocument/2006/relationships/image" Target="../media/image138.png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wmf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0.png"/><Relationship Id="rId4" Type="http://schemas.openxmlformats.org/officeDocument/2006/relationships/image" Target="../media/image730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3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6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9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5.emf"/><Relationship Id="rId4" Type="http://schemas.openxmlformats.org/officeDocument/2006/relationships/image" Target="../media/image670.png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3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6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6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6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6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6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6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6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6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6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6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6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6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6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6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A4C274-D859-945F-8C7C-1FADFE1CC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Математические основы компьютерной графики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CA1986-F65F-6B48-A7DC-91900E638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81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/>
              <a:t>Компьютерная графика работает с объектами, заданными в трехмерном мире</a:t>
            </a:r>
          </a:p>
          <a:p>
            <a:pPr lvl="1" eaLnBrk="1" hangingPunct="1"/>
            <a:r>
              <a:rPr lang="ru-RU"/>
              <a:t>2</a:t>
            </a:r>
            <a:r>
              <a:rPr lang="en-US"/>
              <a:t>D – </a:t>
            </a:r>
            <a:r>
              <a:rPr lang="ru-RU"/>
              <a:t>всего лишь частный случай</a:t>
            </a:r>
          </a:p>
          <a:p>
            <a:pPr eaLnBrk="1" hangingPunct="1"/>
            <a:r>
              <a:rPr lang="ru-RU"/>
              <a:t>Все эти объекты имеют форму, положение и ориентацию в виртуальном пространстве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Задачи визуализации трехмерных объектов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Описание объектов, источников света, виртуальных камер, сред (жидкости, </a:t>
            </a:r>
            <a:r>
              <a:rPr lang="ru-RU" dirty="0" err="1"/>
              <a:t>газы</a:t>
            </a:r>
            <a:r>
              <a:rPr lang="ru-RU" dirty="0"/>
              <a:t>, туман)</a:t>
            </a:r>
          </a:p>
          <a:p>
            <a:pPr eaLnBrk="1" hangingPunct="1"/>
            <a:r>
              <a:rPr lang="ru-RU" dirty="0"/>
              <a:t>Взаимодействие этих объектов со светом и вычисление значений соответствующих пикселей</a:t>
            </a:r>
          </a:p>
          <a:p>
            <a:pPr eaLnBrk="1" hangingPunct="1"/>
            <a:r>
              <a:rPr lang="ru-RU" dirty="0"/>
              <a:t>Эта задача, в общем случае, непростая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ru-RU"/>
          </a:p>
        </p:txBody>
      </p:sp>
      <p:pic>
        <p:nvPicPr>
          <p:cNvPr id="54275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999656" y="1951602"/>
            <a:ext cx="6147825" cy="4069686"/>
          </a:xfr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Векторный анализ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/>
              <a:t>Векторный анализ – математическая дисциплина, облегчающая решение различных задач компьютерной графики</a:t>
            </a:r>
          </a:p>
          <a:p>
            <a:pPr lvl="1" eaLnBrk="1" hangingPunct="1"/>
            <a:r>
              <a:rPr lang="ru-RU"/>
              <a:t>Построение проекций трехмерных объектов</a:t>
            </a:r>
          </a:p>
          <a:p>
            <a:pPr lvl="1" eaLnBrk="1" hangingPunct="1"/>
            <a:r>
              <a:rPr lang="ru-RU"/>
              <a:t>Трассировка лучей с целью создания реалистичных изображений</a:t>
            </a:r>
          </a:p>
          <a:p>
            <a:pPr lvl="1" eaLnBrk="1" hangingPunct="1"/>
            <a:r>
              <a:rPr lang="ru-RU"/>
              <a:t>Решение геометрических задач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Система координат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Все точки и векторы задаются в какой-либо системе координат</a:t>
            </a:r>
          </a:p>
          <a:p>
            <a:pPr eaLnBrk="1" hangingPunct="1"/>
            <a:r>
              <a:rPr lang="ru-RU" dirty="0"/>
              <a:t>Операции над векторами и точками имеют смысл, когда они заданы в одной и той же системе координат</a:t>
            </a:r>
          </a:p>
          <a:p>
            <a:pPr eaLnBrk="1" hangingPunct="1"/>
            <a:r>
              <a:rPr lang="ru-RU" dirty="0"/>
              <a:t>Система координат имеет точку </a:t>
            </a:r>
            <a:r>
              <a:rPr lang="ru-RU" b="1" dirty="0"/>
              <a:t>начала координат</a:t>
            </a:r>
            <a:r>
              <a:rPr lang="ru-RU" dirty="0"/>
              <a:t> и несколько </a:t>
            </a:r>
            <a:r>
              <a:rPr lang="ru-RU" b="1" dirty="0"/>
              <a:t>координатных осей</a:t>
            </a:r>
            <a:r>
              <a:rPr lang="ru-RU" dirty="0"/>
              <a:t>, обычно направленных под прямым углом друг к другу</a:t>
            </a:r>
            <a:endParaRPr lang="ru-RU" b="1" dirty="0"/>
          </a:p>
          <a:p>
            <a:pPr eaLnBrk="1" hangingPunct="1"/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Двухмерная прямоугольная система координат</a:t>
            </a:r>
          </a:p>
        </p:txBody>
      </p:sp>
      <p:pic>
        <p:nvPicPr>
          <p:cNvPr id="57347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920331" y="1825625"/>
            <a:ext cx="4351338" cy="4351338"/>
          </a:xfr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Трехмерная прямоугольная система координат</a:t>
            </a:r>
          </a:p>
        </p:txBody>
      </p:sp>
      <p:pic>
        <p:nvPicPr>
          <p:cNvPr id="58371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943281" y="1825625"/>
            <a:ext cx="4305437" cy="4351338"/>
          </a:xfr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Правосторонняя система координат</a:t>
            </a:r>
          </a:p>
        </p:txBody>
      </p:sp>
      <p:pic>
        <p:nvPicPr>
          <p:cNvPr id="59395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135189" y="2019300"/>
            <a:ext cx="5616575" cy="4838700"/>
          </a:xfrm>
          <a:noFill/>
        </p:spPr>
      </p:pic>
      <p:sp>
        <p:nvSpPr>
          <p:cNvPr id="59396" name="Text Box 8"/>
          <p:cNvSpPr txBox="1">
            <a:spLocks noChangeArrowheads="1"/>
          </p:cNvSpPr>
          <p:nvPr/>
        </p:nvSpPr>
        <p:spPr bwMode="auto">
          <a:xfrm>
            <a:off x="6600825" y="2349501"/>
            <a:ext cx="380264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2400"/>
              <a:t>Часто применяется при </a:t>
            </a:r>
            <a:br>
              <a:rPr lang="ru-RU" sz="2400"/>
            </a:br>
            <a:r>
              <a:rPr lang="ru-RU" sz="2400"/>
              <a:t>моделировании объектов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A7B007E-E525-443B-8D14-A90F214EA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3180498"/>
            <a:ext cx="2319662" cy="22720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Левосторонняя система координат</a:t>
            </a:r>
          </a:p>
        </p:txBody>
      </p:sp>
      <p:pic>
        <p:nvPicPr>
          <p:cNvPr id="60419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3575051" y="1773238"/>
            <a:ext cx="4791075" cy="4868862"/>
          </a:xfrm>
          <a:noFill/>
        </p:spPr>
      </p:pic>
      <p:sp>
        <p:nvSpPr>
          <p:cNvPr id="60420" name="Text Box 7"/>
          <p:cNvSpPr txBox="1">
            <a:spLocks noChangeArrowheads="1"/>
          </p:cNvSpPr>
          <p:nvPr/>
        </p:nvSpPr>
        <p:spPr bwMode="auto">
          <a:xfrm>
            <a:off x="5951539" y="1844675"/>
            <a:ext cx="434022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/>
              <a:t>Часто применяется при работе с системами просмотра и виртуальными «камерами»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7A783F8-79F1-4320-8379-2B74E7279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37" y="4077072"/>
            <a:ext cx="2250352" cy="22041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6BB4E7-1DFF-4413-BB9B-98711229F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Важность системы координат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F8F173-CC62-46CF-839F-26387C4D6744}"/>
              </a:ext>
            </a:extLst>
          </p:cNvPr>
          <p:cNvGrpSpPr/>
          <p:nvPr/>
        </p:nvGrpSpPr>
        <p:grpSpPr>
          <a:xfrm>
            <a:off x="2351584" y="2420888"/>
            <a:ext cx="1080120" cy="1224136"/>
            <a:chOff x="2351584" y="2420888"/>
            <a:chExt cx="1080120" cy="1224136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E9E9F7C2-25DE-48A6-8A2B-A674D803032B}"/>
                </a:ext>
              </a:extLst>
            </p:cNvPr>
            <p:cNvCxnSpPr/>
            <p:nvPr/>
          </p:nvCxnSpPr>
          <p:spPr>
            <a:xfrm flipV="1">
              <a:off x="2351584" y="2420888"/>
              <a:ext cx="0" cy="1224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AA538D9-2C48-4B4D-B67D-06FB5A664BB0}"/>
                </a:ext>
              </a:extLst>
            </p:cNvPr>
            <p:cNvCxnSpPr/>
            <p:nvPr/>
          </p:nvCxnSpPr>
          <p:spPr>
            <a:xfrm>
              <a:off x="2351584" y="3645024"/>
              <a:ext cx="10801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D76A83F-BB96-43A4-AFC4-78B449586DC8}"/>
              </a:ext>
            </a:extLst>
          </p:cNvPr>
          <p:cNvGrpSpPr/>
          <p:nvPr/>
        </p:nvGrpSpPr>
        <p:grpSpPr>
          <a:xfrm rot="2912856">
            <a:off x="4932048" y="4058946"/>
            <a:ext cx="1080120" cy="1224136"/>
            <a:chOff x="2351584" y="2420888"/>
            <a:chExt cx="1080120" cy="122413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A18E34F-EDD2-400E-A011-22E39819256E}"/>
                </a:ext>
              </a:extLst>
            </p:cNvPr>
            <p:cNvCxnSpPr/>
            <p:nvPr/>
          </p:nvCxnSpPr>
          <p:spPr>
            <a:xfrm flipV="1">
              <a:off x="2351584" y="2420888"/>
              <a:ext cx="0" cy="1224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034F478-F788-4E6A-A90E-6F4CE5658FD4}"/>
                </a:ext>
              </a:extLst>
            </p:cNvPr>
            <p:cNvCxnSpPr/>
            <p:nvPr/>
          </p:nvCxnSpPr>
          <p:spPr>
            <a:xfrm>
              <a:off x="2351584" y="3645024"/>
              <a:ext cx="10801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99016212-CF56-4557-B8F5-762F83716F26}"/>
              </a:ext>
            </a:extLst>
          </p:cNvPr>
          <p:cNvSpPr/>
          <p:nvPr/>
        </p:nvSpPr>
        <p:spPr>
          <a:xfrm>
            <a:off x="2711624" y="2924944"/>
            <a:ext cx="144015" cy="1440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854EF08-4CFA-4B0C-A9DA-782CAB4863C0}"/>
              </a:ext>
            </a:extLst>
          </p:cNvPr>
          <p:cNvSpPr/>
          <p:nvPr/>
        </p:nvSpPr>
        <p:spPr>
          <a:xfrm>
            <a:off x="5137457" y="4671422"/>
            <a:ext cx="144015" cy="1440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DDD997-1F20-4905-8FD2-0E8DBD851646}"/>
              </a:ext>
            </a:extLst>
          </p:cNvPr>
          <p:cNvSpPr txBox="1"/>
          <p:nvPr/>
        </p:nvSpPr>
        <p:spPr>
          <a:xfrm>
            <a:off x="2999656" y="2924944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P1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4F60F5-546F-459E-B58F-3215A8987EE9}"/>
              </a:ext>
            </a:extLst>
          </p:cNvPr>
          <p:cNvSpPr txBox="1"/>
          <p:nvPr/>
        </p:nvSpPr>
        <p:spPr>
          <a:xfrm>
            <a:off x="5324219" y="4374099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39975F-003A-4930-BB57-D45F6E21B9EB}"/>
              </a:ext>
            </a:extLst>
          </p:cNvPr>
          <p:cNvSpPr txBox="1"/>
          <p:nvPr/>
        </p:nvSpPr>
        <p:spPr>
          <a:xfrm>
            <a:off x="7824192" y="2780928"/>
            <a:ext cx="37444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Чтобы вычислить расстояние между точками </a:t>
            </a:r>
            <a:r>
              <a:rPr lang="en-US" dirty="0"/>
              <a:t>P1 </a:t>
            </a:r>
            <a:r>
              <a:rPr lang="ru-RU" dirty="0"/>
              <a:t>и </a:t>
            </a:r>
            <a:r>
              <a:rPr lang="en-US" dirty="0"/>
              <a:t>P2</a:t>
            </a:r>
            <a:r>
              <a:rPr lang="ru-RU" dirty="0"/>
              <a:t>, нужно выразить их координаты в одной и той же системе координат</a:t>
            </a:r>
          </a:p>
        </p:txBody>
      </p:sp>
    </p:spTree>
    <p:extLst>
      <p:ext uri="{BB962C8B-B14F-4D97-AF65-F5344CB8AC3E}">
        <p14:creationId xmlns:p14="http://schemas.microsoft.com/office/powerpoint/2010/main" val="3419005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Векторы и точки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ED4AB1-ABF2-4D3D-8FD7-A7AC9A59F9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Вектор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Вектор – это направленный отрезок</a:t>
            </a:r>
          </a:p>
          <a:p>
            <a:pPr lvl="1" eaLnBrk="1" hangingPunct="1"/>
            <a:r>
              <a:rPr lang="ru-RU" dirty="0"/>
              <a:t>Объект, имеющий </a:t>
            </a:r>
            <a:r>
              <a:rPr lang="ru-RU" b="1" dirty="0"/>
              <a:t>длину</a:t>
            </a:r>
            <a:r>
              <a:rPr lang="ru-RU" dirty="0"/>
              <a:t> и </a:t>
            </a:r>
            <a:r>
              <a:rPr lang="ru-RU" b="1" dirty="0"/>
              <a:t>направление</a:t>
            </a:r>
          </a:p>
          <a:p>
            <a:pPr lvl="1" eaLnBrk="1" hangingPunct="1"/>
            <a:r>
              <a:rPr lang="ru-RU" dirty="0"/>
              <a:t>В физике, с помощью векторов представляются различные физические категории – скорость, сила, перемещение</a:t>
            </a:r>
          </a:p>
          <a:p>
            <a:pPr lvl="1" eaLnBrk="1" hangingPunct="1"/>
            <a:r>
              <a:rPr lang="ru-RU" dirty="0"/>
              <a:t>Вектор задает перемещение от одной точки к другой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Точки и векторы</a:t>
            </a:r>
          </a:p>
        </p:txBody>
      </p:sp>
      <p:sp>
        <p:nvSpPr>
          <p:cNvPr id="63491" name="Line 5"/>
          <p:cNvSpPr>
            <a:spLocks noChangeShapeType="1"/>
          </p:cNvSpPr>
          <p:nvPr/>
        </p:nvSpPr>
        <p:spPr bwMode="auto">
          <a:xfrm flipV="1">
            <a:off x="2927350" y="3789362"/>
            <a:ext cx="0" cy="260125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3492" name="Line 7"/>
          <p:cNvSpPr>
            <a:spLocks noChangeShapeType="1"/>
          </p:cNvSpPr>
          <p:nvPr/>
        </p:nvSpPr>
        <p:spPr bwMode="auto">
          <a:xfrm>
            <a:off x="2495551" y="5876925"/>
            <a:ext cx="23764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3493" name="Line 10"/>
          <p:cNvSpPr>
            <a:spLocks noChangeShapeType="1"/>
          </p:cNvSpPr>
          <p:nvPr/>
        </p:nvSpPr>
        <p:spPr bwMode="auto">
          <a:xfrm>
            <a:off x="3416300" y="4481514"/>
            <a:ext cx="1168400" cy="820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3494" name="Oval 8"/>
          <p:cNvSpPr>
            <a:spLocks noChangeArrowheads="1"/>
          </p:cNvSpPr>
          <p:nvPr/>
        </p:nvSpPr>
        <p:spPr bwMode="auto">
          <a:xfrm>
            <a:off x="3360739" y="4438650"/>
            <a:ext cx="71437" cy="71438"/>
          </a:xfrm>
          <a:prstGeom prst="ellipse">
            <a:avLst/>
          </a:prstGeom>
          <a:solidFill>
            <a:srgbClr val="FF00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3495" name="Oval 9"/>
          <p:cNvSpPr>
            <a:spLocks noChangeArrowheads="1"/>
          </p:cNvSpPr>
          <p:nvPr/>
        </p:nvSpPr>
        <p:spPr bwMode="auto">
          <a:xfrm>
            <a:off x="4584700" y="5302250"/>
            <a:ext cx="71438" cy="71438"/>
          </a:xfrm>
          <a:prstGeom prst="ellipse">
            <a:avLst/>
          </a:prstGeom>
          <a:solidFill>
            <a:srgbClr val="FF00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3496" name="Text Box 13"/>
          <p:cNvSpPr txBox="1">
            <a:spLocks noChangeArrowheads="1"/>
          </p:cNvSpPr>
          <p:nvPr/>
        </p:nvSpPr>
        <p:spPr bwMode="auto">
          <a:xfrm>
            <a:off x="3413126" y="4094163"/>
            <a:ext cx="3095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endParaRPr lang="ru-RU"/>
          </a:p>
        </p:txBody>
      </p:sp>
      <p:sp>
        <p:nvSpPr>
          <p:cNvPr id="63497" name="Text Box 14"/>
          <p:cNvSpPr txBox="1">
            <a:spLocks noChangeArrowheads="1"/>
          </p:cNvSpPr>
          <p:nvPr/>
        </p:nvSpPr>
        <p:spPr bwMode="auto">
          <a:xfrm>
            <a:off x="4656139" y="4941888"/>
            <a:ext cx="3460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Q</a:t>
            </a:r>
            <a:endParaRPr lang="ru-RU"/>
          </a:p>
        </p:txBody>
      </p:sp>
      <p:sp>
        <p:nvSpPr>
          <p:cNvPr id="63498" name="Text Box 15"/>
          <p:cNvSpPr txBox="1">
            <a:spLocks noChangeArrowheads="1"/>
          </p:cNvSpPr>
          <p:nvPr/>
        </p:nvSpPr>
        <p:spPr bwMode="auto">
          <a:xfrm>
            <a:off x="3937001" y="4581526"/>
            <a:ext cx="3460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v</a:t>
            </a:r>
            <a:endParaRPr lang="ru-RU" b="1"/>
          </a:p>
        </p:txBody>
      </p:sp>
      <p:sp>
        <p:nvSpPr>
          <p:cNvPr id="63499" name="Text Box 16"/>
          <p:cNvSpPr txBox="1">
            <a:spLocks noChangeArrowheads="1"/>
          </p:cNvSpPr>
          <p:nvPr/>
        </p:nvSpPr>
        <p:spPr bwMode="auto">
          <a:xfrm>
            <a:off x="4943476" y="5876926"/>
            <a:ext cx="2968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  <a:endParaRPr lang="ru-RU"/>
          </a:p>
        </p:txBody>
      </p:sp>
      <p:sp>
        <p:nvSpPr>
          <p:cNvPr id="63500" name="Text Box 17"/>
          <p:cNvSpPr txBox="1">
            <a:spLocks noChangeArrowheads="1"/>
          </p:cNvSpPr>
          <p:nvPr/>
        </p:nvSpPr>
        <p:spPr bwMode="auto">
          <a:xfrm>
            <a:off x="2495551" y="3716338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</a:t>
            </a:r>
            <a:endParaRPr lang="ru-RU"/>
          </a:p>
        </p:txBody>
      </p:sp>
      <p:sp>
        <p:nvSpPr>
          <p:cNvPr id="63501" name="Text Box 18"/>
          <p:cNvSpPr txBox="1">
            <a:spLocks noChangeArrowheads="1"/>
          </p:cNvSpPr>
          <p:nvPr/>
        </p:nvSpPr>
        <p:spPr bwMode="auto">
          <a:xfrm>
            <a:off x="5232401" y="2997200"/>
            <a:ext cx="471956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ru-RU" dirty="0"/>
              <a:t>Вектор – разность между двумя точками:</a:t>
            </a:r>
          </a:p>
          <a:p>
            <a:pPr lvl="1">
              <a:buFontTx/>
              <a:buChar char="•"/>
            </a:pPr>
            <a:r>
              <a:rPr lang="en-US" b="1" dirty="0"/>
              <a:t>v</a:t>
            </a:r>
            <a:r>
              <a:rPr lang="en-US" dirty="0"/>
              <a:t> = Q – P</a:t>
            </a:r>
            <a:endParaRPr lang="ru-RU" dirty="0"/>
          </a:p>
          <a:p>
            <a:pPr lvl="1">
              <a:buFontTx/>
              <a:buChar char="•"/>
            </a:pPr>
            <a:r>
              <a:rPr lang="ru-RU" i="1" dirty="0"/>
              <a:t>Разность точки и точки есть </a:t>
            </a:r>
            <a:r>
              <a:rPr lang="ru-RU" b="1" i="1" dirty="0"/>
              <a:t>вектор</a:t>
            </a:r>
          </a:p>
        </p:txBody>
      </p:sp>
      <p:sp>
        <p:nvSpPr>
          <p:cNvPr id="63502" name="Text Box 20"/>
          <p:cNvSpPr txBox="1">
            <a:spLocks noChangeArrowheads="1"/>
          </p:cNvSpPr>
          <p:nvPr/>
        </p:nvSpPr>
        <p:spPr bwMode="auto">
          <a:xfrm>
            <a:off x="5232400" y="4325939"/>
            <a:ext cx="4897438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ru-RU" dirty="0"/>
              <a:t>Точка </a:t>
            </a:r>
            <a:r>
              <a:rPr lang="en-US" dirty="0"/>
              <a:t>Q </a:t>
            </a:r>
            <a:r>
              <a:rPr lang="ru-RU" dirty="0"/>
              <a:t>получена путем перемещения точки </a:t>
            </a:r>
            <a:r>
              <a:rPr lang="en-US" dirty="0"/>
              <a:t>P </a:t>
            </a:r>
            <a:r>
              <a:rPr lang="ru-RU" dirty="0"/>
              <a:t>на вектор </a:t>
            </a:r>
            <a:r>
              <a:rPr lang="en-US" b="1" dirty="0"/>
              <a:t>v</a:t>
            </a:r>
          </a:p>
          <a:p>
            <a:pPr lvl="1">
              <a:buFontTx/>
              <a:buChar char="•"/>
            </a:pPr>
            <a:r>
              <a:rPr lang="en-US" dirty="0"/>
              <a:t>Q = P + </a:t>
            </a:r>
            <a:r>
              <a:rPr lang="en-US" b="1" dirty="0"/>
              <a:t>v</a:t>
            </a:r>
            <a:endParaRPr lang="en-US" dirty="0"/>
          </a:p>
          <a:p>
            <a:pPr lvl="1">
              <a:buFontTx/>
              <a:buChar char="•"/>
            </a:pPr>
            <a:r>
              <a:rPr lang="ru-RU" i="1" dirty="0"/>
              <a:t>Сумма точки и вектора есть </a:t>
            </a:r>
            <a:r>
              <a:rPr lang="ru-RU" b="1" i="1" dirty="0"/>
              <a:t>точка</a:t>
            </a:r>
          </a:p>
        </p:txBody>
      </p:sp>
      <p:sp>
        <p:nvSpPr>
          <p:cNvPr id="63503" name="Text Box 21"/>
          <p:cNvSpPr txBox="1">
            <a:spLocks noChangeArrowheads="1"/>
          </p:cNvSpPr>
          <p:nvPr/>
        </p:nvSpPr>
        <p:spPr bwMode="auto">
          <a:xfrm>
            <a:off x="874056" y="1714500"/>
            <a:ext cx="4465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dirty="0"/>
              <a:t>Точка имеет положение в пространстве</a:t>
            </a:r>
          </a:p>
          <a:p>
            <a:r>
              <a:rPr lang="ru-RU" dirty="0"/>
              <a:t>Вектор имеет размер и направление</a:t>
            </a:r>
          </a:p>
        </p:txBody>
      </p:sp>
      <p:sp>
        <p:nvSpPr>
          <p:cNvPr id="16" name="Text Box 20">
            <a:extLst>
              <a:ext uri="{FF2B5EF4-FFF2-40B4-BE49-F238E27FC236}">
                <a16:creationId xmlns:a16="http://schemas.microsoft.com/office/drawing/2014/main" id="{2CEE6065-B49E-457A-9938-AEBD143FE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080" y="6021288"/>
            <a:ext cx="3889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ru-RU" dirty="0"/>
              <a:t>Точки с точками складывать нельзя</a:t>
            </a:r>
            <a:endParaRPr lang="ru-RU" b="1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01" grpId="0"/>
      <p:bldP spid="63502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Запись векторов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34585" y="2017714"/>
            <a:ext cx="8944503" cy="1266825"/>
          </a:xfrm>
        </p:spPr>
        <p:txBody>
          <a:bodyPr/>
          <a:lstStyle/>
          <a:p>
            <a:pPr eaLnBrk="1" hangingPunct="1"/>
            <a:r>
              <a:rPr lang="en-US" sz="2800" dirty="0"/>
              <a:t>n-</a:t>
            </a:r>
            <a:r>
              <a:rPr lang="ru-RU" sz="2800" dirty="0"/>
              <a:t>мерный вектор задается посредством его </a:t>
            </a:r>
            <a:r>
              <a:rPr lang="en-US" sz="2800" dirty="0"/>
              <a:t>n-</a:t>
            </a:r>
            <a:r>
              <a:rPr lang="ru-RU" sz="2800" dirty="0"/>
              <a:t>кортежа – списка его компонентов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6" name="Object 4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1946748" y="4295775"/>
                <a:ext cx="3742060" cy="54451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026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1946748" y="4295775"/>
                <a:ext cx="3742060" cy="5445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7" name="Object 6"/>
              <p:cNvSpPr txBox="1"/>
              <p:nvPr/>
            </p:nvSpPr>
            <p:spPr bwMode="auto">
              <a:xfrm>
                <a:off x="6772274" y="3590926"/>
                <a:ext cx="2276054" cy="207032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...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02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72274" y="3590926"/>
                <a:ext cx="2276054" cy="20703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0" name="Text Box 7"/>
          <p:cNvSpPr txBox="1">
            <a:spLocks noChangeArrowheads="1"/>
          </p:cNvSpPr>
          <p:nvPr/>
        </p:nvSpPr>
        <p:spPr bwMode="auto">
          <a:xfrm>
            <a:off x="5859463" y="4384676"/>
            <a:ext cx="571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или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Операции с векторами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515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ru-RU" dirty="0"/>
                  <a:t>Над векторами можно проделывать две основные операции</a:t>
                </a:r>
              </a:p>
              <a:p>
                <a:pPr lvl="1" eaLnBrk="1" hangingPunct="1"/>
                <a:r>
                  <a:rPr lang="ru-RU" dirty="0"/>
                  <a:t>Сложение векторов</a:t>
                </a:r>
                <a:r>
                  <a:rPr lang="en-US" dirty="0"/>
                  <a:t> </a:t>
                </a:r>
                <a:br>
                  <a:rPr lang="en-US" dirty="0"/>
                </a:b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acc>
                      <m:accPr>
                        <m:chr m:val="⃗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 + </m:t>
                    </m:r>
                    <m:acc>
                      <m:accPr>
                        <m:chr m:val="⃗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ru-RU" b="1" dirty="0"/>
              </a:p>
              <a:p>
                <a:pPr lvl="1" eaLnBrk="1" hangingPunct="1"/>
                <a:r>
                  <a:rPr lang="ru-RU" dirty="0"/>
                  <a:t>Умножение на скаляр</a:t>
                </a:r>
                <a:br>
                  <a:rPr lang="en-US" dirty="0"/>
                </a:b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𝑠</m:t>
                    </m:r>
                    <m:acc>
                      <m:accPr>
                        <m:chr m:val="⃗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 eaLnBrk="1" hangingPunct="1"/>
                <a:endParaRPr lang="ru-RU" dirty="0"/>
              </a:p>
            </p:txBody>
          </p:sp>
        </mc:Choice>
        <mc:Fallback xmlns="">
          <p:sp>
            <p:nvSpPr>
              <p:cNvPr id="6451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89" t="-11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Сложение векторов</a:t>
            </a:r>
          </a:p>
        </p:txBody>
      </p:sp>
      <p:sp>
        <p:nvSpPr>
          <p:cNvPr id="65539" name="Line 8"/>
          <p:cNvSpPr>
            <a:spLocks noChangeShapeType="1"/>
          </p:cNvSpPr>
          <p:nvPr/>
        </p:nvSpPr>
        <p:spPr bwMode="auto">
          <a:xfrm flipV="1">
            <a:off x="1776414" y="2924175"/>
            <a:ext cx="1584325" cy="1728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5540" name="Line 9"/>
          <p:cNvSpPr>
            <a:spLocks noChangeShapeType="1"/>
          </p:cNvSpPr>
          <p:nvPr/>
        </p:nvSpPr>
        <p:spPr bwMode="auto">
          <a:xfrm>
            <a:off x="1776414" y="4652963"/>
            <a:ext cx="2232025" cy="576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5541" name="Line 10"/>
          <p:cNvSpPr>
            <a:spLocks noChangeShapeType="1"/>
          </p:cNvSpPr>
          <p:nvPr/>
        </p:nvSpPr>
        <p:spPr bwMode="auto">
          <a:xfrm flipV="1">
            <a:off x="4008439" y="3500439"/>
            <a:ext cx="1584325" cy="17287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5542" name="Line 11"/>
          <p:cNvSpPr>
            <a:spLocks noChangeShapeType="1"/>
          </p:cNvSpPr>
          <p:nvPr/>
        </p:nvSpPr>
        <p:spPr bwMode="auto">
          <a:xfrm>
            <a:off x="3360739" y="2924176"/>
            <a:ext cx="2232025" cy="57626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5543" name="Line 12"/>
          <p:cNvSpPr>
            <a:spLocks noChangeShapeType="1"/>
          </p:cNvSpPr>
          <p:nvPr/>
        </p:nvSpPr>
        <p:spPr bwMode="auto">
          <a:xfrm flipV="1">
            <a:off x="1776413" y="3500439"/>
            <a:ext cx="3816350" cy="115252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65544" name="Text Box 13"/>
          <p:cNvSpPr txBox="1">
            <a:spLocks noChangeArrowheads="1"/>
          </p:cNvSpPr>
          <p:nvPr/>
        </p:nvSpPr>
        <p:spPr bwMode="auto">
          <a:xfrm>
            <a:off x="2187576" y="3152775"/>
            <a:ext cx="3667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/>
              <a:t>a</a:t>
            </a:r>
            <a:endParaRPr lang="ru-RU" sz="2400" b="1"/>
          </a:p>
        </p:txBody>
      </p:sp>
      <p:sp>
        <p:nvSpPr>
          <p:cNvPr id="65545" name="Text Box 14"/>
          <p:cNvSpPr txBox="1">
            <a:spLocks noChangeArrowheads="1"/>
          </p:cNvSpPr>
          <p:nvPr/>
        </p:nvSpPr>
        <p:spPr bwMode="auto">
          <a:xfrm>
            <a:off x="2711450" y="4940300"/>
            <a:ext cx="3762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/>
              <a:t>b</a:t>
            </a:r>
            <a:endParaRPr lang="ru-RU" sz="2400" b="1"/>
          </a:p>
        </p:txBody>
      </p:sp>
      <p:sp>
        <p:nvSpPr>
          <p:cNvPr id="65546" name="Text Box 15"/>
          <p:cNvSpPr txBox="1">
            <a:spLocks noChangeArrowheads="1"/>
          </p:cNvSpPr>
          <p:nvPr/>
        </p:nvSpPr>
        <p:spPr bwMode="auto">
          <a:xfrm>
            <a:off x="2855913" y="3644900"/>
            <a:ext cx="781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chemeClr val="hlink"/>
                </a:solidFill>
              </a:rPr>
              <a:t>a</a:t>
            </a:r>
            <a:r>
              <a:rPr lang="en-US" sz="2400">
                <a:solidFill>
                  <a:schemeClr val="hlink"/>
                </a:solidFill>
              </a:rPr>
              <a:t>+</a:t>
            </a:r>
            <a:r>
              <a:rPr lang="en-US" sz="2400" b="1">
                <a:solidFill>
                  <a:schemeClr val="hlink"/>
                </a:solidFill>
              </a:rPr>
              <a:t>b</a:t>
            </a:r>
            <a:endParaRPr lang="ru-RU" sz="2400" b="1">
              <a:solidFill>
                <a:schemeClr val="hlink"/>
              </a:solidFill>
            </a:endParaRPr>
          </a:p>
        </p:txBody>
      </p:sp>
      <p:sp>
        <p:nvSpPr>
          <p:cNvPr id="65547" name="Line 17"/>
          <p:cNvSpPr>
            <a:spLocks noChangeShapeType="1"/>
          </p:cNvSpPr>
          <p:nvPr/>
        </p:nvSpPr>
        <p:spPr bwMode="auto">
          <a:xfrm>
            <a:off x="6311901" y="4725988"/>
            <a:ext cx="2232025" cy="576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5548" name="Line 20"/>
          <p:cNvSpPr>
            <a:spLocks noChangeShapeType="1"/>
          </p:cNvSpPr>
          <p:nvPr/>
        </p:nvSpPr>
        <p:spPr bwMode="auto">
          <a:xfrm flipV="1">
            <a:off x="6311900" y="3573464"/>
            <a:ext cx="3816350" cy="115252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65549" name="Text Box 21"/>
          <p:cNvSpPr txBox="1">
            <a:spLocks noChangeArrowheads="1"/>
          </p:cNvSpPr>
          <p:nvPr/>
        </p:nvSpPr>
        <p:spPr bwMode="auto">
          <a:xfrm>
            <a:off x="7104063" y="5013325"/>
            <a:ext cx="3667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/>
              <a:t>a</a:t>
            </a:r>
            <a:endParaRPr lang="ru-RU" sz="2400" b="1"/>
          </a:p>
        </p:txBody>
      </p:sp>
      <p:sp>
        <p:nvSpPr>
          <p:cNvPr id="65550" name="Text Box 22"/>
          <p:cNvSpPr txBox="1">
            <a:spLocks noChangeArrowheads="1"/>
          </p:cNvSpPr>
          <p:nvPr/>
        </p:nvSpPr>
        <p:spPr bwMode="auto">
          <a:xfrm>
            <a:off x="9480550" y="4508500"/>
            <a:ext cx="3762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/>
              <a:t>b</a:t>
            </a:r>
            <a:endParaRPr lang="ru-RU" sz="2400" b="1"/>
          </a:p>
        </p:txBody>
      </p:sp>
      <p:sp>
        <p:nvSpPr>
          <p:cNvPr id="65551" name="Text Box 23"/>
          <p:cNvSpPr txBox="1">
            <a:spLocks noChangeArrowheads="1"/>
          </p:cNvSpPr>
          <p:nvPr/>
        </p:nvSpPr>
        <p:spPr bwMode="auto">
          <a:xfrm>
            <a:off x="7391400" y="3717925"/>
            <a:ext cx="781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chemeClr val="hlink"/>
                </a:solidFill>
              </a:rPr>
              <a:t>a</a:t>
            </a:r>
            <a:r>
              <a:rPr lang="en-US" sz="2400">
                <a:solidFill>
                  <a:schemeClr val="hlink"/>
                </a:solidFill>
              </a:rPr>
              <a:t>+</a:t>
            </a:r>
            <a:r>
              <a:rPr lang="en-US" sz="2400" b="1">
                <a:solidFill>
                  <a:schemeClr val="hlink"/>
                </a:solidFill>
              </a:rPr>
              <a:t>b</a:t>
            </a:r>
            <a:endParaRPr lang="ru-RU" sz="2400" b="1">
              <a:solidFill>
                <a:schemeClr val="hlink"/>
              </a:solidFill>
            </a:endParaRPr>
          </a:p>
        </p:txBody>
      </p:sp>
      <p:sp>
        <p:nvSpPr>
          <p:cNvPr id="65552" name="Line 16"/>
          <p:cNvSpPr>
            <a:spLocks noChangeShapeType="1"/>
          </p:cNvSpPr>
          <p:nvPr/>
        </p:nvSpPr>
        <p:spPr bwMode="auto">
          <a:xfrm flipV="1">
            <a:off x="8543926" y="3573464"/>
            <a:ext cx="1584325" cy="17287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355A-629C-FA5B-7C14-14F7FD087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DEFF41B-99EB-BB66-52F8-469EE81B82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Вычитание векторов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52E7BBA-E82C-EC94-3EA2-4A6DF9F8B85B}"/>
              </a:ext>
            </a:extLst>
          </p:cNvPr>
          <p:cNvGrpSpPr/>
          <p:nvPr/>
        </p:nvGrpSpPr>
        <p:grpSpPr>
          <a:xfrm>
            <a:off x="4151784" y="2204864"/>
            <a:ext cx="3548629" cy="3407066"/>
            <a:chOff x="3483475" y="2921173"/>
            <a:chExt cx="2584049" cy="2480965"/>
          </a:xfrm>
        </p:grpSpPr>
        <p:sp>
          <p:nvSpPr>
            <p:cNvPr id="65547" name="Line 17">
              <a:extLst>
                <a:ext uri="{FF2B5EF4-FFF2-40B4-BE49-F238E27FC236}">
                  <a16:creationId xmlns:a16="http://schemas.microsoft.com/office/drawing/2014/main" id="{AE08782A-3C23-E523-2340-5660C2B12B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999" y="4653136"/>
              <a:ext cx="2232025" cy="5762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5548" name="Line 20">
              <a:extLst>
                <a:ext uri="{FF2B5EF4-FFF2-40B4-BE49-F238E27FC236}">
                  <a16:creationId xmlns:a16="http://schemas.microsoft.com/office/drawing/2014/main" id="{5D89E43B-F135-250E-C225-EE45E620BC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67800" y="2921173"/>
              <a:ext cx="666748" cy="230822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5549" name="Text Box 21">
              <a:extLst>
                <a:ext uri="{FF2B5EF4-FFF2-40B4-BE49-F238E27FC236}">
                  <a16:creationId xmlns:a16="http://schemas.microsoft.com/office/drawing/2014/main" id="{6B4719E8-D3EE-3747-DDB2-AC515021B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5161" y="4940473"/>
              <a:ext cx="34977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1" dirty="0"/>
                <a:t>b</a:t>
              </a:r>
              <a:endParaRPr lang="ru-RU" sz="2400" b="1" dirty="0"/>
            </a:p>
          </p:txBody>
        </p:sp>
        <p:sp>
          <p:nvSpPr>
            <p:cNvPr id="65550" name="Text Box 22">
              <a:extLst>
                <a:ext uri="{FF2B5EF4-FFF2-40B4-BE49-F238E27FC236}">
                  <a16:creationId xmlns:a16="http://schemas.microsoft.com/office/drawing/2014/main" id="{CFE8B737-6B3E-EA6E-8253-EBC3A03225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6362" y="3670919"/>
              <a:ext cx="33695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1" dirty="0"/>
                <a:t>a</a:t>
              </a:r>
              <a:endParaRPr lang="ru-RU" sz="2400" b="1" dirty="0"/>
            </a:p>
          </p:txBody>
        </p:sp>
        <p:sp>
          <p:nvSpPr>
            <p:cNvPr id="65551" name="Text Box 23">
              <a:extLst>
                <a:ext uri="{FF2B5EF4-FFF2-40B4-BE49-F238E27FC236}">
                  <a16:creationId xmlns:a16="http://schemas.microsoft.com/office/drawing/2014/main" id="{D5BCAC0B-FB2A-D2FC-3C4D-6A8D06E68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0886" y="3906662"/>
              <a:ext cx="59663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hlink"/>
                  </a:solidFill>
                </a:rPr>
                <a:t>a</a:t>
              </a:r>
              <a:r>
                <a:rPr lang="en-US" sz="2400" dirty="0">
                  <a:solidFill>
                    <a:schemeClr val="hlink"/>
                  </a:solidFill>
                </a:rPr>
                <a:t>-</a:t>
              </a:r>
              <a:r>
                <a:rPr lang="en-US" sz="2400" b="1" dirty="0">
                  <a:solidFill>
                    <a:schemeClr val="hlink"/>
                  </a:solidFill>
                </a:rPr>
                <a:t>b</a:t>
              </a:r>
              <a:endParaRPr lang="ru-RU" sz="2400" b="1" dirty="0">
                <a:solidFill>
                  <a:schemeClr val="hlink"/>
                </a:solidFill>
              </a:endParaRPr>
            </a:p>
          </p:txBody>
        </p:sp>
        <p:sp>
          <p:nvSpPr>
            <p:cNvPr id="65552" name="Line 16">
              <a:extLst>
                <a:ext uri="{FF2B5EF4-FFF2-40B4-BE49-F238E27FC236}">
                  <a16:creationId xmlns:a16="http://schemas.microsoft.com/office/drawing/2014/main" id="{49E3136C-6F2C-283B-8327-BF7BC160C1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3475" y="2921173"/>
              <a:ext cx="1584325" cy="17287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77745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Масштабирование векторов</a:t>
            </a:r>
          </a:p>
        </p:txBody>
      </p:sp>
      <p:sp>
        <p:nvSpPr>
          <p:cNvPr id="66563" name="Line 4"/>
          <p:cNvSpPr>
            <a:spLocks noChangeShapeType="1"/>
          </p:cNvSpPr>
          <p:nvPr/>
        </p:nvSpPr>
        <p:spPr bwMode="auto">
          <a:xfrm flipV="1">
            <a:off x="3000376" y="2349500"/>
            <a:ext cx="2303463" cy="1728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66564" name="Line 5"/>
          <p:cNvSpPr>
            <a:spLocks noChangeShapeType="1"/>
          </p:cNvSpPr>
          <p:nvPr/>
        </p:nvSpPr>
        <p:spPr bwMode="auto">
          <a:xfrm rot="10800000" flipV="1">
            <a:off x="5664201" y="4508500"/>
            <a:ext cx="2303463" cy="1728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66565" name="Line 6"/>
          <p:cNvSpPr>
            <a:spLocks noChangeAspect="1" noChangeShapeType="1"/>
          </p:cNvSpPr>
          <p:nvPr/>
        </p:nvSpPr>
        <p:spPr bwMode="auto">
          <a:xfrm flipV="1">
            <a:off x="3792538" y="3068638"/>
            <a:ext cx="3459162" cy="25971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66566" name="Text Box 7"/>
          <p:cNvSpPr txBox="1">
            <a:spLocks noChangeArrowheads="1"/>
          </p:cNvSpPr>
          <p:nvPr/>
        </p:nvSpPr>
        <p:spPr bwMode="auto">
          <a:xfrm>
            <a:off x="3484563" y="2794000"/>
            <a:ext cx="3667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/>
              <a:t>a</a:t>
            </a:r>
            <a:endParaRPr lang="ru-RU" sz="2400" b="1"/>
          </a:p>
        </p:txBody>
      </p:sp>
      <p:sp>
        <p:nvSpPr>
          <p:cNvPr id="66567" name="Text Box 8"/>
          <p:cNvSpPr txBox="1">
            <a:spLocks noChangeArrowheads="1"/>
          </p:cNvSpPr>
          <p:nvPr/>
        </p:nvSpPr>
        <p:spPr bwMode="auto">
          <a:xfrm>
            <a:off x="7032625" y="5445125"/>
            <a:ext cx="477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-</a:t>
            </a:r>
            <a:r>
              <a:rPr lang="en-US" sz="2400" b="1"/>
              <a:t>a</a:t>
            </a:r>
            <a:endParaRPr lang="ru-RU" sz="2400" b="1"/>
          </a:p>
        </p:txBody>
      </p:sp>
      <p:sp>
        <p:nvSpPr>
          <p:cNvPr id="66568" name="Text Box 9"/>
          <p:cNvSpPr txBox="1">
            <a:spLocks noChangeArrowheads="1"/>
          </p:cNvSpPr>
          <p:nvPr/>
        </p:nvSpPr>
        <p:spPr bwMode="auto">
          <a:xfrm>
            <a:off x="4729163" y="3860800"/>
            <a:ext cx="7921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1,5</a:t>
            </a:r>
            <a:r>
              <a:rPr lang="en-US" sz="2400" b="1"/>
              <a:t>a</a:t>
            </a:r>
            <a:endParaRPr lang="ru-RU" sz="2400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Линейная комбинация векторов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b="1" dirty="0"/>
              <a:t>Линейной комбинацией</a:t>
            </a:r>
            <a:r>
              <a:rPr lang="ru-RU" dirty="0"/>
              <a:t> </a:t>
            </a:r>
            <a:r>
              <a:rPr lang="en-US" i="1" dirty="0"/>
              <a:t>m</a:t>
            </a:r>
            <a:r>
              <a:rPr lang="en-US" dirty="0"/>
              <a:t> </a:t>
            </a:r>
            <a:r>
              <a:rPr lang="ru-RU" dirty="0"/>
              <a:t>векторов </a:t>
            </a:r>
            <a:r>
              <a:rPr lang="en-US" b="1" dirty="0"/>
              <a:t>v</a:t>
            </a:r>
            <a:r>
              <a:rPr lang="en-US" i="1" baseline="-25000" dirty="0"/>
              <a:t>1</a:t>
            </a:r>
            <a:r>
              <a:rPr lang="en-US" dirty="0"/>
              <a:t>, </a:t>
            </a:r>
            <a:r>
              <a:rPr lang="en-US" b="1" dirty="0"/>
              <a:t>v</a:t>
            </a:r>
            <a:r>
              <a:rPr lang="en-US" i="1" baseline="-25000" dirty="0"/>
              <a:t>2</a:t>
            </a:r>
            <a:r>
              <a:rPr lang="en-US" dirty="0"/>
              <a:t>, … </a:t>
            </a:r>
            <a:r>
              <a:rPr lang="en-US" b="1" dirty="0" err="1"/>
              <a:t>v</a:t>
            </a:r>
            <a:r>
              <a:rPr lang="en-US" i="1" baseline="-25000" dirty="0" err="1"/>
              <a:t>m</a:t>
            </a:r>
            <a:r>
              <a:rPr lang="en-US" dirty="0"/>
              <a:t> </a:t>
            </a:r>
            <a:r>
              <a:rPr lang="ru-RU" dirty="0"/>
              <a:t>называется вектор вида</a:t>
            </a:r>
            <a:br>
              <a:rPr lang="ru-RU" dirty="0"/>
            </a:br>
            <a:r>
              <a:rPr lang="en-US" b="1" dirty="0">
                <a:solidFill>
                  <a:schemeClr val="tx2"/>
                </a:solidFill>
              </a:rPr>
              <a:t>w</a:t>
            </a:r>
            <a:r>
              <a:rPr lang="en-US" dirty="0">
                <a:solidFill>
                  <a:schemeClr val="tx2"/>
                </a:solidFill>
              </a:rPr>
              <a:t>=</a:t>
            </a:r>
            <a:r>
              <a:rPr lang="en-US" i="1" dirty="0">
                <a:solidFill>
                  <a:schemeClr val="tx2"/>
                </a:solidFill>
              </a:rPr>
              <a:t>a</a:t>
            </a:r>
            <a:r>
              <a:rPr lang="en-US" i="1" baseline="-25000" dirty="0">
                <a:solidFill>
                  <a:schemeClr val="tx2"/>
                </a:solidFill>
              </a:rPr>
              <a:t>1</a:t>
            </a:r>
            <a:r>
              <a:rPr lang="en-US" b="1" dirty="0">
                <a:solidFill>
                  <a:schemeClr val="tx2"/>
                </a:solidFill>
              </a:rPr>
              <a:t>v</a:t>
            </a:r>
            <a:r>
              <a:rPr lang="en-US" i="1" baseline="-25000" dirty="0">
                <a:solidFill>
                  <a:schemeClr val="tx2"/>
                </a:solidFill>
              </a:rPr>
              <a:t>1</a:t>
            </a:r>
            <a:r>
              <a:rPr lang="en-US" dirty="0">
                <a:solidFill>
                  <a:schemeClr val="tx2"/>
                </a:solidFill>
              </a:rPr>
              <a:t> + </a:t>
            </a:r>
            <a:r>
              <a:rPr lang="en-US" i="1" dirty="0">
                <a:solidFill>
                  <a:schemeClr val="tx2"/>
                </a:solidFill>
              </a:rPr>
              <a:t>a</a:t>
            </a:r>
            <a:r>
              <a:rPr lang="en-US" i="1" baseline="-25000" dirty="0">
                <a:solidFill>
                  <a:schemeClr val="tx2"/>
                </a:solidFill>
              </a:rPr>
              <a:t>2</a:t>
            </a:r>
            <a:r>
              <a:rPr lang="en-US" b="1" dirty="0">
                <a:solidFill>
                  <a:schemeClr val="tx2"/>
                </a:solidFill>
              </a:rPr>
              <a:t>v</a:t>
            </a:r>
            <a:r>
              <a:rPr lang="en-US" i="1" baseline="-25000" dirty="0">
                <a:solidFill>
                  <a:schemeClr val="tx2"/>
                </a:solidFill>
              </a:rPr>
              <a:t>2</a:t>
            </a:r>
            <a:r>
              <a:rPr lang="en-US" dirty="0">
                <a:solidFill>
                  <a:schemeClr val="tx2"/>
                </a:solidFill>
              </a:rPr>
              <a:t> + … + </a:t>
            </a:r>
            <a:r>
              <a:rPr lang="en-US" i="1" dirty="0" err="1">
                <a:solidFill>
                  <a:schemeClr val="tx2"/>
                </a:solidFill>
              </a:rPr>
              <a:t>a</a:t>
            </a:r>
            <a:r>
              <a:rPr lang="en-US" i="1" baseline="-25000" dirty="0" err="1">
                <a:solidFill>
                  <a:schemeClr val="tx2"/>
                </a:solidFill>
              </a:rPr>
              <a:t>m</a:t>
            </a:r>
            <a:r>
              <a:rPr lang="en-US" b="1" dirty="0" err="1">
                <a:solidFill>
                  <a:schemeClr val="tx2"/>
                </a:solidFill>
              </a:rPr>
              <a:t>v</a:t>
            </a:r>
            <a:r>
              <a:rPr lang="en-US" i="1" baseline="-25000" dirty="0" err="1">
                <a:solidFill>
                  <a:schemeClr val="tx2"/>
                </a:solidFill>
              </a:rPr>
              <a:t>m</a:t>
            </a:r>
            <a:r>
              <a:rPr lang="ru-RU" i="1" baseline="-25000" dirty="0">
                <a:solidFill>
                  <a:schemeClr val="tx2"/>
                </a:solidFill>
              </a:rPr>
              <a:t> </a:t>
            </a:r>
            <a:endParaRPr lang="en-US" i="1" dirty="0">
              <a:solidFill>
                <a:schemeClr val="tx2"/>
              </a:solidFill>
            </a:endParaRPr>
          </a:p>
          <a:p>
            <a:pPr lvl="1" eaLnBrk="1" hangingPunct="1"/>
            <a:r>
              <a:rPr lang="en-US" i="1" dirty="0"/>
              <a:t>a</a:t>
            </a:r>
            <a:r>
              <a:rPr lang="en-US" i="1" baseline="-25000" dirty="0"/>
              <a:t>1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i="1" baseline="-25000" dirty="0"/>
              <a:t>2</a:t>
            </a:r>
            <a:r>
              <a:rPr lang="en-US" dirty="0"/>
              <a:t>,…,</a:t>
            </a:r>
            <a:r>
              <a:rPr lang="en-US" i="1" dirty="0"/>
              <a:t>a</a:t>
            </a:r>
            <a:r>
              <a:rPr lang="en-US" i="1" baseline="-25000" dirty="0"/>
              <a:t>m</a:t>
            </a:r>
            <a:r>
              <a:rPr lang="en-US" dirty="0"/>
              <a:t> – </a:t>
            </a:r>
            <a:r>
              <a:rPr lang="ru-RU" dirty="0"/>
              <a:t>скаляры</a:t>
            </a:r>
          </a:p>
          <a:p>
            <a:r>
              <a:rPr lang="ru-RU" dirty="0"/>
              <a:t>Вектор </a:t>
            </a:r>
            <a:r>
              <a:rPr lang="en-US" b="1" dirty="0"/>
              <a:t>w</a:t>
            </a:r>
            <a:r>
              <a:rPr lang="ru-RU" dirty="0"/>
              <a:t> выражен через векторы </a:t>
            </a:r>
            <a:r>
              <a:rPr lang="en-US" b="1" dirty="0"/>
              <a:t>v</a:t>
            </a:r>
            <a:r>
              <a:rPr lang="en-US" i="1" baseline="-25000" dirty="0"/>
              <a:t>1</a:t>
            </a:r>
            <a:r>
              <a:rPr lang="en-US" dirty="0"/>
              <a:t>, </a:t>
            </a:r>
            <a:r>
              <a:rPr lang="en-US" b="1" dirty="0"/>
              <a:t>v</a:t>
            </a:r>
            <a:r>
              <a:rPr lang="en-US" i="1" baseline="-25000" dirty="0"/>
              <a:t>2</a:t>
            </a:r>
            <a:r>
              <a:rPr lang="en-US" dirty="0"/>
              <a:t>, … </a:t>
            </a:r>
            <a:r>
              <a:rPr lang="en-US" b="1" dirty="0" err="1"/>
              <a:t>v</a:t>
            </a:r>
            <a:r>
              <a:rPr lang="en-US" i="1" baseline="-25000" dirty="0" err="1"/>
              <a:t>m</a:t>
            </a:r>
            <a:endParaRPr lang="en-US" i="1" baseline="-25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B78E3E-68A1-BE19-DA35-B9386FC2CAA5}"/>
              </a:ext>
            </a:extLst>
          </p:cNvPr>
          <p:cNvCxnSpPr/>
          <p:nvPr/>
        </p:nvCxnSpPr>
        <p:spPr>
          <a:xfrm>
            <a:off x="1760023" y="5877092"/>
            <a:ext cx="5400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1BFF9A-063E-5CF8-0C87-053AAB403238}"/>
              </a:ext>
            </a:extLst>
          </p:cNvPr>
          <p:cNvCxnSpPr>
            <a:cxnSpLocks/>
          </p:cNvCxnSpPr>
          <p:nvPr/>
        </p:nvCxnSpPr>
        <p:spPr>
          <a:xfrm flipV="1">
            <a:off x="1631756" y="5337092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C92823-7E78-7405-659A-32944E90FD4F}"/>
              </a:ext>
            </a:extLst>
          </p:cNvPr>
          <p:cNvCxnSpPr>
            <a:cxnSpLocks/>
          </p:cNvCxnSpPr>
          <p:nvPr/>
        </p:nvCxnSpPr>
        <p:spPr>
          <a:xfrm flipV="1">
            <a:off x="2581627" y="5397670"/>
            <a:ext cx="540001" cy="54000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F0FED0-D0AD-87AB-266C-7D2236D922B2}"/>
                  </a:ext>
                </a:extLst>
              </p:cNvPr>
              <p:cNvSpPr txBox="1"/>
              <p:nvPr/>
            </p:nvSpPr>
            <p:spPr>
              <a:xfrm>
                <a:off x="1837663" y="5805084"/>
                <a:ext cx="3847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F0FED0-D0AD-87AB-266C-7D2236D92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663" y="5805084"/>
                <a:ext cx="38472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E88AC8-F33C-5577-7B82-E116600200FC}"/>
                  </a:ext>
                </a:extLst>
              </p:cNvPr>
              <p:cNvSpPr txBox="1"/>
              <p:nvPr/>
            </p:nvSpPr>
            <p:spPr>
              <a:xfrm>
                <a:off x="1208221" y="5435752"/>
                <a:ext cx="3847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E88AC8-F33C-5577-7B82-E11660020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221" y="5435752"/>
                <a:ext cx="38472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525977-6A03-161D-05B9-2656A8D701CC}"/>
                  </a:ext>
                </a:extLst>
              </p:cNvPr>
              <p:cNvSpPr txBox="1"/>
              <p:nvPr/>
            </p:nvSpPr>
            <p:spPr>
              <a:xfrm>
                <a:off x="4237429" y="5997922"/>
                <a:ext cx="33258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525977-6A03-161D-05B9-2656A8D70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429" y="5997922"/>
                <a:ext cx="332587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47B9CE-DA87-EF75-EC49-1E2DD32AF046}"/>
                  </a:ext>
                </a:extLst>
              </p:cNvPr>
              <p:cNvSpPr txBox="1"/>
              <p:nvPr/>
            </p:nvSpPr>
            <p:spPr>
              <a:xfrm>
                <a:off x="2723322" y="5596921"/>
                <a:ext cx="3847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47B9CE-DA87-EF75-EC49-1E2DD32AF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3322" y="5596921"/>
                <a:ext cx="38472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9F61E49-4E47-B663-C3AA-2A62A2A8E8FB}"/>
              </a:ext>
            </a:extLst>
          </p:cNvPr>
          <p:cNvCxnSpPr/>
          <p:nvPr/>
        </p:nvCxnSpPr>
        <p:spPr>
          <a:xfrm>
            <a:off x="5168700" y="5781587"/>
            <a:ext cx="54000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BBAC09C-0F8F-179D-C17F-FE910D1A0991}"/>
              </a:ext>
            </a:extLst>
          </p:cNvPr>
          <p:cNvCxnSpPr>
            <a:cxnSpLocks/>
          </p:cNvCxnSpPr>
          <p:nvPr/>
        </p:nvCxnSpPr>
        <p:spPr>
          <a:xfrm flipV="1">
            <a:off x="5705311" y="5241587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4C0FF7B-D9E8-922A-4DB9-75882DDC7A91}"/>
              </a:ext>
            </a:extLst>
          </p:cNvPr>
          <p:cNvCxnSpPr>
            <a:cxnSpLocks/>
          </p:cNvCxnSpPr>
          <p:nvPr/>
        </p:nvCxnSpPr>
        <p:spPr>
          <a:xfrm flipV="1">
            <a:off x="5705311" y="4701587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116EB3-8145-F24E-FBE1-4C245A42F663}"/>
              </a:ext>
            </a:extLst>
          </p:cNvPr>
          <p:cNvCxnSpPr>
            <a:cxnSpLocks/>
          </p:cNvCxnSpPr>
          <p:nvPr/>
        </p:nvCxnSpPr>
        <p:spPr>
          <a:xfrm flipH="1">
            <a:off x="5168700" y="4707212"/>
            <a:ext cx="540001" cy="54000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FB6851D-4E82-0F2C-D89B-9E7505126C49}"/>
              </a:ext>
            </a:extLst>
          </p:cNvPr>
          <p:cNvCxnSpPr>
            <a:cxnSpLocks/>
          </p:cNvCxnSpPr>
          <p:nvPr/>
        </p:nvCxnSpPr>
        <p:spPr>
          <a:xfrm flipH="1">
            <a:off x="4628699" y="5252838"/>
            <a:ext cx="540001" cy="54000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366283C-4FB8-5768-CC33-365C5E5D0230}"/>
              </a:ext>
            </a:extLst>
          </p:cNvPr>
          <p:cNvCxnSpPr>
            <a:cxnSpLocks/>
          </p:cNvCxnSpPr>
          <p:nvPr/>
        </p:nvCxnSpPr>
        <p:spPr>
          <a:xfrm flipH="1">
            <a:off x="4088698" y="5798464"/>
            <a:ext cx="540001" cy="54000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03C3B1E-4415-D1AD-0430-F277A86491F7}"/>
              </a:ext>
            </a:extLst>
          </p:cNvPr>
          <p:cNvCxnSpPr>
            <a:cxnSpLocks/>
          </p:cNvCxnSpPr>
          <p:nvPr/>
        </p:nvCxnSpPr>
        <p:spPr>
          <a:xfrm flipH="1">
            <a:off x="4085309" y="5781587"/>
            <a:ext cx="1083391" cy="5568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A6410-8DF4-4D4D-8715-B4D40F68F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Упражнения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167A18-9244-457A-8B45-A864C30115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46747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dirty="0"/>
                  <a:t>Выразить вектор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3, 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через векторы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=(1, 0) </m:t>
                    </m:r>
                  </m:oMath>
                </a14:m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=(0, 1)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=3</m:t>
                    </m:r>
                    <m:d>
                      <m:d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+2</m:t>
                    </m:r>
                    <m:d>
                      <m:d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3,0</m:t>
                        </m:r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0,2</m:t>
                        </m:r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=(3,2)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Выразить вектор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=(0,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через векторы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=(1,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ru-RU" dirty="0"/>
                  <a:t>Такая линейная комбинация не существует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167A18-9244-457A-8B45-A864C30115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467470"/>
              </a:xfrm>
              <a:blipFill>
                <a:blip r:embed="rId3"/>
                <a:stretch>
                  <a:fillRect l="-1043" t="-5432" b="-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BE5F577C-21D7-BFEB-7A30-4744C2E3CAAA}"/>
              </a:ext>
            </a:extLst>
          </p:cNvPr>
          <p:cNvGrpSpPr/>
          <p:nvPr/>
        </p:nvGrpSpPr>
        <p:grpSpPr>
          <a:xfrm>
            <a:off x="8040216" y="5214664"/>
            <a:ext cx="1936094" cy="1278211"/>
            <a:chOff x="4231794" y="4918429"/>
            <a:chExt cx="1936094" cy="1278211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7DB0A62-26CC-EEB6-0DCE-530CF6B63F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1794" y="5656640"/>
              <a:ext cx="540000" cy="540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4F58FDE-D14D-F266-8DAE-34A7D5CF28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6142" y="5116640"/>
              <a:ext cx="540000" cy="540000"/>
            </a:xfrm>
            <a:prstGeom prst="straightConnector1">
              <a:avLst/>
            </a:prstGeom>
            <a:ln>
              <a:solidFill>
                <a:srgbClr val="0F6FC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D81C9B8-FA68-88B3-BA4C-5BE5B20CC97D}"/>
                    </a:ext>
                  </a:extLst>
                </p:cNvPr>
                <p:cNvSpPr txBox="1"/>
                <p:nvPr/>
              </p:nvSpPr>
              <p:spPr>
                <a:xfrm>
                  <a:off x="4964154" y="4918429"/>
                  <a:ext cx="3847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D81C9B8-FA68-88B3-BA4C-5BE5B20CC9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4154" y="4918429"/>
                  <a:ext cx="384720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3D6F371-670A-B3A9-252F-2AC88926AF60}"/>
                    </a:ext>
                  </a:extLst>
                </p:cNvPr>
                <p:cNvSpPr txBox="1"/>
                <p:nvPr/>
              </p:nvSpPr>
              <p:spPr>
                <a:xfrm>
                  <a:off x="4579434" y="5827308"/>
                  <a:ext cx="3847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3D6F371-670A-B3A9-252F-2AC88926AF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9434" y="5827308"/>
                  <a:ext cx="384720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55E18CF-31A7-1C27-F4BF-E124741A981C}"/>
                </a:ext>
              </a:extLst>
            </p:cNvPr>
            <p:cNvCxnSpPr/>
            <p:nvPr/>
          </p:nvCxnSpPr>
          <p:spPr>
            <a:xfrm flipV="1">
              <a:off x="5087888" y="5733256"/>
              <a:ext cx="1080000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04B92D0-8845-9174-72FE-A629B5F82696}"/>
                    </a:ext>
                  </a:extLst>
                </p:cNvPr>
                <p:cNvSpPr txBox="1"/>
                <p:nvPr/>
              </p:nvSpPr>
              <p:spPr>
                <a:xfrm>
                  <a:off x="5435528" y="5790279"/>
                  <a:ext cx="3847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04B92D0-8845-9174-72FE-A629B5F826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5528" y="5790279"/>
                  <a:ext cx="38472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B648264-506A-7B46-5C46-31E503EE1324}"/>
              </a:ext>
            </a:extLst>
          </p:cNvPr>
          <p:cNvGrpSpPr/>
          <p:nvPr/>
        </p:nvGrpSpPr>
        <p:grpSpPr>
          <a:xfrm>
            <a:off x="754176" y="5214664"/>
            <a:ext cx="2135550" cy="1449332"/>
            <a:chOff x="384230" y="5456200"/>
            <a:chExt cx="2135550" cy="144933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7041AEA-74C2-55FF-AB24-1E5602E0E7FF}"/>
                </a:ext>
              </a:extLst>
            </p:cNvPr>
            <p:cNvGrpSpPr/>
            <p:nvPr/>
          </p:nvGrpSpPr>
          <p:grpSpPr>
            <a:xfrm>
              <a:off x="384230" y="5456200"/>
              <a:ext cx="2135550" cy="1449332"/>
              <a:chOff x="384230" y="5456200"/>
              <a:chExt cx="2135550" cy="1449332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20CF7C4A-1C90-CC98-5666-18B72E8AEF04}"/>
                  </a:ext>
                </a:extLst>
              </p:cNvPr>
              <p:cNvGrpSpPr/>
              <p:nvPr/>
            </p:nvGrpSpPr>
            <p:grpSpPr>
              <a:xfrm>
                <a:off x="807765" y="6068208"/>
                <a:ext cx="540000" cy="540000"/>
                <a:chOff x="1366144" y="5193256"/>
                <a:chExt cx="540000" cy="540000"/>
              </a:xfrm>
            </p:grpSpPr>
            <p:cxnSp>
              <p:nvCxnSpPr>
                <p:cNvPr id="5" name="Straight Arrow Connector 4">
                  <a:extLst>
                    <a:ext uri="{FF2B5EF4-FFF2-40B4-BE49-F238E27FC236}">
                      <a16:creationId xmlns:a16="http://schemas.microsoft.com/office/drawing/2014/main" id="{D974457D-6919-A29B-3010-3822E61C099F}"/>
                    </a:ext>
                  </a:extLst>
                </p:cNvPr>
                <p:cNvCxnSpPr/>
                <p:nvPr/>
              </p:nvCxnSpPr>
              <p:spPr>
                <a:xfrm>
                  <a:off x="1366144" y="5733256"/>
                  <a:ext cx="54000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07FD1217-AFD4-BCCE-043B-0BBC19CAA8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66144" y="5193256"/>
                  <a:ext cx="0" cy="5400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3F1EC867-A974-F6A1-4870-C614964AFE7E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672" y="6536200"/>
                    <a:ext cx="38472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3F1EC867-A974-F6A1-4870-C614964AFE7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3672" y="6536200"/>
                    <a:ext cx="384720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18A2BE18-D28E-C0F2-A3C5-1A0919008770}"/>
                      </a:ext>
                    </a:extLst>
                  </p:cNvPr>
                  <p:cNvSpPr txBox="1"/>
                  <p:nvPr/>
                </p:nvSpPr>
                <p:spPr>
                  <a:xfrm>
                    <a:off x="384230" y="6166868"/>
                    <a:ext cx="38472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18A2BE18-D28E-C0F2-A3C5-1A09190087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4230" y="6166868"/>
                    <a:ext cx="384720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B318028-89C3-9674-1676-6F19662A646A}"/>
                  </a:ext>
                </a:extLst>
              </p:cNvPr>
              <p:cNvCxnSpPr/>
              <p:nvPr/>
            </p:nvCxnSpPr>
            <p:spPr>
              <a:xfrm flipV="1">
                <a:off x="899780" y="5456200"/>
                <a:ext cx="1620000" cy="1080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673FA97-9116-4623-73DA-76B518235403}"/>
                    </a:ext>
                  </a:extLst>
                </p:cNvPr>
                <p:cNvSpPr txBox="1"/>
                <p:nvPr/>
              </p:nvSpPr>
              <p:spPr>
                <a:xfrm>
                  <a:off x="1517420" y="5548590"/>
                  <a:ext cx="3847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673FA97-9116-4623-73DA-76B5182354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7420" y="5548590"/>
                  <a:ext cx="38472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7132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Аффинная комбинация векторов</a:t>
            </a:r>
            <a:r>
              <a:rPr lang="en-US"/>
              <a:t> (affine combination)</a:t>
            </a:r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0" name="Object 4"/>
              <p:cNvSpPr txBox="1"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Линейная комбинация векторов называется </a:t>
                </a:r>
                <a:r>
                  <a:rPr lang="ru-RU" b="1" dirty="0"/>
                  <a:t>аффинной комбинацией</a:t>
                </a:r>
                <a:r>
                  <a:rPr lang="ru-RU" dirty="0"/>
                  <a:t>, если сумма коэффициентов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dirty="0"/>
                  <a:t> равна 1</a:t>
                </a:r>
              </a:p>
              <a:p>
                <a:r>
                  <a:rPr lang="ru-RU" dirty="0"/>
                  <a:t>Аффинные комбинации векторов появляются в различных контекстах, как и аффинные преобразования точек</a:t>
                </a:r>
                <a:endParaRPr lang="ru-RU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ru-RU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2050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араллелограмм 16">
            <a:extLst>
              <a:ext uri="{FF2B5EF4-FFF2-40B4-BE49-F238E27FC236}">
                <a16:creationId xmlns:a16="http://schemas.microsoft.com/office/drawing/2014/main" id="{0167D8AD-C80B-48F1-80F7-38FEB3059B88}"/>
              </a:ext>
            </a:extLst>
          </p:cNvPr>
          <p:cNvSpPr/>
          <p:nvPr/>
        </p:nvSpPr>
        <p:spPr>
          <a:xfrm>
            <a:off x="767408" y="4289276"/>
            <a:ext cx="8352928" cy="1584176"/>
          </a:xfrm>
          <a:prstGeom prst="parallelogram">
            <a:avLst>
              <a:gd name="adj" fmla="val 70696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9362828-31FB-40B9-9375-56FB35819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Аффинная комбинация трёх векторов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B564692A-7DB4-483B-B18F-813463756B4C}"/>
              </a:ext>
            </a:extLst>
          </p:cNvPr>
          <p:cNvCxnSpPr/>
          <p:nvPr/>
        </p:nvCxnSpPr>
        <p:spPr>
          <a:xfrm flipH="1">
            <a:off x="2495600" y="2636912"/>
            <a:ext cx="2160240" cy="2376264"/>
          </a:xfrm>
          <a:prstGeom prst="straightConnector1">
            <a:avLst/>
          </a:prstGeom>
          <a:ln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B883054D-BF6E-4102-A79B-D78E7C6240D7}"/>
              </a:ext>
            </a:extLst>
          </p:cNvPr>
          <p:cNvCxnSpPr>
            <a:cxnSpLocks/>
          </p:cNvCxnSpPr>
          <p:nvPr/>
        </p:nvCxnSpPr>
        <p:spPr>
          <a:xfrm flipH="1">
            <a:off x="4151784" y="2636912"/>
            <a:ext cx="504056" cy="2952328"/>
          </a:xfrm>
          <a:prstGeom prst="straightConnector1">
            <a:avLst/>
          </a:prstGeom>
          <a:ln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B4052AFF-011E-4793-B19E-EEBD50E804B3}"/>
              </a:ext>
            </a:extLst>
          </p:cNvPr>
          <p:cNvCxnSpPr>
            <a:cxnSpLocks/>
          </p:cNvCxnSpPr>
          <p:nvPr/>
        </p:nvCxnSpPr>
        <p:spPr>
          <a:xfrm>
            <a:off x="4655840" y="2674908"/>
            <a:ext cx="1152128" cy="1906220"/>
          </a:xfrm>
          <a:prstGeom prst="straightConnector1">
            <a:avLst/>
          </a:prstGeom>
          <a:ln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9DA4608-8071-4826-BEB8-A6D2AF9C772F}"/>
                  </a:ext>
                </a:extLst>
              </p:cNvPr>
              <p:cNvSpPr txBox="1"/>
              <p:nvPr/>
            </p:nvSpPr>
            <p:spPr>
              <a:xfrm>
                <a:off x="3215680" y="3573016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9DA4608-8071-4826-BEB8-A6D2AF9C7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3573016"/>
                <a:ext cx="5040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F79860-9692-4CDD-9E9E-C3AD65E462E0}"/>
                  </a:ext>
                </a:extLst>
              </p:cNvPr>
              <p:cNvSpPr txBox="1"/>
              <p:nvPr/>
            </p:nvSpPr>
            <p:spPr>
              <a:xfrm>
                <a:off x="4165216" y="4937184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F79860-9692-4CDD-9E9E-C3AD65E46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216" y="4937184"/>
                <a:ext cx="5040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6ECDE3F-6055-4965-B80E-8FBFBD17824E}"/>
                  </a:ext>
                </a:extLst>
              </p:cNvPr>
              <p:cNvSpPr txBox="1"/>
              <p:nvPr/>
            </p:nvSpPr>
            <p:spPr>
              <a:xfrm>
                <a:off x="5519936" y="3640378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6ECDE3F-6055-4965-B80E-8FBFBD178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936" y="3640378"/>
                <a:ext cx="5040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950906A1-358C-4E3B-9CBF-5B90C0C7A1FE}"/>
              </a:ext>
            </a:extLst>
          </p:cNvPr>
          <p:cNvCxnSpPr>
            <a:cxnSpLocks/>
          </p:cNvCxnSpPr>
          <p:nvPr/>
        </p:nvCxnSpPr>
        <p:spPr>
          <a:xfrm>
            <a:off x="4655840" y="2674908"/>
            <a:ext cx="1046640" cy="291117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CA5A22F-ED7C-4042-8D70-12DC562AE381}"/>
              </a:ext>
            </a:extLst>
          </p:cNvPr>
          <p:cNvSpPr txBox="1"/>
          <p:nvPr/>
        </p:nvSpPr>
        <p:spPr>
          <a:xfrm>
            <a:off x="5807968" y="1916832"/>
            <a:ext cx="5545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Аффинная комбинация трёх векторов – множество векторов, концы которых лежат в плоскости этих трёх векторов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EDE2ED-4BD1-4E30-915B-81D8AB225263}"/>
                  </a:ext>
                </a:extLst>
              </p:cNvPr>
              <p:cNvSpPr txBox="1"/>
              <p:nvPr/>
            </p:nvSpPr>
            <p:spPr>
              <a:xfrm>
                <a:off x="5621874" y="5254084"/>
                <a:ext cx="27337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EDE2ED-4BD1-4E30-915B-81D8AB225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874" y="5254084"/>
                <a:ext cx="273378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69903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4000"/>
              <a:t>Выпуклая комбинация векторов</a:t>
            </a:r>
            <a:r>
              <a:rPr lang="en-US" sz="4000"/>
              <a:t> (convex combination)</a:t>
            </a:r>
            <a:endParaRPr lang="ru-RU" sz="4000"/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1504" y="2017713"/>
            <a:ext cx="9036496" cy="24193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sz="2800" b="1" dirty="0"/>
              <a:t>Выпуклая комбинация векторов</a:t>
            </a:r>
            <a:r>
              <a:rPr lang="ru-RU" sz="2800" dirty="0"/>
              <a:t> – аффинная комбинация векторов, каждый коэффициент которой является неотрицательным</a:t>
            </a:r>
          </a:p>
          <a:p>
            <a:pPr lvl="1" eaLnBrk="1" hangingPunct="1">
              <a:lnSpc>
                <a:spcPct val="90000"/>
              </a:lnSpc>
            </a:pPr>
            <a:r>
              <a:rPr lang="ru-RU" i="1" dirty="0"/>
              <a:t>Все </a:t>
            </a:r>
            <a:r>
              <a:rPr lang="en-US" i="1" dirty="0"/>
              <a:t>a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ru-RU" i="1" dirty="0"/>
              <a:t>должны находиться между 0 и 1. Почему?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4" name="Object 4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3071814" y="4365625"/>
                <a:ext cx="1800225" cy="14239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3074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3071814" y="4365625"/>
                <a:ext cx="1800225" cy="1423988"/>
              </a:xfrm>
              <a:prstGeom prst="rect">
                <a:avLst/>
              </a:prstGeom>
              <a:blipFill>
                <a:blip r:embed="rId3"/>
                <a:stretch>
                  <a:fillRect t="-4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Object 6"/>
              <p:cNvSpPr txBox="1"/>
              <p:nvPr/>
            </p:nvSpPr>
            <p:spPr bwMode="auto">
              <a:xfrm>
                <a:off x="3540126" y="5805488"/>
                <a:ext cx="3476625" cy="7540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≥0;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3075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0126" y="5805488"/>
                <a:ext cx="3476625" cy="7540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Множество всех выпуклых комбинаций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611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dirty="0"/>
                  <a:t>Для двух векторов </a:t>
                </a:r>
                <a:r>
                  <a:rPr lang="en-US" b="1" dirty="0"/>
                  <a:t>v</a:t>
                </a:r>
                <a:r>
                  <a:rPr lang="en-US" i="1" baseline="-25000" dirty="0"/>
                  <a:t>1</a:t>
                </a:r>
                <a:r>
                  <a:rPr lang="en-US" dirty="0"/>
                  <a:t> </a:t>
                </a:r>
                <a:r>
                  <a:rPr lang="ru-RU" dirty="0"/>
                  <a:t>и </a:t>
                </a:r>
                <a:r>
                  <a:rPr lang="en-US" b="1" dirty="0"/>
                  <a:t>v</a:t>
                </a:r>
                <a:r>
                  <a:rPr lang="en-US" i="1" baseline="-25000" dirty="0"/>
                  <a:t>2</a:t>
                </a:r>
                <a:r>
                  <a:rPr lang="en-US" dirty="0"/>
                  <a:t> </a:t>
                </a:r>
                <a:r>
                  <a:rPr lang="ru-RU" dirty="0"/>
                  <a:t>множество всех выпуклых комбинаций представляет собой множество всех векторов вида: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=(1−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i="1" baseline="-25000" dirty="0"/>
              </a:p>
              <a:p>
                <a:pPr lvl="1"/>
                <a:r>
                  <a:rPr lang="en-US" i="1" dirty="0"/>
                  <a:t>a</a:t>
                </a:r>
                <a:r>
                  <a:rPr lang="en-US" dirty="0"/>
                  <a:t> </a:t>
                </a:r>
                <a:r>
                  <a:rPr lang="ru-RU" dirty="0"/>
                  <a:t>может изменяться от 0 до 1. (Почему?)</a:t>
                </a:r>
                <a:endParaRPr lang="en-US" dirty="0"/>
              </a:p>
              <a:p>
                <a:pPr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686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Пример</a:t>
            </a:r>
          </a:p>
        </p:txBody>
      </p:sp>
      <p:sp>
        <p:nvSpPr>
          <p:cNvPr id="69635" name="Line 4"/>
          <p:cNvSpPr>
            <a:spLocks noChangeShapeType="1"/>
          </p:cNvSpPr>
          <p:nvPr/>
        </p:nvSpPr>
        <p:spPr bwMode="auto">
          <a:xfrm flipV="1">
            <a:off x="2927350" y="2492375"/>
            <a:ext cx="0" cy="33845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9636" name="Line 5"/>
          <p:cNvSpPr>
            <a:spLocks noChangeShapeType="1"/>
          </p:cNvSpPr>
          <p:nvPr/>
        </p:nvSpPr>
        <p:spPr bwMode="auto">
          <a:xfrm>
            <a:off x="2927350" y="5876925"/>
            <a:ext cx="44640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9637" name="Line 6"/>
          <p:cNvSpPr>
            <a:spLocks noChangeShapeType="1"/>
          </p:cNvSpPr>
          <p:nvPr/>
        </p:nvSpPr>
        <p:spPr bwMode="auto">
          <a:xfrm flipV="1">
            <a:off x="2927351" y="3284538"/>
            <a:ext cx="1008063" cy="259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69638" name="Line 14"/>
          <p:cNvSpPr>
            <a:spLocks noChangeShapeType="1"/>
          </p:cNvSpPr>
          <p:nvPr/>
        </p:nvSpPr>
        <p:spPr bwMode="auto">
          <a:xfrm flipV="1">
            <a:off x="2927351" y="4581526"/>
            <a:ext cx="2232025" cy="12938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6095" name="Line 15"/>
          <p:cNvSpPr>
            <a:spLocks noChangeShapeType="1"/>
          </p:cNvSpPr>
          <p:nvPr/>
        </p:nvSpPr>
        <p:spPr bwMode="auto">
          <a:xfrm flipV="1">
            <a:off x="2927350" y="3860800"/>
            <a:ext cx="1512888" cy="201453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6096" name="Line 16"/>
          <p:cNvSpPr>
            <a:spLocks noChangeShapeType="1"/>
          </p:cNvSpPr>
          <p:nvPr/>
        </p:nvSpPr>
        <p:spPr bwMode="auto">
          <a:xfrm>
            <a:off x="3935413" y="3284539"/>
            <a:ext cx="1223962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9641" name="Text Box 17"/>
          <p:cNvSpPr txBox="1">
            <a:spLocks noChangeArrowheads="1"/>
          </p:cNvSpPr>
          <p:nvPr/>
        </p:nvSpPr>
        <p:spPr bwMode="auto">
          <a:xfrm>
            <a:off x="5087938" y="4652963"/>
            <a:ext cx="3984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v</a:t>
            </a:r>
            <a:r>
              <a:rPr lang="en-US" baseline="-25000"/>
              <a:t>1</a:t>
            </a:r>
            <a:endParaRPr lang="ru-RU" baseline="-25000"/>
          </a:p>
        </p:txBody>
      </p:sp>
      <p:sp>
        <p:nvSpPr>
          <p:cNvPr id="69642" name="Text Box 18"/>
          <p:cNvSpPr txBox="1">
            <a:spLocks noChangeArrowheads="1"/>
          </p:cNvSpPr>
          <p:nvPr/>
        </p:nvSpPr>
        <p:spPr bwMode="auto">
          <a:xfrm>
            <a:off x="3432176" y="2924176"/>
            <a:ext cx="3984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v</a:t>
            </a:r>
            <a:r>
              <a:rPr lang="en-US" baseline="-25000"/>
              <a:t>2</a:t>
            </a:r>
            <a:endParaRPr lang="ru-RU" baseline="-25000"/>
          </a:p>
        </p:txBody>
      </p:sp>
      <p:sp>
        <p:nvSpPr>
          <p:cNvPr id="46099" name="Text Box 19"/>
          <p:cNvSpPr txBox="1">
            <a:spLocks noChangeArrowheads="1"/>
          </p:cNvSpPr>
          <p:nvPr/>
        </p:nvSpPr>
        <p:spPr bwMode="auto">
          <a:xfrm>
            <a:off x="3935414" y="3933826"/>
            <a:ext cx="2889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v</a:t>
            </a:r>
            <a:endParaRPr lang="ru-RU" baseline="-25000"/>
          </a:p>
        </p:txBody>
      </p:sp>
      <p:sp>
        <p:nvSpPr>
          <p:cNvPr id="46101" name="Rectangle 21"/>
          <p:cNvSpPr>
            <a:spLocks noChangeArrowheads="1"/>
          </p:cNvSpPr>
          <p:nvPr/>
        </p:nvSpPr>
        <p:spPr bwMode="auto">
          <a:xfrm>
            <a:off x="4727576" y="3573463"/>
            <a:ext cx="103586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dirty="0"/>
              <a:t>a</a:t>
            </a:r>
            <a:r>
              <a:rPr lang="en-US" dirty="0"/>
              <a:t>(</a:t>
            </a:r>
            <a:r>
              <a:rPr lang="en-US" i="1" dirty="0"/>
              <a:t>v</a:t>
            </a:r>
            <a:r>
              <a:rPr lang="en-US" i="1" baseline="-25000" dirty="0"/>
              <a:t>2</a:t>
            </a:r>
            <a:r>
              <a:rPr lang="en-US" i="1" dirty="0"/>
              <a:t>- v</a:t>
            </a:r>
            <a:r>
              <a:rPr lang="en-US" i="1" baseline="-25000" dirty="0"/>
              <a:t>1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46102" name="Line 22"/>
          <p:cNvSpPr>
            <a:spLocks noChangeShapeType="1"/>
          </p:cNvSpPr>
          <p:nvPr/>
        </p:nvSpPr>
        <p:spPr bwMode="auto">
          <a:xfrm flipH="1" flipV="1">
            <a:off x="4449763" y="3840163"/>
            <a:ext cx="709612" cy="741362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6103" name="Text Box 23"/>
          <p:cNvSpPr txBox="1">
            <a:spLocks noChangeArrowheads="1"/>
          </p:cNvSpPr>
          <p:nvPr/>
        </p:nvSpPr>
        <p:spPr bwMode="auto">
          <a:xfrm>
            <a:off x="5763437" y="2436813"/>
            <a:ext cx="573316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/>
              <a:t>Выпуклой комбинацией векторов </a:t>
            </a:r>
            <a:r>
              <a:rPr lang="en-US" b="1" dirty="0"/>
              <a:t>v</a:t>
            </a:r>
            <a:r>
              <a:rPr lang="en-US" baseline="-25000" dirty="0"/>
              <a:t>1</a:t>
            </a:r>
            <a:r>
              <a:rPr lang="ru-RU" dirty="0"/>
              <a:t> и </a:t>
            </a:r>
            <a:r>
              <a:rPr lang="en-US" b="1" dirty="0"/>
              <a:t>v</a:t>
            </a:r>
            <a:r>
              <a:rPr lang="ru-RU" baseline="-25000" dirty="0"/>
              <a:t>2</a:t>
            </a:r>
            <a:r>
              <a:rPr lang="ru-RU" dirty="0"/>
              <a:t> является множество всех векторов </a:t>
            </a:r>
            <a:r>
              <a:rPr lang="en-US" b="1" dirty="0"/>
              <a:t>v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ru-RU" dirty="0"/>
              <a:t>удовлетворяющих условию:</a:t>
            </a:r>
          </a:p>
          <a:p>
            <a:r>
              <a:rPr lang="en-US" b="1" dirty="0"/>
              <a:t>v</a:t>
            </a:r>
            <a:r>
              <a:rPr lang="en-US" dirty="0"/>
              <a:t>=(</a:t>
            </a:r>
            <a:r>
              <a:rPr lang="en-US" i="1" dirty="0"/>
              <a:t>1-a)</a:t>
            </a:r>
            <a:r>
              <a:rPr lang="en-US" b="1" i="1" dirty="0"/>
              <a:t>v</a:t>
            </a:r>
            <a:r>
              <a:rPr lang="en-US" i="1" baseline="-25000" dirty="0"/>
              <a:t>1</a:t>
            </a:r>
            <a:r>
              <a:rPr lang="en-US" dirty="0"/>
              <a:t> + a</a:t>
            </a:r>
            <a:r>
              <a:rPr lang="en-US" b="1" dirty="0"/>
              <a:t>v</a:t>
            </a:r>
            <a:r>
              <a:rPr lang="en-US" i="1" baseline="-25000" dirty="0"/>
              <a:t>2</a:t>
            </a:r>
            <a:endParaRPr lang="ru-RU" i="1" baseline="-25000" dirty="0"/>
          </a:p>
        </p:txBody>
      </p:sp>
      <p:sp>
        <p:nvSpPr>
          <p:cNvPr id="46104" name="Line 24"/>
          <p:cNvSpPr>
            <a:spLocks noChangeShapeType="1"/>
          </p:cNvSpPr>
          <p:nvPr/>
        </p:nvSpPr>
        <p:spPr bwMode="auto">
          <a:xfrm flipV="1">
            <a:off x="2927350" y="4076700"/>
            <a:ext cx="1728788" cy="179863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6105" name="Line 25"/>
          <p:cNvSpPr>
            <a:spLocks noChangeShapeType="1"/>
          </p:cNvSpPr>
          <p:nvPr/>
        </p:nvSpPr>
        <p:spPr bwMode="auto">
          <a:xfrm flipV="1">
            <a:off x="2927351" y="3454400"/>
            <a:ext cx="1165225" cy="242093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6106" name="Line 26"/>
          <p:cNvSpPr>
            <a:spLocks noChangeShapeType="1"/>
          </p:cNvSpPr>
          <p:nvPr/>
        </p:nvSpPr>
        <p:spPr bwMode="auto">
          <a:xfrm flipV="1">
            <a:off x="2927350" y="4292600"/>
            <a:ext cx="1944688" cy="158273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6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6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2000"/>
                                        <p:tgtEl>
                                          <p:spTgt spid="4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46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6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6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46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6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5" grpId="0" animBg="1"/>
      <p:bldP spid="46096" grpId="0" animBg="1"/>
      <p:bldP spid="46099" grpId="0"/>
      <p:bldP spid="46101" grpId="0"/>
      <p:bldP spid="46102" grpId="0" animBg="1"/>
      <p:bldP spid="46103" grpId="0"/>
      <p:bldP spid="46104" grpId="0" animBg="1"/>
      <p:bldP spid="46104" grpId="1" animBg="1"/>
      <p:bldP spid="46105" grpId="0" animBg="1"/>
      <p:bldP spid="46105" grpId="1" animBg="1"/>
      <p:bldP spid="46106" grpId="0" animBg="1"/>
      <p:bldP spid="46106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араллелограмм 16">
            <a:extLst>
              <a:ext uri="{FF2B5EF4-FFF2-40B4-BE49-F238E27FC236}">
                <a16:creationId xmlns:a16="http://schemas.microsoft.com/office/drawing/2014/main" id="{0167D8AD-C80B-48F1-80F7-38FEB3059B88}"/>
              </a:ext>
            </a:extLst>
          </p:cNvPr>
          <p:cNvSpPr/>
          <p:nvPr/>
        </p:nvSpPr>
        <p:spPr>
          <a:xfrm>
            <a:off x="767408" y="4289276"/>
            <a:ext cx="8352928" cy="1584176"/>
          </a:xfrm>
          <a:prstGeom prst="parallelogram">
            <a:avLst>
              <a:gd name="adj" fmla="val 70696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9362828-31FB-40B9-9375-56FB35819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Выпуклая комбинация трёх векторов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B564692A-7DB4-483B-B18F-813463756B4C}"/>
              </a:ext>
            </a:extLst>
          </p:cNvPr>
          <p:cNvCxnSpPr/>
          <p:nvPr/>
        </p:nvCxnSpPr>
        <p:spPr>
          <a:xfrm flipH="1">
            <a:off x="2495600" y="2636912"/>
            <a:ext cx="2160240" cy="2376264"/>
          </a:xfrm>
          <a:prstGeom prst="straightConnector1">
            <a:avLst/>
          </a:prstGeom>
          <a:ln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B883054D-BF6E-4102-A79B-D78E7C6240D7}"/>
              </a:ext>
            </a:extLst>
          </p:cNvPr>
          <p:cNvCxnSpPr>
            <a:cxnSpLocks/>
          </p:cNvCxnSpPr>
          <p:nvPr/>
        </p:nvCxnSpPr>
        <p:spPr>
          <a:xfrm flipH="1">
            <a:off x="4151784" y="2636912"/>
            <a:ext cx="504056" cy="2952328"/>
          </a:xfrm>
          <a:prstGeom prst="straightConnector1">
            <a:avLst/>
          </a:prstGeom>
          <a:ln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B4052AFF-011E-4793-B19E-EEBD50E804B3}"/>
              </a:ext>
            </a:extLst>
          </p:cNvPr>
          <p:cNvCxnSpPr>
            <a:cxnSpLocks/>
          </p:cNvCxnSpPr>
          <p:nvPr/>
        </p:nvCxnSpPr>
        <p:spPr>
          <a:xfrm>
            <a:off x="4655840" y="2674908"/>
            <a:ext cx="1152128" cy="1906220"/>
          </a:xfrm>
          <a:prstGeom prst="straightConnector1">
            <a:avLst/>
          </a:prstGeom>
          <a:ln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9DA4608-8071-4826-BEB8-A6D2AF9C772F}"/>
                  </a:ext>
                </a:extLst>
              </p:cNvPr>
              <p:cNvSpPr txBox="1"/>
              <p:nvPr/>
            </p:nvSpPr>
            <p:spPr>
              <a:xfrm>
                <a:off x="3215680" y="3573016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9DA4608-8071-4826-BEB8-A6D2AF9C7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3573016"/>
                <a:ext cx="5040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F79860-9692-4CDD-9E9E-C3AD65E462E0}"/>
                  </a:ext>
                </a:extLst>
              </p:cNvPr>
              <p:cNvSpPr txBox="1"/>
              <p:nvPr/>
            </p:nvSpPr>
            <p:spPr>
              <a:xfrm>
                <a:off x="4165216" y="4937184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F79860-9692-4CDD-9E9E-C3AD65E46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216" y="4937184"/>
                <a:ext cx="5040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6ECDE3F-6055-4965-B80E-8FBFBD17824E}"/>
                  </a:ext>
                </a:extLst>
              </p:cNvPr>
              <p:cNvSpPr txBox="1"/>
              <p:nvPr/>
            </p:nvSpPr>
            <p:spPr>
              <a:xfrm>
                <a:off x="5519936" y="3640378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6ECDE3F-6055-4965-B80E-8FBFBD178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936" y="3640378"/>
                <a:ext cx="5040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950906A1-358C-4E3B-9CBF-5B90C0C7A1FE}"/>
              </a:ext>
            </a:extLst>
          </p:cNvPr>
          <p:cNvCxnSpPr>
            <a:cxnSpLocks/>
          </p:cNvCxnSpPr>
          <p:nvPr/>
        </p:nvCxnSpPr>
        <p:spPr>
          <a:xfrm>
            <a:off x="4655840" y="2674908"/>
            <a:ext cx="288032" cy="226227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CA5A22F-ED7C-4042-8D70-12DC562AE381}"/>
              </a:ext>
            </a:extLst>
          </p:cNvPr>
          <p:cNvSpPr txBox="1"/>
          <p:nvPr/>
        </p:nvSpPr>
        <p:spPr>
          <a:xfrm>
            <a:off x="5807968" y="1916832"/>
            <a:ext cx="5545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Выпуклая комбинация трёх векторов – множество векторов, концы которых лежат внутри треугольника, образованного концами этих векторов</a:t>
            </a:r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C6FD3481-FE81-42F2-AAE5-5E8C7C7F5DD0}"/>
              </a:ext>
            </a:extLst>
          </p:cNvPr>
          <p:cNvSpPr/>
          <p:nvPr/>
        </p:nvSpPr>
        <p:spPr>
          <a:xfrm>
            <a:off x="2496619" y="4571999"/>
            <a:ext cx="3308279" cy="996593"/>
          </a:xfrm>
          <a:custGeom>
            <a:avLst/>
            <a:gdLst>
              <a:gd name="connsiteX0" fmla="*/ 35977 w 3380233"/>
              <a:gd name="connsiteY0" fmla="*/ 456465 h 1019802"/>
              <a:gd name="connsiteX1" fmla="*/ 3344256 w 3380233"/>
              <a:gd name="connsiteY1" fmla="*/ 14676 h 1019802"/>
              <a:gd name="connsiteX2" fmla="*/ 1690117 w 3380233"/>
              <a:gd name="connsiteY2" fmla="*/ 1011269 h 1019802"/>
              <a:gd name="connsiteX3" fmla="*/ 35977 w 3380233"/>
              <a:gd name="connsiteY3" fmla="*/ 456465 h 1019802"/>
              <a:gd name="connsiteX0" fmla="*/ 35977 w 3344256"/>
              <a:gd name="connsiteY0" fmla="*/ 456465 h 1019802"/>
              <a:gd name="connsiteX1" fmla="*/ 3344256 w 3344256"/>
              <a:gd name="connsiteY1" fmla="*/ 14676 h 1019802"/>
              <a:gd name="connsiteX2" fmla="*/ 1690117 w 3344256"/>
              <a:gd name="connsiteY2" fmla="*/ 1011269 h 1019802"/>
              <a:gd name="connsiteX3" fmla="*/ 35977 w 3344256"/>
              <a:gd name="connsiteY3" fmla="*/ 456465 h 1019802"/>
              <a:gd name="connsiteX0" fmla="*/ 35977 w 3344256"/>
              <a:gd name="connsiteY0" fmla="*/ 441789 h 1005126"/>
              <a:gd name="connsiteX1" fmla="*/ 3344256 w 3344256"/>
              <a:gd name="connsiteY1" fmla="*/ 0 h 1005126"/>
              <a:gd name="connsiteX2" fmla="*/ 1690117 w 3344256"/>
              <a:gd name="connsiteY2" fmla="*/ 996593 h 1005126"/>
              <a:gd name="connsiteX3" fmla="*/ 35977 w 3344256"/>
              <a:gd name="connsiteY3" fmla="*/ 441789 h 1005126"/>
              <a:gd name="connsiteX0" fmla="*/ 35977 w 3344256"/>
              <a:gd name="connsiteY0" fmla="*/ 441789 h 1005126"/>
              <a:gd name="connsiteX1" fmla="*/ 3344256 w 3344256"/>
              <a:gd name="connsiteY1" fmla="*/ 0 h 1005126"/>
              <a:gd name="connsiteX2" fmla="*/ 1690117 w 3344256"/>
              <a:gd name="connsiteY2" fmla="*/ 996593 h 1005126"/>
              <a:gd name="connsiteX3" fmla="*/ 35977 w 3344256"/>
              <a:gd name="connsiteY3" fmla="*/ 441789 h 1005126"/>
              <a:gd name="connsiteX0" fmla="*/ 35977 w 3344256"/>
              <a:gd name="connsiteY0" fmla="*/ 441789 h 1005126"/>
              <a:gd name="connsiteX1" fmla="*/ 3344256 w 3344256"/>
              <a:gd name="connsiteY1" fmla="*/ 0 h 1005126"/>
              <a:gd name="connsiteX2" fmla="*/ 1690117 w 3344256"/>
              <a:gd name="connsiteY2" fmla="*/ 996593 h 1005126"/>
              <a:gd name="connsiteX3" fmla="*/ 35977 w 3344256"/>
              <a:gd name="connsiteY3" fmla="*/ 441789 h 1005126"/>
              <a:gd name="connsiteX0" fmla="*/ 38346 w 3346625"/>
              <a:gd name="connsiteY0" fmla="*/ 441789 h 996593"/>
              <a:gd name="connsiteX1" fmla="*/ 3346625 w 3346625"/>
              <a:gd name="connsiteY1" fmla="*/ 0 h 996593"/>
              <a:gd name="connsiteX2" fmla="*/ 1692486 w 3346625"/>
              <a:gd name="connsiteY2" fmla="*/ 996593 h 996593"/>
              <a:gd name="connsiteX3" fmla="*/ 38346 w 3346625"/>
              <a:gd name="connsiteY3" fmla="*/ 441789 h 996593"/>
              <a:gd name="connsiteX0" fmla="*/ 38346 w 3346625"/>
              <a:gd name="connsiteY0" fmla="*/ 441789 h 996593"/>
              <a:gd name="connsiteX1" fmla="*/ 3346625 w 3346625"/>
              <a:gd name="connsiteY1" fmla="*/ 0 h 996593"/>
              <a:gd name="connsiteX2" fmla="*/ 1692486 w 3346625"/>
              <a:gd name="connsiteY2" fmla="*/ 996593 h 996593"/>
              <a:gd name="connsiteX3" fmla="*/ 38346 w 3346625"/>
              <a:gd name="connsiteY3" fmla="*/ 441789 h 996593"/>
              <a:gd name="connsiteX0" fmla="*/ 0 w 3308279"/>
              <a:gd name="connsiteY0" fmla="*/ 441789 h 996593"/>
              <a:gd name="connsiteX1" fmla="*/ 3308279 w 3308279"/>
              <a:gd name="connsiteY1" fmla="*/ 0 h 996593"/>
              <a:gd name="connsiteX2" fmla="*/ 1654140 w 3308279"/>
              <a:gd name="connsiteY2" fmla="*/ 996593 h 996593"/>
              <a:gd name="connsiteX3" fmla="*/ 0 w 3308279"/>
              <a:gd name="connsiteY3" fmla="*/ 441789 h 996593"/>
              <a:gd name="connsiteX0" fmla="*/ 0 w 3308279"/>
              <a:gd name="connsiteY0" fmla="*/ 441789 h 996593"/>
              <a:gd name="connsiteX1" fmla="*/ 3308279 w 3308279"/>
              <a:gd name="connsiteY1" fmla="*/ 0 h 996593"/>
              <a:gd name="connsiteX2" fmla="*/ 1654140 w 3308279"/>
              <a:gd name="connsiteY2" fmla="*/ 996593 h 996593"/>
              <a:gd name="connsiteX3" fmla="*/ 0 w 3308279"/>
              <a:gd name="connsiteY3" fmla="*/ 441789 h 996593"/>
              <a:gd name="connsiteX0" fmla="*/ 0 w 3308279"/>
              <a:gd name="connsiteY0" fmla="*/ 441789 h 996593"/>
              <a:gd name="connsiteX1" fmla="*/ 3308279 w 3308279"/>
              <a:gd name="connsiteY1" fmla="*/ 0 h 996593"/>
              <a:gd name="connsiteX2" fmla="*/ 1654140 w 3308279"/>
              <a:gd name="connsiteY2" fmla="*/ 996593 h 996593"/>
              <a:gd name="connsiteX3" fmla="*/ 0 w 3308279"/>
              <a:gd name="connsiteY3" fmla="*/ 441789 h 996593"/>
              <a:gd name="connsiteX0" fmla="*/ 0 w 3308279"/>
              <a:gd name="connsiteY0" fmla="*/ 441789 h 996593"/>
              <a:gd name="connsiteX1" fmla="*/ 3308279 w 3308279"/>
              <a:gd name="connsiteY1" fmla="*/ 0 h 996593"/>
              <a:gd name="connsiteX2" fmla="*/ 1654140 w 3308279"/>
              <a:gd name="connsiteY2" fmla="*/ 996593 h 996593"/>
              <a:gd name="connsiteX3" fmla="*/ 0 w 3308279"/>
              <a:gd name="connsiteY3" fmla="*/ 441789 h 996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08279" h="996593">
                <a:moveTo>
                  <a:pt x="0" y="441789"/>
                </a:moveTo>
                <a:cubicBezTo>
                  <a:pt x="1097622" y="275690"/>
                  <a:pt x="2899025" y="61645"/>
                  <a:pt x="3308279" y="0"/>
                </a:cubicBezTo>
                <a:cubicBezTo>
                  <a:pt x="2916148" y="318498"/>
                  <a:pt x="2078805" y="744876"/>
                  <a:pt x="1654140" y="996593"/>
                </a:cubicBezTo>
                <a:cubicBezTo>
                  <a:pt x="1008206" y="810267"/>
                  <a:pt x="648985" y="679807"/>
                  <a:pt x="0" y="441789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EDE2ED-4BD1-4E30-915B-81D8AB225263}"/>
                  </a:ext>
                </a:extLst>
              </p:cNvPr>
              <p:cNvSpPr txBox="1"/>
              <p:nvPr/>
            </p:nvSpPr>
            <p:spPr>
              <a:xfrm>
                <a:off x="6353538" y="3780161"/>
                <a:ext cx="27337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EDE2ED-4BD1-4E30-915B-81D8AB225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538" y="3780161"/>
                <a:ext cx="273378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CBC263-089E-390E-9265-C8ABFF29E33D}"/>
                  </a:ext>
                </a:extLst>
              </p:cNvPr>
              <p:cNvSpPr txBox="1"/>
              <p:nvPr/>
            </p:nvSpPr>
            <p:spPr>
              <a:xfrm>
                <a:off x="4727848" y="3892286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CBC263-089E-390E-9265-C8ABFF29E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848" y="3892286"/>
                <a:ext cx="50405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7533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Модуль (длина, величина) вектора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34585" y="2017714"/>
            <a:ext cx="8944503" cy="2924175"/>
          </a:xfrm>
        </p:spPr>
        <p:txBody>
          <a:bodyPr/>
          <a:lstStyle/>
          <a:p>
            <a:pPr eaLnBrk="1" hangingPunct="1"/>
            <a:r>
              <a:rPr lang="ru-RU" sz="2800" dirty="0"/>
              <a:t>Модулем или длиной вектора </a:t>
            </a:r>
            <a:r>
              <a:rPr lang="en-US" sz="2800" dirty="0"/>
              <a:t>w </a:t>
            </a:r>
            <a:r>
              <a:rPr lang="ru-RU" sz="2800" dirty="0"/>
              <a:t>называется расстояние от его начала до конца</a:t>
            </a:r>
          </a:p>
          <a:p>
            <a:pPr eaLnBrk="1" hangingPunct="1"/>
            <a:r>
              <a:rPr lang="ru-RU" sz="2800" dirty="0"/>
              <a:t>Для </a:t>
            </a:r>
            <a:r>
              <a:rPr lang="en-US" sz="2800" dirty="0"/>
              <a:t>n-</a:t>
            </a:r>
            <a:r>
              <a:rPr lang="ru-RU" sz="2800" dirty="0"/>
              <a:t>мерного вектора </a:t>
            </a:r>
            <a:r>
              <a:rPr lang="en-US" sz="2800" dirty="0"/>
              <a:t>w, </a:t>
            </a:r>
            <a:r>
              <a:rPr lang="ru-RU" sz="2800" dirty="0"/>
              <a:t>представленного </a:t>
            </a:r>
            <a:r>
              <a:rPr lang="en-US" sz="2800" dirty="0"/>
              <a:t>n-</a:t>
            </a:r>
            <a:r>
              <a:rPr lang="ru-RU" sz="2800" dirty="0"/>
              <a:t>кортежем (</a:t>
            </a:r>
            <a:r>
              <a:rPr lang="en-US" sz="2800" dirty="0"/>
              <a:t>w</a:t>
            </a:r>
            <a:r>
              <a:rPr lang="en-US" sz="2800" baseline="-25000" dirty="0"/>
              <a:t>1</a:t>
            </a:r>
            <a:r>
              <a:rPr lang="en-US" sz="2800" dirty="0"/>
              <a:t>, w</a:t>
            </a:r>
            <a:r>
              <a:rPr lang="en-US" sz="2800" baseline="-25000" dirty="0"/>
              <a:t>2</a:t>
            </a:r>
            <a:r>
              <a:rPr lang="en-US" sz="2800" dirty="0"/>
              <a:t>,…,</a:t>
            </a:r>
            <a:r>
              <a:rPr lang="en-US" sz="2800" dirty="0" err="1"/>
              <a:t>w</a:t>
            </a:r>
            <a:r>
              <a:rPr lang="en-US" sz="2800" baseline="-25000" dirty="0" err="1"/>
              <a:t>n</a:t>
            </a:r>
            <a:r>
              <a:rPr lang="en-US" sz="2800" dirty="0"/>
              <a:t>) </a:t>
            </a:r>
            <a:r>
              <a:rPr lang="ru-RU" sz="2800" dirty="0"/>
              <a:t>длина вычисляется по теореме Пифагора: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132" name="Object 4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2927648" y="4365105"/>
                <a:ext cx="5688632" cy="1224136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+…+</m:t>
                          </m:r>
                          <m:sSubSup>
                            <m:sSubSupPr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48132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2927648" y="4365105"/>
                <a:ext cx="5688632" cy="12241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Единичный вектор (орт), нормирование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2" name="Object 4"/>
              <p:cNvSpPr txBox="1">
                <a:spLocks noGrp="1"/>
              </p:cNvSpPr>
              <p:nvPr>
                <p:ph idx="1"/>
              </p:nvPr>
            </p:nvSpPr>
            <p:spPr bwMode="auto"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ru-RU" sz="3200" b="1" dirty="0"/>
                  <a:t>Единичный вектор</a:t>
                </a:r>
                <a:r>
                  <a:rPr lang="ru-RU" sz="3200" dirty="0"/>
                  <a:t> – это вектор, имеющий единичную длину</a:t>
                </a:r>
              </a:p>
              <a:p>
                <a:pPr eaLnBrk="1" hangingPunct="1"/>
                <a:r>
                  <a:rPr lang="ru-RU" sz="3200" b="1" dirty="0"/>
                  <a:t>Нормирование</a:t>
                </a:r>
                <a:r>
                  <a:rPr lang="ru-RU" sz="3200" dirty="0"/>
                  <a:t> – масштабирование ненулевого вектора </a:t>
                </a:r>
                <a:r>
                  <a:rPr lang="en-US" sz="3200" b="1" dirty="0"/>
                  <a:t>a</a:t>
                </a:r>
                <a:r>
                  <a:rPr lang="ru-RU" sz="3200" dirty="0"/>
                  <a:t> так, чтобы получить в результате единичный вектор</a:t>
                </a:r>
                <a:r>
                  <a:rPr lang="en-US" sz="3200" dirty="0"/>
                  <a:t> </a:t>
                </a:r>
                <a:r>
                  <a:rPr lang="en-US" sz="3200" b="1" dirty="0">
                    <a:cs typeface="Tahoma" pitchFamily="34" charset="0"/>
                  </a:rPr>
                  <a:t>â</a:t>
                </a:r>
                <a:r>
                  <a:rPr lang="ru-RU" sz="3200" dirty="0"/>
                  <a:t>, с тем же направлением, что и вектор </a:t>
                </a:r>
                <a:r>
                  <a:rPr lang="en-US" sz="3200" b="1" dirty="0"/>
                  <a:t>a</a:t>
                </a:r>
                <a:endParaRPr lang="en-US" sz="3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3200" dirty="0"/>
              </a:p>
              <a:p>
                <a:pPr>
                  <a:buNone/>
                </a:pPr>
                <a:endParaRPr lang="en-US" sz="32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5122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prstGeom prst="rect">
                <a:avLst/>
              </a:prstGeom>
              <a:blipFill>
                <a:blip r:embed="rId3"/>
                <a:stretch>
                  <a:fillRect l="-1333" t="-2941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3" name="Object 5"/>
          <p:cNvSpPr txBox="1"/>
          <p:nvPr/>
        </p:nvSpPr>
        <p:spPr bwMode="auto">
          <a:xfrm>
            <a:off x="7319963" y="5229226"/>
            <a:ext cx="1770062" cy="8731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/>
          <a:p>
            <a:endParaRPr lang="ru-RU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Скалярное произведение векторов </a:t>
            </a:r>
            <a:r>
              <a:rPr lang="en-US"/>
              <a:t>(dot product)</a:t>
            </a:r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Object 4"/>
              <p:cNvSpPr txBox="1">
                <a:spLocks noGrp="1"/>
              </p:cNvSpPr>
              <p:nvPr>
                <p:ph idx="1"/>
              </p:nvPr>
            </p:nvSpPr>
            <p:spPr bwMode="auto"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ru-RU" sz="3200" b="1" dirty="0"/>
                  <a:t>Скалярное произведение</a:t>
                </a:r>
                <a:r>
                  <a:rPr lang="ru-RU" sz="3200" dirty="0"/>
                  <a:t> двух </a:t>
                </a:r>
                <a:r>
                  <a:rPr lang="en-US" sz="3200" dirty="0"/>
                  <a:t>n-</a:t>
                </a:r>
                <a:r>
                  <a:rPr lang="ru-RU" sz="3200" dirty="0"/>
                  <a:t>мерных векторов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32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32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3200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3200" i="1" baseline="-25000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</a:t>
                </a:r>
                <a:r>
                  <a:rPr lang="ru-RU" sz="3200" dirty="0"/>
                  <a:t>и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32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32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3200" i="1" dirty="0" err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3200" i="1" baseline="-25000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</a:t>
                </a:r>
                <a:r>
                  <a:rPr lang="ru-RU" sz="3200" dirty="0"/>
                  <a:t>обозначается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chemeClr val="hlink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3200" b="1" i="1" dirty="0" smtClean="0">
                        <a:solidFill>
                          <a:schemeClr val="hlink"/>
                        </a:solidFill>
                        <a:latin typeface="Cambria Math" panose="02040503050406030204" pitchFamily="18" charset="0"/>
                      </a:rPr>
                      <m:t> ∙ </m:t>
                    </m:r>
                    <m:r>
                      <a:rPr lang="en-US" sz="3200" b="1" i="1" dirty="0">
                        <a:solidFill>
                          <a:schemeClr val="hlink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3200" dirty="0"/>
                  <a:t> </a:t>
                </a:r>
                <a:r>
                  <a:rPr lang="ru-RU" sz="3200" dirty="0"/>
                  <a:t>и имеет величину</a:t>
                </a:r>
                <a:r>
                  <a:rPr lang="en-US" sz="3200" dirty="0"/>
                  <a:t>:</a:t>
                </a:r>
                <a:endParaRPr lang="en-US" sz="3200" b="1" dirty="0">
                  <a:solidFill>
                    <a:schemeClr val="hlink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6146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prstGeom prst="rect">
                <a:avLst/>
              </a:prstGeom>
              <a:blipFill>
                <a:blip r:embed="rId3"/>
                <a:stretch>
                  <a:fillRect l="-1507" t="-2801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Свойства скалярного произведения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Симметрия (коммутативность)</a:t>
            </a:r>
            <a:endParaRPr lang="en-US" dirty="0"/>
          </a:p>
          <a:p>
            <a:pPr lvl="1" eaLnBrk="1" hangingPunct="1"/>
            <a:r>
              <a:rPr lang="en-US" b="1" dirty="0"/>
              <a:t>a</a:t>
            </a:r>
            <a:r>
              <a:rPr lang="en-US" dirty="0"/>
              <a:t> </a:t>
            </a:r>
            <a:r>
              <a:rPr lang="en-US" dirty="0">
                <a:cs typeface="Tahoma" pitchFamily="34" charset="0"/>
              </a:rPr>
              <a:t>∙ </a:t>
            </a:r>
            <a:r>
              <a:rPr lang="en-US" b="1" dirty="0">
                <a:cs typeface="Tahoma" pitchFamily="34" charset="0"/>
              </a:rPr>
              <a:t>b</a:t>
            </a:r>
            <a:r>
              <a:rPr lang="en-US" dirty="0">
                <a:cs typeface="Tahoma" pitchFamily="34" charset="0"/>
              </a:rPr>
              <a:t> = </a:t>
            </a:r>
            <a:r>
              <a:rPr lang="en-US" b="1" dirty="0">
                <a:cs typeface="Tahoma" pitchFamily="34" charset="0"/>
              </a:rPr>
              <a:t>b</a:t>
            </a:r>
            <a:r>
              <a:rPr lang="en-US" dirty="0">
                <a:cs typeface="Tahoma" pitchFamily="34" charset="0"/>
              </a:rPr>
              <a:t> ∙ </a:t>
            </a:r>
            <a:r>
              <a:rPr lang="en-US" b="1" dirty="0">
                <a:cs typeface="Tahoma" pitchFamily="34" charset="0"/>
              </a:rPr>
              <a:t>a</a:t>
            </a:r>
          </a:p>
          <a:p>
            <a:pPr eaLnBrk="1" hangingPunct="1"/>
            <a:r>
              <a:rPr lang="ru-RU" dirty="0"/>
              <a:t>Линейность (дистрибутивность)</a:t>
            </a:r>
            <a:endParaRPr lang="en-US" dirty="0"/>
          </a:p>
          <a:p>
            <a:pPr lvl="1" eaLnBrk="1" hangingPunct="1"/>
            <a:r>
              <a:rPr lang="en-US" dirty="0"/>
              <a:t>(</a:t>
            </a:r>
            <a:r>
              <a:rPr lang="en-US" b="1" dirty="0"/>
              <a:t>a</a:t>
            </a:r>
            <a:r>
              <a:rPr lang="en-US" dirty="0"/>
              <a:t> + </a:t>
            </a:r>
            <a:r>
              <a:rPr lang="en-US" b="1" dirty="0"/>
              <a:t>c</a:t>
            </a:r>
            <a:r>
              <a:rPr lang="en-US" dirty="0"/>
              <a:t>) </a:t>
            </a:r>
            <a:r>
              <a:rPr lang="en-US" dirty="0">
                <a:cs typeface="Tahoma" pitchFamily="34" charset="0"/>
              </a:rPr>
              <a:t>∙ </a:t>
            </a:r>
            <a:r>
              <a:rPr lang="en-US" b="1" dirty="0">
                <a:cs typeface="Tahoma" pitchFamily="34" charset="0"/>
              </a:rPr>
              <a:t>b</a:t>
            </a:r>
            <a:r>
              <a:rPr lang="en-US" dirty="0">
                <a:cs typeface="Tahoma" pitchFamily="34" charset="0"/>
              </a:rPr>
              <a:t> = </a:t>
            </a:r>
            <a:r>
              <a:rPr lang="en-US" b="1" dirty="0">
                <a:cs typeface="Tahoma" pitchFamily="34" charset="0"/>
              </a:rPr>
              <a:t>a</a:t>
            </a:r>
            <a:r>
              <a:rPr lang="en-US" dirty="0">
                <a:cs typeface="Tahoma" pitchFamily="34" charset="0"/>
              </a:rPr>
              <a:t> ∙ </a:t>
            </a:r>
            <a:r>
              <a:rPr lang="en-US" b="1" dirty="0">
                <a:cs typeface="Tahoma" pitchFamily="34" charset="0"/>
              </a:rPr>
              <a:t>b</a:t>
            </a:r>
            <a:r>
              <a:rPr lang="en-US" dirty="0">
                <a:cs typeface="Tahoma" pitchFamily="34" charset="0"/>
              </a:rPr>
              <a:t> + </a:t>
            </a:r>
            <a:r>
              <a:rPr lang="en-US" b="1" dirty="0">
                <a:cs typeface="Tahoma" pitchFamily="34" charset="0"/>
              </a:rPr>
              <a:t>c</a:t>
            </a:r>
            <a:r>
              <a:rPr lang="en-US" dirty="0">
                <a:cs typeface="Tahoma" pitchFamily="34" charset="0"/>
              </a:rPr>
              <a:t> ∙ </a:t>
            </a:r>
            <a:r>
              <a:rPr lang="en-US" b="1" dirty="0">
                <a:cs typeface="Tahoma" pitchFamily="34" charset="0"/>
              </a:rPr>
              <a:t>b</a:t>
            </a:r>
          </a:p>
          <a:p>
            <a:pPr eaLnBrk="1" hangingPunct="1"/>
            <a:r>
              <a:rPr lang="ru-RU" dirty="0"/>
              <a:t>Однородность (ассоциативность)</a:t>
            </a:r>
            <a:endParaRPr lang="en-US" dirty="0"/>
          </a:p>
          <a:p>
            <a:pPr lvl="1" eaLnBrk="1" hangingPunct="1"/>
            <a:r>
              <a:rPr lang="en-US" dirty="0"/>
              <a:t>(</a:t>
            </a:r>
            <a:r>
              <a:rPr lang="en-US" i="1" dirty="0" err="1"/>
              <a:t>s</a:t>
            </a:r>
            <a:r>
              <a:rPr lang="en-US" b="1" dirty="0" err="1"/>
              <a:t>a</a:t>
            </a:r>
            <a:r>
              <a:rPr lang="en-US" dirty="0"/>
              <a:t>) </a:t>
            </a:r>
            <a:r>
              <a:rPr lang="en-US" dirty="0">
                <a:cs typeface="Tahoma" pitchFamily="34" charset="0"/>
              </a:rPr>
              <a:t>∙ </a:t>
            </a:r>
            <a:r>
              <a:rPr lang="en-US" b="1" dirty="0">
                <a:cs typeface="Tahoma" pitchFamily="34" charset="0"/>
              </a:rPr>
              <a:t>b</a:t>
            </a:r>
            <a:r>
              <a:rPr lang="en-US" dirty="0">
                <a:cs typeface="Tahoma" pitchFamily="34" charset="0"/>
              </a:rPr>
              <a:t> = </a:t>
            </a:r>
            <a:r>
              <a:rPr lang="en-US" i="1" dirty="0">
                <a:cs typeface="Tahoma" pitchFamily="34" charset="0"/>
              </a:rPr>
              <a:t>s </a:t>
            </a:r>
            <a:r>
              <a:rPr lang="en-US" dirty="0">
                <a:cs typeface="Tahoma" pitchFamily="34" charset="0"/>
              </a:rPr>
              <a:t>(</a:t>
            </a:r>
            <a:r>
              <a:rPr lang="en-US" b="1" dirty="0">
                <a:cs typeface="Tahoma" pitchFamily="34" charset="0"/>
              </a:rPr>
              <a:t>a</a:t>
            </a:r>
            <a:r>
              <a:rPr lang="en-US" dirty="0">
                <a:cs typeface="Tahoma" pitchFamily="34" charset="0"/>
              </a:rPr>
              <a:t> ∙ </a:t>
            </a:r>
            <a:r>
              <a:rPr lang="en-US" b="1" dirty="0">
                <a:cs typeface="Tahoma" pitchFamily="34" charset="0"/>
              </a:rPr>
              <a:t>b</a:t>
            </a:r>
            <a:r>
              <a:rPr lang="en-US" dirty="0">
                <a:cs typeface="Tahoma" pitchFamily="34" charset="0"/>
              </a:rPr>
              <a:t>)</a:t>
            </a:r>
            <a:endParaRPr lang="ru-RU" dirty="0"/>
          </a:p>
          <a:p>
            <a:pPr eaLnBrk="1" hangingPunct="1"/>
            <a:r>
              <a:rPr lang="en-US" dirty="0"/>
              <a:t>|</a:t>
            </a:r>
            <a:r>
              <a:rPr lang="en-US" b="1" dirty="0"/>
              <a:t>b</a:t>
            </a:r>
            <a:r>
              <a:rPr lang="en-US" dirty="0"/>
              <a:t>|</a:t>
            </a:r>
            <a:r>
              <a:rPr lang="en-US" baseline="30000" dirty="0"/>
              <a:t>2</a:t>
            </a:r>
            <a:r>
              <a:rPr lang="en-US" dirty="0"/>
              <a:t> = </a:t>
            </a:r>
            <a:r>
              <a:rPr lang="en-US" b="1" dirty="0"/>
              <a:t>b </a:t>
            </a:r>
            <a:r>
              <a:rPr lang="en-US" dirty="0">
                <a:cs typeface="Tahoma" pitchFamily="34" charset="0"/>
              </a:rPr>
              <a:t>∙ </a:t>
            </a:r>
            <a:r>
              <a:rPr lang="en-US" b="1" dirty="0">
                <a:cs typeface="Tahoma" pitchFamily="34" charset="0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/>
              <a:t>Угол между двумя векторами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Object 4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838200" y="1825625"/>
                <a:ext cx="10515600" cy="4351338"/>
              </a:xfrm>
              <a:noFill/>
            </p:spPr>
            <p:txBody>
              <a:bodyPr>
                <a:noAutofit/>
              </a:bodyPr>
              <a:lstStyle/>
              <a:p>
                <a:r>
                  <a:rPr lang="ru-RU" b="1" dirty="0"/>
                  <a:t>Косинус угла </a:t>
                </a:r>
                <a:r>
                  <a:rPr lang="ru-RU" dirty="0"/>
                  <a:t>между двумя векторами равен скалярному произведению их орт</a:t>
                </a:r>
                <a:endParaRPr lang="en-US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ru-RU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den>
                    </m:f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7170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83E41E3D-AE81-B413-CF33-1FF9FA2C68D2}"/>
              </a:ext>
            </a:extLst>
          </p:cNvPr>
          <p:cNvGrpSpPr/>
          <p:nvPr/>
        </p:nvGrpSpPr>
        <p:grpSpPr>
          <a:xfrm>
            <a:off x="6744072" y="2792412"/>
            <a:ext cx="4464050" cy="3384551"/>
            <a:chOff x="2927350" y="2492375"/>
            <a:chExt cx="4464050" cy="3384551"/>
          </a:xfrm>
        </p:grpSpPr>
        <p:sp>
          <p:nvSpPr>
            <p:cNvPr id="71683" name="Line 5"/>
            <p:cNvSpPr>
              <a:spLocks noChangeShapeType="1"/>
            </p:cNvSpPr>
            <p:nvPr/>
          </p:nvSpPr>
          <p:spPr bwMode="auto">
            <a:xfrm flipV="1">
              <a:off x="2927350" y="2492375"/>
              <a:ext cx="0" cy="338455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1684" name="Line 6"/>
            <p:cNvSpPr>
              <a:spLocks noChangeShapeType="1"/>
            </p:cNvSpPr>
            <p:nvPr/>
          </p:nvSpPr>
          <p:spPr bwMode="auto">
            <a:xfrm>
              <a:off x="2927350" y="5876925"/>
              <a:ext cx="446405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1685" name="Line 7"/>
            <p:cNvSpPr>
              <a:spLocks noChangeShapeType="1"/>
            </p:cNvSpPr>
            <p:nvPr/>
          </p:nvSpPr>
          <p:spPr bwMode="auto">
            <a:xfrm flipV="1">
              <a:off x="2927351" y="3284538"/>
              <a:ext cx="1008063" cy="2590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1686" name="Line 8"/>
            <p:cNvSpPr>
              <a:spLocks noChangeShapeType="1"/>
            </p:cNvSpPr>
            <p:nvPr/>
          </p:nvSpPr>
          <p:spPr bwMode="auto">
            <a:xfrm flipV="1">
              <a:off x="2927351" y="4581526"/>
              <a:ext cx="2232025" cy="12938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71687" name="Text Box 11"/>
            <p:cNvSpPr txBox="1">
              <a:spLocks noChangeArrowheads="1"/>
            </p:cNvSpPr>
            <p:nvPr/>
          </p:nvSpPr>
          <p:spPr bwMode="auto">
            <a:xfrm>
              <a:off x="5087938" y="4652963"/>
              <a:ext cx="328612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b</a:t>
              </a:r>
              <a:endParaRPr lang="ru-RU" baseline="-25000"/>
            </a:p>
          </p:txBody>
        </p:sp>
        <p:sp>
          <p:nvSpPr>
            <p:cNvPr id="71688" name="Text Box 12"/>
            <p:cNvSpPr txBox="1">
              <a:spLocks noChangeArrowheads="1"/>
            </p:cNvSpPr>
            <p:nvPr/>
          </p:nvSpPr>
          <p:spPr bwMode="auto">
            <a:xfrm>
              <a:off x="3432175" y="2924176"/>
              <a:ext cx="3048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/>
                <a:t>c</a:t>
              </a:r>
              <a:endParaRPr lang="ru-RU" baseline="-25000"/>
            </a:p>
          </p:txBody>
        </p:sp>
        <p:sp>
          <p:nvSpPr>
            <p:cNvPr id="71689" name="Arc 19"/>
            <p:cNvSpPr>
              <a:spLocks/>
            </p:cNvSpPr>
            <p:nvPr/>
          </p:nvSpPr>
          <p:spPr bwMode="auto">
            <a:xfrm>
              <a:off x="2927351" y="5035551"/>
              <a:ext cx="936625" cy="841375"/>
            </a:xfrm>
            <a:custGeom>
              <a:avLst/>
              <a:gdLst>
                <a:gd name="T0" fmla="*/ 656426629 w 21600"/>
                <a:gd name="T1" fmla="*/ 0 h 20651"/>
                <a:gd name="T2" fmla="*/ 1760388826 w 21600"/>
                <a:gd name="T3" fmla="*/ 1396646607 h 20651"/>
                <a:gd name="T4" fmla="*/ 0 w 21600"/>
                <a:gd name="T5" fmla="*/ 1355594074 h 206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651"/>
                <a:gd name="T11" fmla="*/ 21600 w 21600"/>
                <a:gd name="T12" fmla="*/ 20651 h 206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651" fill="none" extrusionOk="0">
                  <a:moveTo>
                    <a:pt x="8050" y="0"/>
                  </a:moveTo>
                  <a:cubicBezTo>
                    <a:pt x="16236" y="3288"/>
                    <a:pt x="21600" y="11222"/>
                    <a:pt x="21600" y="20044"/>
                  </a:cubicBezTo>
                  <a:cubicBezTo>
                    <a:pt x="21600" y="20246"/>
                    <a:pt x="21597" y="20448"/>
                    <a:pt x="21591" y="20651"/>
                  </a:cubicBezTo>
                </a:path>
                <a:path w="21600" h="20651" stroke="0" extrusionOk="0">
                  <a:moveTo>
                    <a:pt x="8050" y="0"/>
                  </a:moveTo>
                  <a:cubicBezTo>
                    <a:pt x="16236" y="3288"/>
                    <a:pt x="21600" y="11222"/>
                    <a:pt x="21600" y="20044"/>
                  </a:cubicBezTo>
                  <a:cubicBezTo>
                    <a:pt x="21600" y="20246"/>
                    <a:pt x="21597" y="20448"/>
                    <a:pt x="21591" y="20651"/>
                  </a:cubicBezTo>
                  <a:lnTo>
                    <a:pt x="0" y="2004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71690" name="Arc 20"/>
            <p:cNvSpPr>
              <a:spLocks/>
            </p:cNvSpPr>
            <p:nvPr/>
          </p:nvSpPr>
          <p:spPr bwMode="auto">
            <a:xfrm>
              <a:off x="2927351" y="5176839"/>
              <a:ext cx="1368425" cy="681037"/>
            </a:xfrm>
            <a:custGeom>
              <a:avLst/>
              <a:gdLst>
                <a:gd name="T0" fmla="*/ 2147483647 w 21600"/>
                <a:gd name="T1" fmla="*/ 0 h 11682"/>
                <a:gd name="T2" fmla="*/ 2147483647 w 21600"/>
                <a:gd name="T3" fmla="*/ 2147483647 h 11682"/>
                <a:gd name="T4" fmla="*/ 0 w 21600"/>
                <a:gd name="T5" fmla="*/ 2147483647 h 1168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1682"/>
                <a:gd name="T11" fmla="*/ 21600 w 21600"/>
                <a:gd name="T12" fmla="*/ 11682 h 116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1682" fill="none" extrusionOk="0">
                  <a:moveTo>
                    <a:pt x="18544" y="0"/>
                  </a:moveTo>
                  <a:cubicBezTo>
                    <a:pt x="20544" y="3348"/>
                    <a:pt x="21600" y="7175"/>
                    <a:pt x="21600" y="11075"/>
                  </a:cubicBezTo>
                  <a:cubicBezTo>
                    <a:pt x="21600" y="11277"/>
                    <a:pt x="21597" y="11479"/>
                    <a:pt x="21591" y="11682"/>
                  </a:cubicBezTo>
                </a:path>
                <a:path w="21600" h="11682" stroke="0" extrusionOk="0">
                  <a:moveTo>
                    <a:pt x="18544" y="0"/>
                  </a:moveTo>
                  <a:cubicBezTo>
                    <a:pt x="20544" y="3348"/>
                    <a:pt x="21600" y="7175"/>
                    <a:pt x="21600" y="11075"/>
                  </a:cubicBezTo>
                  <a:cubicBezTo>
                    <a:pt x="21600" y="11277"/>
                    <a:pt x="21597" y="11479"/>
                    <a:pt x="21591" y="11682"/>
                  </a:cubicBezTo>
                  <a:lnTo>
                    <a:pt x="0" y="1107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71691" name="Arc 21"/>
            <p:cNvSpPr>
              <a:spLocks/>
            </p:cNvSpPr>
            <p:nvPr/>
          </p:nvSpPr>
          <p:spPr bwMode="auto">
            <a:xfrm>
              <a:off x="2927350" y="4302125"/>
              <a:ext cx="1492250" cy="1506538"/>
            </a:xfrm>
            <a:custGeom>
              <a:avLst/>
              <a:gdLst>
                <a:gd name="T0" fmla="*/ 2147483647 w 18650"/>
                <a:gd name="T1" fmla="*/ 0 h 20044"/>
                <a:gd name="T2" fmla="*/ 2147483647 w 18650"/>
                <a:gd name="T3" fmla="*/ 2147483647 h 20044"/>
                <a:gd name="T4" fmla="*/ 0 w 18650"/>
                <a:gd name="T5" fmla="*/ 2147483647 h 20044"/>
                <a:gd name="T6" fmla="*/ 0 60000 65536"/>
                <a:gd name="T7" fmla="*/ 0 60000 65536"/>
                <a:gd name="T8" fmla="*/ 0 60000 65536"/>
                <a:gd name="T9" fmla="*/ 0 w 18650"/>
                <a:gd name="T10" fmla="*/ 0 h 20044"/>
                <a:gd name="T11" fmla="*/ 18650 w 18650"/>
                <a:gd name="T12" fmla="*/ 20044 h 200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650" h="20044" fill="none" extrusionOk="0">
                  <a:moveTo>
                    <a:pt x="8050" y="0"/>
                  </a:moveTo>
                  <a:cubicBezTo>
                    <a:pt x="12501" y="1788"/>
                    <a:pt x="16230" y="5006"/>
                    <a:pt x="18649" y="9147"/>
                  </a:cubicBezTo>
                </a:path>
                <a:path w="18650" h="20044" stroke="0" extrusionOk="0">
                  <a:moveTo>
                    <a:pt x="8050" y="0"/>
                  </a:moveTo>
                  <a:cubicBezTo>
                    <a:pt x="12501" y="1788"/>
                    <a:pt x="16230" y="5006"/>
                    <a:pt x="18649" y="9147"/>
                  </a:cubicBezTo>
                  <a:lnTo>
                    <a:pt x="0" y="2004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71692" name="Text Box 23"/>
            <p:cNvSpPr txBox="1">
              <a:spLocks noChangeArrowheads="1"/>
            </p:cNvSpPr>
            <p:nvPr/>
          </p:nvSpPr>
          <p:spPr bwMode="auto">
            <a:xfrm>
              <a:off x="4295775" y="5373688"/>
              <a:ext cx="458788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l-GR" b="1">
                  <a:cs typeface="Tahoma" pitchFamily="34" charset="0"/>
                </a:rPr>
                <a:t>φ</a:t>
              </a:r>
              <a:r>
                <a:rPr lang="en-US" baseline="-25000">
                  <a:cs typeface="Tahoma" pitchFamily="34" charset="0"/>
                </a:rPr>
                <a:t>b</a:t>
              </a:r>
              <a:endParaRPr lang="el-GR" baseline="-25000">
                <a:cs typeface="Tahoma" pitchFamily="34" charset="0"/>
              </a:endParaRPr>
            </a:p>
          </p:txBody>
        </p:sp>
        <p:sp>
          <p:nvSpPr>
            <p:cNvPr id="71693" name="Text Box 24"/>
            <p:cNvSpPr txBox="1">
              <a:spLocks noChangeArrowheads="1"/>
            </p:cNvSpPr>
            <p:nvPr/>
          </p:nvSpPr>
          <p:spPr bwMode="auto">
            <a:xfrm>
              <a:off x="3359150" y="4868863"/>
              <a:ext cx="44450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l-GR" b="1">
                  <a:cs typeface="Tahoma" pitchFamily="34" charset="0"/>
                </a:rPr>
                <a:t>φ</a:t>
              </a:r>
              <a:r>
                <a:rPr lang="en-US" baseline="-25000">
                  <a:cs typeface="Tahoma" pitchFamily="34" charset="0"/>
                </a:rPr>
                <a:t>c</a:t>
              </a:r>
              <a:endParaRPr lang="el-GR" baseline="-25000">
                <a:cs typeface="Tahoma" pitchFamily="34" charset="0"/>
              </a:endParaRPr>
            </a:p>
          </p:txBody>
        </p:sp>
        <p:sp>
          <p:nvSpPr>
            <p:cNvPr id="71694" name="Text Box 25"/>
            <p:cNvSpPr txBox="1">
              <a:spLocks noChangeArrowheads="1"/>
            </p:cNvSpPr>
            <p:nvPr/>
          </p:nvSpPr>
          <p:spPr bwMode="auto">
            <a:xfrm>
              <a:off x="4008438" y="4149726"/>
              <a:ext cx="328612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l-GR" b="1">
                  <a:cs typeface="Tahoma" pitchFamily="34" charset="0"/>
                </a:rPr>
                <a:t>θ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Знак скалярного произведения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707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ru-RU" sz="2800" dirty="0"/>
                  <a:t>Связь между знаком косинуса и углом: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l-GR" i="1" dirty="0">
                        <a:latin typeface="Cambria Math" panose="02040503050406030204" pitchFamily="18" charset="0"/>
                        <a:cs typeface="Tahoma" pitchFamily="34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) &gt; 0</m:t>
                    </m:r>
                  </m:oMath>
                </a14:m>
                <a:r>
                  <a:rPr lang="ru-RU" dirty="0">
                    <a:cs typeface="Tahoma" pitchFamily="34" charset="0"/>
                  </a:rPr>
                  <a:t>, если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|</m:t>
                    </m:r>
                    <m:r>
                      <a:rPr lang="el-GR" i="1" dirty="0">
                        <a:latin typeface="Cambria Math" panose="02040503050406030204" pitchFamily="18" charset="0"/>
                        <a:cs typeface="Tahoma" pitchFamily="34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|</m:t>
                    </m:r>
                    <m:r>
                      <a:rPr lang="ru-RU" i="1" dirty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&lt; 90°</m:t>
                    </m:r>
                  </m:oMath>
                </a14:m>
                <a:endParaRPr lang="en-US" dirty="0">
                  <a:cs typeface="Tahoma" pitchFamily="34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l-GR" i="1" dirty="0">
                        <a:latin typeface="Cambria Math" panose="02040503050406030204" pitchFamily="18" charset="0"/>
                        <a:cs typeface="Tahoma" pitchFamily="34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) = 0</m:t>
                    </m:r>
                  </m:oMath>
                </a14:m>
                <a:r>
                  <a:rPr lang="ru-RU" dirty="0">
                    <a:cs typeface="Tahoma" pitchFamily="34" charset="0"/>
                  </a:rPr>
                  <a:t>, если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|</m:t>
                    </m:r>
                    <m:r>
                      <a:rPr lang="el-GR" i="1" dirty="0">
                        <a:latin typeface="Cambria Math" panose="02040503050406030204" pitchFamily="18" charset="0"/>
                        <a:cs typeface="Tahoma" pitchFamily="34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|</m:t>
                    </m:r>
                    <m:r>
                      <a:rPr lang="ru-RU" i="1" dirty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= 90°</m:t>
                    </m:r>
                  </m:oMath>
                </a14:m>
                <a:endParaRPr lang="en-US" dirty="0">
                  <a:cs typeface="Tahoma" pitchFamily="34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l-GR" i="1" dirty="0">
                        <a:latin typeface="Cambria Math" panose="02040503050406030204" pitchFamily="18" charset="0"/>
                        <a:cs typeface="Tahoma" pitchFamily="34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) &lt; 0</m:t>
                    </m:r>
                  </m:oMath>
                </a14:m>
                <a:r>
                  <a:rPr lang="ru-RU" dirty="0">
                    <a:cs typeface="Tahoma" pitchFamily="34" charset="0"/>
                  </a:rPr>
                  <a:t>, если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|</m:t>
                    </m:r>
                    <m:r>
                      <a:rPr lang="el-GR" i="1" dirty="0">
                        <a:latin typeface="Cambria Math" panose="02040503050406030204" pitchFamily="18" charset="0"/>
                        <a:cs typeface="Tahoma" pitchFamily="34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|</m:t>
                    </m:r>
                    <m:r>
                      <a:rPr lang="ru-RU" i="1" dirty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&gt; 90°</m:t>
                    </m:r>
                  </m:oMath>
                </a14:m>
                <a:endParaRPr lang="ru-RU" dirty="0">
                  <a:cs typeface="Tahoma" pitchFamily="34" charset="0"/>
                </a:endParaRPr>
              </a:p>
              <a:p>
                <a:pPr eaLnBrk="1" hangingPunct="1"/>
                <a:r>
                  <a:rPr lang="ru-RU" sz="2800" dirty="0"/>
                  <a:t>Угол между двумя векторами ненулевой длины составляет:</a:t>
                </a:r>
              </a:p>
              <a:p>
                <a:pPr lvl="1" eaLnBrk="1" hangingPunct="1"/>
                <a:r>
                  <a:rPr lang="ru-RU" dirty="0"/>
                  <a:t>Менее 90</a:t>
                </a:r>
                <a:r>
                  <a:rPr lang="en-US" dirty="0">
                    <a:cs typeface="Tahoma" pitchFamily="34" charset="0"/>
                  </a:rPr>
                  <a:t>°</a:t>
                </a:r>
                <a:r>
                  <a:rPr lang="ru-RU" dirty="0">
                    <a:cs typeface="Tahoma" pitchFamily="34" charset="0"/>
                  </a:rPr>
                  <a:t>, если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𝒃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ru-RU" i="1" dirty="0">
                        <a:latin typeface="Cambria Math" panose="02040503050406030204" pitchFamily="18" charset="0"/>
                        <a:cs typeface="Tahoma" pitchFamily="34" charset="0"/>
                      </a:rPr>
                      <m:t>∙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  <a:cs typeface="Tahoma" pitchFamily="34" charset="0"/>
                      </a:rPr>
                      <m:t>𝒄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 &gt; 0</m:t>
                    </m:r>
                  </m:oMath>
                </a14:m>
                <a:endParaRPr lang="en-US" dirty="0">
                  <a:cs typeface="Tahoma" pitchFamily="34" charset="0"/>
                </a:endParaRPr>
              </a:p>
              <a:p>
                <a:pPr lvl="1" eaLnBrk="1" hangingPunct="1"/>
                <a:r>
                  <a:rPr lang="ru-RU" dirty="0"/>
                  <a:t>Ровно 90</a:t>
                </a:r>
                <a:r>
                  <a:rPr lang="en-US" dirty="0">
                    <a:cs typeface="Tahoma" pitchFamily="34" charset="0"/>
                  </a:rPr>
                  <a:t>°</a:t>
                </a:r>
                <a:r>
                  <a:rPr lang="ru-RU" dirty="0">
                    <a:cs typeface="Tahoma" pitchFamily="34" charset="0"/>
                  </a:rPr>
                  <a:t>, если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𝒃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ru-RU" i="1" dirty="0">
                        <a:latin typeface="Cambria Math" panose="02040503050406030204" pitchFamily="18" charset="0"/>
                        <a:cs typeface="Tahoma" pitchFamily="34" charset="0"/>
                      </a:rPr>
                      <m:t>∙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  <a:cs typeface="Tahoma" pitchFamily="34" charset="0"/>
                      </a:rPr>
                      <m:t>𝒄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ru-RU" i="1" dirty="0">
                        <a:latin typeface="Cambria Math" panose="02040503050406030204" pitchFamily="18" charset="0"/>
                        <a:cs typeface="Tahoma" pitchFamily="34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 0</m:t>
                    </m:r>
                  </m:oMath>
                </a14:m>
                <a:endParaRPr lang="en-US" dirty="0">
                  <a:cs typeface="Tahoma" pitchFamily="34" charset="0"/>
                </a:endParaRPr>
              </a:p>
              <a:p>
                <a:pPr lvl="1" eaLnBrk="1" hangingPunct="1"/>
                <a:r>
                  <a:rPr lang="ru-RU" dirty="0"/>
                  <a:t>Более 90</a:t>
                </a:r>
                <a:r>
                  <a:rPr lang="en-US" dirty="0">
                    <a:cs typeface="Tahoma" pitchFamily="34" charset="0"/>
                  </a:rPr>
                  <a:t>°</a:t>
                </a:r>
                <a:r>
                  <a:rPr lang="ru-RU" dirty="0">
                    <a:cs typeface="Tahoma" pitchFamily="34" charset="0"/>
                  </a:rPr>
                  <a:t>, если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𝒃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ru-RU" i="1" dirty="0">
                        <a:latin typeface="Cambria Math" panose="02040503050406030204" pitchFamily="18" charset="0"/>
                        <a:cs typeface="Tahoma" pitchFamily="34" charset="0"/>
                      </a:rPr>
                      <m:t>∙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  <a:cs typeface="Tahoma" pitchFamily="34" charset="0"/>
                      </a:rPr>
                      <m:t>𝒄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 &lt; 0</m:t>
                    </m:r>
                  </m:oMath>
                </a14:m>
                <a:endParaRPr lang="ru-RU" dirty="0"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727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Перпендикулярность (ортогональность)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731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ru-RU" dirty="0"/>
                  <a:t>Два ненулевых вектора являются перпендикулярными (т.е. угол между ними равен 90</a:t>
                </a:r>
                <a:r>
                  <a:rPr lang="en-US" dirty="0">
                    <a:cs typeface="Tahoma" pitchFamily="34" charset="0"/>
                  </a:rPr>
                  <a:t>°</a:t>
                </a:r>
                <a:r>
                  <a:rPr lang="ru-RU" dirty="0">
                    <a:cs typeface="Tahoma" pitchFamily="34" charset="0"/>
                  </a:rPr>
                  <a:t>)</a:t>
                </a:r>
                <a:r>
                  <a:rPr lang="ru-RU" dirty="0"/>
                  <a:t>, если их скалярное произведение равно нулю</a:t>
                </a:r>
                <a:endParaRPr lang="en-US" dirty="0"/>
              </a:p>
              <a:p>
                <a:pPr eaLnBrk="1" hangingPunct="1"/>
                <a:r>
                  <a:rPr lang="ru-RU" dirty="0"/>
                  <a:t>Упражнения</a:t>
                </a:r>
              </a:p>
              <a:p>
                <a:pPr lvl="1"/>
                <a:r>
                  <a:rPr lang="ru-RU" dirty="0"/>
                  <a:t>Перпендикулярны ли векторы (1, 2) и (-4</a:t>
                </a:r>
                <a:r>
                  <a:rPr lang="en-US" dirty="0"/>
                  <a:t>, </a:t>
                </a:r>
                <a:r>
                  <a:rPr lang="ru-RU" dirty="0"/>
                  <a:t>2</a:t>
                </a:r>
                <a:r>
                  <a:rPr lang="en-US" dirty="0"/>
                  <a:t>)?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−4,2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+2∗2=0</m:t>
                    </m:r>
                  </m:oMath>
                </a14:m>
                <a:endParaRPr lang="en-US" dirty="0"/>
              </a:p>
              <a:p>
                <a:pPr lvl="1"/>
                <a:r>
                  <a:rPr lang="ru-RU" dirty="0"/>
                  <a:t>Перпендикулярны ли векторы (</a:t>
                </a:r>
                <a:r>
                  <a:rPr lang="en-US" dirty="0"/>
                  <a:t>2</a:t>
                </a:r>
                <a:r>
                  <a:rPr lang="ru-RU" dirty="0"/>
                  <a:t>, 2) и (4</a:t>
                </a:r>
                <a:r>
                  <a:rPr lang="en-US" dirty="0"/>
                  <a:t>, </a:t>
                </a:r>
                <a:r>
                  <a:rPr lang="ru-RU" dirty="0"/>
                  <a:t>2</a:t>
                </a:r>
                <a:r>
                  <a:rPr lang="en-US" dirty="0"/>
                  <a:t>)?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2,2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4,2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=2∗4+2∗2=12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37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 bldLvl="3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Двумерный «перп» вектор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/>
              <a:t>Пусть </a:t>
            </a:r>
            <a:r>
              <a:rPr lang="en-US"/>
              <a:t>a = (a</a:t>
            </a:r>
            <a:r>
              <a:rPr lang="en-US" baseline="-25000"/>
              <a:t>x</a:t>
            </a:r>
            <a:r>
              <a:rPr lang="en-US"/>
              <a:t>, a</a:t>
            </a:r>
            <a:r>
              <a:rPr lang="en-US" baseline="-25000"/>
              <a:t>y</a:t>
            </a:r>
            <a:r>
              <a:rPr lang="en-US"/>
              <a:t>)</a:t>
            </a:r>
            <a:r>
              <a:rPr lang="ru-RU"/>
              <a:t>, тогда</a:t>
            </a:r>
          </a:p>
          <a:p>
            <a:pPr eaLnBrk="1" hangingPunct="1"/>
            <a:r>
              <a:rPr lang="en-US"/>
              <a:t>a</a:t>
            </a:r>
            <a:r>
              <a:rPr lang="en-US">
                <a:latin typeface="Arial" charset="0"/>
              </a:rPr>
              <a:t>┴</a:t>
            </a:r>
            <a:r>
              <a:rPr lang="en-US"/>
              <a:t> = (-a</a:t>
            </a:r>
            <a:r>
              <a:rPr lang="en-US" baseline="-25000"/>
              <a:t>y</a:t>
            </a:r>
            <a:r>
              <a:rPr lang="en-US"/>
              <a:t>, a</a:t>
            </a:r>
            <a:r>
              <a:rPr lang="en-US" baseline="-25000"/>
              <a:t>x</a:t>
            </a:r>
            <a:r>
              <a:rPr lang="en-US"/>
              <a:t>) – </a:t>
            </a:r>
            <a:r>
              <a:rPr lang="ru-RU"/>
              <a:t>вектор, перпендикулярный против часовой стрелки к вектору </a:t>
            </a:r>
            <a:r>
              <a:rPr lang="en-US"/>
              <a:t>a</a:t>
            </a:r>
            <a:endParaRPr lang="ru-RU"/>
          </a:p>
          <a:p>
            <a:pPr lvl="1" eaLnBrk="1" hangingPunct="1"/>
            <a:r>
              <a:rPr lang="ru-RU"/>
              <a:t>Для обозначения таких векторов</a:t>
            </a:r>
            <a:r>
              <a:rPr lang="en-US"/>
              <a:t> </a:t>
            </a:r>
            <a:r>
              <a:rPr lang="ru-RU"/>
              <a:t>используется символ «</a:t>
            </a:r>
            <a:r>
              <a:rPr lang="en-US">
                <a:latin typeface="Arial" charset="0"/>
              </a:rPr>
              <a:t>┴</a:t>
            </a:r>
            <a:r>
              <a:rPr lang="ru-RU"/>
              <a:t>» («</a:t>
            </a:r>
            <a:r>
              <a:rPr lang="en-US"/>
              <a:t>perp</a:t>
            </a:r>
            <a:r>
              <a:rPr lang="ru-RU"/>
              <a:t>»</a:t>
            </a:r>
            <a:r>
              <a:rPr lang="en-US"/>
              <a:t>,</a:t>
            </a:r>
            <a:r>
              <a:rPr lang="ru-RU"/>
              <a:t> произносится</a:t>
            </a:r>
            <a:r>
              <a:rPr lang="en-US"/>
              <a:t> </a:t>
            </a:r>
            <a:r>
              <a:rPr lang="ru-RU"/>
              <a:t>«перп»)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Пример</a:t>
            </a:r>
          </a:p>
        </p:txBody>
      </p:sp>
      <p:sp>
        <p:nvSpPr>
          <p:cNvPr id="75779" name="Line 5"/>
          <p:cNvSpPr>
            <a:spLocks noChangeShapeType="1"/>
          </p:cNvSpPr>
          <p:nvPr/>
        </p:nvSpPr>
        <p:spPr bwMode="auto">
          <a:xfrm flipV="1">
            <a:off x="5159376" y="2133600"/>
            <a:ext cx="1008063" cy="259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65542" name="Line 6"/>
          <p:cNvSpPr>
            <a:spLocks noChangeShapeType="1"/>
          </p:cNvSpPr>
          <p:nvPr/>
        </p:nvSpPr>
        <p:spPr bwMode="auto">
          <a:xfrm rot="16200000" flipV="1">
            <a:off x="2855119" y="3142457"/>
            <a:ext cx="1008063" cy="259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65543" name="Line 7"/>
          <p:cNvSpPr>
            <a:spLocks noChangeShapeType="1"/>
          </p:cNvSpPr>
          <p:nvPr/>
        </p:nvSpPr>
        <p:spPr bwMode="auto">
          <a:xfrm rot="5400000" flipV="1">
            <a:off x="7174707" y="3429794"/>
            <a:ext cx="1008062" cy="259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75782" name="Text Box 8"/>
          <p:cNvSpPr txBox="1">
            <a:spLocks noChangeArrowheads="1"/>
          </p:cNvSpPr>
          <p:nvPr/>
        </p:nvSpPr>
        <p:spPr bwMode="auto">
          <a:xfrm>
            <a:off x="6075363" y="2360613"/>
            <a:ext cx="3667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/>
              <a:t>a</a:t>
            </a:r>
            <a:endParaRPr lang="ru-RU" sz="2400" b="1"/>
          </a:p>
        </p:txBody>
      </p:sp>
      <p:sp>
        <p:nvSpPr>
          <p:cNvPr id="65545" name="Text Box 9"/>
          <p:cNvSpPr txBox="1">
            <a:spLocks noChangeArrowheads="1"/>
          </p:cNvSpPr>
          <p:nvPr/>
        </p:nvSpPr>
        <p:spPr bwMode="auto">
          <a:xfrm>
            <a:off x="3000376" y="3716338"/>
            <a:ext cx="582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/>
              <a:t>a</a:t>
            </a:r>
            <a:r>
              <a:rPr lang="en-US" sz="2400" b="1">
                <a:latin typeface="Arial" charset="0"/>
              </a:rPr>
              <a:t>┴</a:t>
            </a:r>
          </a:p>
        </p:txBody>
      </p:sp>
      <p:sp>
        <p:nvSpPr>
          <p:cNvPr id="65546" name="Text Box 10"/>
          <p:cNvSpPr txBox="1">
            <a:spLocks noChangeArrowheads="1"/>
          </p:cNvSpPr>
          <p:nvPr/>
        </p:nvSpPr>
        <p:spPr bwMode="auto">
          <a:xfrm>
            <a:off x="7464425" y="4076700"/>
            <a:ext cx="6937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-</a:t>
            </a:r>
            <a:r>
              <a:rPr lang="en-US" sz="2400" b="1"/>
              <a:t>a</a:t>
            </a:r>
            <a:r>
              <a:rPr lang="en-US" sz="2400" b="1">
                <a:latin typeface="Arial" charset="0"/>
              </a:rPr>
              <a:t>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2" grpId="0" animBg="1"/>
      <p:bldP spid="65543" grpId="0" animBg="1"/>
      <p:bldP spid="65545" grpId="0"/>
      <p:bldP spid="6554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Упражнения на дом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/>
              <a:t>Докажите следующие свойства оператора </a:t>
            </a:r>
            <a:r>
              <a:rPr lang="ru-RU">
                <a:latin typeface="Arial" charset="0"/>
              </a:rPr>
              <a:t>┴:</a:t>
            </a:r>
          </a:p>
          <a:p>
            <a:pPr lvl="1" eaLnBrk="1" hangingPunct="1"/>
            <a:r>
              <a:rPr lang="ru-RU">
                <a:latin typeface="Arial" charset="0"/>
              </a:rPr>
              <a:t>Линейность:</a:t>
            </a:r>
          </a:p>
          <a:p>
            <a:pPr lvl="2" eaLnBrk="1" hangingPunct="1"/>
            <a:r>
              <a:rPr lang="ru-RU">
                <a:latin typeface="Arial" charset="0"/>
              </a:rPr>
              <a:t>(</a:t>
            </a:r>
            <a:r>
              <a:rPr lang="en-US" b="1">
                <a:latin typeface="Arial" charset="0"/>
              </a:rPr>
              <a:t>a</a:t>
            </a:r>
            <a:r>
              <a:rPr lang="en-US">
                <a:latin typeface="Arial" charset="0"/>
              </a:rPr>
              <a:t> + </a:t>
            </a:r>
            <a:r>
              <a:rPr lang="en-US" b="1">
                <a:latin typeface="Arial" charset="0"/>
              </a:rPr>
              <a:t>b</a:t>
            </a:r>
            <a:r>
              <a:rPr lang="en-US">
                <a:latin typeface="Arial" charset="0"/>
              </a:rPr>
              <a:t>) </a:t>
            </a:r>
            <a:r>
              <a:rPr lang="ru-RU">
                <a:latin typeface="Arial" charset="0"/>
              </a:rPr>
              <a:t>┴</a:t>
            </a:r>
            <a:r>
              <a:rPr lang="en-US">
                <a:latin typeface="Arial" charset="0"/>
              </a:rPr>
              <a:t> =  </a:t>
            </a:r>
            <a:r>
              <a:rPr lang="en-US" b="1">
                <a:latin typeface="Arial" charset="0"/>
              </a:rPr>
              <a:t>a</a:t>
            </a:r>
            <a:r>
              <a:rPr lang="ru-RU">
                <a:latin typeface="Arial" charset="0"/>
              </a:rPr>
              <a:t>┴</a:t>
            </a:r>
            <a:r>
              <a:rPr lang="en-US">
                <a:latin typeface="Arial" charset="0"/>
              </a:rPr>
              <a:t> + </a:t>
            </a:r>
            <a:r>
              <a:rPr lang="en-US" b="1">
                <a:latin typeface="Arial" charset="0"/>
              </a:rPr>
              <a:t>b</a:t>
            </a:r>
            <a:r>
              <a:rPr lang="ru-RU">
                <a:latin typeface="Arial" charset="0"/>
              </a:rPr>
              <a:t>┴</a:t>
            </a:r>
            <a:endParaRPr lang="en-US">
              <a:latin typeface="Arial" charset="0"/>
            </a:endParaRPr>
          </a:p>
          <a:p>
            <a:pPr lvl="2" eaLnBrk="1" hangingPunct="1"/>
            <a:r>
              <a:rPr lang="en-US">
                <a:latin typeface="Arial" charset="0"/>
              </a:rPr>
              <a:t>(A</a:t>
            </a:r>
            <a:r>
              <a:rPr lang="en-US" b="1">
                <a:latin typeface="Arial" charset="0"/>
              </a:rPr>
              <a:t>a</a:t>
            </a:r>
            <a:r>
              <a:rPr lang="en-US">
                <a:latin typeface="Arial" charset="0"/>
              </a:rPr>
              <a:t>) </a:t>
            </a:r>
            <a:r>
              <a:rPr lang="ru-RU">
                <a:latin typeface="Arial" charset="0"/>
              </a:rPr>
              <a:t>┴</a:t>
            </a:r>
            <a:r>
              <a:rPr lang="en-US">
                <a:latin typeface="Arial" charset="0"/>
              </a:rPr>
              <a:t> = A</a:t>
            </a:r>
            <a:r>
              <a:rPr lang="en-US" b="1">
                <a:latin typeface="Arial" charset="0"/>
              </a:rPr>
              <a:t>a</a:t>
            </a:r>
            <a:r>
              <a:rPr lang="ru-RU">
                <a:latin typeface="Arial" charset="0"/>
              </a:rPr>
              <a:t>┴</a:t>
            </a:r>
            <a:r>
              <a:rPr lang="en-US">
                <a:latin typeface="Arial" charset="0"/>
              </a:rPr>
              <a:t>, </a:t>
            </a:r>
            <a:r>
              <a:rPr lang="ru-RU">
                <a:latin typeface="Arial" charset="0"/>
              </a:rPr>
              <a:t>для любого скаляра </a:t>
            </a:r>
            <a:r>
              <a:rPr lang="en-US">
                <a:latin typeface="Arial" charset="0"/>
              </a:rPr>
              <a:t>A</a:t>
            </a:r>
          </a:p>
          <a:p>
            <a:pPr lvl="1" eaLnBrk="1" hangingPunct="1"/>
            <a:r>
              <a:rPr lang="ru-RU">
                <a:latin typeface="Arial" charset="0"/>
              </a:rPr>
              <a:t>Реверсирование:</a:t>
            </a:r>
          </a:p>
          <a:p>
            <a:pPr lvl="2" eaLnBrk="1" hangingPunct="1"/>
            <a:r>
              <a:rPr lang="en-US" b="1">
                <a:latin typeface="Arial" charset="0"/>
              </a:rPr>
              <a:t>a</a:t>
            </a:r>
            <a:r>
              <a:rPr lang="ru-RU">
                <a:latin typeface="Arial" charset="0"/>
              </a:rPr>
              <a:t>┴</a:t>
            </a:r>
            <a:r>
              <a:rPr lang="en-US">
                <a:latin typeface="Arial" charset="0"/>
              </a:rPr>
              <a:t> </a:t>
            </a:r>
            <a:r>
              <a:rPr lang="ru-RU">
                <a:latin typeface="Arial" charset="0"/>
              </a:rPr>
              <a:t>┴</a:t>
            </a:r>
            <a:r>
              <a:rPr lang="en-US">
                <a:latin typeface="Arial" charset="0"/>
              </a:rPr>
              <a:t> = (</a:t>
            </a:r>
            <a:r>
              <a:rPr lang="en-US" b="1">
                <a:latin typeface="Arial" charset="0"/>
              </a:rPr>
              <a:t>a</a:t>
            </a:r>
            <a:r>
              <a:rPr lang="ru-RU">
                <a:latin typeface="Arial" charset="0"/>
              </a:rPr>
              <a:t>┴</a:t>
            </a:r>
            <a:r>
              <a:rPr lang="en-US">
                <a:latin typeface="Arial" charset="0"/>
              </a:rPr>
              <a:t>)</a:t>
            </a:r>
            <a:r>
              <a:rPr lang="ru-RU">
                <a:latin typeface="Arial" charset="0"/>
              </a:rPr>
              <a:t>┴</a:t>
            </a:r>
            <a:r>
              <a:rPr lang="en-US">
                <a:latin typeface="Arial" charset="0"/>
              </a:rPr>
              <a:t> = -</a:t>
            </a:r>
            <a:r>
              <a:rPr lang="en-US" b="1">
                <a:latin typeface="Arial" charset="0"/>
              </a:rPr>
              <a:t>a</a:t>
            </a:r>
            <a:endParaRPr lang="ru-RU" dirty="0">
              <a:latin typeface="Arial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Перп-скалярное произведение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827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1424" y="2017715"/>
                <a:ext cx="10729192" cy="4075582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dirty="0" err="1"/>
                  <a:t>Перп</a:t>
                </a:r>
                <a:r>
                  <a:rPr lang="ru-RU" dirty="0"/>
                  <a:t>-скалярное произведение – произведение </a:t>
                </a:r>
                <a:r>
                  <a:rPr lang="ru-RU" dirty="0" err="1"/>
                  <a:t>перпа</a:t>
                </a:r>
                <a:r>
                  <a:rPr lang="ru-RU" dirty="0"/>
                  <a:t> некоторого вектора на другой вектор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┴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∙ </m:t>
                    </m:r>
                    <m:r>
                      <a:rPr lang="en-US" b="1" i="1" dirty="0">
                        <a:latin typeface="Cambria Math" panose="02040503050406030204" pitchFamily="18" charset="0"/>
                        <a:cs typeface="Tahoma" pitchFamily="34" charset="0"/>
                      </a:rPr>
                      <m:t>𝒃</m:t>
                    </m:r>
                  </m:oMath>
                </a14:m>
                <a:endParaRPr lang="ru-RU" b="1" dirty="0">
                  <a:cs typeface="Tahoma" pitchFamily="34" charset="0"/>
                </a:endParaRPr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dirty="0"/>
                  <a:t>Свойства (доказать, используя определение </a:t>
                </a:r>
                <a:r>
                  <a:rPr lang="en-US" b="1" dirty="0"/>
                  <a:t>a</a:t>
                </a:r>
                <a:r>
                  <a:rPr lang="en-US" dirty="0">
                    <a:latin typeface="Arial" charset="0"/>
                  </a:rPr>
                  <a:t>┴</a:t>
                </a:r>
                <a:r>
                  <a:rPr lang="ru-RU" dirty="0"/>
                  <a:t>):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┴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∙ </m:t>
                    </m:r>
                    <m:r>
                      <a:rPr lang="en-US" b="1" i="1" dirty="0">
                        <a:latin typeface="Cambria Math" panose="02040503050406030204" pitchFamily="18" charset="0"/>
                        <a:cs typeface="Tahoma" pitchFamily="34" charset="0"/>
                      </a:rPr>
                      <m:t>𝒃</m:t>
                    </m:r>
                    <m:r>
                      <a:rPr lang="ru-RU" b="1" i="1" dirty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ru-RU" i="1" dirty="0">
                        <a:latin typeface="Cambria Math" panose="02040503050406030204" pitchFamily="18" charset="0"/>
                        <a:cs typeface="Tahoma" pitchFamily="34" charset="0"/>
                      </a:rPr>
                      <m:t>=</m:t>
                    </m:r>
                    <m:r>
                      <a:rPr lang="ru-RU" b="1" i="1" dirty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b="1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𝒂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cs typeface="Tahoma" pitchFamily="34" charset="0"/>
                      </a:rPr>
                      <m:t>𝑥</m:t>
                    </m:r>
                    <m:r>
                      <a:rPr lang="en-US" b="1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𝒃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cs typeface="Tahoma" pitchFamily="34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 – </m:t>
                    </m:r>
                    <m:r>
                      <a:rPr lang="en-US" b="1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𝒂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cs typeface="Tahoma" pitchFamily="34" charset="0"/>
                      </a:rPr>
                      <m:t>𝑦</m:t>
                    </m:r>
                    <m:r>
                      <a:rPr lang="en-US" b="1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𝒃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cs typeface="Tahoma" pitchFamily="34" charset="0"/>
                      </a:rPr>
                      <m:t>𝑥</m:t>
                    </m:r>
                  </m:oMath>
                </a14:m>
                <a:endParaRPr lang="en-US" baseline="-25000" dirty="0">
                  <a:cs typeface="Tahoma" pitchFamily="34" charset="0"/>
                </a:endParaRP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┴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∙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 0</m:t>
                    </m:r>
                  </m:oMath>
                </a14:m>
                <a:endParaRPr lang="en-US" dirty="0"/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┴|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|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baseline="30000" dirty="0">
                  <a:latin typeface="Arial" charset="0"/>
                </a:endParaRP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┴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∙ </m:t>
                    </m:r>
                    <m:r>
                      <a:rPr lang="en-US" b="1" i="1" dirty="0">
                        <a:latin typeface="Cambria Math" panose="02040503050406030204" pitchFamily="18" charset="0"/>
                        <a:cs typeface="Tahoma" pitchFamily="34" charset="0"/>
                      </a:rPr>
                      <m:t>𝒃</m:t>
                    </m:r>
                    <m:r>
                      <a:rPr lang="en-US" b="1" i="1" dirty="0">
                        <a:latin typeface="Cambria Math" panose="02040503050406030204" pitchFamily="18" charset="0"/>
                        <a:cs typeface="Tahoma" pitchFamily="34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= −</m:t>
                    </m:r>
                    <m:r>
                      <a:rPr lang="en-US" b="1" i="1" dirty="0">
                        <a:latin typeface="Cambria Math" panose="02040503050406030204" pitchFamily="18" charset="0"/>
                        <a:cs typeface="Tahoma" pitchFamily="34" charset="0"/>
                      </a:rPr>
                      <m:t>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┴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∙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7782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1424" y="2017715"/>
                <a:ext cx="10729192" cy="4075582"/>
              </a:xfrm>
              <a:blipFill>
                <a:blip r:embed="rId3"/>
                <a:stretch>
                  <a:fillRect l="-1023" t="-2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4000"/>
              <a:t>Ортогональные проекции и расстояние от точки до прямой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017713"/>
            <a:ext cx="10658400" cy="4506912"/>
          </a:xfrm>
        </p:spPr>
        <p:txBody>
          <a:bodyPr/>
          <a:lstStyle/>
          <a:p>
            <a:pPr eaLnBrk="1" hangingPunct="1"/>
            <a:r>
              <a:rPr lang="ru-RU" sz="2800" dirty="0"/>
              <a:t>В графических приложениях часто возникают задачи</a:t>
            </a:r>
            <a:r>
              <a:rPr lang="en-US" sz="2800" dirty="0"/>
              <a:t>:</a:t>
            </a:r>
            <a:endParaRPr lang="ru-RU" sz="2800" dirty="0"/>
          </a:p>
          <a:p>
            <a:pPr lvl="1" eaLnBrk="1" hangingPunct="1"/>
            <a:r>
              <a:rPr lang="ru-RU" dirty="0"/>
              <a:t>Проецирование вектора на данный вектор</a:t>
            </a:r>
          </a:p>
          <a:p>
            <a:pPr lvl="1" eaLnBrk="1" hangingPunct="1"/>
            <a:r>
              <a:rPr lang="ru-RU" dirty="0"/>
              <a:t>Разложение вектора на составляющие в заданных направлениях</a:t>
            </a:r>
          </a:p>
          <a:p>
            <a:pPr lvl="1" eaLnBrk="1" hangingPunct="1"/>
            <a:r>
              <a:rPr lang="ru-RU" dirty="0"/>
              <a:t>Определение расстояния между точкой и прямой</a:t>
            </a:r>
          </a:p>
          <a:p>
            <a:pPr eaLnBrk="1" hangingPunct="1"/>
            <a:r>
              <a:rPr lang="ru-RU" sz="2800" dirty="0"/>
              <a:t>Использование </a:t>
            </a:r>
            <a:r>
              <a:rPr lang="ru-RU" sz="2800" dirty="0" err="1"/>
              <a:t>перп</a:t>
            </a:r>
            <a:r>
              <a:rPr lang="ru-RU" sz="2800" dirty="0"/>
              <a:t>-вектора и </a:t>
            </a:r>
            <a:r>
              <a:rPr lang="ru-RU" sz="2800" dirty="0" err="1"/>
              <a:t>перп</a:t>
            </a:r>
            <a:r>
              <a:rPr lang="ru-RU" sz="2800" dirty="0"/>
              <a:t>-скалярного произведения упрощает решение данных задач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Пример</a:t>
            </a:r>
          </a:p>
        </p:txBody>
      </p:sp>
      <p:sp>
        <p:nvSpPr>
          <p:cNvPr id="70661" name="Line 5"/>
          <p:cNvSpPr>
            <a:spLocks noChangeShapeType="1"/>
          </p:cNvSpPr>
          <p:nvPr/>
        </p:nvSpPr>
        <p:spPr bwMode="auto">
          <a:xfrm flipV="1">
            <a:off x="551384" y="4077072"/>
            <a:ext cx="5113338" cy="12969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70663" name="Line 7"/>
          <p:cNvSpPr>
            <a:spLocks noChangeShapeType="1"/>
          </p:cNvSpPr>
          <p:nvPr/>
        </p:nvSpPr>
        <p:spPr bwMode="auto">
          <a:xfrm flipV="1">
            <a:off x="1488009" y="4589833"/>
            <a:ext cx="2089150" cy="5603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70664" name="Text Box 8"/>
          <p:cNvSpPr txBox="1">
            <a:spLocks noChangeArrowheads="1"/>
          </p:cNvSpPr>
          <p:nvPr/>
        </p:nvSpPr>
        <p:spPr bwMode="auto">
          <a:xfrm>
            <a:off x="1251473" y="4669209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</a:t>
            </a:r>
            <a:endParaRPr lang="ru-RU"/>
          </a:p>
        </p:txBody>
      </p:sp>
      <p:sp>
        <p:nvSpPr>
          <p:cNvPr id="70665" name="Text Box 9"/>
          <p:cNvSpPr txBox="1">
            <a:spLocks noChangeArrowheads="1"/>
          </p:cNvSpPr>
          <p:nvPr/>
        </p:nvSpPr>
        <p:spPr bwMode="auto">
          <a:xfrm>
            <a:off x="3359673" y="2565771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</a:t>
            </a:r>
            <a:endParaRPr lang="ru-RU"/>
          </a:p>
        </p:txBody>
      </p:sp>
      <p:sp>
        <p:nvSpPr>
          <p:cNvPr id="70666" name="Text Box 10"/>
          <p:cNvSpPr txBox="1">
            <a:spLocks noChangeArrowheads="1"/>
          </p:cNvSpPr>
          <p:nvPr/>
        </p:nvSpPr>
        <p:spPr bwMode="auto">
          <a:xfrm>
            <a:off x="2280172" y="4940671"/>
            <a:ext cx="3159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v</a:t>
            </a:r>
            <a:endParaRPr lang="ru-RU" b="1"/>
          </a:p>
        </p:txBody>
      </p:sp>
      <p:sp>
        <p:nvSpPr>
          <p:cNvPr id="70667" name="Text Box 11"/>
          <p:cNvSpPr txBox="1">
            <a:spLocks noChangeArrowheads="1"/>
          </p:cNvSpPr>
          <p:nvPr/>
        </p:nvSpPr>
        <p:spPr bwMode="auto">
          <a:xfrm>
            <a:off x="2135709" y="3573834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c</a:t>
            </a:r>
            <a:endParaRPr lang="ru-RU" b="1"/>
          </a:p>
        </p:txBody>
      </p:sp>
      <p:sp>
        <p:nvSpPr>
          <p:cNvPr id="70668" name="Text Box 12"/>
          <p:cNvSpPr txBox="1">
            <a:spLocks noChangeArrowheads="1"/>
          </p:cNvSpPr>
          <p:nvPr/>
        </p:nvSpPr>
        <p:spPr bwMode="auto">
          <a:xfrm>
            <a:off x="3648597" y="4150096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L</a:t>
            </a:r>
            <a:endParaRPr lang="ru-RU"/>
          </a:p>
        </p:txBody>
      </p:sp>
      <p:sp>
        <p:nvSpPr>
          <p:cNvPr id="70669" name="Text Box 13"/>
          <p:cNvSpPr txBox="1">
            <a:spLocks noChangeArrowheads="1"/>
          </p:cNvSpPr>
          <p:nvPr/>
        </p:nvSpPr>
        <p:spPr bwMode="auto">
          <a:xfrm>
            <a:off x="6096000" y="1988840"/>
            <a:ext cx="5688632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/>
              <a:t>Даны 2 точки </a:t>
            </a:r>
            <a:r>
              <a:rPr lang="en-US" dirty="0"/>
              <a:t>A </a:t>
            </a:r>
            <a:r>
              <a:rPr lang="ru-RU" dirty="0"/>
              <a:t>и </a:t>
            </a:r>
            <a:r>
              <a:rPr lang="en-US" dirty="0"/>
              <a:t>C, </a:t>
            </a:r>
            <a:r>
              <a:rPr lang="ru-RU" dirty="0"/>
              <a:t>а также вектор </a:t>
            </a:r>
            <a:r>
              <a:rPr lang="en-US" b="1" dirty="0"/>
              <a:t>v</a:t>
            </a:r>
          </a:p>
          <a:p>
            <a:endParaRPr lang="en-US" b="1" dirty="0"/>
          </a:p>
          <a:p>
            <a:r>
              <a:rPr lang="ru-RU" dirty="0"/>
              <a:t>На каком расстоянии находится точка </a:t>
            </a:r>
            <a:r>
              <a:rPr lang="en-US" dirty="0"/>
              <a:t>C </a:t>
            </a:r>
            <a:r>
              <a:rPr lang="ru-RU" dirty="0"/>
              <a:t>от прямой </a:t>
            </a:r>
            <a:r>
              <a:rPr lang="en-US" dirty="0"/>
              <a:t>L, </a:t>
            </a:r>
            <a:r>
              <a:rPr lang="ru-RU" dirty="0"/>
              <a:t>проходящей через точку </a:t>
            </a:r>
            <a:r>
              <a:rPr lang="en-US" dirty="0"/>
              <a:t>A </a:t>
            </a:r>
            <a:r>
              <a:rPr lang="ru-RU" dirty="0"/>
              <a:t>в направлении вектора </a:t>
            </a:r>
            <a:r>
              <a:rPr lang="en-US" b="1" dirty="0"/>
              <a:t>v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ru-RU" dirty="0"/>
              <a:t>Если мы опустим перпендикуляр из точки </a:t>
            </a:r>
            <a:r>
              <a:rPr lang="en-US" dirty="0"/>
              <a:t>C </a:t>
            </a:r>
            <a:r>
              <a:rPr lang="ru-RU" dirty="0"/>
              <a:t>на прямую </a:t>
            </a:r>
            <a:r>
              <a:rPr lang="en-US" dirty="0"/>
              <a:t>L, </a:t>
            </a:r>
            <a:r>
              <a:rPr lang="ru-RU" dirty="0"/>
              <a:t>то в каком месте он пересечет </a:t>
            </a:r>
            <a:r>
              <a:rPr lang="en-US" dirty="0"/>
              <a:t>L?</a:t>
            </a:r>
          </a:p>
          <a:p>
            <a:endParaRPr lang="en-US" dirty="0"/>
          </a:p>
          <a:p>
            <a:r>
              <a:rPr lang="ru-RU" dirty="0"/>
              <a:t>Как разложить вектор </a:t>
            </a:r>
            <a:r>
              <a:rPr lang="en-US" b="1" dirty="0"/>
              <a:t>c</a:t>
            </a:r>
            <a:r>
              <a:rPr lang="en-US" dirty="0"/>
              <a:t> = C</a:t>
            </a:r>
            <a:r>
              <a:rPr lang="ru-RU" dirty="0"/>
              <a:t> – </a:t>
            </a:r>
            <a:r>
              <a:rPr lang="en-US" dirty="0"/>
              <a:t>A </a:t>
            </a:r>
            <a:r>
              <a:rPr lang="ru-RU" dirty="0"/>
              <a:t>на составляющие вдоль прямой </a:t>
            </a:r>
            <a:r>
              <a:rPr lang="en-US" dirty="0"/>
              <a:t>L </a:t>
            </a:r>
            <a:r>
              <a:rPr lang="ru-RU" dirty="0"/>
              <a:t>и в направлении, перпендикулярном к </a:t>
            </a:r>
            <a:r>
              <a:rPr lang="en-US" dirty="0"/>
              <a:t>L?</a:t>
            </a:r>
            <a:endParaRPr lang="ru-RU" dirty="0"/>
          </a:p>
        </p:txBody>
      </p:sp>
      <p:sp>
        <p:nvSpPr>
          <p:cNvPr id="70670" name="Oval 14"/>
          <p:cNvSpPr>
            <a:spLocks noChangeArrowheads="1"/>
          </p:cNvSpPr>
          <p:nvPr/>
        </p:nvSpPr>
        <p:spPr bwMode="auto">
          <a:xfrm>
            <a:off x="1416572" y="5085134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70671" name="Oval 15"/>
          <p:cNvSpPr>
            <a:spLocks noChangeArrowheads="1"/>
          </p:cNvSpPr>
          <p:nvPr/>
        </p:nvSpPr>
        <p:spPr bwMode="auto">
          <a:xfrm>
            <a:off x="3648597" y="2853109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70673" name="Line 17"/>
          <p:cNvSpPr>
            <a:spLocks noChangeAspect="1" noChangeShapeType="1"/>
          </p:cNvSpPr>
          <p:nvPr/>
        </p:nvSpPr>
        <p:spPr bwMode="auto">
          <a:xfrm rot="16200000" flipV="1">
            <a:off x="3112022" y="3532558"/>
            <a:ext cx="1630362" cy="4143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70674" name="Text Box 18"/>
          <p:cNvSpPr txBox="1">
            <a:spLocks noChangeArrowheads="1"/>
          </p:cNvSpPr>
          <p:nvPr/>
        </p:nvSpPr>
        <p:spPr bwMode="auto">
          <a:xfrm>
            <a:off x="4047060" y="4102805"/>
            <a:ext cx="2921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?</a:t>
            </a:r>
            <a:endParaRPr lang="ru-RU" dirty="0"/>
          </a:p>
        </p:txBody>
      </p:sp>
      <p:sp>
        <p:nvSpPr>
          <p:cNvPr id="70675" name="Line 19"/>
          <p:cNvSpPr>
            <a:spLocks noChangeShapeType="1"/>
          </p:cNvSpPr>
          <p:nvPr/>
        </p:nvSpPr>
        <p:spPr bwMode="auto">
          <a:xfrm flipV="1">
            <a:off x="1488010" y="2924547"/>
            <a:ext cx="2232025" cy="2232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0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0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06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0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06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0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0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06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0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70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1" grpId="0" animBg="1"/>
      <p:bldP spid="70663" grpId="0" animBg="1"/>
      <p:bldP spid="70664" grpId="0"/>
      <p:bldP spid="70665" grpId="0"/>
      <p:bldP spid="70666" grpId="0"/>
      <p:bldP spid="70667" grpId="0"/>
      <p:bldP spid="70668" grpId="0"/>
      <p:bldP spid="70670" grpId="0" animBg="1"/>
      <p:bldP spid="70671" grpId="0" animBg="1"/>
      <p:bldP spid="70673" grpId="0" animBg="1"/>
      <p:bldP spid="70674" grpId="0"/>
      <p:bldP spid="7067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Решение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729" name="Object 25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1014763" y="5414133"/>
                <a:ext cx="1827212" cy="10636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72729" name="Object 2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014763" y="5414133"/>
                <a:ext cx="1827212" cy="10636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7" name="Line 3"/>
          <p:cNvSpPr>
            <a:spLocks noChangeShapeType="1"/>
          </p:cNvSpPr>
          <p:nvPr/>
        </p:nvSpPr>
        <p:spPr bwMode="auto">
          <a:xfrm flipV="1">
            <a:off x="920306" y="3726091"/>
            <a:ext cx="5113338" cy="12969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8" name="Text Box 5"/>
              <p:cNvSpPr txBox="1">
                <a:spLocks noChangeArrowheads="1"/>
              </p:cNvSpPr>
              <p:nvPr/>
            </p:nvSpPr>
            <p:spPr bwMode="auto">
              <a:xfrm>
                <a:off x="1641032" y="4878615"/>
                <a:ext cx="385683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198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1032" y="4878615"/>
                <a:ext cx="38568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9" name="Text Box 6"/>
              <p:cNvSpPr txBox="1">
                <a:spLocks noChangeArrowheads="1"/>
              </p:cNvSpPr>
              <p:nvPr/>
            </p:nvSpPr>
            <p:spPr bwMode="auto">
              <a:xfrm>
                <a:off x="3728595" y="2214790"/>
                <a:ext cx="385555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199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28595" y="2214790"/>
                <a:ext cx="38555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00" name="Text Box 7"/>
          <p:cNvSpPr txBox="1">
            <a:spLocks noChangeArrowheads="1"/>
          </p:cNvSpPr>
          <p:nvPr/>
        </p:nvSpPr>
        <p:spPr bwMode="auto">
          <a:xfrm>
            <a:off x="2649094" y="4589690"/>
            <a:ext cx="3159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/>
              <a:t>v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01" name="Text Box 8"/>
              <p:cNvSpPr txBox="1">
                <a:spLocks noChangeArrowheads="1"/>
              </p:cNvSpPr>
              <p:nvPr/>
            </p:nvSpPr>
            <p:spPr bwMode="auto">
              <a:xfrm>
                <a:off x="2504631" y="3222853"/>
                <a:ext cx="354584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8201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4631" y="3222853"/>
                <a:ext cx="35458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02" name="Text Box 9"/>
          <p:cNvSpPr txBox="1">
            <a:spLocks noChangeArrowheads="1"/>
          </p:cNvSpPr>
          <p:nvPr/>
        </p:nvSpPr>
        <p:spPr bwMode="auto">
          <a:xfrm>
            <a:off x="4017519" y="3799115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L</a:t>
            </a:r>
            <a:endParaRPr lang="ru-RU"/>
          </a:p>
        </p:txBody>
      </p:sp>
      <p:sp>
        <p:nvSpPr>
          <p:cNvPr id="8203" name="Oval 11"/>
          <p:cNvSpPr>
            <a:spLocks noChangeArrowheads="1"/>
          </p:cNvSpPr>
          <p:nvPr/>
        </p:nvSpPr>
        <p:spPr bwMode="auto">
          <a:xfrm>
            <a:off x="1785494" y="4734153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204" name="Oval 12"/>
          <p:cNvSpPr>
            <a:spLocks noChangeArrowheads="1"/>
          </p:cNvSpPr>
          <p:nvPr/>
        </p:nvSpPr>
        <p:spPr bwMode="auto">
          <a:xfrm>
            <a:off x="4017519" y="2502128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72717" name="Line 13"/>
          <p:cNvSpPr>
            <a:spLocks noChangeAspect="1" noChangeShapeType="1"/>
          </p:cNvSpPr>
          <p:nvPr/>
        </p:nvSpPr>
        <p:spPr bwMode="auto">
          <a:xfrm rot="16200000" flipV="1">
            <a:off x="3531745" y="3149828"/>
            <a:ext cx="1544637" cy="392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8206" name="Line 15"/>
          <p:cNvSpPr>
            <a:spLocks noChangeShapeType="1"/>
          </p:cNvSpPr>
          <p:nvPr/>
        </p:nvSpPr>
        <p:spPr bwMode="auto">
          <a:xfrm flipV="1">
            <a:off x="1856932" y="2573566"/>
            <a:ext cx="2232025" cy="2232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721" name="Text Box 17"/>
              <p:cNvSpPr txBox="1">
                <a:spLocks noChangeArrowheads="1"/>
              </p:cNvSpPr>
              <p:nvPr/>
            </p:nvSpPr>
            <p:spPr bwMode="auto">
              <a:xfrm>
                <a:off x="920306" y="3005365"/>
                <a:ext cx="543739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┴</m:t>
                      </m:r>
                    </m:oMath>
                  </m:oMathPara>
                </a14:m>
                <a:endParaRPr lang="en-US" dirty="0">
                  <a:latin typeface="Arial" charset="0"/>
                </a:endParaRPr>
              </a:p>
            </p:txBody>
          </p:sp>
        </mc:Choice>
        <mc:Fallback xmlns="">
          <p:sp>
            <p:nvSpPr>
              <p:cNvPr id="72721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0306" y="3005365"/>
                <a:ext cx="54373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08" name="Line 18"/>
          <p:cNvSpPr>
            <a:spLocks noChangeShapeType="1"/>
          </p:cNvSpPr>
          <p:nvPr/>
        </p:nvSpPr>
        <p:spPr bwMode="auto">
          <a:xfrm flipV="1">
            <a:off x="1856931" y="4238852"/>
            <a:ext cx="2089150" cy="5603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72723" name="Line 19"/>
          <p:cNvSpPr>
            <a:spLocks noChangeShapeType="1"/>
          </p:cNvSpPr>
          <p:nvPr/>
        </p:nvSpPr>
        <p:spPr bwMode="auto">
          <a:xfrm rot="16200000" flipV="1">
            <a:off x="516288" y="3409384"/>
            <a:ext cx="2089150" cy="5603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724" name="Text Box 20"/>
              <p:cNvSpPr txBox="1">
                <a:spLocks noChangeArrowheads="1"/>
              </p:cNvSpPr>
              <p:nvPr/>
            </p:nvSpPr>
            <p:spPr bwMode="auto">
              <a:xfrm>
                <a:off x="6672263" y="1807255"/>
                <a:ext cx="5113338" cy="36933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Строим вектор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┴</m:t>
                    </m:r>
                  </m:oMath>
                </a14:m>
                <a:endParaRPr lang="ru-RU" dirty="0"/>
              </a:p>
              <a:p>
                <a:endParaRPr lang="ru-RU" dirty="0"/>
              </a:p>
              <a:p>
                <a:r>
                  <a:rPr lang="ru-RU" dirty="0"/>
                  <a:t>Опустив перпендикуляр из точки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ru-RU" dirty="0"/>
                  <a:t> на прямую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,</a:t>
                </a:r>
                <a:r>
                  <a:rPr lang="ru-RU" dirty="0"/>
                  <a:t> мы говорим, что вектор </a:t>
                </a:r>
                <a:r>
                  <a:rPr lang="en-US" b="1" i="0" dirty="0">
                    <a:latin typeface="+mj-lt"/>
                  </a:rPr>
                  <a:t>c</a:t>
                </a:r>
                <a:r>
                  <a:rPr lang="en-US" dirty="0"/>
                  <a:t> </a:t>
                </a:r>
                <a:r>
                  <a:rPr lang="ru-RU" dirty="0"/>
                  <a:t>разложен на составляющую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1" i="1" dirty="0" err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вдоль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составляющую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┴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перпендикулярно</a:t>
                </a:r>
                <a:r>
                  <a:rPr lang="en-US" dirty="0"/>
                  <a:t> </a:t>
                </a:r>
                <a:r>
                  <a:rPr lang="ru-RU" dirty="0"/>
                  <a:t>к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некоторые константы</a:t>
                </a:r>
                <a:endParaRPr lang="en-US" dirty="0"/>
              </a:p>
              <a:p>
                <a:endParaRPr lang="en-US" dirty="0"/>
              </a:p>
              <a:p>
                <a:r>
                  <a:rPr lang="ru-RU" dirty="0"/>
                  <a:t>Таким образом:</a:t>
                </a:r>
                <a:br>
                  <a:rPr lang="ru-RU" dirty="0"/>
                </a:b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1" i="1" dirty="0" err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┴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pPr/>
                <a:r>
                  <a:rPr lang="ru-RU" dirty="0"/>
                  <a:t>Зная </a:t>
                </a:r>
                <a:r>
                  <a:rPr lang="en-US" b="1" dirty="0"/>
                  <a:t>c</a:t>
                </a:r>
                <a:r>
                  <a:rPr lang="en-US" dirty="0"/>
                  <a:t> </a:t>
                </a:r>
                <a:r>
                  <a:rPr lang="ru-RU" dirty="0"/>
                  <a:t>и </a:t>
                </a:r>
                <a:r>
                  <a:rPr lang="en-US" b="1" dirty="0"/>
                  <a:t>v</a:t>
                </a:r>
                <a:r>
                  <a:rPr lang="en-US" dirty="0"/>
                  <a:t>, </a:t>
                </a:r>
                <a:r>
                  <a:rPr lang="ru-RU" dirty="0"/>
                  <a:t>можно определить </a:t>
                </a:r>
                <a:r>
                  <a:rPr lang="en-US" dirty="0"/>
                  <a:t>K </a:t>
                </a:r>
                <a:r>
                  <a:rPr lang="ru-RU" dirty="0"/>
                  <a:t>и </a:t>
                </a:r>
                <a:r>
                  <a:rPr lang="en-US" dirty="0"/>
                  <a:t>M: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i="1" dirty="0">
                          <a:latin typeface="Cambria Math" panose="02040503050406030204" pitchFamily="18" charset="0"/>
                          <a:cs typeface="Tahoma" pitchFamily="34" charset="0"/>
                        </a:rPr>
                        <m:t>∙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en-US" b="1" i="1" dirty="0">
                          <a:latin typeface="Cambria Math" panose="02040503050406030204" pitchFamily="18" charset="0"/>
                          <a:cs typeface="Tahoma" pitchFamily="34" charset="0"/>
                        </a:rPr>
                        <m:t>𝒗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ahoma" pitchFamily="34" charset="0"/>
                        </a:rPr>
                        <m:t> = </m:t>
                      </m:r>
                      <m:r>
                        <a:rPr lang="en-US" i="1" dirty="0" err="1">
                          <a:latin typeface="Cambria Math" panose="02040503050406030204" pitchFamily="18" charset="0"/>
                          <a:cs typeface="Tahoma" pitchFamily="34" charset="0"/>
                        </a:rPr>
                        <m:t>𝐾</m:t>
                      </m:r>
                      <m:r>
                        <a:rPr lang="en-US" b="1" i="1" dirty="0" err="1">
                          <a:latin typeface="Cambria Math" panose="02040503050406030204" pitchFamily="18" charset="0"/>
                          <a:cs typeface="Tahoma" pitchFamily="34" charset="0"/>
                        </a:rPr>
                        <m:t>𝒗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ahoma" pitchFamily="34" charset="0"/>
                        </a:rPr>
                        <m:t> </m:t>
                      </m:r>
                      <m:r>
                        <a:rPr lang="ru-RU" i="1" dirty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1" i="1" dirty="0" err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┴ </m:t>
                      </m:r>
                      <m:r>
                        <a:rPr lang="ru-RU" i="1" dirty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72724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72263" y="1807255"/>
                <a:ext cx="5113338" cy="3693319"/>
              </a:xfrm>
              <a:prstGeom prst="rect">
                <a:avLst/>
              </a:prstGeom>
              <a:blipFill>
                <a:blip r:embed="rId8"/>
                <a:stretch>
                  <a:fillRect l="-1074" t="-82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725" name="Line 21"/>
          <p:cNvSpPr>
            <a:spLocks noChangeAspect="1" noChangeShapeType="1"/>
          </p:cNvSpPr>
          <p:nvPr/>
        </p:nvSpPr>
        <p:spPr bwMode="auto">
          <a:xfrm flipV="1">
            <a:off x="1928370" y="4086453"/>
            <a:ext cx="2573337" cy="6905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726" name="Text Box 22"/>
              <p:cNvSpPr txBox="1">
                <a:spLocks noChangeArrowheads="1"/>
              </p:cNvSpPr>
              <p:nvPr/>
            </p:nvSpPr>
            <p:spPr bwMode="auto">
              <a:xfrm>
                <a:off x="4377881" y="2862490"/>
                <a:ext cx="74090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┴</m:t>
                      </m:r>
                    </m:oMath>
                  </m:oMathPara>
                </a14:m>
                <a:endParaRPr lang="en-US" dirty="0">
                  <a:latin typeface="Arial" charset="0"/>
                </a:endParaRPr>
              </a:p>
            </p:txBody>
          </p:sp>
        </mc:Choice>
        <mc:Fallback xmlns="">
          <p:sp>
            <p:nvSpPr>
              <p:cNvPr id="72726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7881" y="2862490"/>
                <a:ext cx="74090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727" name="Text Box 23"/>
          <p:cNvSpPr txBox="1">
            <a:spLocks noChangeArrowheads="1"/>
          </p:cNvSpPr>
          <p:nvPr/>
        </p:nvSpPr>
        <p:spPr bwMode="auto">
          <a:xfrm>
            <a:off x="4161981" y="4229328"/>
            <a:ext cx="4010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0" dirty="0" err="1">
                <a:latin typeface="+mj-lt"/>
              </a:rPr>
              <a:t>K</a:t>
            </a:r>
            <a:r>
              <a:rPr lang="en-US" b="1" i="0" dirty="0" err="1">
                <a:latin typeface="+mj-lt"/>
              </a:rPr>
              <a:t>v</a:t>
            </a:r>
            <a:endParaRPr lang="en-US" dirty="0"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728" name="Text Box 24"/>
              <p:cNvSpPr txBox="1">
                <a:spLocks noChangeArrowheads="1"/>
              </p:cNvSpPr>
              <p:nvPr/>
            </p:nvSpPr>
            <p:spPr bwMode="auto">
              <a:xfrm>
                <a:off x="6888163" y="5614474"/>
                <a:ext cx="147348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┴ </m:t>
                      </m:r>
                      <m:r>
                        <a:rPr lang="ru-RU" i="1" dirty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= 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2728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88163" y="5614474"/>
                <a:ext cx="147348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731" name="Object 27"/>
              <p:cNvSpPr txBox="1"/>
              <p:nvPr/>
            </p:nvSpPr>
            <p:spPr bwMode="auto">
              <a:xfrm>
                <a:off x="3210539" y="5245328"/>
                <a:ext cx="1794933" cy="1063625"/>
              </a:xfrm>
              <a:prstGeom prst="rect">
                <a:avLst/>
              </a:prstGeom>
              <a:noFill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3200" dirty="0">
                                  <a:latin typeface="Arial" charset="0"/>
                                </a:rPr>
                                <m:t>┴</m:t>
                              </m:r>
                            </m:sup>
                          </m:sSup>
                        </m:num>
                        <m:den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72731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0539" y="5245328"/>
                <a:ext cx="1794933" cy="106362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5B193C3-C89F-4DD9-8E01-E615A446F1F0}"/>
              </a:ext>
            </a:extLst>
          </p:cNvPr>
          <p:cNvSpPr txBox="1"/>
          <p:nvPr/>
        </p:nvSpPr>
        <p:spPr>
          <a:xfrm>
            <a:off x="7608168" y="6119138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 видите тут линейные комбинации</a:t>
            </a:r>
            <a:r>
              <a:rPr lang="en-US" dirty="0"/>
              <a:t>?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7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2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2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7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7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2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2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2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29" grpId="0" build="p"/>
      <p:bldP spid="72717" grpId="0" animBg="1"/>
      <p:bldP spid="72721" grpId="0"/>
      <p:bldP spid="72723" grpId="0" animBg="1"/>
      <p:bldP spid="72725" grpId="0" animBg="1"/>
      <p:bldP spid="72726" grpId="0"/>
      <p:bldP spid="72727" grpId="0"/>
      <p:bldP spid="72728" grpId="0"/>
      <p:bldP spid="72731" grpId="0"/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Отражение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/>
              <a:t>Свойства отражения</a:t>
            </a:r>
          </a:p>
          <a:p>
            <a:pPr lvl="1" eaLnBrk="1" hangingPunct="1"/>
            <a:r>
              <a:rPr lang="ru-RU"/>
              <a:t>Угол падения равен углу отражения</a:t>
            </a:r>
          </a:p>
          <a:p>
            <a:pPr lvl="1" eaLnBrk="1" hangingPunct="1"/>
            <a:r>
              <a:rPr lang="ru-RU"/>
              <a:t>Отраженный луч лежит в той же плоскости, что падающий луч и перпендикуляр к поверхности, восстановленный в точке падения</a:t>
            </a:r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78466A72-2A07-48C7-90E1-57DBF9A33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25" y="4077073"/>
            <a:ext cx="4071577" cy="241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Отражение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805" name="Object 29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5160964" y="1789907"/>
                <a:ext cx="2879725" cy="935037"/>
              </a:xfrm>
              <a:prstGeom prst="rect">
                <a:avLst/>
              </a:prstGeom>
              <a:noFill/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75805" name="Object 2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5160964" y="1789907"/>
                <a:ext cx="2879725" cy="9350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21" name="Rectangle 4"/>
          <p:cNvSpPr>
            <a:spLocks noChangeArrowheads="1"/>
          </p:cNvSpPr>
          <p:nvPr/>
        </p:nvSpPr>
        <p:spPr bwMode="auto">
          <a:xfrm>
            <a:off x="2640014" y="5876925"/>
            <a:ext cx="6911975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75781" name="Line 5"/>
          <p:cNvSpPr>
            <a:spLocks noChangeShapeType="1"/>
          </p:cNvSpPr>
          <p:nvPr/>
        </p:nvSpPr>
        <p:spPr bwMode="auto">
          <a:xfrm>
            <a:off x="3216276" y="3284539"/>
            <a:ext cx="2879725" cy="25923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75783" name="Line 7"/>
          <p:cNvSpPr>
            <a:spLocks noChangeShapeType="1"/>
          </p:cNvSpPr>
          <p:nvPr/>
        </p:nvSpPr>
        <p:spPr bwMode="auto">
          <a:xfrm rot="-5400000">
            <a:off x="6240463" y="3213100"/>
            <a:ext cx="2519362" cy="2808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75784" name="Line 8"/>
          <p:cNvSpPr>
            <a:spLocks noChangeShapeType="1"/>
          </p:cNvSpPr>
          <p:nvPr/>
        </p:nvSpPr>
        <p:spPr bwMode="auto">
          <a:xfrm flipV="1">
            <a:off x="6096000" y="2924175"/>
            <a:ext cx="0" cy="2952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785" name="Text Box 9"/>
              <p:cNvSpPr txBox="1">
                <a:spLocks noChangeArrowheads="1"/>
              </p:cNvSpPr>
              <p:nvPr/>
            </p:nvSpPr>
            <p:spPr bwMode="auto">
              <a:xfrm>
                <a:off x="3556001" y="3086101"/>
                <a:ext cx="38023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75785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56001" y="3086101"/>
                <a:ext cx="38023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786" name="Text Box 10"/>
              <p:cNvSpPr txBox="1">
                <a:spLocks noChangeArrowheads="1"/>
              </p:cNvSpPr>
              <p:nvPr/>
            </p:nvSpPr>
            <p:spPr bwMode="auto">
              <a:xfrm>
                <a:off x="8040689" y="3421841"/>
                <a:ext cx="36099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75786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40689" y="3421841"/>
                <a:ext cx="36099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787" name="Arc 11"/>
          <p:cNvSpPr>
            <a:spLocks/>
          </p:cNvSpPr>
          <p:nvPr/>
        </p:nvSpPr>
        <p:spPr bwMode="auto">
          <a:xfrm>
            <a:off x="6096001" y="5013325"/>
            <a:ext cx="627063" cy="863600"/>
          </a:xfrm>
          <a:custGeom>
            <a:avLst/>
            <a:gdLst>
              <a:gd name="T0" fmla="*/ 0 w 15661"/>
              <a:gd name="T1" fmla="*/ 0 h 21600"/>
              <a:gd name="T2" fmla="*/ 1005297093 w 15661"/>
              <a:gd name="T3" fmla="*/ 429737600 h 21600"/>
              <a:gd name="T4" fmla="*/ 0 w 15661"/>
              <a:gd name="T5" fmla="*/ 1380480733 h 21600"/>
              <a:gd name="T6" fmla="*/ 0 60000 65536"/>
              <a:gd name="T7" fmla="*/ 0 60000 65536"/>
              <a:gd name="T8" fmla="*/ 0 60000 65536"/>
              <a:gd name="T9" fmla="*/ 0 w 15661"/>
              <a:gd name="T10" fmla="*/ 0 h 21600"/>
              <a:gd name="T11" fmla="*/ 15661 w 1566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661" h="21600" fill="none" extrusionOk="0">
                <a:moveTo>
                  <a:pt x="-1" y="0"/>
                </a:moveTo>
                <a:cubicBezTo>
                  <a:pt x="5921" y="0"/>
                  <a:pt x="11582" y="2430"/>
                  <a:pt x="15660" y="6724"/>
                </a:cubicBezTo>
              </a:path>
              <a:path w="15661" h="21600" stroke="0" extrusionOk="0">
                <a:moveTo>
                  <a:pt x="-1" y="0"/>
                </a:moveTo>
                <a:cubicBezTo>
                  <a:pt x="5921" y="0"/>
                  <a:pt x="11582" y="2430"/>
                  <a:pt x="15660" y="6724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75788" name="Arc 12"/>
          <p:cNvSpPr>
            <a:spLocks/>
          </p:cNvSpPr>
          <p:nvPr/>
        </p:nvSpPr>
        <p:spPr bwMode="auto">
          <a:xfrm rot="10800000">
            <a:off x="5557839" y="5157789"/>
            <a:ext cx="541337" cy="719137"/>
          </a:xfrm>
          <a:custGeom>
            <a:avLst/>
            <a:gdLst>
              <a:gd name="T0" fmla="*/ 599056760 w 16273"/>
              <a:gd name="T1" fmla="*/ 524257242 h 21599"/>
              <a:gd name="T2" fmla="*/ 8172416 w 16273"/>
              <a:gd name="T3" fmla="*/ 797200250 h 21599"/>
              <a:gd name="T4" fmla="*/ 0 w 16273"/>
              <a:gd name="T5" fmla="*/ 0 h 21599"/>
              <a:gd name="T6" fmla="*/ 0 60000 65536"/>
              <a:gd name="T7" fmla="*/ 0 60000 65536"/>
              <a:gd name="T8" fmla="*/ 0 60000 65536"/>
              <a:gd name="T9" fmla="*/ 0 w 16273"/>
              <a:gd name="T10" fmla="*/ 0 h 21599"/>
              <a:gd name="T11" fmla="*/ 16273 w 16273"/>
              <a:gd name="T12" fmla="*/ 21599 h 215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273" h="21599" fill="none" extrusionOk="0">
                <a:moveTo>
                  <a:pt x="16272" y="14203"/>
                </a:moveTo>
                <a:cubicBezTo>
                  <a:pt x="12221" y="18845"/>
                  <a:pt x="6382" y="21535"/>
                  <a:pt x="221" y="21598"/>
                </a:cubicBezTo>
              </a:path>
              <a:path w="16273" h="21599" stroke="0" extrusionOk="0">
                <a:moveTo>
                  <a:pt x="16272" y="14203"/>
                </a:moveTo>
                <a:cubicBezTo>
                  <a:pt x="12221" y="18845"/>
                  <a:pt x="6382" y="21535"/>
                  <a:pt x="221" y="21598"/>
                </a:cubicBez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789" name="Text Box 13"/>
              <p:cNvSpPr txBox="1">
                <a:spLocks noChangeArrowheads="1"/>
              </p:cNvSpPr>
              <p:nvPr/>
            </p:nvSpPr>
            <p:spPr bwMode="auto">
              <a:xfrm>
                <a:off x="6167438" y="3180636"/>
                <a:ext cx="386644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75789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67438" y="3180636"/>
                <a:ext cx="38664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30" name="Line 14"/>
          <p:cNvSpPr>
            <a:spLocks noChangeShapeType="1"/>
          </p:cNvSpPr>
          <p:nvPr/>
        </p:nvSpPr>
        <p:spPr bwMode="auto">
          <a:xfrm>
            <a:off x="1847850" y="5876925"/>
            <a:ext cx="84963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2259013" y="5318126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L</a:t>
            </a:r>
            <a:endParaRPr lang="ru-RU"/>
          </a:p>
        </p:txBody>
      </p:sp>
      <p:sp>
        <p:nvSpPr>
          <p:cNvPr id="75792" name="Line 16"/>
          <p:cNvSpPr>
            <a:spLocks noChangeShapeType="1"/>
          </p:cNvSpPr>
          <p:nvPr/>
        </p:nvSpPr>
        <p:spPr bwMode="auto">
          <a:xfrm>
            <a:off x="3216275" y="3284539"/>
            <a:ext cx="0" cy="2592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75793" name="Line 17"/>
          <p:cNvSpPr>
            <a:spLocks noChangeShapeType="1"/>
          </p:cNvSpPr>
          <p:nvPr/>
        </p:nvSpPr>
        <p:spPr bwMode="auto">
          <a:xfrm rot="-5400000">
            <a:off x="4620419" y="4833144"/>
            <a:ext cx="0" cy="2808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75795" name="Line 19"/>
          <p:cNvSpPr>
            <a:spLocks noChangeShapeType="1"/>
          </p:cNvSpPr>
          <p:nvPr/>
        </p:nvSpPr>
        <p:spPr bwMode="auto">
          <a:xfrm rot="10800000">
            <a:off x="8904288" y="3357563"/>
            <a:ext cx="0" cy="2519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75797" name="Line 21"/>
          <p:cNvSpPr>
            <a:spLocks noChangeShapeType="1"/>
          </p:cNvSpPr>
          <p:nvPr/>
        </p:nvSpPr>
        <p:spPr bwMode="auto">
          <a:xfrm rot="-5400000">
            <a:off x="7571582" y="4833145"/>
            <a:ext cx="0" cy="2808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801" name="Text Box 25"/>
              <p:cNvSpPr txBox="1">
                <a:spLocks noChangeArrowheads="1"/>
              </p:cNvSpPr>
              <p:nvPr/>
            </p:nvSpPr>
            <p:spPr bwMode="auto">
              <a:xfrm>
                <a:off x="2711450" y="4292601"/>
                <a:ext cx="45236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75801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1450" y="4292601"/>
                <a:ext cx="45236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802" name="Text Box 26"/>
          <p:cNvSpPr txBox="1">
            <a:spLocks noChangeArrowheads="1"/>
          </p:cNvSpPr>
          <p:nvPr/>
        </p:nvSpPr>
        <p:spPr bwMode="auto">
          <a:xfrm>
            <a:off x="7104064" y="62372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/>
              <a:t>e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803" name="Text Box 27"/>
              <p:cNvSpPr txBox="1">
                <a:spLocks noChangeArrowheads="1"/>
              </p:cNvSpPr>
              <p:nvPr/>
            </p:nvSpPr>
            <p:spPr bwMode="auto">
              <a:xfrm>
                <a:off x="4440239" y="6237288"/>
                <a:ext cx="36420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𝒆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75803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40239" y="6237288"/>
                <a:ext cx="36420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804" name="Text Box 28"/>
              <p:cNvSpPr txBox="1">
                <a:spLocks noChangeArrowheads="1"/>
              </p:cNvSpPr>
              <p:nvPr/>
            </p:nvSpPr>
            <p:spPr bwMode="auto">
              <a:xfrm>
                <a:off x="8975726" y="4149726"/>
                <a:ext cx="62549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75804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75726" y="4149726"/>
                <a:ext cx="62549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807" name="Object 31"/>
              <p:cNvSpPr txBox="1"/>
              <p:nvPr/>
            </p:nvSpPr>
            <p:spPr bwMode="auto">
              <a:xfrm>
                <a:off x="8328026" y="1916114"/>
                <a:ext cx="2119313" cy="441325"/>
              </a:xfrm>
              <a:prstGeom prst="rect">
                <a:avLst/>
              </a:prstGeom>
              <a:noFill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−2(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75807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28026" y="1916114"/>
                <a:ext cx="2119313" cy="441325"/>
              </a:xfrm>
              <a:prstGeom prst="rect">
                <a:avLst/>
              </a:prstGeom>
              <a:blipFill>
                <a:blip r:embed="rId10"/>
                <a:stretch>
                  <a:fillRect t="-5479" r="-12644" b="-41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808" name="Text Box 32"/>
              <p:cNvSpPr txBox="1">
                <a:spLocks noChangeArrowheads="1"/>
              </p:cNvSpPr>
              <p:nvPr/>
            </p:nvSpPr>
            <p:spPr bwMode="auto">
              <a:xfrm>
                <a:off x="7248526" y="1"/>
                <a:ext cx="148470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75808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48526" y="1"/>
                <a:ext cx="148470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809" name="Text Box 33"/>
              <p:cNvSpPr txBox="1">
                <a:spLocks noChangeArrowheads="1"/>
              </p:cNvSpPr>
              <p:nvPr/>
            </p:nvSpPr>
            <p:spPr bwMode="auto">
              <a:xfrm>
                <a:off x="8975726" y="1"/>
                <a:ext cx="150393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75809" name="Text 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75726" y="1"/>
                <a:ext cx="150393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810" name="Text Box 34"/>
              <p:cNvSpPr txBox="1">
                <a:spLocks noChangeArrowheads="1"/>
              </p:cNvSpPr>
              <p:nvPr/>
            </p:nvSpPr>
            <p:spPr bwMode="auto">
              <a:xfrm>
                <a:off x="7248525" y="476251"/>
                <a:ext cx="1507144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– 2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75810" name="Text 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48525" y="476251"/>
                <a:ext cx="150714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811" name="Text Box 35"/>
          <p:cNvSpPr txBox="1">
            <a:spLocks noChangeArrowheads="1"/>
          </p:cNvSpPr>
          <p:nvPr/>
        </p:nvSpPr>
        <p:spPr bwMode="auto">
          <a:xfrm>
            <a:off x="7248526" y="908051"/>
            <a:ext cx="24288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/>
              <a:t>m – </a:t>
            </a:r>
            <a:r>
              <a:rPr lang="ru-RU" dirty="0"/>
              <a:t>проекция</a:t>
            </a:r>
            <a:r>
              <a:rPr lang="ru-RU" b="1" dirty="0"/>
              <a:t> </a:t>
            </a:r>
            <a:r>
              <a:rPr lang="en-US" b="1" dirty="0"/>
              <a:t>a </a:t>
            </a:r>
            <a:r>
              <a:rPr lang="ru-RU" dirty="0"/>
              <a:t>на</a:t>
            </a:r>
            <a:r>
              <a:rPr lang="ru-RU" b="1" dirty="0"/>
              <a:t> </a:t>
            </a:r>
            <a:r>
              <a:rPr lang="en-US" b="1" dirty="0"/>
              <a:t>n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7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75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75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75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75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7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75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7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1000"/>
                                        <p:tgtEl>
                                          <p:spTgt spid="75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75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5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7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5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5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805" grpId="0" build="p"/>
      <p:bldP spid="75781" grpId="0" animBg="1"/>
      <p:bldP spid="75783" grpId="0" animBg="1"/>
      <p:bldP spid="75784" grpId="0" animBg="1"/>
      <p:bldP spid="75785" grpId="0"/>
      <p:bldP spid="75786" grpId="0"/>
      <p:bldP spid="75787" grpId="0" animBg="1"/>
      <p:bldP spid="75788" grpId="0" animBg="1"/>
      <p:bldP spid="75789" grpId="0"/>
      <p:bldP spid="75792" grpId="0" animBg="1"/>
      <p:bldP spid="75793" grpId="0" animBg="1"/>
      <p:bldP spid="75795" grpId="0" animBg="1"/>
      <p:bldP spid="75797" grpId="0" animBg="1"/>
      <p:bldP spid="75801" grpId="0"/>
      <p:bldP spid="75802" grpId="0"/>
      <p:bldP spid="75803" grpId="0"/>
      <p:bldP spid="75804" grpId="0"/>
      <p:bldP spid="75807" grpId="0"/>
      <p:bldP spid="75808" grpId="0"/>
      <p:bldP spid="75809" grpId="0"/>
      <p:bldP spid="75810" grpId="0"/>
      <p:bldP spid="7581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Векторное произведение двух векторов</a:t>
            </a:r>
          </a:p>
        </p:txBody>
      </p:sp>
      <p:sp>
        <p:nvSpPr>
          <p:cNvPr id="10242" name="Object 4"/>
          <p:cNvSpPr txBox="1">
            <a:spLocks noGrp="1"/>
          </p:cNvSpPr>
          <p:nvPr>
            <p:ph idx="1"/>
          </p:nvPr>
        </p:nvSpPr>
        <p:spPr bwMode="auto">
          <a:xfrm>
            <a:off x="911424" y="1935164"/>
            <a:ext cx="9299376" cy="1709861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eaLnBrk="1" hangingPunct="1"/>
            <a:r>
              <a:rPr lang="ru-RU" sz="3200" b="1" dirty="0"/>
              <a:t>Векторное произведение</a:t>
            </a:r>
            <a:r>
              <a:rPr lang="en-US" sz="3200" dirty="0"/>
              <a:t> (cross product, vector product)</a:t>
            </a:r>
            <a:r>
              <a:rPr lang="ru-RU" sz="3200" dirty="0"/>
              <a:t> двух </a:t>
            </a:r>
            <a:r>
              <a:rPr lang="ru-RU" sz="3200" b="1" dirty="0"/>
              <a:t>трехмерных</a:t>
            </a:r>
            <a:r>
              <a:rPr lang="ru-RU" sz="3200" dirty="0"/>
              <a:t> векторов: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8874B1-61EE-7ACD-0BD2-C360D347FF7B}"/>
                  </a:ext>
                </a:extLst>
              </p:cNvPr>
              <p:cNvSpPr txBox="1"/>
              <p:nvPr/>
            </p:nvSpPr>
            <p:spPr>
              <a:xfrm>
                <a:off x="1981200" y="3861049"/>
                <a:ext cx="4583288" cy="1657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ru-RU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e>
                                <m:r>
                                  <a:rPr lang="ru-RU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8874B1-61EE-7ACD-0BD2-C360D347F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3861049"/>
                <a:ext cx="4583288" cy="16575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D1F5F57-3874-99BF-3D62-559C52A4FA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60096" y="3732337"/>
            <a:ext cx="2838970" cy="22804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ACF8A9-B2D3-EE0A-51DB-1F52F7222466}"/>
              </a:ext>
            </a:extLst>
          </p:cNvPr>
          <p:cNvSpPr txBox="1"/>
          <p:nvPr/>
        </p:nvSpPr>
        <p:spPr>
          <a:xfrm flipH="1">
            <a:off x="6960096" y="6153150"/>
            <a:ext cx="2838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hlinkClick r:id="rId6"/>
              </a:rPr>
              <a:t>Правило </a:t>
            </a:r>
            <a:r>
              <a:rPr lang="ru-RU" dirty="0" err="1">
                <a:hlinkClick r:id="rId6"/>
              </a:rPr>
              <a:t>Саррюса</a:t>
            </a:r>
            <a:endParaRPr lang="ru-RU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Свойства векторного произведения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2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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𝒋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=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𝒌</m:t>
                    </m:r>
                  </m:oMath>
                </a14:m>
                <a:r>
                  <a:rPr lang="en-US" dirty="0">
                    <a:sym typeface="Symbol" pitchFamily="18" charset="2"/>
                  </a:rPr>
                  <a:t>	</a:t>
                </a:r>
              </a:p>
              <a:p>
                <a:pPr eaLnBrk="1" hangingPunct="1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𝒋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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𝒌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=</m:t>
                    </m:r>
                    <m:r>
                      <a:rPr lang="en-US" b="1" i="1" dirty="0" err="1">
                        <a:latin typeface="Cambria Math" panose="02040503050406030204" pitchFamily="18" charset="0"/>
                        <a:sym typeface="Symbol" pitchFamily="18" charset="2"/>
                      </a:rPr>
                      <m:t>𝒊</m:t>
                    </m:r>
                  </m:oMath>
                </a14:m>
                <a:endParaRPr lang="en-US" dirty="0">
                  <a:sym typeface="Symbol" pitchFamily="18" charset="2"/>
                </a:endParaRPr>
              </a:p>
              <a:p>
                <a:pPr eaLnBrk="1" hangingPunct="1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𝒌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</m:t>
                    </m:r>
                    <m:r>
                      <a:rPr lang="en-US" b="1" i="1" dirty="0" err="1">
                        <a:latin typeface="Cambria Math" panose="02040503050406030204" pitchFamily="18" charset="0"/>
                        <a:sym typeface="Symbol" pitchFamily="18" charset="2"/>
                      </a:rPr>
                      <m:t>𝒊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=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𝒋</m:t>
                    </m:r>
                  </m:oMath>
                </a14:m>
                <a:endParaRPr lang="en-US" b="1" dirty="0">
                  <a:sym typeface="Symbol" pitchFamily="18" charset="2"/>
                </a:endParaRPr>
              </a:p>
              <a:p>
                <a:pPr eaLnBrk="1" hangingPunct="1"/>
                <a:r>
                  <a:rPr lang="ru-RU" dirty="0">
                    <a:sym typeface="Symbol" pitchFamily="18" charset="2"/>
                  </a:rPr>
                  <a:t>Антисимметрия</a:t>
                </a:r>
                <a:endParaRPr lang="en-US" dirty="0">
                  <a:sym typeface="Symbol" pitchFamily="18" charset="2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𝒂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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𝒃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= −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𝒃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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𝒂</m:t>
                    </m:r>
                  </m:oMath>
                </a14:m>
                <a:endParaRPr lang="en-US" b="1" dirty="0">
                  <a:sym typeface="Symbol" pitchFamily="18" charset="2"/>
                </a:endParaRPr>
              </a:p>
              <a:p>
                <a:pPr eaLnBrk="1" hangingPunct="1"/>
                <a:r>
                  <a:rPr lang="ru-RU" dirty="0">
                    <a:sym typeface="Symbol" pitchFamily="18" charset="2"/>
                  </a:rPr>
                  <a:t>Линейность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𝒂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 (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𝒃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+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𝒄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) =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𝒂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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𝒃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+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𝒂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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𝒄</m:t>
                    </m:r>
                  </m:oMath>
                </a14:m>
                <a:endParaRPr lang="en-US" b="1" dirty="0">
                  <a:sym typeface="Symbol" pitchFamily="18" charset="2"/>
                </a:endParaRPr>
              </a:p>
              <a:p>
                <a:pPr eaLnBrk="1" hangingPunct="1"/>
                <a:r>
                  <a:rPr lang="ru-RU" dirty="0">
                    <a:sym typeface="Symbol" pitchFamily="18" charset="2"/>
                  </a:rPr>
                  <a:t>Однородность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Symbol" pitchFamily="18" charset="2"/>
                      </a:rPr>
                      <m:t>𝑠</m:t>
                    </m:r>
                    <m:r>
                      <a:rPr lang="en-US" b="1" i="1" dirty="0" err="1">
                        <a:latin typeface="Cambria Math" panose="02040503050406030204" pitchFamily="18" charset="0"/>
                        <a:sym typeface="Symbol" pitchFamily="18" charset="2"/>
                      </a:rPr>
                      <m:t>𝒂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) 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𝒃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(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𝒂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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𝒃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)</m:t>
                    </m:r>
                  </m:oMath>
                </a14:m>
                <a:endParaRPr lang="en-US" dirty="0"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819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1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1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Геометрический смысл векторного произведения</a:t>
            </a:r>
          </a:p>
        </p:txBody>
      </p:sp>
      <p:sp>
        <p:nvSpPr>
          <p:cNvPr id="82947" name="Freeform 6"/>
          <p:cNvSpPr>
            <a:spLocks/>
          </p:cNvSpPr>
          <p:nvPr/>
        </p:nvSpPr>
        <p:spPr bwMode="auto">
          <a:xfrm>
            <a:off x="1271464" y="3167541"/>
            <a:ext cx="6608762" cy="3657600"/>
          </a:xfrm>
          <a:custGeom>
            <a:avLst/>
            <a:gdLst>
              <a:gd name="T0" fmla="*/ 2147483647 w 4163"/>
              <a:gd name="T1" fmla="*/ 2147483647 h 2304"/>
              <a:gd name="T2" fmla="*/ 0 w 4163"/>
              <a:gd name="T3" fmla="*/ 1847273748 h 2304"/>
              <a:gd name="T4" fmla="*/ 2147483647 w 4163"/>
              <a:gd name="T5" fmla="*/ 0 h 2304"/>
              <a:gd name="T6" fmla="*/ 2147483647 w 4163"/>
              <a:gd name="T7" fmla="*/ 2147483647 h 2304"/>
              <a:gd name="T8" fmla="*/ 2147483647 w 4163"/>
              <a:gd name="T9" fmla="*/ 2147483647 h 23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3"/>
              <a:gd name="T16" fmla="*/ 0 h 2304"/>
              <a:gd name="T17" fmla="*/ 4163 w 4163"/>
              <a:gd name="T18" fmla="*/ 2304 h 23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3" h="2304">
                <a:moveTo>
                  <a:pt x="1844" y="2304"/>
                </a:moveTo>
                <a:lnTo>
                  <a:pt x="0" y="733"/>
                </a:lnTo>
                <a:lnTo>
                  <a:pt x="2692" y="0"/>
                </a:lnTo>
                <a:lnTo>
                  <a:pt x="4163" y="1039"/>
                </a:lnTo>
                <a:lnTo>
                  <a:pt x="1844" y="2304"/>
                </a:lnTo>
                <a:close/>
              </a:path>
            </a:pathLst>
          </a:custGeom>
          <a:solidFill>
            <a:srgbClr val="C1C3B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2948" name="Freeform 7"/>
          <p:cNvSpPr>
            <a:spLocks/>
          </p:cNvSpPr>
          <p:nvPr/>
        </p:nvSpPr>
        <p:spPr bwMode="auto">
          <a:xfrm>
            <a:off x="3001840" y="3616804"/>
            <a:ext cx="3806825" cy="1927225"/>
          </a:xfrm>
          <a:custGeom>
            <a:avLst/>
            <a:gdLst>
              <a:gd name="T0" fmla="*/ 2147483647 w 2398"/>
              <a:gd name="T1" fmla="*/ 2147483647 h 1214"/>
              <a:gd name="T2" fmla="*/ 0 w 2398"/>
              <a:gd name="T3" fmla="*/ 950098127 h 1214"/>
              <a:gd name="T4" fmla="*/ 2147483647 w 2398"/>
              <a:gd name="T5" fmla="*/ 0 h 1214"/>
              <a:gd name="T6" fmla="*/ 2147483647 w 2398"/>
              <a:gd name="T7" fmla="*/ 1635580352 h 1214"/>
              <a:gd name="T8" fmla="*/ 2147483647 w 2398"/>
              <a:gd name="T9" fmla="*/ 2147483647 h 12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98"/>
              <a:gd name="T16" fmla="*/ 0 h 1214"/>
              <a:gd name="T17" fmla="*/ 2398 w 2398"/>
              <a:gd name="T18" fmla="*/ 1214 h 12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98" h="1214">
                <a:moveTo>
                  <a:pt x="1057" y="1214"/>
                </a:moveTo>
                <a:lnTo>
                  <a:pt x="0" y="377"/>
                </a:lnTo>
                <a:lnTo>
                  <a:pt x="1539" y="0"/>
                </a:lnTo>
                <a:lnTo>
                  <a:pt x="2398" y="649"/>
                </a:lnTo>
                <a:lnTo>
                  <a:pt x="1057" y="1214"/>
                </a:lnTo>
                <a:close/>
              </a:path>
            </a:pathLst>
          </a:custGeom>
          <a:solidFill>
            <a:srgbClr val="98B1E4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2949" name="Line 8"/>
          <p:cNvSpPr>
            <a:spLocks noChangeShapeType="1"/>
          </p:cNvSpPr>
          <p:nvPr/>
        </p:nvSpPr>
        <p:spPr bwMode="auto">
          <a:xfrm flipV="1">
            <a:off x="6786439" y="2151541"/>
            <a:ext cx="0" cy="25193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82950" name="Line 9"/>
          <p:cNvSpPr>
            <a:spLocks noChangeShapeType="1"/>
          </p:cNvSpPr>
          <p:nvPr/>
        </p:nvSpPr>
        <p:spPr bwMode="auto">
          <a:xfrm flipH="1" flipV="1">
            <a:off x="5447926" y="3602516"/>
            <a:ext cx="1371973" cy="1036158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82951" name="Line 10"/>
          <p:cNvSpPr>
            <a:spLocks noChangeShapeType="1"/>
          </p:cNvSpPr>
          <p:nvPr/>
        </p:nvSpPr>
        <p:spPr bwMode="auto">
          <a:xfrm flipH="1">
            <a:off x="4676775" y="4643438"/>
            <a:ext cx="2124075" cy="909637"/>
          </a:xfrm>
          <a:prstGeom prst="line">
            <a:avLst/>
          </a:prstGeom>
          <a:noFill/>
          <a:ln w="38100">
            <a:solidFill>
              <a:srgbClr val="E3855F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82952" name="Freeform 11"/>
          <p:cNvSpPr>
            <a:spLocks/>
          </p:cNvSpPr>
          <p:nvPr/>
        </p:nvSpPr>
        <p:spPr bwMode="auto">
          <a:xfrm>
            <a:off x="6408614" y="4262917"/>
            <a:ext cx="360362" cy="503237"/>
          </a:xfrm>
          <a:custGeom>
            <a:avLst/>
            <a:gdLst>
              <a:gd name="T0" fmla="*/ 0 w 227"/>
              <a:gd name="T1" fmla="*/ 798887835 h 317"/>
              <a:gd name="T2" fmla="*/ 0 w 227"/>
              <a:gd name="T3" fmla="*/ 229333208 h 317"/>
              <a:gd name="T4" fmla="*/ 572073926 w 227"/>
              <a:gd name="T5" fmla="*/ 0 h 317"/>
              <a:gd name="T6" fmla="*/ 0 60000 65536"/>
              <a:gd name="T7" fmla="*/ 0 60000 65536"/>
              <a:gd name="T8" fmla="*/ 0 60000 65536"/>
              <a:gd name="T9" fmla="*/ 0 w 227"/>
              <a:gd name="T10" fmla="*/ 0 h 317"/>
              <a:gd name="T11" fmla="*/ 227 w 227"/>
              <a:gd name="T12" fmla="*/ 317 h 3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7" h="317">
                <a:moveTo>
                  <a:pt x="0" y="317"/>
                </a:moveTo>
                <a:lnTo>
                  <a:pt x="0" y="91"/>
                </a:lnTo>
                <a:lnTo>
                  <a:pt x="227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2953" name="Freeform 16"/>
          <p:cNvSpPr>
            <a:spLocks/>
          </p:cNvSpPr>
          <p:nvPr/>
        </p:nvSpPr>
        <p:spPr bwMode="auto">
          <a:xfrm>
            <a:off x="6335590" y="3902554"/>
            <a:ext cx="433387" cy="360363"/>
          </a:xfrm>
          <a:custGeom>
            <a:avLst/>
            <a:gdLst>
              <a:gd name="T0" fmla="*/ 0 w 273"/>
              <a:gd name="T1" fmla="*/ 572077101 h 227"/>
              <a:gd name="T2" fmla="*/ 0 w 273"/>
              <a:gd name="T3" fmla="*/ 0 h 227"/>
              <a:gd name="T4" fmla="*/ 688000960 w 273"/>
              <a:gd name="T5" fmla="*/ 458669149 h 227"/>
              <a:gd name="T6" fmla="*/ 0 60000 65536"/>
              <a:gd name="T7" fmla="*/ 0 60000 65536"/>
              <a:gd name="T8" fmla="*/ 0 60000 65536"/>
              <a:gd name="T9" fmla="*/ 0 w 273"/>
              <a:gd name="T10" fmla="*/ 0 h 227"/>
              <a:gd name="T11" fmla="*/ 273 w 273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227">
                <a:moveTo>
                  <a:pt x="0" y="227"/>
                </a:moveTo>
                <a:lnTo>
                  <a:pt x="0" y="0"/>
                </a:lnTo>
                <a:lnTo>
                  <a:pt x="273" y="182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954" name="Text Box 18"/>
              <p:cNvSpPr txBox="1">
                <a:spLocks noChangeArrowheads="1"/>
              </p:cNvSpPr>
              <p:nvPr/>
            </p:nvSpPr>
            <p:spPr bwMode="auto">
              <a:xfrm>
                <a:off x="1060326" y="2623029"/>
                <a:ext cx="1999265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ru-RU" dirty="0"/>
                  <a:t>Площадь 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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295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0326" y="2623029"/>
                <a:ext cx="1999265" cy="369332"/>
              </a:xfrm>
              <a:prstGeom prst="rect">
                <a:avLst/>
              </a:prstGeom>
              <a:blipFill>
                <a:blip r:embed="rId3"/>
                <a:stretch>
                  <a:fillRect l="-2744" t="-8197" b="-2459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955" name="Line 19"/>
          <p:cNvSpPr>
            <a:spLocks noChangeShapeType="1"/>
          </p:cNvSpPr>
          <p:nvPr/>
        </p:nvSpPr>
        <p:spPr bwMode="auto">
          <a:xfrm>
            <a:off x="1944564" y="3038954"/>
            <a:ext cx="2735262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2956" name="Text Box 20"/>
          <p:cNvSpPr txBox="1">
            <a:spLocks noChangeArrowheads="1"/>
          </p:cNvSpPr>
          <p:nvPr/>
        </p:nvSpPr>
        <p:spPr bwMode="auto">
          <a:xfrm>
            <a:off x="5976815" y="3615216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a</a:t>
            </a:r>
            <a:endParaRPr lang="ru-RU" b="1"/>
          </a:p>
        </p:txBody>
      </p:sp>
      <p:sp>
        <p:nvSpPr>
          <p:cNvPr id="82957" name="Text Box 21"/>
          <p:cNvSpPr txBox="1">
            <a:spLocks noChangeArrowheads="1"/>
          </p:cNvSpPr>
          <p:nvPr/>
        </p:nvSpPr>
        <p:spPr bwMode="auto">
          <a:xfrm>
            <a:off x="5616452" y="5126516"/>
            <a:ext cx="3286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b</a:t>
            </a:r>
            <a:endParaRPr lang="ru-RU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958" name="Text Box 22"/>
              <p:cNvSpPr txBox="1">
                <a:spLocks noChangeArrowheads="1"/>
              </p:cNvSpPr>
              <p:nvPr/>
            </p:nvSpPr>
            <p:spPr bwMode="auto">
              <a:xfrm>
                <a:off x="6908676" y="2346848"/>
                <a:ext cx="748923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 </m:t>
                      </m:r>
                      <m:r>
                        <a:rPr lang="en-US" b="1" i="1" dirty="0">
                          <a:latin typeface="Cambria Math" panose="02040503050406030204" pitchFamily="18" charset="0"/>
                          <a:sym typeface="Symbol" pitchFamily="18" charset="2"/>
                        </a:rPr>
                        <m:t>𝒃</m:t>
                      </m:r>
                    </m:oMath>
                  </m:oMathPara>
                </a14:m>
                <a:endParaRPr lang="ru-RU" b="1" dirty="0"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82958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08676" y="2346848"/>
                <a:ext cx="74892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413D2ED6-BF1E-9F57-CD1C-77EA50FEF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470" y="2992361"/>
            <a:ext cx="3676575" cy="3331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Нахождение нормали к плоскости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1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80000"/>
                  </a:lnSpc>
                </a:pPr>
                <a:r>
                  <a:rPr lang="ru-RU" sz="2800" dirty="0"/>
                  <a:t>Любые три точки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baseline="-25000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800" dirty="0"/>
                  <a:t>, </a:t>
                </a:r>
                <a:r>
                  <a:rPr lang="ru-RU" sz="2800" dirty="0"/>
                  <a:t>не лежащие на одной прямой, определяют единственную плоскость 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ru-RU" sz="2800" dirty="0"/>
                  <a:t>Нормаль к плоскости, проходящей через три заданные точки можно найти с помощью векторного произведения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ru-RU" dirty="0"/>
                  <a:t>Построим два вектора</a:t>
                </a:r>
                <a:r>
                  <a:rPr lang="en-US" dirty="0"/>
                  <a:t>:</a:t>
                </a:r>
              </a:p>
              <a:p>
                <a:pPr lvl="2" eaLnBrk="1" hangingPunct="1"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–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–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ru-RU" dirty="0"/>
                  <a:t>Их векторное произведение перпендикулярно данным векторам, а, следовательно оно нормально к любой прямой, лежащей в плоскости векторов </a:t>
                </a:r>
                <a:r>
                  <a:rPr lang="en-US" b="1" dirty="0"/>
                  <a:t>a</a:t>
                </a:r>
                <a:r>
                  <a:rPr lang="en-US" dirty="0"/>
                  <a:t> </a:t>
                </a:r>
                <a:r>
                  <a:rPr lang="ru-RU" dirty="0"/>
                  <a:t>и </a:t>
                </a:r>
                <a:r>
                  <a:rPr lang="en-US" b="1" dirty="0"/>
                  <a:t>b</a:t>
                </a:r>
              </a:p>
              <a:p>
                <a:pPr lvl="1" eaLnBrk="1" hangingPunct="1">
                  <a:lnSpc>
                    <a:spcPct val="80000"/>
                  </a:lnSpc>
                </a:pPr>
                <a:endParaRPr lang="ru-RU" dirty="0"/>
              </a:p>
            </p:txBody>
          </p:sp>
        </mc:Choice>
        <mc:Fallback xmlns="">
          <p:sp>
            <p:nvSpPr>
              <p:cNvPr id="839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B64058-EC4B-0975-22DA-EC9913E8D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39B9EA3-8C87-FDB1-2ECF-8591A35607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Найти нормаль к треугольнику</a:t>
                </a:r>
                <a:r>
                  <a:rPr lang="en-US" dirty="0"/>
                  <a:t> </a:t>
                </a:r>
                <a:r>
                  <a:rPr lang="ru-RU" dirty="0"/>
                  <a:t>с вершинами: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0, 0, 1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1, 0, 0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0, 1, 0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r>
                  <a:rPr lang="ru-RU" dirty="0"/>
                  <a:t>Решение: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𝐴𝐶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0−0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0∗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−1∗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0∗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−1∗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1∗1−0∗0</m:t>
                          </m:r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39B9EA3-8C87-FDB1-2ECF-8591A35607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EFE0C210-85C4-B46E-F0BC-5E3B326AC323}"/>
              </a:ext>
            </a:extLst>
          </p:cNvPr>
          <p:cNvGrpSpPr/>
          <p:nvPr/>
        </p:nvGrpSpPr>
        <p:grpSpPr>
          <a:xfrm>
            <a:off x="9624392" y="4332705"/>
            <a:ext cx="2093966" cy="2166900"/>
            <a:chOff x="6943039" y="4691100"/>
            <a:chExt cx="2093966" cy="2166900"/>
          </a:xfrm>
        </p:grpSpPr>
        <p:grpSp>
          <p:nvGrpSpPr>
            <p:cNvPr id="29" name="Группа 28">
              <a:extLst>
                <a:ext uri="{FF2B5EF4-FFF2-40B4-BE49-F238E27FC236}">
                  <a16:creationId xmlns:a16="http://schemas.microsoft.com/office/drawing/2014/main" id="{BB34AC0E-DBBC-0B66-AC12-F3E641B41F5D}"/>
                </a:ext>
              </a:extLst>
            </p:cNvPr>
            <p:cNvGrpSpPr/>
            <p:nvPr/>
          </p:nvGrpSpPr>
          <p:grpSpPr>
            <a:xfrm>
              <a:off x="7092280" y="4697190"/>
              <a:ext cx="1944725" cy="2160810"/>
              <a:chOff x="9144000" y="3500438"/>
              <a:chExt cx="2268760" cy="2520850"/>
            </a:xfrm>
          </p:grpSpPr>
          <p:cxnSp>
            <p:nvCxnSpPr>
              <p:cNvPr id="10" name="Прямая со стрелкой 9">
                <a:extLst>
                  <a:ext uri="{FF2B5EF4-FFF2-40B4-BE49-F238E27FC236}">
                    <a16:creationId xmlns:a16="http://schemas.microsoft.com/office/drawing/2014/main" id="{1672E1A9-B258-62BC-05D5-6BBAEA5884EB}"/>
                  </a:ext>
                </a:extLst>
              </p:cNvPr>
              <p:cNvCxnSpPr/>
              <p:nvPr/>
            </p:nvCxnSpPr>
            <p:spPr>
              <a:xfrm flipV="1">
                <a:off x="9972600" y="3500438"/>
                <a:ext cx="0" cy="151273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 стрелкой 10">
                <a:extLst>
                  <a:ext uri="{FF2B5EF4-FFF2-40B4-BE49-F238E27FC236}">
                    <a16:creationId xmlns:a16="http://schemas.microsoft.com/office/drawing/2014/main" id="{8BA85864-DE12-DB73-F08F-D22F5841DC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2600" y="5013176"/>
                <a:ext cx="144016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 стрелкой 13">
                <a:extLst>
                  <a:ext uri="{FF2B5EF4-FFF2-40B4-BE49-F238E27FC236}">
                    <a16:creationId xmlns:a16="http://schemas.microsoft.com/office/drawing/2014/main" id="{734CD9F6-EAAF-C6A2-C5A4-F6873DF95B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44000" y="5013176"/>
                <a:ext cx="828600" cy="100811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04D9F1F4-DF46-90C6-DDA0-58BA30931A89}"/>
                  </a:ext>
                </a:extLst>
              </p:cNvPr>
              <p:cNvSpPr/>
              <p:nvPr/>
            </p:nvSpPr>
            <p:spPr>
              <a:xfrm>
                <a:off x="9712397" y="4430818"/>
                <a:ext cx="820137" cy="905158"/>
              </a:xfrm>
              <a:custGeom>
                <a:avLst/>
                <a:gdLst>
                  <a:gd name="connsiteX0" fmla="*/ 23914 w 862050"/>
                  <a:gd name="connsiteY0" fmla="*/ 895668 h 914955"/>
                  <a:gd name="connsiteX1" fmla="*/ 859291 w 862050"/>
                  <a:gd name="connsiteY1" fmla="*/ 568290 h 914955"/>
                  <a:gd name="connsiteX2" fmla="*/ 283558 w 862050"/>
                  <a:gd name="connsiteY2" fmla="*/ 3845 h 914955"/>
                  <a:gd name="connsiteX3" fmla="*/ 23914 w 862050"/>
                  <a:gd name="connsiteY3" fmla="*/ 895668 h 914955"/>
                  <a:gd name="connsiteX0" fmla="*/ 23914 w 862050"/>
                  <a:gd name="connsiteY0" fmla="*/ 895668 h 914955"/>
                  <a:gd name="connsiteX1" fmla="*/ 859291 w 862050"/>
                  <a:gd name="connsiteY1" fmla="*/ 568290 h 914955"/>
                  <a:gd name="connsiteX2" fmla="*/ 283558 w 862050"/>
                  <a:gd name="connsiteY2" fmla="*/ 3845 h 914955"/>
                  <a:gd name="connsiteX3" fmla="*/ 23914 w 862050"/>
                  <a:gd name="connsiteY3" fmla="*/ 895668 h 914955"/>
                  <a:gd name="connsiteX0" fmla="*/ 23914 w 862050"/>
                  <a:gd name="connsiteY0" fmla="*/ 895668 h 914955"/>
                  <a:gd name="connsiteX1" fmla="*/ 859291 w 862050"/>
                  <a:gd name="connsiteY1" fmla="*/ 568290 h 914955"/>
                  <a:gd name="connsiteX2" fmla="*/ 283558 w 862050"/>
                  <a:gd name="connsiteY2" fmla="*/ 3845 h 914955"/>
                  <a:gd name="connsiteX3" fmla="*/ 23914 w 862050"/>
                  <a:gd name="connsiteY3" fmla="*/ 895668 h 914955"/>
                  <a:gd name="connsiteX0" fmla="*/ 23914 w 862050"/>
                  <a:gd name="connsiteY0" fmla="*/ 895668 h 914955"/>
                  <a:gd name="connsiteX1" fmla="*/ 859291 w 862050"/>
                  <a:gd name="connsiteY1" fmla="*/ 568290 h 914955"/>
                  <a:gd name="connsiteX2" fmla="*/ 283558 w 862050"/>
                  <a:gd name="connsiteY2" fmla="*/ 3845 h 914955"/>
                  <a:gd name="connsiteX3" fmla="*/ 23914 w 862050"/>
                  <a:gd name="connsiteY3" fmla="*/ 895668 h 914955"/>
                  <a:gd name="connsiteX0" fmla="*/ 18965 w 857101"/>
                  <a:gd name="connsiteY0" fmla="*/ 895668 h 914955"/>
                  <a:gd name="connsiteX1" fmla="*/ 854342 w 857101"/>
                  <a:gd name="connsiteY1" fmla="*/ 568290 h 914955"/>
                  <a:gd name="connsiteX2" fmla="*/ 278609 w 857101"/>
                  <a:gd name="connsiteY2" fmla="*/ 3845 h 914955"/>
                  <a:gd name="connsiteX3" fmla="*/ 18965 w 857101"/>
                  <a:gd name="connsiteY3" fmla="*/ 895668 h 914955"/>
                  <a:gd name="connsiteX0" fmla="*/ 18965 w 857101"/>
                  <a:gd name="connsiteY0" fmla="*/ 895668 h 914955"/>
                  <a:gd name="connsiteX1" fmla="*/ 854342 w 857101"/>
                  <a:gd name="connsiteY1" fmla="*/ 568290 h 914955"/>
                  <a:gd name="connsiteX2" fmla="*/ 278609 w 857101"/>
                  <a:gd name="connsiteY2" fmla="*/ 3845 h 914955"/>
                  <a:gd name="connsiteX3" fmla="*/ 18965 w 857101"/>
                  <a:gd name="connsiteY3" fmla="*/ 895668 h 914955"/>
                  <a:gd name="connsiteX0" fmla="*/ 18965 w 857101"/>
                  <a:gd name="connsiteY0" fmla="*/ 895668 h 911237"/>
                  <a:gd name="connsiteX1" fmla="*/ 854342 w 857101"/>
                  <a:gd name="connsiteY1" fmla="*/ 568290 h 911237"/>
                  <a:gd name="connsiteX2" fmla="*/ 278609 w 857101"/>
                  <a:gd name="connsiteY2" fmla="*/ 3845 h 911237"/>
                  <a:gd name="connsiteX3" fmla="*/ 18965 w 857101"/>
                  <a:gd name="connsiteY3" fmla="*/ 895668 h 911237"/>
                  <a:gd name="connsiteX0" fmla="*/ 18965 w 857101"/>
                  <a:gd name="connsiteY0" fmla="*/ 895668 h 895668"/>
                  <a:gd name="connsiteX1" fmla="*/ 854342 w 857101"/>
                  <a:gd name="connsiteY1" fmla="*/ 568290 h 895668"/>
                  <a:gd name="connsiteX2" fmla="*/ 278609 w 857101"/>
                  <a:gd name="connsiteY2" fmla="*/ 3845 h 895668"/>
                  <a:gd name="connsiteX3" fmla="*/ 18965 w 857101"/>
                  <a:gd name="connsiteY3" fmla="*/ 895668 h 895668"/>
                  <a:gd name="connsiteX0" fmla="*/ 0 w 838136"/>
                  <a:gd name="connsiteY0" fmla="*/ 895668 h 895668"/>
                  <a:gd name="connsiteX1" fmla="*/ 835377 w 838136"/>
                  <a:gd name="connsiteY1" fmla="*/ 568290 h 895668"/>
                  <a:gd name="connsiteX2" fmla="*/ 259644 w 838136"/>
                  <a:gd name="connsiteY2" fmla="*/ 3845 h 895668"/>
                  <a:gd name="connsiteX3" fmla="*/ 0 w 838136"/>
                  <a:gd name="connsiteY3" fmla="*/ 895668 h 895668"/>
                  <a:gd name="connsiteX0" fmla="*/ 0 w 838343"/>
                  <a:gd name="connsiteY0" fmla="*/ 891823 h 891823"/>
                  <a:gd name="connsiteX1" fmla="*/ 835377 w 838343"/>
                  <a:gd name="connsiteY1" fmla="*/ 564445 h 891823"/>
                  <a:gd name="connsiteX2" fmla="*/ 259644 w 838343"/>
                  <a:gd name="connsiteY2" fmla="*/ 0 h 891823"/>
                  <a:gd name="connsiteX3" fmla="*/ 0 w 838343"/>
                  <a:gd name="connsiteY3" fmla="*/ 891823 h 891823"/>
                  <a:gd name="connsiteX0" fmla="*/ 0 w 835377"/>
                  <a:gd name="connsiteY0" fmla="*/ 891823 h 891823"/>
                  <a:gd name="connsiteX1" fmla="*/ 835377 w 835377"/>
                  <a:gd name="connsiteY1" fmla="*/ 564445 h 891823"/>
                  <a:gd name="connsiteX2" fmla="*/ 259644 w 835377"/>
                  <a:gd name="connsiteY2" fmla="*/ 0 h 891823"/>
                  <a:gd name="connsiteX3" fmla="*/ 0 w 835377"/>
                  <a:gd name="connsiteY3" fmla="*/ 891823 h 891823"/>
                  <a:gd name="connsiteX0" fmla="*/ 0 w 820137"/>
                  <a:gd name="connsiteY0" fmla="*/ 899443 h 899443"/>
                  <a:gd name="connsiteX1" fmla="*/ 820137 w 820137"/>
                  <a:gd name="connsiteY1" fmla="*/ 564445 h 899443"/>
                  <a:gd name="connsiteX2" fmla="*/ 244404 w 820137"/>
                  <a:gd name="connsiteY2" fmla="*/ 0 h 899443"/>
                  <a:gd name="connsiteX3" fmla="*/ 0 w 820137"/>
                  <a:gd name="connsiteY3" fmla="*/ 899443 h 899443"/>
                  <a:gd name="connsiteX0" fmla="*/ 0 w 820137"/>
                  <a:gd name="connsiteY0" fmla="*/ 899443 h 899443"/>
                  <a:gd name="connsiteX1" fmla="*/ 820137 w 820137"/>
                  <a:gd name="connsiteY1" fmla="*/ 564445 h 899443"/>
                  <a:gd name="connsiteX2" fmla="*/ 244404 w 820137"/>
                  <a:gd name="connsiteY2" fmla="*/ 0 h 899443"/>
                  <a:gd name="connsiteX3" fmla="*/ 0 w 820137"/>
                  <a:gd name="connsiteY3" fmla="*/ 899443 h 899443"/>
                  <a:gd name="connsiteX0" fmla="*/ 0 w 820137"/>
                  <a:gd name="connsiteY0" fmla="*/ 899443 h 899443"/>
                  <a:gd name="connsiteX1" fmla="*/ 820137 w 820137"/>
                  <a:gd name="connsiteY1" fmla="*/ 564445 h 899443"/>
                  <a:gd name="connsiteX2" fmla="*/ 244404 w 820137"/>
                  <a:gd name="connsiteY2" fmla="*/ 0 h 899443"/>
                  <a:gd name="connsiteX3" fmla="*/ 0 w 820137"/>
                  <a:gd name="connsiteY3" fmla="*/ 899443 h 899443"/>
                  <a:gd name="connsiteX0" fmla="*/ 0 w 820137"/>
                  <a:gd name="connsiteY0" fmla="*/ 905158 h 905158"/>
                  <a:gd name="connsiteX1" fmla="*/ 820137 w 820137"/>
                  <a:gd name="connsiteY1" fmla="*/ 570160 h 905158"/>
                  <a:gd name="connsiteX2" fmla="*/ 257739 w 820137"/>
                  <a:gd name="connsiteY2" fmla="*/ 0 h 905158"/>
                  <a:gd name="connsiteX3" fmla="*/ 0 w 820137"/>
                  <a:gd name="connsiteY3" fmla="*/ 905158 h 905158"/>
                  <a:gd name="connsiteX0" fmla="*/ 0 w 820137"/>
                  <a:gd name="connsiteY0" fmla="*/ 905158 h 905158"/>
                  <a:gd name="connsiteX1" fmla="*/ 820137 w 820137"/>
                  <a:gd name="connsiteY1" fmla="*/ 570160 h 905158"/>
                  <a:gd name="connsiteX2" fmla="*/ 257739 w 820137"/>
                  <a:gd name="connsiteY2" fmla="*/ 0 h 905158"/>
                  <a:gd name="connsiteX3" fmla="*/ 0 w 820137"/>
                  <a:gd name="connsiteY3" fmla="*/ 905158 h 905158"/>
                  <a:gd name="connsiteX0" fmla="*/ 0 w 820137"/>
                  <a:gd name="connsiteY0" fmla="*/ 905158 h 905158"/>
                  <a:gd name="connsiteX1" fmla="*/ 820137 w 820137"/>
                  <a:gd name="connsiteY1" fmla="*/ 570160 h 905158"/>
                  <a:gd name="connsiteX2" fmla="*/ 257739 w 820137"/>
                  <a:gd name="connsiteY2" fmla="*/ 0 h 905158"/>
                  <a:gd name="connsiteX3" fmla="*/ 0 w 820137"/>
                  <a:gd name="connsiteY3" fmla="*/ 905158 h 905158"/>
                  <a:gd name="connsiteX0" fmla="*/ 0 w 820137"/>
                  <a:gd name="connsiteY0" fmla="*/ 905158 h 905158"/>
                  <a:gd name="connsiteX1" fmla="*/ 820137 w 820137"/>
                  <a:gd name="connsiteY1" fmla="*/ 570160 h 905158"/>
                  <a:gd name="connsiteX2" fmla="*/ 257739 w 820137"/>
                  <a:gd name="connsiteY2" fmla="*/ 0 h 905158"/>
                  <a:gd name="connsiteX3" fmla="*/ 0 w 820137"/>
                  <a:gd name="connsiteY3" fmla="*/ 905158 h 905158"/>
                  <a:gd name="connsiteX0" fmla="*/ 0 w 820137"/>
                  <a:gd name="connsiteY0" fmla="*/ 905158 h 905158"/>
                  <a:gd name="connsiteX1" fmla="*/ 820137 w 820137"/>
                  <a:gd name="connsiteY1" fmla="*/ 570160 h 905158"/>
                  <a:gd name="connsiteX2" fmla="*/ 257739 w 820137"/>
                  <a:gd name="connsiteY2" fmla="*/ 0 h 905158"/>
                  <a:gd name="connsiteX3" fmla="*/ 0 w 820137"/>
                  <a:gd name="connsiteY3" fmla="*/ 905158 h 905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0137" h="905158">
                    <a:moveTo>
                      <a:pt x="0" y="905158"/>
                    </a:moveTo>
                    <a:cubicBezTo>
                      <a:pt x="301695" y="787777"/>
                      <a:pt x="677803" y="629262"/>
                      <a:pt x="820137" y="570160"/>
                    </a:cubicBezTo>
                    <a:cubicBezTo>
                      <a:pt x="669101" y="421523"/>
                      <a:pt x="427425" y="158750"/>
                      <a:pt x="257739" y="0"/>
                    </a:cubicBezTo>
                    <a:cubicBezTo>
                      <a:pt x="213783" y="127000"/>
                      <a:pt x="39300" y="765364"/>
                      <a:pt x="0" y="905158"/>
                    </a:cubicBezTo>
                    <a:close/>
                  </a:path>
                </a:pathLst>
              </a:custGeom>
              <a:solidFill>
                <a:srgbClr val="0F6FC6">
                  <a:alpha val="50196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8FFB38A-B48D-3C4F-23B5-8963F4AC2D49}"/>
                </a:ext>
              </a:extLst>
            </p:cNvPr>
            <p:cNvSpPr txBox="1"/>
            <p:nvPr/>
          </p:nvSpPr>
          <p:spPr>
            <a:xfrm>
              <a:off x="8727966" y="5697962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  <a:endParaRPr lang="ru-RU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3E2304E-E53A-6571-08BB-F1B65EEE7844}"/>
                </a:ext>
              </a:extLst>
            </p:cNvPr>
            <p:cNvSpPr txBox="1"/>
            <p:nvPr/>
          </p:nvSpPr>
          <p:spPr>
            <a:xfrm>
              <a:off x="7807010" y="4691100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  <a:endParaRPr lang="ru-RU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A3B43D0-EC28-9C4A-5D31-C87B1D4F2713}"/>
                </a:ext>
              </a:extLst>
            </p:cNvPr>
            <p:cNvSpPr txBox="1"/>
            <p:nvPr/>
          </p:nvSpPr>
          <p:spPr>
            <a:xfrm>
              <a:off x="6943039" y="6406634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endParaRPr lang="ru-RU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50E0ADF-F7A4-60F5-035E-C8EABC203E62}"/>
                </a:ext>
              </a:extLst>
            </p:cNvPr>
            <p:cNvSpPr txBox="1"/>
            <p:nvPr/>
          </p:nvSpPr>
          <p:spPr>
            <a:xfrm>
              <a:off x="7224381" y="5995117"/>
              <a:ext cx="446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</a:t>
              </a:r>
              <a:endParaRPr lang="ru-RU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B1D96A5-E41E-92A1-17B9-AF4AA5A7FA35}"/>
                </a:ext>
              </a:extLst>
            </p:cNvPr>
            <p:cNvSpPr txBox="1"/>
            <p:nvPr/>
          </p:nvSpPr>
          <p:spPr>
            <a:xfrm>
              <a:off x="8123335" y="5624539"/>
              <a:ext cx="446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</a:t>
              </a:r>
              <a:endParaRPr lang="ru-RU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BD51F8A-D200-B6E9-B767-24D419270923}"/>
                </a:ext>
              </a:extLst>
            </p:cNvPr>
            <p:cNvSpPr txBox="1"/>
            <p:nvPr/>
          </p:nvSpPr>
          <p:spPr>
            <a:xfrm>
              <a:off x="7364475" y="5195477"/>
              <a:ext cx="4460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</a:t>
              </a:r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406958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Отображение ключевых геометрических объектов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7AA4FF-3262-94BD-3070-1A413926A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Векторы и точки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01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62132" y="1484784"/>
                <a:ext cx="9567664" cy="4840287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Вектор в пространстве задается при помощи упорядоченной тройки чисел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(3, 1, −8)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Точка в пространстве тоже задается при помощи тройки чисел: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(3, 1, −8)</m:t>
                    </m:r>
                  </m:oMath>
                </a14:m>
                <a:endParaRPr lang="en-US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Точки и векторы – разные объекты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ru-RU" dirty="0"/>
                  <a:t>Точка имеет местоположение в пространстве, но не имеет размера и направления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ru-RU" dirty="0"/>
                  <a:t>Вектор не имеет местоположения, но обладает размером и направлением</a:t>
                </a:r>
              </a:p>
            </p:txBody>
          </p:sp>
        </mc:Choice>
        <mc:Fallback xmlns="">
          <p:sp>
            <p:nvSpPr>
              <p:cNvPr id="860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2132" y="1484784"/>
                <a:ext cx="9567664" cy="4840287"/>
              </a:xfrm>
              <a:blipFill>
                <a:blip r:embed="rId3"/>
                <a:stretch>
                  <a:fillRect l="-1146" t="-2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Системы координат и координатные фреймы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/>
              <a:t>Система координат обычно задается в виде трех осей, исходящих из начала отсчета</a:t>
            </a:r>
          </a:p>
          <a:p>
            <a:r>
              <a:rPr lang="ru-RU" dirty="0"/>
              <a:t>Однако, точка начала отсчета расположена где-нибудь в «мире»</a:t>
            </a:r>
          </a:p>
          <a:p>
            <a:pPr lvl="1"/>
            <a:r>
              <a:rPr lang="ru-RU" dirty="0"/>
              <a:t>Направления осей лучше всего задавать векторами</a:t>
            </a:r>
          </a:p>
          <a:p>
            <a:pPr lvl="1"/>
            <a:r>
              <a:rPr lang="ru-RU" dirty="0"/>
              <a:t>Местоположение начала координат должно быть явно задано точкой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Координатный фрейм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b="1" dirty="0"/>
              <a:t>Координатный фрейм</a:t>
            </a:r>
            <a:r>
              <a:rPr lang="ru-RU" dirty="0"/>
              <a:t> состоит из заданной точки </a:t>
            </a:r>
            <a:r>
              <a:rPr lang="en-US" dirty="0"/>
              <a:t>O, </a:t>
            </a:r>
            <a:r>
              <a:rPr lang="ru-RU" dirty="0"/>
              <a:t>называемой </a:t>
            </a:r>
            <a:r>
              <a:rPr lang="ru-RU" b="1" dirty="0"/>
              <a:t>началом отсчета</a:t>
            </a:r>
            <a:r>
              <a:rPr lang="ru-RU" dirty="0"/>
              <a:t> и трех взаимно перпендикулярных единичных векторов </a:t>
            </a:r>
            <a:r>
              <a:rPr lang="en-US" dirty="0"/>
              <a:t>a, b </a:t>
            </a:r>
            <a:r>
              <a:rPr lang="ru-RU" dirty="0"/>
              <a:t>и </a:t>
            </a:r>
            <a:r>
              <a:rPr lang="en-US" dirty="0"/>
              <a:t>c</a:t>
            </a:r>
          </a:p>
          <a:p>
            <a:pPr lvl="1" eaLnBrk="1" hangingPunct="1"/>
            <a:r>
              <a:rPr lang="ru-RU" dirty="0"/>
              <a:t>Строго говоря, эти векторы должны быть просто линейно независимыми, однако взаимно перпендикулярные векторы координатных осей упрощают многие задачи компьютерной графики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Line 18"/>
          <p:cNvSpPr>
            <a:spLocks noChangeShapeType="1"/>
          </p:cNvSpPr>
          <p:nvPr/>
        </p:nvSpPr>
        <p:spPr bwMode="auto">
          <a:xfrm>
            <a:off x="3792538" y="2060575"/>
            <a:ext cx="65516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704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Координатный фрейм</a:t>
            </a:r>
          </a:p>
        </p:txBody>
      </p:sp>
      <p:sp>
        <p:nvSpPr>
          <p:cNvPr id="89092" name="Line 5"/>
          <p:cNvSpPr>
            <a:spLocks noChangeShapeType="1"/>
          </p:cNvSpPr>
          <p:nvPr/>
        </p:nvSpPr>
        <p:spPr bwMode="auto">
          <a:xfrm flipH="1" flipV="1">
            <a:off x="4800600" y="1989138"/>
            <a:ext cx="647700" cy="2519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89093" name="Line 6"/>
          <p:cNvSpPr>
            <a:spLocks noChangeShapeType="1"/>
          </p:cNvSpPr>
          <p:nvPr/>
        </p:nvSpPr>
        <p:spPr bwMode="auto">
          <a:xfrm flipH="1">
            <a:off x="3503614" y="4508500"/>
            <a:ext cx="1944687" cy="1512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89094" name="Line 7"/>
          <p:cNvSpPr>
            <a:spLocks noChangeShapeType="1"/>
          </p:cNvSpPr>
          <p:nvPr/>
        </p:nvSpPr>
        <p:spPr bwMode="auto">
          <a:xfrm>
            <a:off x="5448301" y="4508501"/>
            <a:ext cx="3311525" cy="576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91144" name="Line 8"/>
          <p:cNvSpPr>
            <a:spLocks noChangeAspect="1" noChangeShapeType="1"/>
          </p:cNvSpPr>
          <p:nvPr/>
        </p:nvSpPr>
        <p:spPr bwMode="auto">
          <a:xfrm>
            <a:off x="4440238" y="5300664"/>
            <a:ext cx="1655762" cy="2889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91145" name="Line 9"/>
          <p:cNvSpPr>
            <a:spLocks noChangeAspect="1" noChangeShapeType="1"/>
          </p:cNvSpPr>
          <p:nvPr/>
        </p:nvSpPr>
        <p:spPr bwMode="auto">
          <a:xfrm flipH="1">
            <a:off x="6096000" y="4797426"/>
            <a:ext cx="1036638" cy="8048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91146" name="Line 10"/>
          <p:cNvSpPr>
            <a:spLocks noChangeAspect="1" noChangeShapeType="1"/>
          </p:cNvSpPr>
          <p:nvPr/>
        </p:nvSpPr>
        <p:spPr bwMode="auto">
          <a:xfrm flipH="1" flipV="1">
            <a:off x="5664200" y="3933826"/>
            <a:ext cx="420688" cy="16367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098" name="Text Box 11"/>
              <p:cNvSpPr txBox="1">
                <a:spLocks noChangeArrowheads="1"/>
              </p:cNvSpPr>
              <p:nvPr/>
            </p:nvSpPr>
            <p:spPr bwMode="auto">
              <a:xfrm>
                <a:off x="3411538" y="5392738"/>
                <a:ext cx="338554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1" i="1" dirty="0" smtClean="0">
                          <a:latin typeface="Cambria Math" panose="02040503050406030204" pitchFamily="18" charset="0"/>
                        </a:rPr>
                        <m:t>с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89098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1538" y="5392738"/>
                <a:ext cx="33855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099" name="Text Box 12"/>
              <p:cNvSpPr txBox="1">
                <a:spLocks noChangeArrowheads="1"/>
              </p:cNvSpPr>
              <p:nvPr/>
            </p:nvSpPr>
            <p:spPr bwMode="auto">
              <a:xfrm>
                <a:off x="8472489" y="4578351"/>
                <a:ext cx="38023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8909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72489" y="4578351"/>
                <a:ext cx="38023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100" name="Text Box 13"/>
              <p:cNvSpPr txBox="1">
                <a:spLocks noChangeArrowheads="1"/>
              </p:cNvSpPr>
              <p:nvPr/>
            </p:nvSpPr>
            <p:spPr bwMode="auto">
              <a:xfrm>
                <a:off x="5016501" y="1916113"/>
                <a:ext cx="37702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89100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16501" y="1916113"/>
                <a:ext cx="37702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150" name="Oval 14"/>
          <p:cNvSpPr>
            <a:spLocks noChangeArrowheads="1"/>
          </p:cNvSpPr>
          <p:nvPr/>
        </p:nvSpPr>
        <p:spPr bwMode="auto">
          <a:xfrm>
            <a:off x="5591176" y="38608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91151" name="Text Box 15"/>
          <p:cNvSpPr txBox="1">
            <a:spLocks noChangeArrowheads="1"/>
          </p:cNvSpPr>
          <p:nvPr/>
        </p:nvSpPr>
        <p:spPr bwMode="auto">
          <a:xfrm>
            <a:off x="5788026" y="3733801"/>
            <a:ext cx="3095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</a:t>
            </a:r>
            <a:endParaRPr lang="ru-RU" dirty="0"/>
          </a:p>
        </p:txBody>
      </p:sp>
      <p:sp>
        <p:nvSpPr>
          <p:cNvPr id="91152" name="Line 16"/>
          <p:cNvSpPr>
            <a:spLocks noChangeShapeType="1"/>
          </p:cNvSpPr>
          <p:nvPr/>
        </p:nvSpPr>
        <p:spPr bwMode="auto">
          <a:xfrm flipH="1" flipV="1">
            <a:off x="3648076" y="3284538"/>
            <a:ext cx="1368425" cy="576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153" name="Text Box 17"/>
              <p:cNvSpPr txBox="1">
                <a:spLocks noChangeArrowheads="1"/>
              </p:cNvSpPr>
              <p:nvPr/>
            </p:nvSpPr>
            <p:spPr bwMode="auto">
              <a:xfrm>
                <a:off x="3916363" y="3517901"/>
                <a:ext cx="375424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91153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6363" y="3517901"/>
                <a:ext cx="3754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105" name="Line 19"/>
          <p:cNvSpPr>
            <a:spLocks noChangeShapeType="1"/>
          </p:cNvSpPr>
          <p:nvPr/>
        </p:nvSpPr>
        <p:spPr bwMode="auto">
          <a:xfrm>
            <a:off x="3792538" y="2060576"/>
            <a:ext cx="0" cy="28813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9106" name="Line 20"/>
          <p:cNvSpPr>
            <a:spLocks noChangeShapeType="1"/>
          </p:cNvSpPr>
          <p:nvPr/>
        </p:nvSpPr>
        <p:spPr bwMode="auto">
          <a:xfrm>
            <a:off x="3792538" y="4941888"/>
            <a:ext cx="65516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9107" name="Line 21"/>
          <p:cNvSpPr>
            <a:spLocks noChangeShapeType="1"/>
          </p:cNvSpPr>
          <p:nvPr/>
        </p:nvSpPr>
        <p:spPr bwMode="auto">
          <a:xfrm flipH="1">
            <a:off x="1524000" y="2060576"/>
            <a:ext cx="2268538" cy="18002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9108" name="Line 22"/>
          <p:cNvSpPr>
            <a:spLocks noChangeShapeType="1"/>
          </p:cNvSpPr>
          <p:nvPr/>
        </p:nvSpPr>
        <p:spPr bwMode="auto">
          <a:xfrm flipH="1">
            <a:off x="1524000" y="4941889"/>
            <a:ext cx="2268538" cy="18002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89109" name="Text Box 23"/>
          <p:cNvSpPr txBox="1">
            <a:spLocks noChangeArrowheads="1"/>
          </p:cNvSpPr>
          <p:nvPr/>
        </p:nvSpPr>
        <p:spPr bwMode="auto">
          <a:xfrm>
            <a:off x="5087939" y="4221163"/>
            <a:ext cx="3460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O</a:t>
            </a:r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160" name="Text Box 24"/>
              <p:cNvSpPr txBox="1">
                <a:spLocks noChangeArrowheads="1"/>
              </p:cNvSpPr>
              <p:nvPr/>
            </p:nvSpPr>
            <p:spPr bwMode="auto">
              <a:xfrm>
                <a:off x="7227888" y="2220913"/>
                <a:ext cx="256512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91160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27888" y="2220913"/>
                <a:ext cx="256512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61" name="Text Box 25"/>
              <p:cNvSpPr txBox="1">
                <a:spLocks noChangeArrowheads="1"/>
              </p:cNvSpPr>
              <p:nvPr/>
            </p:nvSpPr>
            <p:spPr bwMode="auto">
              <a:xfrm>
                <a:off x="7248526" y="3644901"/>
                <a:ext cx="311418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О +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91161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48526" y="3644901"/>
                <a:ext cx="3114186" cy="369332"/>
              </a:xfrm>
              <a:prstGeom prst="rect">
                <a:avLst/>
              </a:prstGeom>
              <a:blipFill>
                <a:blip r:embed="rId8"/>
                <a:stretch>
                  <a:fillRect b="-491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162" name="Text Box 26"/>
          <p:cNvSpPr txBox="1">
            <a:spLocks noChangeArrowheads="1"/>
          </p:cNvSpPr>
          <p:nvPr/>
        </p:nvSpPr>
        <p:spPr bwMode="auto">
          <a:xfrm>
            <a:off x="7248526" y="2924176"/>
            <a:ext cx="26892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P – O = p</a:t>
            </a:r>
            <a:r>
              <a:rPr lang="en-US" baseline="-25000" dirty="0"/>
              <a:t>1</a:t>
            </a:r>
            <a:r>
              <a:rPr lang="en-US" b="1" dirty="0"/>
              <a:t>a </a:t>
            </a:r>
            <a:r>
              <a:rPr lang="en-US" dirty="0"/>
              <a:t>+ p</a:t>
            </a:r>
            <a:r>
              <a:rPr lang="en-US" baseline="-25000" dirty="0"/>
              <a:t>2</a:t>
            </a:r>
            <a:r>
              <a:rPr lang="en-US" b="1" dirty="0"/>
              <a:t>b </a:t>
            </a:r>
            <a:r>
              <a:rPr lang="en-US" dirty="0"/>
              <a:t>+ p</a:t>
            </a:r>
            <a:r>
              <a:rPr lang="en-US" baseline="-25000" dirty="0"/>
              <a:t>3</a:t>
            </a:r>
            <a:r>
              <a:rPr lang="en-US" b="1" dirty="0"/>
              <a:t>c</a:t>
            </a:r>
            <a:endParaRPr lang="ru-RU" dirty="0"/>
          </a:p>
        </p:txBody>
      </p:sp>
      <p:sp>
        <p:nvSpPr>
          <p:cNvPr id="91164" name="Line 28"/>
          <p:cNvSpPr>
            <a:spLocks noChangeShapeType="1"/>
          </p:cNvSpPr>
          <p:nvPr/>
        </p:nvSpPr>
        <p:spPr bwMode="auto">
          <a:xfrm flipV="1">
            <a:off x="5448300" y="3933826"/>
            <a:ext cx="215900" cy="57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91165" name="Rectangle 29"/>
          <p:cNvSpPr>
            <a:spLocks noChangeArrowheads="1"/>
          </p:cNvSpPr>
          <p:nvPr/>
        </p:nvSpPr>
        <p:spPr bwMode="auto">
          <a:xfrm>
            <a:off x="7248526" y="3644900"/>
            <a:ext cx="3311525" cy="431800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166" name="Text Box 30"/>
              <p:cNvSpPr txBox="1">
                <a:spLocks noChangeArrowheads="1"/>
              </p:cNvSpPr>
              <p:nvPr/>
            </p:nvSpPr>
            <p:spPr bwMode="auto">
              <a:xfrm>
                <a:off x="2495600" y="6261101"/>
                <a:ext cx="9122006" cy="3801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Точка </a:t>
                </a:r>
                <a:r>
                  <a:rPr lang="en-US" dirty="0"/>
                  <a:t>P </a:t>
                </a:r>
                <a:r>
                  <a:rPr lang="ru-RU" dirty="0"/>
                  <a:t>задается не просто тройкой чисел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/>
                  <a:t>а тройкой вместе с началом отсчета</a:t>
                </a:r>
              </a:p>
            </p:txBody>
          </p:sp>
        </mc:Choice>
        <mc:Fallback xmlns="">
          <p:sp>
            <p:nvSpPr>
              <p:cNvPr id="91166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5600" y="6261101"/>
                <a:ext cx="9122006" cy="380186"/>
              </a:xfrm>
              <a:prstGeom prst="rect">
                <a:avLst/>
              </a:prstGeom>
              <a:blipFill>
                <a:blip r:embed="rId9"/>
                <a:stretch>
                  <a:fillRect l="-534" t="-8065" b="-2258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9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91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91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4" grpId="0" animBg="1"/>
      <p:bldP spid="91145" grpId="0" animBg="1"/>
      <p:bldP spid="91146" grpId="0" animBg="1"/>
      <p:bldP spid="91150" grpId="0" animBg="1"/>
      <p:bldP spid="91151" grpId="0"/>
      <p:bldP spid="91152" grpId="0" animBg="1"/>
      <p:bldP spid="91153" grpId="0"/>
      <p:bldP spid="91160" grpId="0"/>
      <p:bldP spid="91161" grpId="0"/>
      <p:bldP spid="91162" grpId="0"/>
      <p:bldP spid="91164" grpId="0" animBg="1"/>
      <p:bldP spid="91165" grpId="0" animBg="1"/>
      <p:bldP spid="9116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Однородное представление точки и вектора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115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dirty="0"/>
                  <a:t>Полезно представлять точки и векторы с помощью </a:t>
                </a:r>
                <a:r>
                  <a:rPr lang="ru-RU" b="1" i="1" dirty="0"/>
                  <a:t>одного и того же</a:t>
                </a:r>
                <a:r>
                  <a:rPr lang="ru-RU" dirty="0"/>
                  <a:t> набора базовых объектов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Вектор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 требует коэффициенты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0)</m:t>
                    </m:r>
                  </m:oMath>
                </a14:m>
                <a:endParaRPr lang="ru-RU" b="1" dirty="0"/>
              </a:p>
              <a:p>
                <a:r>
                  <a:rPr lang="ru-RU" dirty="0"/>
                  <a:t>Точка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требует коэффициенты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1)</m:t>
                    </m:r>
                  </m:oMath>
                </a14:m>
                <a:endParaRPr lang="en-US" dirty="0"/>
              </a:p>
              <a:p>
                <a:r>
                  <a:rPr lang="ru-RU" dirty="0"/>
                  <a:t>Четвертый компонент показывает, входит ли в состав объекта начало отсчета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9011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CDF238-CA79-93F4-E7ED-77E8CD4E4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Умножение матриц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AF416B-3898-114D-CC4E-9567C2244B2E}"/>
              </a:ext>
            </a:extLst>
          </p:cNvPr>
          <p:cNvSpPr/>
          <p:nvPr/>
        </p:nvSpPr>
        <p:spPr>
          <a:xfrm>
            <a:off x="538651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208EA3-2A84-6D9E-9E59-DFB8CF13C6E8}"/>
              </a:ext>
            </a:extLst>
          </p:cNvPr>
          <p:cNvSpPr/>
          <p:nvPr/>
        </p:nvSpPr>
        <p:spPr>
          <a:xfrm>
            <a:off x="1126579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89A617-7C86-026E-5782-F118BD2A4096}"/>
              </a:ext>
            </a:extLst>
          </p:cNvPr>
          <p:cNvSpPr/>
          <p:nvPr/>
        </p:nvSpPr>
        <p:spPr>
          <a:xfrm>
            <a:off x="1714507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2F37829-8D59-C934-3CFF-908C222F856B}"/>
                  </a:ext>
                </a:extLst>
              </p:cNvPr>
              <p:cNvSpPr/>
              <p:nvPr/>
            </p:nvSpPr>
            <p:spPr>
              <a:xfrm>
                <a:off x="538651" y="4636080"/>
                <a:ext cx="504056" cy="504056"/>
              </a:xfrm>
              <a:prstGeom prst="rect">
                <a:avLst/>
              </a:prstGeom>
              <a:solidFill>
                <a:srgbClr val="FCF60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2F37829-8D59-C934-3CFF-908C222F85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51" y="4636080"/>
                <a:ext cx="504056" cy="504056"/>
              </a:xfrm>
              <a:prstGeom prst="rect">
                <a:avLst/>
              </a:prstGeom>
              <a:blipFill>
                <a:blip r:embed="rId3"/>
                <a:stretch>
                  <a:fillRect l="-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9DC6DA1-473D-5E04-5279-DC89D49CC335}"/>
                  </a:ext>
                </a:extLst>
              </p:cNvPr>
              <p:cNvSpPr/>
              <p:nvPr/>
            </p:nvSpPr>
            <p:spPr>
              <a:xfrm>
                <a:off x="1126579" y="4636080"/>
                <a:ext cx="504056" cy="504056"/>
              </a:xfrm>
              <a:prstGeom prst="rect">
                <a:avLst/>
              </a:prstGeom>
              <a:solidFill>
                <a:srgbClr val="FCF60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9DC6DA1-473D-5E04-5279-DC89D49CC3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579" y="4636080"/>
                <a:ext cx="504056" cy="504056"/>
              </a:xfrm>
              <a:prstGeom prst="rect">
                <a:avLst/>
              </a:prstGeom>
              <a:blipFill>
                <a:blip r:embed="rId4"/>
                <a:stretch>
                  <a:fillRect l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91CFC2E-B4DF-DE97-B0CF-9D283F9F268B}"/>
                  </a:ext>
                </a:extLst>
              </p:cNvPr>
              <p:cNvSpPr/>
              <p:nvPr/>
            </p:nvSpPr>
            <p:spPr>
              <a:xfrm>
                <a:off x="1714507" y="4636080"/>
                <a:ext cx="504056" cy="504056"/>
              </a:xfrm>
              <a:prstGeom prst="rect">
                <a:avLst/>
              </a:prstGeom>
              <a:solidFill>
                <a:srgbClr val="FCF60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91CFC2E-B4DF-DE97-B0CF-9D283F9F26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7" y="4636080"/>
                <a:ext cx="504056" cy="504056"/>
              </a:xfrm>
              <a:prstGeom prst="rect">
                <a:avLst/>
              </a:prstGeom>
              <a:blipFill>
                <a:blip r:embed="rId5"/>
                <a:stretch>
                  <a:fillRect l="-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C4F4542B-B943-8388-1120-CA12E2CCB18A}"/>
              </a:ext>
            </a:extLst>
          </p:cNvPr>
          <p:cNvSpPr/>
          <p:nvPr/>
        </p:nvSpPr>
        <p:spPr>
          <a:xfrm>
            <a:off x="538651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AFC2F2-8B6A-1A3B-29B0-D6A2A9ED1809}"/>
              </a:ext>
            </a:extLst>
          </p:cNvPr>
          <p:cNvSpPr/>
          <p:nvPr/>
        </p:nvSpPr>
        <p:spPr>
          <a:xfrm>
            <a:off x="1126579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67380D-3D4B-1E24-C292-2F5F520CFEC4}"/>
              </a:ext>
            </a:extLst>
          </p:cNvPr>
          <p:cNvSpPr/>
          <p:nvPr/>
        </p:nvSpPr>
        <p:spPr>
          <a:xfrm>
            <a:off x="1714507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992FCA-EFC4-62C2-8327-5F79F9B2A6E6}"/>
              </a:ext>
            </a:extLst>
          </p:cNvPr>
          <p:cNvSpPr/>
          <p:nvPr/>
        </p:nvSpPr>
        <p:spPr>
          <a:xfrm>
            <a:off x="538651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7E983F-12F9-B415-234E-970EB424B424}"/>
              </a:ext>
            </a:extLst>
          </p:cNvPr>
          <p:cNvSpPr/>
          <p:nvPr/>
        </p:nvSpPr>
        <p:spPr>
          <a:xfrm>
            <a:off x="1126579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C8A3C6-1EE9-8256-0768-C0D5D5775C12}"/>
              </a:ext>
            </a:extLst>
          </p:cNvPr>
          <p:cNvSpPr/>
          <p:nvPr/>
        </p:nvSpPr>
        <p:spPr>
          <a:xfrm>
            <a:off x="1714507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DCFAAE-F2CF-F037-C21D-DAD338742658}"/>
              </a:ext>
            </a:extLst>
          </p:cNvPr>
          <p:cNvSpPr/>
          <p:nvPr/>
        </p:nvSpPr>
        <p:spPr>
          <a:xfrm>
            <a:off x="2892057" y="1702072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DB3CEE-0DBD-6B94-E3F7-0F0B75FC4A51}"/>
              </a:ext>
            </a:extLst>
          </p:cNvPr>
          <p:cNvSpPr/>
          <p:nvPr/>
        </p:nvSpPr>
        <p:spPr>
          <a:xfrm>
            <a:off x="3479985" y="1702072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FCF2BE9-8CB4-B2CE-4E12-9CB8B4751C3A}"/>
                  </a:ext>
                </a:extLst>
              </p:cNvPr>
              <p:cNvSpPr/>
              <p:nvPr/>
            </p:nvSpPr>
            <p:spPr>
              <a:xfrm>
                <a:off x="4067913" y="1702072"/>
                <a:ext cx="504056" cy="504056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FCF2BE9-8CB4-B2CE-4E12-9CB8B4751C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13" y="1702072"/>
                <a:ext cx="504056" cy="504056"/>
              </a:xfrm>
              <a:prstGeom prst="rect">
                <a:avLst/>
              </a:prstGeom>
              <a:blipFill>
                <a:blip r:embed="rId6"/>
                <a:stretch>
                  <a:fillRect l="-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3971E4B9-9B07-E85D-18F9-D99BD974D1C5}"/>
              </a:ext>
            </a:extLst>
          </p:cNvPr>
          <p:cNvSpPr/>
          <p:nvPr/>
        </p:nvSpPr>
        <p:spPr>
          <a:xfrm>
            <a:off x="2892057" y="228825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451E33-1D71-6EEB-E7BA-2160D14A48EF}"/>
              </a:ext>
            </a:extLst>
          </p:cNvPr>
          <p:cNvSpPr/>
          <p:nvPr/>
        </p:nvSpPr>
        <p:spPr>
          <a:xfrm>
            <a:off x="3479985" y="228825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BA1DA9-D16E-53CF-DC85-60E2CDE0538B}"/>
                  </a:ext>
                </a:extLst>
              </p:cNvPr>
              <p:cNvSpPr/>
              <p:nvPr/>
            </p:nvSpPr>
            <p:spPr>
              <a:xfrm>
                <a:off x="4067913" y="2288256"/>
                <a:ext cx="504056" cy="504056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BA1DA9-D16E-53CF-DC85-60E2CDE053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13" y="2288256"/>
                <a:ext cx="504056" cy="504056"/>
              </a:xfrm>
              <a:prstGeom prst="rect">
                <a:avLst/>
              </a:prstGeom>
              <a:blipFill>
                <a:blip r:embed="rId7"/>
                <a:stretch>
                  <a:fillRect l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C2565FC7-70B5-CE7D-BA53-D557628594F2}"/>
              </a:ext>
            </a:extLst>
          </p:cNvPr>
          <p:cNvSpPr/>
          <p:nvPr/>
        </p:nvSpPr>
        <p:spPr>
          <a:xfrm>
            <a:off x="2892057" y="2874440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429B0D-52C7-9CDB-6E5C-81BF270C98F3}"/>
              </a:ext>
            </a:extLst>
          </p:cNvPr>
          <p:cNvSpPr/>
          <p:nvPr/>
        </p:nvSpPr>
        <p:spPr>
          <a:xfrm>
            <a:off x="3479985" y="2874440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D43327F-E2B7-37D5-9722-B2149502FACA}"/>
                  </a:ext>
                </a:extLst>
              </p:cNvPr>
              <p:cNvSpPr/>
              <p:nvPr/>
            </p:nvSpPr>
            <p:spPr>
              <a:xfrm>
                <a:off x="4067913" y="2874440"/>
                <a:ext cx="504056" cy="504056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D43327F-E2B7-37D5-9722-B2149502FA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13" y="2874440"/>
                <a:ext cx="504056" cy="504056"/>
              </a:xfrm>
              <a:prstGeom prst="rect">
                <a:avLst/>
              </a:prstGeom>
              <a:blipFill>
                <a:blip r:embed="rId8"/>
                <a:stretch>
                  <a:fillRect l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8605BDBF-C1AE-912A-4E55-30E7DCE4718A}"/>
              </a:ext>
            </a:extLst>
          </p:cNvPr>
          <p:cNvSpPr/>
          <p:nvPr/>
        </p:nvSpPr>
        <p:spPr>
          <a:xfrm>
            <a:off x="4655841" y="2874440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E88A15-F596-8987-D2C9-2F657E6C61E6}"/>
              </a:ext>
            </a:extLst>
          </p:cNvPr>
          <p:cNvSpPr/>
          <p:nvPr/>
        </p:nvSpPr>
        <p:spPr>
          <a:xfrm>
            <a:off x="4655841" y="228825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1A288B-4904-7F76-5FF3-EB597C32C7F6}"/>
              </a:ext>
            </a:extLst>
          </p:cNvPr>
          <p:cNvSpPr/>
          <p:nvPr/>
        </p:nvSpPr>
        <p:spPr>
          <a:xfrm>
            <a:off x="4655841" y="170434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EF8662-41C3-A768-410F-86B414553500}"/>
              </a:ext>
            </a:extLst>
          </p:cNvPr>
          <p:cNvSpPr/>
          <p:nvPr/>
        </p:nvSpPr>
        <p:spPr>
          <a:xfrm>
            <a:off x="2894377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AC79896-C33D-65AF-910F-414B2015C400}"/>
              </a:ext>
            </a:extLst>
          </p:cNvPr>
          <p:cNvSpPr/>
          <p:nvPr/>
        </p:nvSpPr>
        <p:spPr>
          <a:xfrm>
            <a:off x="3482305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96EC1D9-01CE-9000-A352-8F0B3311B42D}"/>
              </a:ext>
            </a:extLst>
          </p:cNvPr>
          <p:cNvSpPr/>
          <p:nvPr/>
        </p:nvSpPr>
        <p:spPr>
          <a:xfrm>
            <a:off x="4070233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078F56D-6D33-142E-93BF-6832E35A7B58}"/>
              </a:ext>
            </a:extLst>
          </p:cNvPr>
          <p:cNvSpPr/>
          <p:nvPr/>
        </p:nvSpPr>
        <p:spPr>
          <a:xfrm>
            <a:off x="2894377" y="4636080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D2191D-140E-3C96-BCBF-4D09AC7FCF5D}"/>
              </a:ext>
            </a:extLst>
          </p:cNvPr>
          <p:cNvSpPr/>
          <p:nvPr/>
        </p:nvSpPr>
        <p:spPr>
          <a:xfrm>
            <a:off x="3482305" y="4636080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8E876BE5-FE66-1D7D-9F92-AC59AA4BA552}"/>
                  </a:ext>
                </a:extLst>
              </p:cNvPr>
              <p:cNvSpPr/>
              <p:nvPr/>
            </p:nvSpPr>
            <p:spPr>
              <a:xfrm>
                <a:off x="4070233" y="4636080"/>
                <a:ext cx="504056" cy="504056"/>
              </a:xfrm>
              <a:prstGeom prst="rect">
                <a:avLst/>
              </a:prstGeom>
              <a:solidFill>
                <a:srgbClr val="FF00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8E876BE5-FE66-1D7D-9F92-AC59AA4BA5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233" y="4636080"/>
                <a:ext cx="504056" cy="50405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04A5D4F3-ECD0-5C94-F37B-A3DE92B9C796}"/>
              </a:ext>
            </a:extLst>
          </p:cNvPr>
          <p:cNvSpPr/>
          <p:nvPr/>
        </p:nvSpPr>
        <p:spPr>
          <a:xfrm>
            <a:off x="2894377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DC0638D-C393-C9A7-58CB-E39840F1E0E8}"/>
              </a:ext>
            </a:extLst>
          </p:cNvPr>
          <p:cNvSpPr/>
          <p:nvPr/>
        </p:nvSpPr>
        <p:spPr>
          <a:xfrm>
            <a:off x="3482305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46DD5B2-5519-5B70-037B-8522AFBAEE7B}"/>
              </a:ext>
            </a:extLst>
          </p:cNvPr>
          <p:cNvSpPr/>
          <p:nvPr/>
        </p:nvSpPr>
        <p:spPr>
          <a:xfrm>
            <a:off x="4070233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E8F3F1D-226B-FDDC-CBD1-657514AB7323}"/>
              </a:ext>
            </a:extLst>
          </p:cNvPr>
          <p:cNvSpPr/>
          <p:nvPr/>
        </p:nvSpPr>
        <p:spPr>
          <a:xfrm>
            <a:off x="2894377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F8A60C-42F6-1519-CA9F-F06CAF5D7DEA}"/>
              </a:ext>
            </a:extLst>
          </p:cNvPr>
          <p:cNvSpPr/>
          <p:nvPr/>
        </p:nvSpPr>
        <p:spPr>
          <a:xfrm>
            <a:off x="3482305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2897D4B-FC65-5C1E-1728-6B849E995F22}"/>
              </a:ext>
            </a:extLst>
          </p:cNvPr>
          <p:cNvSpPr/>
          <p:nvPr/>
        </p:nvSpPr>
        <p:spPr>
          <a:xfrm>
            <a:off x="4070233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BF3ED2A-E47E-DDC7-F279-D15D6F4099F6}"/>
              </a:ext>
            </a:extLst>
          </p:cNvPr>
          <p:cNvSpPr/>
          <p:nvPr/>
        </p:nvSpPr>
        <p:spPr>
          <a:xfrm>
            <a:off x="4655841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8852059-9ADB-4531-520E-97FA4CFCE6FC}"/>
              </a:ext>
            </a:extLst>
          </p:cNvPr>
          <p:cNvSpPr/>
          <p:nvPr/>
        </p:nvSpPr>
        <p:spPr>
          <a:xfrm>
            <a:off x="4655841" y="4636080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C3C597-9F5C-06A4-406B-F2AE8047ABD5}"/>
              </a:ext>
            </a:extLst>
          </p:cNvPr>
          <p:cNvSpPr/>
          <p:nvPr/>
        </p:nvSpPr>
        <p:spPr>
          <a:xfrm>
            <a:off x="4655841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32C839E-47A0-A993-E69C-D2F852A631E6}"/>
              </a:ext>
            </a:extLst>
          </p:cNvPr>
          <p:cNvSpPr/>
          <p:nvPr/>
        </p:nvSpPr>
        <p:spPr>
          <a:xfrm>
            <a:off x="4655841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6D3B467C-8D4A-4340-19E4-587D0F7BA658}"/>
              </a:ext>
            </a:extLst>
          </p:cNvPr>
          <p:cNvSpPr/>
          <p:nvPr/>
        </p:nvSpPr>
        <p:spPr>
          <a:xfrm>
            <a:off x="4128057" y="3614017"/>
            <a:ext cx="382317" cy="9119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D87E905A-F622-1D3D-FFAF-0867E87BFCD3}"/>
              </a:ext>
            </a:extLst>
          </p:cNvPr>
          <p:cNvSpPr/>
          <p:nvPr/>
        </p:nvSpPr>
        <p:spPr>
          <a:xfrm>
            <a:off x="2604121" y="4718208"/>
            <a:ext cx="1379920" cy="3161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9653943-2322-861B-2311-50E6809C15BF}"/>
                  </a:ext>
                </a:extLst>
              </p:cNvPr>
              <p:cNvSpPr txBox="1"/>
              <p:nvPr/>
            </p:nvSpPr>
            <p:spPr>
              <a:xfrm>
                <a:off x="6250664" y="3531889"/>
                <a:ext cx="5137511" cy="754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3,3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1,3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,3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,3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9653943-2322-861B-2311-50E6809C1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664" y="3531889"/>
                <a:ext cx="5137511" cy="754887"/>
              </a:xfrm>
              <a:prstGeom prst="rect">
                <a:avLst/>
              </a:prstGeom>
              <a:blipFill>
                <a:blip r:embed="rId10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Double Bracket 54">
            <a:extLst>
              <a:ext uri="{FF2B5EF4-FFF2-40B4-BE49-F238E27FC236}">
                <a16:creationId xmlns:a16="http://schemas.microsoft.com/office/drawing/2014/main" id="{9F08F3C0-61B8-0B63-641E-30C6895F9FC3}"/>
              </a:ext>
            </a:extLst>
          </p:cNvPr>
          <p:cNvSpPr/>
          <p:nvPr/>
        </p:nvSpPr>
        <p:spPr>
          <a:xfrm>
            <a:off x="2711624" y="1556792"/>
            <a:ext cx="2664296" cy="1975097"/>
          </a:xfrm>
          <a:prstGeom prst="bracketPair">
            <a:avLst>
              <a:gd name="adj" fmla="val 1234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ouble Bracket 55">
            <a:extLst>
              <a:ext uri="{FF2B5EF4-FFF2-40B4-BE49-F238E27FC236}">
                <a16:creationId xmlns:a16="http://schemas.microsoft.com/office/drawing/2014/main" id="{16B49F8F-B35C-7CA1-85E1-47D30A82B300}"/>
              </a:ext>
            </a:extLst>
          </p:cNvPr>
          <p:cNvSpPr/>
          <p:nvPr/>
        </p:nvSpPr>
        <p:spPr>
          <a:xfrm>
            <a:off x="407368" y="3888736"/>
            <a:ext cx="1944217" cy="2564600"/>
          </a:xfrm>
          <a:prstGeom prst="bracketPair">
            <a:avLst>
              <a:gd name="adj" fmla="val 9838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Double Bracket 56">
            <a:extLst>
              <a:ext uri="{FF2B5EF4-FFF2-40B4-BE49-F238E27FC236}">
                <a16:creationId xmlns:a16="http://schemas.microsoft.com/office/drawing/2014/main" id="{B1935ECC-6FD3-6360-3F5E-443BF5982F3C}"/>
              </a:ext>
            </a:extLst>
          </p:cNvPr>
          <p:cNvSpPr/>
          <p:nvPr/>
        </p:nvSpPr>
        <p:spPr>
          <a:xfrm>
            <a:off x="2711624" y="3888736"/>
            <a:ext cx="2664296" cy="2564600"/>
          </a:xfrm>
          <a:prstGeom prst="bracketPair">
            <a:avLst>
              <a:gd name="adj" fmla="val 460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952C14-BE44-9416-0834-8240E3D11417}"/>
              </a:ext>
            </a:extLst>
          </p:cNvPr>
          <p:cNvSpPr txBox="1"/>
          <p:nvPr/>
        </p:nvSpPr>
        <p:spPr>
          <a:xfrm>
            <a:off x="7342464" y="2142728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C=AB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AAE43-E717-445D-FBC6-134EEFD60AC1}"/>
              </a:ext>
            </a:extLst>
          </p:cNvPr>
          <p:cNvSpPr txBox="1"/>
          <p:nvPr/>
        </p:nvSpPr>
        <p:spPr>
          <a:xfrm>
            <a:off x="2305731" y="2288256"/>
            <a:ext cx="409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365994-917F-362A-06BD-1041283ED20E}"/>
              </a:ext>
            </a:extLst>
          </p:cNvPr>
          <p:cNvSpPr txBox="1"/>
          <p:nvPr/>
        </p:nvSpPr>
        <p:spPr>
          <a:xfrm>
            <a:off x="1209054" y="3402764"/>
            <a:ext cx="409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EB042D-0583-C54D-2053-BA9FE3BFC8E6}"/>
              </a:ext>
            </a:extLst>
          </p:cNvPr>
          <p:cNvSpPr txBox="1"/>
          <p:nvPr/>
        </p:nvSpPr>
        <p:spPr>
          <a:xfrm>
            <a:off x="3903750" y="6401962"/>
            <a:ext cx="409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3996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3600"/>
              <a:t>Представление точек и векторов при помощи умножения матриц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6" name="Object 4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982663" y="2187575"/>
                <a:ext cx="4465265" cy="215265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̄"/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̄"/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̄"/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</m:d>
                      <m:r>
                        <a:rPr lang="en-US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26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982663" y="2187575"/>
                <a:ext cx="4465265" cy="2152650"/>
              </a:xfrm>
              <a:prstGeom prst="rect">
                <a:avLst/>
              </a:prstGeom>
              <a:blipFill>
                <a:blip r:embed="rId3"/>
                <a:stretch>
                  <a:fillRect t="-1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Object 6"/>
              <p:cNvSpPr txBox="1"/>
              <p:nvPr/>
            </p:nvSpPr>
            <p:spPr bwMode="auto">
              <a:xfrm>
                <a:off x="6283325" y="2276475"/>
                <a:ext cx="4926012" cy="172858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̄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̄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̄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</m:d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26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83325" y="2276475"/>
                <a:ext cx="4926012" cy="17285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215" name="Text Box 7"/>
          <p:cNvSpPr txBox="1">
            <a:spLocks noChangeArrowheads="1"/>
          </p:cNvSpPr>
          <p:nvPr/>
        </p:nvSpPr>
        <p:spPr bwMode="auto">
          <a:xfrm>
            <a:off x="983432" y="4902200"/>
            <a:ext cx="1015312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000" dirty="0"/>
              <a:t>Эти примерами </a:t>
            </a:r>
            <a:r>
              <a:rPr lang="ru-RU" sz="2000" b="1" dirty="0"/>
              <a:t>однородного представления</a:t>
            </a:r>
            <a:r>
              <a:rPr lang="ru-RU" sz="2000" dirty="0"/>
              <a:t> векторов и точек.</a:t>
            </a:r>
          </a:p>
          <a:p>
            <a:r>
              <a:rPr lang="ru-RU" sz="2000" dirty="0"/>
              <a:t>Оно сохраняет различие между точками и векторами и предоставляет компактную запись при работе с аффинными преобразованиями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3600"/>
              <a:t>Линейные комбинации векторов в однородных координатах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13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772816"/>
                <a:ext cx="9829801" cy="5256635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Разность двух точек</a:t>
                </a:r>
                <a:r>
                  <a:rPr lang="en-US" sz="2400" dirty="0"/>
                  <a:t> </a:t>
                </a:r>
                <a:r>
                  <a:rPr lang="ru-RU" sz="2400" dirty="0"/>
                  <a:t>- вектор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,1) – 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,1) = 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0)</m:t>
                    </m:r>
                  </m:oMath>
                </a14:m>
                <a:endParaRPr lang="ru-RU" sz="20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Сумма точки и вектора – точка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,1) + 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,0) = (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1)</m:t>
                    </m:r>
                  </m:oMath>
                </a14:m>
                <a:endParaRPr lang="en-US" sz="20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Сумма двух векторов – вектор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,0) + 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,0) = (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0)</m:t>
                    </m:r>
                  </m:oMath>
                </a14:m>
                <a:endParaRPr lang="en-US" sz="20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Имеет смысл масштабирование векторов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3(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,0) = (3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0)</m:t>
                    </m:r>
                  </m:oMath>
                </a14:m>
                <a:endParaRPr lang="en-US" sz="20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Имеет смысл создание любой линейной комбинации векторов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ru-RU" sz="2000" dirty="0"/>
                  <a:t>Для векторов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,0)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,0)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 произвольных скаляров </a:t>
                </a:r>
                <a:r>
                  <a:rPr lang="en-US" sz="2000" dirty="0"/>
                  <a:t>a </a:t>
                </a:r>
                <a:r>
                  <a:rPr lang="ru-RU" sz="2000" dirty="0"/>
                  <a:t>и </a:t>
                </a:r>
                <a:r>
                  <a:rPr lang="en-US" sz="2000" dirty="0"/>
                  <a:t>b </a:t>
                </a:r>
                <a:r>
                  <a:rPr lang="ru-RU" sz="2000" dirty="0"/>
                  <a:t>имеем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1" i="1" dirty="0" err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1" i="1" dirty="0" err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𝑎𝑣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𝑏𝑤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𝑎𝑣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𝑏𝑤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𝑎𝑣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𝑏𝑤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0)</m:t>
                    </m:r>
                  </m:oMath>
                </a14:m>
                <a:r>
                  <a:rPr lang="en-US" sz="2000" dirty="0"/>
                  <a:t>, </a:t>
                </a:r>
                <a:r>
                  <a:rPr lang="ru-RU" sz="2000" dirty="0"/>
                  <a:t>что является вектором</a:t>
                </a:r>
              </a:p>
            </p:txBody>
          </p:sp>
        </mc:Choice>
        <mc:Fallback xmlns="">
          <p:sp>
            <p:nvSpPr>
              <p:cNvPr id="9113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72816"/>
                <a:ext cx="9829801" cy="5256635"/>
              </a:xfrm>
              <a:blipFill>
                <a:blip r:embed="rId3"/>
                <a:stretch>
                  <a:fillRect l="-868" t="-1624" r="-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1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1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Аффинные комбинации точек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16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80000"/>
                  </a:lnSpc>
                </a:pPr>
                <a:r>
                  <a:rPr lang="ru-RU" sz="2800" dirty="0"/>
                  <a:t>Рассмотрим формирование линейной комбинации двух точек</a:t>
                </a:r>
                <a:br>
                  <a:rPr lang="en-US" sz="2800" dirty="0"/>
                </a:b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,1)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,1)</m:t>
                    </m:r>
                  </m:oMath>
                </a14:m>
                <a:r>
                  <a:rPr lang="ru-RU" sz="2800" dirty="0"/>
                  <a:t> со скалярами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800" dirty="0"/>
                  <a:t>: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𝑓𝑃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𝑔𝑅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𝑓𝑃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𝑔𝑅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𝑓𝑃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𝑔𝑅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latin typeface="Times New Roman" pitchFamily="18" charset="0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ru-RU" dirty="0"/>
                  <a:t>Результат является истинной точкой лишь в том случае, когда </a:t>
                </a:r>
                <a:r>
                  <a:rPr lang="en-US" i="1" dirty="0" err="1">
                    <a:solidFill>
                      <a:schemeClr val="hlink"/>
                    </a:solidFill>
                    <a:latin typeface="Times New Roman" pitchFamily="18" charset="0"/>
                  </a:rPr>
                  <a:t>f+g</a:t>
                </a:r>
                <a:r>
                  <a:rPr lang="en-US" dirty="0">
                    <a:solidFill>
                      <a:schemeClr val="hlink"/>
                    </a:solidFill>
                  </a:rPr>
                  <a:t>=1</a:t>
                </a:r>
              </a:p>
              <a:p>
                <a:pPr>
                  <a:lnSpc>
                    <a:spcPct val="80000"/>
                  </a:lnSpc>
                </a:pPr>
                <a:r>
                  <a:rPr lang="ru-RU" dirty="0"/>
                  <a:t>Если сумма коэффициентов линейной комбинации равна 1, такая комбинация является аффинной</a:t>
                </a:r>
                <a:r>
                  <a:rPr lang="en-US" dirty="0"/>
                  <a:t>.</a:t>
                </a:r>
                <a:endParaRPr lang="ru-RU" dirty="0"/>
              </a:p>
              <a:p>
                <a:pPr lvl="1">
                  <a:lnSpc>
                    <a:spcPct val="80000"/>
                  </a:lnSpc>
                </a:pPr>
                <a:r>
                  <a:rPr lang="ru-RU" dirty="0"/>
                  <a:t>Следовательно, единственная истинная комбинация точек – аффинная комбинация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ru-RU" sz="2800" b="1" dirty="0"/>
                  <a:t>Любая аффинная комбинация точек является истинной точкой</a:t>
                </a:r>
              </a:p>
            </p:txBody>
          </p:sp>
        </mc:Choice>
        <mc:Fallback xmlns="">
          <p:sp>
            <p:nvSpPr>
              <p:cNvPr id="921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081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Произвольная линейная комбинация точек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87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Пусть дана линейная комбинация двух точек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𝑓𝑃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𝑔𝑅</m:t>
                    </m:r>
                  </m:oMath>
                </a14:m>
                <a:r>
                  <a:rPr lang="en-US" sz="2800" i="1" dirty="0"/>
                  <a:t>,</a:t>
                </a:r>
                <a:r>
                  <a:rPr lang="ru-RU" sz="2800" i="1" dirty="0"/>
                  <a:t> </a:t>
                </a:r>
                <a:r>
                  <a:rPr lang="ru-RU" sz="2800" dirty="0"/>
                  <a:t>такая, что</a:t>
                </a:r>
                <a:r>
                  <a:rPr lang="en-US" sz="2800" i="1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≠1</m:t>
                    </m:r>
                  </m:oMath>
                </a14:m>
                <a:endParaRPr lang="ru-RU" sz="2800" dirty="0"/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ru-RU" dirty="0">
                    <a:cs typeface="Tahoma" pitchFamily="34" charset="0"/>
                  </a:rPr>
                  <a:t>Пусть начало отсчета смещено на вектор </a:t>
                </a:r>
                <a:r>
                  <a:rPr lang="en-US" b="1" i="1" dirty="0">
                    <a:cs typeface="Tahoma" pitchFamily="34" charset="0"/>
                  </a:rPr>
                  <a:t>u</a:t>
                </a:r>
                <a:r>
                  <a:rPr lang="en-US" dirty="0">
                    <a:cs typeface="Tahoma" pitchFamily="34" charset="0"/>
                  </a:rPr>
                  <a:t>, </a:t>
                </a:r>
                <a:r>
                  <a:rPr lang="ru-RU" dirty="0">
                    <a:cs typeface="Tahoma" pitchFamily="34" charset="0"/>
                  </a:rPr>
                  <a:t>тогда точка </a:t>
                </a:r>
                <a:r>
                  <a:rPr lang="en-US" i="1" dirty="0">
                    <a:cs typeface="Tahoma" pitchFamily="34" charset="0"/>
                  </a:rPr>
                  <a:t>P</a:t>
                </a:r>
                <a:r>
                  <a:rPr lang="ru-RU" dirty="0">
                    <a:cs typeface="Tahoma" pitchFamily="34" charset="0"/>
                  </a:rPr>
                  <a:t> смещена на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+</m:t>
                    </m:r>
                    <m:r>
                      <a:rPr lang="en-US" b="1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𝒖</m:t>
                    </m:r>
                  </m:oMath>
                </a14:m>
                <a:r>
                  <a:rPr lang="en-US" dirty="0">
                    <a:cs typeface="Tahoma" pitchFamily="34" charset="0"/>
                  </a:rPr>
                  <a:t>, </a:t>
                </a:r>
                <a:r>
                  <a:rPr lang="ru-RU" dirty="0">
                    <a:cs typeface="Tahoma" pitchFamily="34" charset="0"/>
                  </a:rPr>
                  <a:t>а точка </a:t>
                </a:r>
                <a:r>
                  <a:rPr lang="en-US" i="1" dirty="0">
                    <a:cs typeface="Tahoma" pitchFamily="34" charset="0"/>
                  </a:rPr>
                  <a:t>R</a:t>
                </a:r>
                <a:r>
                  <a:rPr lang="en-US" dirty="0">
                    <a:cs typeface="Tahoma" pitchFamily="34" charset="0"/>
                  </a:rPr>
                  <a:t> – </a:t>
                </a:r>
                <a:r>
                  <a:rPr lang="ru-RU" dirty="0">
                    <a:cs typeface="Tahoma" pitchFamily="34" charset="0"/>
                  </a:rPr>
                  <a:t>на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+</m:t>
                    </m:r>
                    <m:r>
                      <a:rPr lang="en-US" b="1" i="1" dirty="0" err="1" smtClean="0">
                        <a:latin typeface="Cambria Math" panose="02040503050406030204" pitchFamily="18" charset="0"/>
                        <a:cs typeface="Tahoma" pitchFamily="34" charset="0"/>
                      </a:rPr>
                      <m:t>𝒖</m:t>
                    </m:r>
                  </m:oMath>
                </a14:m>
                <a:endParaRPr lang="en-US" b="1" i="1" dirty="0">
                  <a:cs typeface="Tahoma" pitchFamily="34" charset="0"/>
                </a:endParaRPr>
              </a:p>
              <a:p>
                <a:r>
                  <a:rPr lang="ru-RU" dirty="0">
                    <a:cs typeface="Tahoma" pitchFamily="34" charset="0"/>
                  </a:rPr>
                  <a:t>Если </a:t>
                </a:r>
                <a:r>
                  <a:rPr lang="en-US" dirty="0">
                    <a:cs typeface="Tahoma" pitchFamily="34" charset="0"/>
                  </a:rPr>
                  <a:t>E </a:t>
                </a:r>
                <a:r>
                  <a:rPr lang="ru-RU" dirty="0">
                    <a:cs typeface="Tahoma" pitchFamily="34" charset="0"/>
                  </a:rPr>
                  <a:t>является истинной точкой, то она также должна быть смещена в новую точку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’=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𝐸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+</m:t>
                    </m:r>
                    <m:r>
                      <a:rPr lang="en-US" b="1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𝒖</m:t>
                    </m:r>
                  </m:oMath>
                </a14:m>
                <a:r>
                  <a:rPr lang="en-US" dirty="0">
                    <a:cs typeface="Tahoma" pitchFamily="34" charset="0"/>
                  </a:rPr>
                  <a:t>, </a:t>
                </a:r>
                <a:r>
                  <a:rPr lang="ru-RU" dirty="0">
                    <a:cs typeface="Tahoma" pitchFamily="34" charset="0"/>
                  </a:rPr>
                  <a:t>однако мы имеем: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’=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𝑓𝑃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 + 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𝑔𝑅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 + (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𝑓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+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ahoma" pitchFamily="34" charset="0"/>
                      </a:rPr>
                      <m:t>𝑔</m:t>
                    </m:r>
                    <m:r>
                      <a:rPr lang="en-US" i="1" dirty="0">
                        <a:latin typeface="Cambria Math" panose="02040503050406030204" pitchFamily="18" charset="0"/>
                        <a:cs typeface="Tahoma" pitchFamily="34" charset="0"/>
                      </a:rPr>
                      <m:t>)</m:t>
                    </m:r>
                    <m:r>
                      <a:rPr lang="en-US" b="1" i="1" dirty="0">
                        <a:latin typeface="Cambria Math" panose="02040503050406030204" pitchFamily="18" charset="0"/>
                        <a:cs typeface="Tahoma" pitchFamily="34" charset="0"/>
                      </a:rPr>
                      <m:t>𝒖</m:t>
                    </m:r>
                  </m:oMath>
                </a14:m>
                <a:endParaRPr lang="en-US" b="1" i="1" dirty="0">
                  <a:cs typeface="Tahoma" pitchFamily="34" charset="0"/>
                </a:endParaRPr>
              </a:p>
              <a:p>
                <a:pPr lvl="1"/>
                <a:r>
                  <a:rPr lang="ru-RU" dirty="0">
                    <a:cs typeface="Tahoma" pitchFamily="34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≠1</m:t>
                    </m:r>
                  </m:oMath>
                </a14:m>
                <a:r>
                  <a:rPr lang="en-US" dirty="0">
                    <a:cs typeface="Tahoma" pitchFamily="34" charset="0"/>
                  </a:rPr>
                  <a:t>, </a:t>
                </a:r>
                <a:r>
                  <a:rPr lang="ru-RU" dirty="0">
                    <a:cs typeface="Tahoma" pitchFamily="34" charset="0"/>
                  </a:rPr>
                  <a:t>то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’≠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ahoma" pitchFamily="34" charset="0"/>
                      </a:rPr>
                      <m:t> + </m:t>
                    </m:r>
                    <m:r>
                      <a:rPr lang="en-US" b="1" i="1" dirty="0">
                        <a:latin typeface="Cambria Math" panose="02040503050406030204" pitchFamily="18" charset="0"/>
                        <a:cs typeface="Tahoma" pitchFamily="34" charset="0"/>
                      </a:rPr>
                      <m:t>𝒖</m:t>
                    </m:r>
                  </m:oMath>
                </a14:m>
                <a:endParaRPr lang="en-US" b="1" dirty="0">
                  <a:cs typeface="Tahoma" pitchFamily="34" charset="0"/>
                </a:endParaRPr>
              </a:p>
              <a:p>
                <a:r>
                  <a:rPr lang="ru-RU" b="1" dirty="0" err="1">
                    <a:cs typeface="Tahoma" pitchFamily="34" charset="0"/>
                  </a:rPr>
                  <a:t>Неаффинная</a:t>
                </a:r>
                <a:r>
                  <a:rPr lang="ru-RU" b="1" dirty="0">
                    <a:cs typeface="Tahoma" pitchFamily="34" charset="0"/>
                  </a:rPr>
                  <a:t> комбинация точек в различных системах координат дает различные точки</a:t>
                </a:r>
                <a:endParaRPr lang="en-US" b="1" dirty="0"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931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4000"/>
              <a:t>Точка плюс вектор – аффинная комбинация точек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>
          <a:xfrm>
            <a:off x="767408" y="2017714"/>
            <a:ext cx="9711680" cy="4579937"/>
          </a:xfrm>
        </p:spPr>
        <p:txBody>
          <a:bodyPr/>
          <a:lstStyle/>
          <a:p>
            <a:pPr eaLnBrk="1" hangingPunct="1"/>
            <a:r>
              <a:rPr lang="ru-RU" dirty="0"/>
              <a:t>Рассмотрим формирование точки </a:t>
            </a:r>
            <a:r>
              <a:rPr lang="en-US" dirty="0"/>
              <a:t>P </a:t>
            </a:r>
            <a:r>
              <a:rPr lang="ru-RU" dirty="0"/>
              <a:t>как смещение точки </a:t>
            </a:r>
            <a:r>
              <a:rPr lang="en-US" dirty="0"/>
              <a:t>A </a:t>
            </a:r>
            <a:r>
              <a:rPr lang="ru-RU" dirty="0"/>
              <a:t>на вектор </a:t>
            </a:r>
            <a:r>
              <a:rPr lang="en-US" b="1" dirty="0"/>
              <a:t>v</a:t>
            </a:r>
            <a:r>
              <a:rPr lang="ru-RU" dirty="0"/>
              <a:t>, масштабированный скаляром </a:t>
            </a:r>
            <a:r>
              <a:rPr lang="en-US" dirty="0"/>
              <a:t>t</a:t>
            </a:r>
          </a:p>
          <a:p>
            <a:pPr lvl="1" eaLnBrk="1" hangingPunct="1"/>
            <a:r>
              <a:rPr lang="en-US" dirty="0"/>
              <a:t>P = A + t</a:t>
            </a:r>
            <a:r>
              <a:rPr lang="en-US" b="1" dirty="0"/>
              <a:t>v</a:t>
            </a:r>
          </a:p>
          <a:p>
            <a:r>
              <a:rPr lang="ru-RU" dirty="0"/>
              <a:t>Пусть </a:t>
            </a:r>
            <a:r>
              <a:rPr lang="en-US" b="1" dirty="0"/>
              <a:t>v</a:t>
            </a:r>
            <a:r>
              <a:rPr lang="en-US" dirty="0"/>
              <a:t>=B-A, </a:t>
            </a:r>
            <a:r>
              <a:rPr lang="ru-RU" dirty="0"/>
              <a:t>тогда:</a:t>
            </a:r>
            <a:endParaRPr lang="en-US" dirty="0"/>
          </a:p>
          <a:p>
            <a:pPr lvl="1" eaLnBrk="1" hangingPunct="1"/>
            <a:r>
              <a:rPr lang="en-US" dirty="0"/>
              <a:t>P = A + t(B-A)</a:t>
            </a:r>
          </a:p>
          <a:p>
            <a:pPr lvl="1" eaLnBrk="1" hangingPunct="1"/>
            <a:r>
              <a:rPr lang="en-US" dirty="0"/>
              <a:t>P = </a:t>
            </a:r>
            <a:r>
              <a:rPr lang="en-US" dirty="0" err="1"/>
              <a:t>tB</a:t>
            </a:r>
            <a:r>
              <a:rPr lang="en-US" dirty="0"/>
              <a:t> + (1-t)A</a:t>
            </a:r>
          </a:p>
          <a:p>
            <a:pPr lvl="2" eaLnBrk="1" hangingPunct="1"/>
            <a:r>
              <a:rPr lang="ru-RU" dirty="0"/>
              <a:t>А это – ни что иное, как аффинная комбинация точек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Линейная интерполяция двух точек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235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Аффинная комбинация точек, выраженная уравнением</a:t>
                </a:r>
                <a:br>
                  <a:rPr lang="ru-RU" sz="2800" dirty="0"/>
                </a:b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𝐵𝑡</m:t>
                    </m:r>
                  </m:oMath>
                </a14:m>
                <a:br>
                  <a:rPr lang="ru-RU" sz="2800" dirty="0"/>
                </a:br>
                <a:r>
                  <a:rPr lang="ru-RU" sz="2800" dirty="0"/>
                  <a:t>выполняет </a:t>
                </a:r>
                <a:r>
                  <a:rPr lang="ru-RU" sz="2800" b="1" dirty="0"/>
                  <a:t>линейную интерполяцию</a:t>
                </a:r>
                <a:r>
                  <a:rPr lang="ru-RU" sz="2800" dirty="0"/>
                  <a:t> между точками </a:t>
                </a:r>
                <a:r>
                  <a:rPr lang="en-US" sz="2800" dirty="0"/>
                  <a:t>A </a:t>
                </a:r>
                <a:r>
                  <a:rPr lang="ru-RU" sz="2800" dirty="0"/>
                  <a:t>и </a:t>
                </a:r>
                <a:r>
                  <a:rPr lang="en-US" sz="2800" dirty="0"/>
                  <a:t>B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Иными словами</a:t>
                </a:r>
                <a:r>
                  <a:rPr lang="en-US" sz="2800" dirty="0"/>
                  <a:t>, x-</a:t>
                </a:r>
                <a:r>
                  <a:rPr lang="ru-RU" sz="2800" dirty="0"/>
                  <a:t>компонент </a:t>
                </a:r>
                <a:r>
                  <a:rPr lang="en-US" sz="2800" dirty="0" err="1"/>
                  <a:t>P</a:t>
                </a:r>
                <a:r>
                  <a:rPr lang="en-US" sz="2800" baseline="-25000" dirty="0" err="1"/>
                  <a:t>x</a:t>
                </a:r>
                <a:r>
                  <a:rPr lang="en-US" sz="2800" dirty="0"/>
                  <a:t>(t) </a:t>
                </a:r>
                <a:r>
                  <a:rPr lang="ru-RU" sz="2800" dirty="0"/>
                  <a:t>генерирует величину, которая составляет </a:t>
                </a:r>
                <a:r>
                  <a:rPr lang="en-US" sz="2800" dirty="0"/>
                  <a:t>t-</a:t>
                </a:r>
                <a:r>
                  <a:rPr lang="ru-RU" sz="2800" dirty="0"/>
                  <a:t>ю часть расстояния между точками </a:t>
                </a:r>
                <a:r>
                  <a:rPr lang="en-US" sz="2800" dirty="0"/>
                  <a:t>A</a:t>
                </a:r>
                <a:r>
                  <a:rPr lang="en-US" sz="2800" baseline="-25000" dirty="0"/>
                  <a:t>x</a:t>
                </a:r>
                <a:r>
                  <a:rPr lang="en-US" sz="2800" dirty="0"/>
                  <a:t> </a:t>
                </a:r>
                <a:r>
                  <a:rPr lang="ru-RU" sz="2800" dirty="0"/>
                  <a:t>и </a:t>
                </a:r>
                <a:r>
                  <a:rPr lang="en-US" sz="2800" dirty="0"/>
                  <a:t>B</a:t>
                </a:r>
                <a:r>
                  <a:rPr lang="en-US" sz="2800" baseline="-25000" dirty="0"/>
                  <a:t>x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ru-RU" dirty="0"/>
                  <a:t>Аналогично для </a:t>
                </a:r>
                <a:r>
                  <a:rPr lang="en-US" dirty="0"/>
                  <a:t>y </a:t>
                </a:r>
                <a:r>
                  <a:rPr lang="ru-RU" dirty="0"/>
                  <a:t>и </a:t>
                </a:r>
                <a:r>
                  <a:rPr lang="en-US" dirty="0"/>
                  <a:t>z-</a:t>
                </a:r>
                <a:r>
                  <a:rPr lang="ru-RU" dirty="0"/>
                  <a:t> компонент</a:t>
                </a:r>
              </a:p>
            </p:txBody>
          </p:sp>
        </mc:Choice>
        <mc:Fallback xmlns="">
          <p:sp>
            <p:nvSpPr>
              <p:cNvPr id="9523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Пример функции</a:t>
            </a:r>
            <a:r>
              <a:rPr lang="en-US"/>
              <a:t> lerp</a:t>
            </a:r>
            <a:endParaRPr lang="ru-RU"/>
          </a:p>
        </p:txBody>
      </p:sp>
      <p:sp>
        <p:nvSpPr>
          <p:cNvPr id="96259" name="Text Box 4"/>
          <p:cNvSpPr txBox="1">
            <a:spLocks noChangeArrowheads="1"/>
          </p:cNvSpPr>
          <p:nvPr/>
        </p:nvSpPr>
        <p:spPr bwMode="auto">
          <a:xfrm>
            <a:off x="983432" y="2239963"/>
            <a:ext cx="9360719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tabLst>
                <a:tab pos="542925" algn="l"/>
              </a:tabLst>
            </a:pPr>
            <a:r>
              <a:rPr lang="en-US" sz="2400" i="1" dirty="0">
                <a:latin typeface="Courier New" pitchFamily="49" charset="0"/>
              </a:rPr>
              <a:t>// linear interpolation between a and b</a:t>
            </a:r>
          </a:p>
          <a:p>
            <a:pPr>
              <a:tabLst>
                <a:tab pos="542925" algn="l"/>
              </a:tabLst>
            </a:pPr>
            <a:r>
              <a:rPr lang="en-US" sz="2400" b="1" dirty="0">
                <a:latin typeface="Courier New" pitchFamily="49" charset="0"/>
              </a:rPr>
              <a:t>float lerp(float a, float b, float t)</a:t>
            </a:r>
          </a:p>
          <a:p>
            <a:pPr>
              <a:tabLst>
                <a:tab pos="542925" algn="l"/>
              </a:tabLst>
            </a:pPr>
            <a:r>
              <a:rPr lang="en-US" sz="2400" b="1" dirty="0">
                <a:latin typeface="Courier New" pitchFamily="49" charset="0"/>
              </a:rPr>
              <a:t>{</a:t>
            </a:r>
          </a:p>
          <a:p>
            <a:pPr>
              <a:tabLst>
                <a:tab pos="542925" algn="l"/>
              </a:tabLst>
            </a:pPr>
            <a:r>
              <a:rPr lang="en-US" sz="2400" b="1" dirty="0">
                <a:latin typeface="Courier New" pitchFamily="49" charset="0"/>
              </a:rPr>
              <a:t>	return a + (b – a) * t;</a:t>
            </a:r>
          </a:p>
          <a:p>
            <a:pPr>
              <a:tabLst>
                <a:tab pos="542925" algn="l"/>
              </a:tabLst>
            </a:pPr>
            <a:r>
              <a:rPr lang="en-US" sz="2400" b="1" dirty="0">
                <a:latin typeface="Courier New" pitchFamily="49" charset="0"/>
              </a:rPr>
              <a:t>}</a:t>
            </a:r>
            <a:endParaRPr lang="ru-RU" sz="2400" b="1" dirty="0">
              <a:latin typeface="Courier New" pitchFamily="49" charset="0"/>
            </a:endParaRPr>
          </a:p>
        </p:txBody>
      </p:sp>
      <p:sp>
        <p:nvSpPr>
          <p:cNvPr id="96260" name="Text Box 5"/>
          <p:cNvSpPr txBox="1">
            <a:spLocks noChangeArrowheads="1"/>
          </p:cNvSpPr>
          <p:nvPr/>
        </p:nvSpPr>
        <p:spPr bwMode="auto">
          <a:xfrm>
            <a:off x="983432" y="4381500"/>
            <a:ext cx="944326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/>
              <a:t>Задание для самостоятельной работы – самостоятельно разработать функцию для линейной интерполяции между точками на 2</a:t>
            </a:r>
            <a:r>
              <a:rPr lang="en-US" dirty="0"/>
              <a:t>D </a:t>
            </a:r>
            <a:r>
              <a:rPr lang="ru-RU" dirty="0"/>
              <a:t>плоскости и в 3</a:t>
            </a:r>
            <a:r>
              <a:rPr lang="en-US" dirty="0"/>
              <a:t>D</a:t>
            </a:r>
            <a:r>
              <a:rPr lang="ru-RU" dirty="0"/>
              <a:t> пространстве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Твининг (</a:t>
            </a:r>
            <a:r>
              <a:rPr lang="en-US"/>
              <a:t>tweening)</a:t>
            </a:r>
            <a:endParaRPr lang="ru-RU"/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800"/>
              <a:t>Используя линейную интерполяцию можно создать эффект т.н. </a:t>
            </a:r>
            <a:r>
              <a:rPr lang="en-US" sz="2800"/>
              <a:t>tweening’</a:t>
            </a:r>
            <a:r>
              <a:rPr lang="ru-RU" sz="2800"/>
              <a:t>а - плавной анимации превращения одной геометрической фигуры в другую</a:t>
            </a:r>
            <a:endParaRPr lang="en-US" sz="2800"/>
          </a:p>
          <a:p>
            <a:pPr eaLnBrk="1" hangingPunct="1"/>
            <a:r>
              <a:rPr lang="ru-RU" sz="2800"/>
              <a:t>При этом точки исходной фигуры равномерно интерполируются с течением времени в точки конечной фигуры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52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06925" y="2465388"/>
            <a:ext cx="2928938" cy="439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6259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Пример </a:t>
            </a:r>
            <a:r>
              <a:rPr lang="en-US"/>
              <a:t>Tweening-</a:t>
            </a:r>
            <a:r>
              <a:rPr lang="ru-RU"/>
              <a:t>а двух изображений</a:t>
            </a:r>
          </a:p>
        </p:txBody>
      </p:sp>
      <p:pic>
        <p:nvPicPr>
          <p:cNvPr id="9830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2465388"/>
            <a:ext cx="2928938" cy="439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8309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39064" y="2465388"/>
            <a:ext cx="2928937" cy="439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855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06925" y="2465388"/>
            <a:ext cx="2928938" cy="439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8554" name="Rectangle 10"/>
          <p:cNvSpPr>
            <a:spLocks noChangeArrowheads="1"/>
          </p:cNvSpPr>
          <p:nvPr/>
        </p:nvSpPr>
        <p:spPr bwMode="auto">
          <a:xfrm>
            <a:off x="4583113" y="2060575"/>
            <a:ext cx="2952750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08555" name="Rectangle 11"/>
          <p:cNvSpPr>
            <a:spLocks noChangeArrowheads="1"/>
          </p:cNvSpPr>
          <p:nvPr/>
        </p:nvSpPr>
        <p:spPr bwMode="auto">
          <a:xfrm>
            <a:off x="4583113" y="2060575"/>
            <a:ext cx="2952750" cy="2159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08557" name="Text Box 13"/>
          <p:cNvSpPr txBox="1">
            <a:spLocks noChangeArrowheads="1"/>
          </p:cNvSpPr>
          <p:nvPr/>
        </p:nvSpPr>
        <p:spPr bwMode="auto">
          <a:xfrm>
            <a:off x="5808663" y="1700213"/>
            <a:ext cx="260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</a:t>
            </a:r>
            <a:endParaRPr lang="ru-RU"/>
          </a:p>
        </p:txBody>
      </p:sp>
      <p:sp>
        <p:nvSpPr>
          <p:cNvPr id="108558" name="Text Box 14"/>
          <p:cNvSpPr txBox="1">
            <a:spLocks noChangeArrowheads="1"/>
          </p:cNvSpPr>
          <p:nvPr/>
        </p:nvSpPr>
        <p:spPr bwMode="auto">
          <a:xfrm>
            <a:off x="4008438" y="1989138"/>
            <a:ext cx="3095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0</a:t>
            </a:r>
            <a:endParaRPr lang="ru-RU"/>
          </a:p>
        </p:txBody>
      </p:sp>
      <p:sp>
        <p:nvSpPr>
          <p:cNvPr id="108559" name="Text Box 15"/>
          <p:cNvSpPr txBox="1">
            <a:spLocks noChangeArrowheads="1"/>
          </p:cNvSpPr>
          <p:nvPr/>
        </p:nvSpPr>
        <p:spPr bwMode="auto">
          <a:xfrm>
            <a:off x="7608888" y="1989138"/>
            <a:ext cx="3095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8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08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08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0"/>
                                        <p:tgtEl>
                                          <p:spTgt spid="10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0"/>
                                        <p:tgtEl>
                                          <p:spTgt spid="108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54" grpId="0" animBg="1"/>
      <p:bldP spid="108555" grpId="0" animBg="1"/>
      <p:bldP spid="108557" grpId="0"/>
      <p:bldP spid="108558" grpId="0"/>
      <p:bldP spid="10855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Введение в преобразования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5E228C-CACB-BBCA-6BBF-7E1F90F32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Пример преобразования двухмерной фигуры</a:t>
            </a:r>
          </a:p>
        </p:txBody>
      </p:sp>
      <p:sp>
        <p:nvSpPr>
          <p:cNvPr id="100355" name="AutoShape 4"/>
          <p:cNvSpPr>
            <a:spLocks noChangeArrowheads="1"/>
          </p:cNvSpPr>
          <p:nvPr/>
        </p:nvSpPr>
        <p:spPr bwMode="auto">
          <a:xfrm>
            <a:off x="3071813" y="4581526"/>
            <a:ext cx="1511300" cy="1484313"/>
          </a:xfrm>
          <a:prstGeom prst="flowChartManualInpu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00356" name="Line 6"/>
          <p:cNvSpPr>
            <a:spLocks noChangeShapeType="1"/>
          </p:cNvSpPr>
          <p:nvPr/>
        </p:nvSpPr>
        <p:spPr bwMode="auto">
          <a:xfrm flipV="1">
            <a:off x="2640013" y="2924176"/>
            <a:ext cx="0" cy="35290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00357" name="Line 7"/>
          <p:cNvSpPr>
            <a:spLocks noChangeShapeType="1"/>
          </p:cNvSpPr>
          <p:nvPr/>
        </p:nvSpPr>
        <p:spPr bwMode="auto">
          <a:xfrm>
            <a:off x="2640013" y="6453188"/>
            <a:ext cx="39608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14696" name="AutoShape 8"/>
          <p:cNvSpPr>
            <a:spLocks noChangeArrowheads="1"/>
          </p:cNvSpPr>
          <p:nvPr/>
        </p:nvSpPr>
        <p:spPr bwMode="auto">
          <a:xfrm rot="1626720">
            <a:off x="4943476" y="3573464"/>
            <a:ext cx="792163" cy="777875"/>
          </a:xfrm>
          <a:prstGeom prst="flowChartManualInpu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00359" name="Text Box 9"/>
          <p:cNvSpPr txBox="1">
            <a:spLocks noChangeArrowheads="1"/>
          </p:cNvSpPr>
          <p:nvPr/>
        </p:nvSpPr>
        <p:spPr bwMode="auto">
          <a:xfrm>
            <a:off x="4851400" y="5245101"/>
            <a:ext cx="3117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Объект до преобразования</a:t>
            </a:r>
          </a:p>
        </p:txBody>
      </p:sp>
      <p:sp>
        <p:nvSpPr>
          <p:cNvPr id="100360" name="Text Box 10"/>
          <p:cNvSpPr txBox="1">
            <a:spLocks noChangeArrowheads="1"/>
          </p:cNvSpPr>
          <p:nvPr/>
        </p:nvSpPr>
        <p:spPr bwMode="auto">
          <a:xfrm>
            <a:off x="2259013" y="2652713"/>
            <a:ext cx="2968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  <a:endParaRPr lang="ru-RU"/>
          </a:p>
        </p:txBody>
      </p:sp>
      <p:sp>
        <p:nvSpPr>
          <p:cNvPr id="100361" name="Text Box 11"/>
          <p:cNvSpPr txBox="1">
            <a:spLocks noChangeArrowheads="1"/>
          </p:cNvSpPr>
          <p:nvPr/>
        </p:nvSpPr>
        <p:spPr bwMode="auto">
          <a:xfrm>
            <a:off x="6743701" y="6165851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</a:t>
            </a:r>
            <a:endParaRPr lang="ru-RU"/>
          </a:p>
        </p:txBody>
      </p:sp>
      <p:sp>
        <p:nvSpPr>
          <p:cNvPr id="114700" name="Text Box 12"/>
          <p:cNvSpPr txBox="1">
            <a:spLocks noChangeArrowheads="1"/>
          </p:cNvSpPr>
          <p:nvPr/>
        </p:nvSpPr>
        <p:spPr bwMode="auto">
          <a:xfrm>
            <a:off x="6240464" y="3789363"/>
            <a:ext cx="34829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Объект после преобразования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6" grpId="0" animBg="1"/>
      <p:bldP spid="11470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Составление трехмерной сцены из примитивов</a:t>
            </a:r>
          </a:p>
        </p:txBody>
      </p:sp>
      <p:sp>
        <p:nvSpPr>
          <p:cNvPr id="101379" name="AutoShape 4"/>
          <p:cNvSpPr>
            <a:spLocks noChangeArrowheads="1"/>
          </p:cNvSpPr>
          <p:nvPr/>
        </p:nvSpPr>
        <p:spPr bwMode="auto">
          <a:xfrm>
            <a:off x="2063750" y="2060576"/>
            <a:ext cx="1296988" cy="2519363"/>
          </a:xfrm>
          <a:prstGeom prst="cube">
            <a:avLst>
              <a:gd name="adj" fmla="val 37088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01380" name="Text Box 5"/>
          <p:cNvSpPr txBox="1">
            <a:spLocks noChangeArrowheads="1"/>
          </p:cNvSpPr>
          <p:nvPr/>
        </p:nvSpPr>
        <p:spPr bwMode="auto">
          <a:xfrm>
            <a:off x="3432176" y="1916113"/>
            <a:ext cx="23145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Оригинальный блок</a:t>
            </a:r>
          </a:p>
        </p:txBody>
      </p:sp>
      <p:sp>
        <p:nvSpPr>
          <p:cNvPr id="116745" name="AutoShape 9"/>
          <p:cNvSpPr>
            <a:spLocks noChangeArrowheads="1"/>
          </p:cNvSpPr>
          <p:nvPr/>
        </p:nvSpPr>
        <p:spPr bwMode="auto">
          <a:xfrm>
            <a:off x="5808664" y="2060576"/>
            <a:ext cx="1296987" cy="2519363"/>
          </a:xfrm>
          <a:prstGeom prst="cube">
            <a:avLst>
              <a:gd name="adj" fmla="val 37088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16752" name="AutoShape 16"/>
          <p:cNvSpPr>
            <a:spLocks noChangeArrowheads="1"/>
          </p:cNvSpPr>
          <p:nvPr/>
        </p:nvSpPr>
        <p:spPr bwMode="auto">
          <a:xfrm>
            <a:off x="3503613" y="3644901"/>
            <a:ext cx="1873250" cy="1800225"/>
          </a:xfrm>
          <a:prstGeom prst="cube">
            <a:avLst>
              <a:gd name="adj" fmla="val 62333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16746" name="AutoShape 10"/>
          <p:cNvSpPr>
            <a:spLocks noChangeArrowheads="1"/>
          </p:cNvSpPr>
          <p:nvPr/>
        </p:nvSpPr>
        <p:spPr bwMode="auto">
          <a:xfrm>
            <a:off x="5303839" y="3284538"/>
            <a:ext cx="1296987" cy="1727200"/>
          </a:xfrm>
          <a:prstGeom prst="cube">
            <a:avLst>
              <a:gd name="adj" fmla="val 37088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16748" name="AutoShape 12"/>
          <p:cNvSpPr>
            <a:spLocks noChangeArrowheads="1"/>
          </p:cNvSpPr>
          <p:nvPr/>
        </p:nvSpPr>
        <p:spPr bwMode="auto">
          <a:xfrm>
            <a:off x="6600826" y="2708276"/>
            <a:ext cx="2447925" cy="1871663"/>
          </a:xfrm>
          <a:prstGeom prst="cube">
            <a:avLst>
              <a:gd name="adj" fmla="val 37088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16750" name="AutoShape 14"/>
          <p:cNvSpPr>
            <a:spLocks noChangeArrowheads="1"/>
          </p:cNvSpPr>
          <p:nvPr/>
        </p:nvSpPr>
        <p:spPr bwMode="auto">
          <a:xfrm>
            <a:off x="4224339" y="4076701"/>
            <a:ext cx="1296987" cy="2519363"/>
          </a:xfrm>
          <a:prstGeom prst="cube">
            <a:avLst>
              <a:gd name="adj" fmla="val 37088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16749" name="AutoShape 13"/>
          <p:cNvSpPr>
            <a:spLocks noChangeArrowheads="1"/>
          </p:cNvSpPr>
          <p:nvPr/>
        </p:nvSpPr>
        <p:spPr bwMode="auto">
          <a:xfrm>
            <a:off x="5159375" y="5157788"/>
            <a:ext cx="3817938" cy="1439862"/>
          </a:xfrm>
          <a:prstGeom prst="cube">
            <a:avLst>
              <a:gd name="adj" fmla="val 72218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16747" name="AutoShape 11"/>
          <p:cNvSpPr>
            <a:spLocks noChangeArrowheads="1"/>
          </p:cNvSpPr>
          <p:nvPr/>
        </p:nvSpPr>
        <p:spPr bwMode="auto">
          <a:xfrm>
            <a:off x="7319963" y="1916114"/>
            <a:ext cx="1008062" cy="1366837"/>
          </a:xfrm>
          <a:prstGeom prst="cube">
            <a:avLst>
              <a:gd name="adj" fmla="val 37088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16751" name="AutoShape 15"/>
          <p:cNvSpPr>
            <a:spLocks noChangeArrowheads="1"/>
          </p:cNvSpPr>
          <p:nvPr/>
        </p:nvSpPr>
        <p:spPr bwMode="auto">
          <a:xfrm>
            <a:off x="6816725" y="4076700"/>
            <a:ext cx="1296988" cy="1943100"/>
          </a:xfrm>
          <a:prstGeom prst="cube">
            <a:avLst>
              <a:gd name="adj" fmla="val 37088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6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6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6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6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5" grpId="0" animBg="1"/>
      <p:bldP spid="116752" grpId="0" animBg="1"/>
      <p:bldP spid="116746" grpId="0" animBg="1"/>
      <p:bldP spid="116748" grpId="0" animBg="1"/>
      <p:bldP spid="116750" grpId="0" animBg="1"/>
      <p:bldP spid="116749" grpId="0" animBg="1"/>
      <p:bldP spid="116747" grpId="0" animBg="1"/>
      <p:bldP spid="11675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4000"/>
              <a:t>Просмотр сцены с различных точек наблюдения</a:t>
            </a:r>
          </a:p>
        </p:txBody>
      </p:sp>
      <p:pic>
        <p:nvPicPr>
          <p:cNvPr id="11879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92538" y="2276476"/>
            <a:ext cx="547370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8791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92538" y="2276476"/>
            <a:ext cx="547370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8792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92538" y="2276476"/>
            <a:ext cx="547370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8793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792538" y="2276476"/>
            <a:ext cx="547370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8794" name="Picture 1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792538" y="2276476"/>
            <a:ext cx="547370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0"/>
                                        <p:tgtEl>
                                          <p:spTgt spid="11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0"/>
                                        <p:tgtEl>
                                          <p:spTgt spid="11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0"/>
                                        <p:tgtEl>
                                          <p:spTgt spid="11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Преобразование точек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Объект задан последовательностью точек </a:t>
            </a:r>
            <a:r>
              <a:rPr lang="en-US" dirty="0"/>
              <a:t>Pi: P1, P2, P3…</a:t>
            </a:r>
          </a:p>
          <a:p>
            <a:pPr eaLnBrk="1" hangingPunct="1"/>
            <a:r>
              <a:rPr lang="ru-RU" dirty="0"/>
              <a:t>Преобразование изменяет значения этих точек так, что на выходе получаются точки </a:t>
            </a:r>
            <a:r>
              <a:rPr lang="en-US" dirty="0"/>
              <a:t>Q1, Q2, … </a:t>
            </a:r>
            <a:r>
              <a:rPr lang="ru-RU" dirty="0"/>
              <a:t>Эти точки описывают преобразованный вариант того же самого объекта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Преобразование объекта и преобразование координат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Преобразование объекта</a:t>
            </a:r>
          </a:p>
          <a:p>
            <a:pPr lvl="1" eaLnBrk="1" hangingPunct="1"/>
            <a:r>
              <a:rPr lang="ru-RU" dirty="0"/>
              <a:t>Координаты каждой точки объекта меняются в соответствии с некоторыми правилами при неизменной системе координат</a:t>
            </a:r>
          </a:p>
          <a:p>
            <a:pPr eaLnBrk="1" hangingPunct="1"/>
            <a:r>
              <a:rPr lang="ru-RU" dirty="0"/>
              <a:t>Преобразование системы координат</a:t>
            </a:r>
          </a:p>
          <a:p>
            <a:pPr lvl="1" eaLnBrk="1" hangingPunct="1"/>
            <a:r>
              <a:rPr lang="ru-RU" dirty="0"/>
              <a:t>Старая система координат преобразовывается в новую, и все точки объекта получают представление в новой системе координат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Преобразование точек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Любое преобразование переводит каждую точку </a:t>
            </a:r>
            <a:r>
              <a:rPr lang="en-US" dirty="0"/>
              <a:t>P </a:t>
            </a:r>
            <a:r>
              <a:rPr lang="ru-RU" dirty="0"/>
              <a:t>в пространстве в новую точку </a:t>
            </a:r>
            <a:r>
              <a:rPr lang="en-US" dirty="0"/>
              <a:t>Q </a:t>
            </a:r>
            <a:r>
              <a:rPr lang="ru-RU" dirty="0"/>
              <a:t>согласно заданной формуле или алгоритму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Отображение точек в новые точки</a:t>
            </a:r>
          </a:p>
        </p:txBody>
      </p:sp>
      <p:sp>
        <p:nvSpPr>
          <p:cNvPr id="106499" name="Line 5"/>
          <p:cNvSpPr>
            <a:spLocks noChangeShapeType="1"/>
          </p:cNvSpPr>
          <p:nvPr/>
        </p:nvSpPr>
        <p:spPr bwMode="auto">
          <a:xfrm flipV="1">
            <a:off x="2927350" y="3860801"/>
            <a:ext cx="0" cy="201612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06500" name="Line 6"/>
          <p:cNvSpPr>
            <a:spLocks noChangeShapeType="1"/>
          </p:cNvSpPr>
          <p:nvPr/>
        </p:nvSpPr>
        <p:spPr bwMode="auto">
          <a:xfrm>
            <a:off x="2927350" y="5876925"/>
            <a:ext cx="1944688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06501" name="Text Box 7"/>
          <p:cNvSpPr txBox="1">
            <a:spLocks noChangeArrowheads="1"/>
          </p:cNvSpPr>
          <p:nvPr/>
        </p:nvSpPr>
        <p:spPr bwMode="auto">
          <a:xfrm>
            <a:off x="2424113" y="3860801"/>
            <a:ext cx="2968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  <a:endParaRPr lang="ru-RU"/>
          </a:p>
        </p:txBody>
      </p:sp>
      <p:sp>
        <p:nvSpPr>
          <p:cNvPr id="106502" name="Text Box 8"/>
          <p:cNvSpPr txBox="1">
            <a:spLocks noChangeArrowheads="1"/>
          </p:cNvSpPr>
          <p:nvPr/>
        </p:nvSpPr>
        <p:spPr bwMode="auto">
          <a:xfrm>
            <a:off x="4367213" y="5949951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</a:t>
            </a:r>
            <a:endParaRPr lang="ru-RU"/>
          </a:p>
        </p:txBody>
      </p:sp>
      <p:sp>
        <p:nvSpPr>
          <p:cNvPr id="106503" name="Oval 9"/>
          <p:cNvSpPr>
            <a:spLocks noChangeArrowheads="1"/>
          </p:cNvSpPr>
          <p:nvPr/>
        </p:nvSpPr>
        <p:spPr bwMode="auto">
          <a:xfrm>
            <a:off x="3143251" y="47974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22890" name="Oval 10"/>
          <p:cNvSpPr>
            <a:spLocks noChangeArrowheads="1"/>
          </p:cNvSpPr>
          <p:nvPr/>
        </p:nvSpPr>
        <p:spPr bwMode="auto">
          <a:xfrm>
            <a:off x="4511676" y="3789363"/>
            <a:ext cx="144463" cy="144462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22891" name="Arc 11"/>
          <p:cNvSpPr>
            <a:spLocks/>
          </p:cNvSpPr>
          <p:nvPr/>
        </p:nvSpPr>
        <p:spPr bwMode="auto">
          <a:xfrm>
            <a:off x="3290888" y="3860800"/>
            <a:ext cx="1160462" cy="876300"/>
          </a:xfrm>
          <a:custGeom>
            <a:avLst/>
            <a:gdLst>
              <a:gd name="T0" fmla="*/ 1498212 w 23223"/>
              <a:gd name="T1" fmla="*/ 1350370958 h 22323"/>
              <a:gd name="T2" fmla="*/ 2147483647 w 23223"/>
              <a:gd name="T3" fmla="*/ 3690682 h 22323"/>
              <a:gd name="T4" fmla="*/ 2147483647 w 23223"/>
              <a:gd name="T5" fmla="*/ 1306634405 h 22323"/>
              <a:gd name="T6" fmla="*/ 0 60000 65536"/>
              <a:gd name="T7" fmla="*/ 0 60000 65536"/>
              <a:gd name="T8" fmla="*/ 0 60000 65536"/>
              <a:gd name="T9" fmla="*/ 0 w 23223"/>
              <a:gd name="T10" fmla="*/ 0 h 22323"/>
              <a:gd name="T11" fmla="*/ 23223 w 23223"/>
              <a:gd name="T12" fmla="*/ 22323 h 2232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23" h="22323" fill="none" extrusionOk="0">
                <a:moveTo>
                  <a:pt x="12" y="22322"/>
                </a:moveTo>
                <a:cubicBezTo>
                  <a:pt x="4" y="22082"/>
                  <a:pt x="0" y="2184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2141" y="-1"/>
                  <a:pt x="22682" y="20"/>
                  <a:pt x="23222" y="61"/>
                </a:cubicBezTo>
              </a:path>
              <a:path w="23223" h="22323" stroke="0" extrusionOk="0">
                <a:moveTo>
                  <a:pt x="12" y="22322"/>
                </a:moveTo>
                <a:cubicBezTo>
                  <a:pt x="4" y="22082"/>
                  <a:pt x="0" y="2184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2141" y="-1"/>
                  <a:pt x="22682" y="20"/>
                  <a:pt x="23222" y="61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06506" name="Text Box 12"/>
          <p:cNvSpPr txBox="1">
            <a:spLocks noChangeArrowheads="1"/>
          </p:cNvSpPr>
          <p:nvPr/>
        </p:nvSpPr>
        <p:spPr bwMode="auto">
          <a:xfrm>
            <a:off x="3359151" y="4868863"/>
            <a:ext cx="3095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endParaRPr lang="ru-RU"/>
          </a:p>
        </p:txBody>
      </p:sp>
      <p:sp>
        <p:nvSpPr>
          <p:cNvPr id="122893" name="Text Box 13"/>
          <p:cNvSpPr txBox="1">
            <a:spLocks noChangeArrowheads="1"/>
          </p:cNvSpPr>
          <p:nvPr/>
        </p:nvSpPr>
        <p:spPr bwMode="auto">
          <a:xfrm>
            <a:off x="4367214" y="3357563"/>
            <a:ext cx="3460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Q</a:t>
            </a:r>
            <a:endParaRPr lang="ru-RU"/>
          </a:p>
        </p:txBody>
      </p:sp>
      <p:sp>
        <p:nvSpPr>
          <p:cNvPr id="122894" name="Text Box 14"/>
          <p:cNvSpPr txBox="1">
            <a:spLocks noChangeArrowheads="1"/>
          </p:cNvSpPr>
          <p:nvPr/>
        </p:nvSpPr>
        <p:spPr bwMode="auto">
          <a:xfrm>
            <a:off x="3432175" y="3573463"/>
            <a:ext cx="3175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</a:t>
            </a:r>
            <a:endParaRPr lang="ru-RU"/>
          </a:p>
        </p:txBody>
      </p:sp>
      <p:sp>
        <p:nvSpPr>
          <p:cNvPr id="122895" name="Text Box 15"/>
          <p:cNvSpPr txBox="1">
            <a:spLocks noChangeArrowheads="1"/>
          </p:cNvSpPr>
          <p:nvPr/>
        </p:nvSpPr>
        <p:spPr bwMode="auto">
          <a:xfrm>
            <a:off x="5572126" y="2149476"/>
            <a:ext cx="4873625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Точка </a:t>
            </a:r>
            <a:r>
              <a:rPr lang="en-US"/>
              <a:t>P </a:t>
            </a:r>
            <a:r>
              <a:rPr lang="ru-RU"/>
              <a:t>на плоскости </a:t>
            </a:r>
            <a:r>
              <a:rPr lang="ru-RU" b="1">
                <a:solidFill>
                  <a:schemeClr val="hlink"/>
                </a:solidFill>
              </a:rPr>
              <a:t>отображена</a:t>
            </a:r>
            <a:r>
              <a:rPr lang="ru-RU"/>
              <a:t> в точку </a:t>
            </a:r>
            <a:r>
              <a:rPr lang="en-US"/>
              <a:t>Q </a:t>
            </a:r>
            <a:r>
              <a:rPr lang="ru-RU"/>
              <a:t>при помощи отображения </a:t>
            </a:r>
            <a:r>
              <a:rPr lang="en-US"/>
              <a:t>T</a:t>
            </a:r>
          </a:p>
          <a:p>
            <a:endParaRPr lang="en-US"/>
          </a:p>
          <a:p>
            <a:r>
              <a:rPr lang="ru-RU"/>
              <a:t>Точка </a:t>
            </a:r>
            <a:r>
              <a:rPr lang="en-US"/>
              <a:t>Q </a:t>
            </a:r>
            <a:r>
              <a:rPr lang="ru-RU"/>
              <a:t>называется </a:t>
            </a:r>
            <a:r>
              <a:rPr lang="ru-RU" b="1">
                <a:solidFill>
                  <a:schemeClr val="hlink"/>
                </a:solidFill>
              </a:rPr>
              <a:t>образом</a:t>
            </a:r>
            <a:r>
              <a:rPr lang="ru-RU"/>
              <a:t> точки </a:t>
            </a:r>
            <a:r>
              <a:rPr lang="en-US"/>
              <a:t>P </a:t>
            </a:r>
            <a:r>
              <a:rPr lang="ru-RU"/>
              <a:t>при отображении </a:t>
            </a:r>
            <a:r>
              <a:rPr lang="en-US"/>
              <a:t>T</a:t>
            </a:r>
            <a:endParaRPr lang="ru-RU"/>
          </a:p>
        </p:txBody>
      </p:sp>
      <p:sp>
        <p:nvSpPr>
          <p:cNvPr id="122896" name="Text Box 16"/>
          <p:cNvSpPr txBox="1">
            <a:spLocks noChangeArrowheads="1"/>
          </p:cNvSpPr>
          <p:nvPr/>
        </p:nvSpPr>
        <p:spPr bwMode="auto">
          <a:xfrm>
            <a:off x="5591175" y="3716338"/>
            <a:ext cx="47879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dirty="0"/>
              <a:t>Преобразование объекта = преобразования каждой точки объекта с использованием функции </a:t>
            </a:r>
            <a:r>
              <a:rPr lang="en-US" dirty="0"/>
              <a:t>T()</a:t>
            </a:r>
            <a:endParaRPr lang="ru-RU" dirty="0"/>
          </a:p>
        </p:txBody>
      </p:sp>
      <p:sp>
        <p:nvSpPr>
          <p:cNvPr id="122897" name="Text Box 17"/>
          <p:cNvSpPr txBox="1">
            <a:spLocks noChangeArrowheads="1"/>
          </p:cNvSpPr>
          <p:nvPr/>
        </p:nvSpPr>
        <p:spPr bwMode="auto">
          <a:xfrm>
            <a:off x="5643564" y="5389564"/>
            <a:ext cx="4268787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dirty="0"/>
              <a:t>Непрерывные преобразования осуществляют преобразование прямой линии в некоторую связную линию (не обязательно прямую)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2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22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22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22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22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22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22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90" grpId="0" animBg="1"/>
      <p:bldP spid="122891" grpId="0" animBg="1"/>
      <p:bldP spid="122893" grpId="0"/>
      <p:bldP spid="122894" grpId="0"/>
      <p:bldP spid="122895" grpId="0"/>
      <p:bldP spid="122896" grpId="0"/>
      <p:bldP spid="12289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Как это выглядит формально?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980" name="Object 4"/>
              <p:cNvSpPr txBox="1">
                <a:spLocks noGrp="1"/>
              </p:cNvSpPr>
              <p:nvPr>
                <p:ph idx="4294967295"/>
              </p:nvPr>
            </p:nvSpPr>
            <p:spPr bwMode="auto">
              <a:xfrm>
                <a:off x="1328965" y="2706658"/>
                <a:ext cx="2101627" cy="12239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6980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 bwMode="auto">
              <a:xfrm>
                <a:off x="1328965" y="2706658"/>
                <a:ext cx="2101627" cy="12239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982" name="Text Box 6"/>
          <p:cNvSpPr txBox="1">
            <a:spLocks noChangeArrowheads="1"/>
          </p:cNvSpPr>
          <p:nvPr/>
        </p:nvSpPr>
        <p:spPr bwMode="auto">
          <a:xfrm>
            <a:off x="1199457" y="1690688"/>
            <a:ext cx="921772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400" dirty="0"/>
              <a:t>В любом двухмерном координатном фрейме точки </a:t>
            </a:r>
            <a:r>
              <a:rPr lang="en-US" sz="2400" dirty="0"/>
              <a:t>P </a:t>
            </a:r>
            <a:r>
              <a:rPr lang="ru-RU" sz="2400" dirty="0"/>
              <a:t>и </a:t>
            </a:r>
            <a:r>
              <a:rPr lang="en-US" sz="2400" dirty="0"/>
              <a:t>Q </a:t>
            </a:r>
            <a:r>
              <a:rPr lang="ru-RU" sz="2400" dirty="0"/>
              <a:t>имеют следующее представление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983" name="Object 7"/>
              <p:cNvSpPr txBox="1"/>
              <p:nvPr/>
            </p:nvSpPr>
            <p:spPr bwMode="auto">
              <a:xfrm>
                <a:off x="5735960" y="2724503"/>
                <a:ext cx="2101626" cy="122555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ru-RU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ru-RU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2698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35960" y="2724503"/>
                <a:ext cx="2101626" cy="1225550"/>
              </a:xfrm>
              <a:prstGeom prst="rect">
                <a:avLst/>
              </a:prstGeom>
              <a:blipFill>
                <a:blip r:embed="rId4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987" name="Text Box 11"/>
          <p:cNvSpPr txBox="1">
            <a:spLocks noChangeArrowheads="1"/>
          </p:cNvSpPr>
          <p:nvPr/>
        </p:nvSpPr>
        <p:spPr bwMode="auto">
          <a:xfrm>
            <a:off x="1199457" y="4115593"/>
            <a:ext cx="1036915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400" dirty="0"/>
              <a:t>Преобразование воздействует на представление координаты точки </a:t>
            </a:r>
            <a:r>
              <a:rPr lang="en-US" sz="2400" b="1" dirty="0"/>
              <a:t>P</a:t>
            </a:r>
            <a:r>
              <a:rPr lang="en-US" sz="2400" dirty="0"/>
              <a:t> </a:t>
            </a:r>
            <a:r>
              <a:rPr lang="ru-RU" sz="2400" dirty="0"/>
              <a:t>и дает представление точки </a:t>
            </a:r>
            <a:r>
              <a:rPr lang="en-US" sz="2400" b="1" dirty="0"/>
              <a:t>Q</a:t>
            </a:r>
            <a:r>
              <a:rPr lang="en-US" sz="2400" dirty="0"/>
              <a:t> </a:t>
            </a:r>
            <a:r>
              <a:rPr lang="ru-RU" sz="2400" dirty="0"/>
              <a:t>в соответствии с некоторой функцией </a:t>
            </a:r>
            <a:r>
              <a:rPr lang="en-US" sz="2400" b="1" dirty="0"/>
              <a:t>T</a:t>
            </a:r>
            <a:r>
              <a:rPr lang="ru-RU" sz="2400" b="1" dirty="0"/>
              <a:t>()</a:t>
            </a:r>
            <a:r>
              <a:rPr lang="en-US" sz="2400" dirty="0"/>
              <a:t>:</a:t>
            </a:r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988" name="Object 12"/>
              <p:cNvSpPr txBox="1"/>
              <p:nvPr/>
            </p:nvSpPr>
            <p:spPr bwMode="auto">
              <a:xfrm>
                <a:off x="1489075" y="5338763"/>
                <a:ext cx="1942629" cy="12239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6988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9075" y="5338763"/>
                <a:ext cx="1942629" cy="12239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989" name="Object 13"/>
              <p:cNvSpPr txBox="1"/>
              <p:nvPr/>
            </p:nvSpPr>
            <p:spPr bwMode="auto">
              <a:xfrm>
                <a:off x="6165892" y="5584823"/>
                <a:ext cx="1512664" cy="7286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6989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65892" y="5584823"/>
                <a:ext cx="1512664" cy="728662"/>
              </a:xfrm>
              <a:prstGeom prst="rect">
                <a:avLst/>
              </a:prstGeom>
              <a:blipFill>
                <a:blip r:embed="rId6"/>
                <a:stretch>
                  <a:fillRect l="-8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990" name="Text Box 14"/>
          <p:cNvSpPr txBox="1">
            <a:spLocks noChangeArrowheads="1"/>
          </p:cNvSpPr>
          <p:nvPr/>
        </p:nvSpPr>
        <p:spPr bwMode="auto">
          <a:xfrm>
            <a:off x="3700240" y="5584823"/>
            <a:ext cx="21637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dirty="0"/>
              <a:t>Или более кратко: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6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6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6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6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6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0" grpId="0" build="p"/>
      <p:bldP spid="126982" grpId="0"/>
      <p:bldP spid="126983" grpId="0"/>
      <p:bldP spid="126987" grpId="0"/>
      <p:bldP spid="126988" grpId="0"/>
      <p:bldP spid="126989" grpId="0"/>
      <p:bldP spid="126990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Аффинное преобразование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/>
              <a:t>Отображает плоскость или пространство в себя со следующими свойствами</a:t>
            </a:r>
          </a:p>
          <a:p>
            <a:pPr lvl="1"/>
            <a:r>
              <a:rPr lang="ru-RU" dirty="0"/>
              <a:t>Сохраняется параллельность прямых</a:t>
            </a:r>
          </a:p>
          <a:p>
            <a:pPr lvl="1"/>
            <a:r>
              <a:rPr lang="ru-RU" dirty="0"/>
              <a:t>Пересекающиеся прямые пересекаются</a:t>
            </a:r>
          </a:p>
          <a:p>
            <a:pPr lvl="1"/>
            <a:r>
              <a:rPr lang="ru-RU" dirty="0"/>
              <a:t>Скрещивающиеся прямые скрещиваются</a:t>
            </a:r>
          </a:p>
          <a:p>
            <a:r>
              <a:rPr lang="ru-RU" dirty="0"/>
              <a:t>Аффинные преобразования наиболее часто используются в компьютерной графике</a:t>
            </a:r>
          </a:p>
          <a:p>
            <a:pPr lvl="1"/>
            <a:r>
              <a:rPr lang="ru-RU" dirty="0"/>
              <a:t>Упрощают масштабирование, поворот, перенос изображений</a:t>
            </a:r>
          </a:p>
          <a:p>
            <a:pPr lvl="1"/>
            <a:r>
              <a:rPr lang="ru-RU" dirty="0"/>
              <a:t>Компактно представляются в виде матриц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Shape1">
            <a:extLst>
              <a:ext uri="{FF2B5EF4-FFF2-40B4-BE49-F238E27FC236}">
                <a16:creationId xmlns:a16="http://schemas.microsoft.com/office/drawing/2014/main" id="{CA183720-A4D7-4B2E-81FE-32DCFA801F6E}"/>
              </a:ext>
            </a:extLst>
          </p:cNvPr>
          <p:cNvSpPr/>
          <p:nvPr/>
        </p:nvSpPr>
        <p:spPr>
          <a:xfrm>
            <a:off x="6528048" y="1772816"/>
            <a:ext cx="1584176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E6ACCD52-D040-4063-A77D-E00A76FAC6FE}"/>
              </a:ext>
            </a:extLst>
          </p:cNvPr>
          <p:cNvCxnSpPr/>
          <p:nvPr/>
        </p:nvCxnSpPr>
        <p:spPr>
          <a:xfrm>
            <a:off x="5951984" y="1772816"/>
            <a:ext cx="3024336" cy="0"/>
          </a:xfrm>
          <a:prstGeom prst="line">
            <a:avLst/>
          </a:prstGeom>
          <a:ln w="1905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8277819A-A3F2-412E-AB37-E281BD639ED5}"/>
              </a:ext>
            </a:extLst>
          </p:cNvPr>
          <p:cNvCxnSpPr/>
          <p:nvPr/>
        </p:nvCxnSpPr>
        <p:spPr>
          <a:xfrm>
            <a:off x="6528048" y="1412776"/>
            <a:ext cx="0" cy="2088232"/>
          </a:xfrm>
          <a:prstGeom prst="line">
            <a:avLst/>
          </a:prstGeom>
          <a:ln w="1905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334C99DE-B930-43FB-9F4F-857990756190}"/>
              </a:ext>
            </a:extLst>
          </p:cNvPr>
          <p:cNvCxnSpPr/>
          <p:nvPr/>
        </p:nvCxnSpPr>
        <p:spPr>
          <a:xfrm>
            <a:off x="8112224" y="1412776"/>
            <a:ext cx="0" cy="2304256"/>
          </a:xfrm>
          <a:prstGeom prst="line">
            <a:avLst/>
          </a:prstGeom>
          <a:ln w="1905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0A7A18B-A117-43B1-941C-F6CE92C31C4F}"/>
              </a:ext>
            </a:extLst>
          </p:cNvPr>
          <p:cNvCxnSpPr/>
          <p:nvPr/>
        </p:nvCxnSpPr>
        <p:spPr>
          <a:xfrm>
            <a:off x="5951984" y="3140968"/>
            <a:ext cx="3168352" cy="0"/>
          </a:xfrm>
          <a:prstGeom prst="line">
            <a:avLst/>
          </a:prstGeom>
          <a:ln w="1905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Сердце 24">
            <a:extLst>
              <a:ext uri="{FF2B5EF4-FFF2-40B4-BE49-F238E27FC236}">
                <a16:creationId xmlns:a16="http://schemas.microsoft.com/office/drawing/2014/main" id="{88D4C724-097D-4117-BDBE-EBB41F0C10FD}"/>
              </a:ext>
            </a:extLst>
          </p:cNvPr>
          <p:cNvSpPr/>
          <p:nvPr/>
        </p:nvSpPr>
        <p:spPr>
          <a:xfrm rot="1133784">
            <a:off x="1487488" y="1052736"/>
            <a:ext cx="1512168" cy="1296144"/>
          </a:xfrm>
          <a:prstGeom prst="heart">
            <a:avLst/>
          </a:prstGeom>
          <a:solidFill>
            <a:srgbClr val="FF00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56586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4781633C-4329-42C7-998C-70BA6EDE99FD}"/>
              </a:ext>
            </a:extLst>
          </p:cNvPr>
          <p:cNvCxnSpPr>
            <a:cxnSpLocks/>
          </p:cNvCxnSpPr>
          <p:nvPr/>
        </p:nvCxnSpPr>
        <p:spPr>
          <a:xfrm>
            <a:off x="6780235" y="1827221"/>
            <a:ext cx="2372700" cy="1244841"/>
          </a:xfrm>
          <a:prstGeom prst="line">
            <a:avLst/>
          </a:prstGeom>
          <a:ln w="1905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822DBFF0-46FB-424B-AF4D-E9B0B5CD2C02}"/>
              </a:ext>
            </a:extLst>
          </p:cNvPr>
          <p:cNvCxnSpPr>
            <a:cxnSpLocks/>
          </p:cNvCxnSpPr>
          <p:nvPr/>
        </p:nvCxnSpPr>
        <p:spPr>
          <a:xfrm rot="1661029" flipH="1">
            <a:off x="6735815" y="1374478"/>
            <a:ext cx="595880" cy="2376264"/>
          </a:xfrm>
          <a:prstGeom prst="line">
            <a:avLst/>
          </a:prstGeom>
          <a:ln w="1905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B3945F1C-DD30-4662-B9F6-E17D6401FE1E}"/>
              </a:ext>
            </a:extLst>
          </p:cNvPr>
          <p:cNvCxnSpPr>
            <a:cxnSpLocks/>
          </p:cNvCxnSpPr>
          <p:nvPr/>
        </p:nvCxnSpPr>
        <p:spPr>
          <a:xfrm>
            <a:off x="5953307" y="2938391"/>
            <a:ext cx="2333564" cy="1224308"/>
          </a:xfrm>
          <a:prstGeom prst="line">
            <a:avLst/>
          </a:prstGeom>
          <a:ln w="1905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82D29C5B-2EB2-4DEC-B03A-59F89D134C8E}"/>
              </a:ext>
            </a:extLst>
          </p:cNvPr>
          <p:cNvCxnSpPr>
            <a:cxnSpLocks/>
          </p:cNvCxnSpPr>
          <p:nvPr/>
        </p:nvCxnSpPr>
        <p:spPr>
          <a:xfrm rot="1661029" flipH="1">
            <a:off x="7791085" y="2009443"/>
            <a:ext cx="595880" cy="2376264"/>
          </a:xfrm>
          <a:prstGeom prst="line">
            <a:avLst/>
          </a:prstGeom>
          <a:ln w="1905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!!Shape1">
            <a:extLst>
              <a:ext uri="{FF2B5EF4-FFF2-40B4-BE49-F238E27FC236}">
                <a16:creationId xmlns:a16="http://schemas.microsoft.com/office/drawing/2014/main" id="{5BA6B830-CB01-4295-8823-2702B0106AE9}"/>
              </a:ext>
            </a:extLst>
          </p:cNvPr>
          <p:cNvSpPr/>
          <p:nvPr/>
        </p:nvSpPr>
        <p:spPr>
          <a:xfrm rot="1661029">
            <a:off x="6686523" y="2276210"/>
            <a:ext cx="1577329" cy="1380852"/>
          </a:xfrm>
          <a:custGeom>
            <a:avLst/>
            <a:gdLst>
              <a:gd name="connsiteX0" fmla="*/ 0 w 1243954"/>
              <a:gd name="connsiteY0" fmla="*/ 0 h 1368152"/>
              <a:gd name="connsiteX1" fmla="*/ 1243954 w 1243954"/>
              <a:gd name="connsiteY1" fmla="*/ 0 h 1368152"/>
              <a:gd name="connsiteX2" fmla="*/ 1243954 w 1243954"/>
              <a:gd name="connsiteY2" fmla="*/ 1368152 h 1368152"/>
              <a:gd name="connsiteX3" fmla="*/ 0 w 1243954"/>
              <a:gd name="connsiteY3" fmla="*/ 1368152 h 1368152"/>
              <a:gd name="connsiteX4" fmla="*/ 0 w 1243954"/>
              <a:gd name="connsiteY4" fmla="*/ 0 h 1368152"/>
              <a:gd name="connsiteX0" fmla="*/ 0 w 1593204"/>
              <a:gd name="connsiteY0" fmla="*/ 12700 h 1380852"/>
              <a:gd name="connsiteX1" fmla="*/ 1593204 w 1593204"/>
              <a:gd name="connsiteY1" fmla="*/ 0 h 1380852"/>
              <a:gd name="connsiteX2" fmla="*/ 1243954 w 1593204"/>
              <a:gd name="connsiteY2" fmla="*/ 1380852 h 1380852"/>
              <a:gd name="connsiteX3" fmla="*/ 0 w 1593204"/>
              <a:gd name="connsiteY3" fmla="*/ 1380852 h 1380852"/>
              <a:gd name="connsiteX4" fmla="*/ 0 w 1593204"/>
              <a:gd name="connsiteY4" fmla="*/ 12700 h 1380852"/>
              <a:gd name="connsiteX0" fmla="*/ 365125 w 1593204"/>
              <a:gd name="connsiteY0" fmla="*/ 6350 h 1380852"/>
              <a:gd name="connsiteX1" fmla="*/ 1593204 w 1593204"/>
              <a:gd name="connsiteY1" fmla="*/ 0 h 1380852"/>
              <a:gd name="connsiteX2" fmla="*/ 1243954 w 1593204"/>
              <a:gd name="connsiteY2" fmla="*/ 1380852 h 1380852"/>
              <a:gd name="connsiteX3" fmla="*/ 0 w 1593204"/>
              <a:gd name="connsiteY3" fmla="*/ 1380852 h 1380852"/>
              <a:gd name="connsiteX4" fmla="*/ 365125 w 1593204"/>
              <a:gd name="connsiteY4" fmla="*/ 6350 h 1380852"/>
              <a:gd name="connsiteX0" fmla="*/ 349250 w 1577329"/>
              <a:gd name="connsiteY0" fmla="*/ 6350 h 1380852"/>
              <a:gd name="connsiteX1" fmla="*/ 1577329 w 1577329"/>
              <a:gd name="connsiteY1" fmla="*/ 0 h 1380852"/>
              <a:gd name="connsiteX2" fmla="*/ 1228079 w 1577329"/>
              <a:gd name="connsiteY2" fmla="*/ 1380852 h 1380852"/>
              <a:gd name="connsiteX3" fmla="*/ 0 w 1577329"/>
              <a:gd name="connsiteY3" fmla="*/ 1377677 h 1380852"/>
              <a:gd name="connsiteX4" fmla="*/ 349250 w 1577329"/>
              <a:gd name="connsiteY4" fmla="*/ 6350 h 1380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7329" h="1380852">
                <a:moveTo>
                  <a:pt x="349250" y="6350"/>
                </a:moveTo>
                <a:lnTo>
                  <a:pt x="1577329" y="0"/>
                </a:lnTo>
                <a:lnTo>
                  <a:pt x="1228079" y="1380852"/>
                </a:lnTo>
                <a:lnTo>
                  <a:pt x="0" y="1377677"/>
                </a:lnTo>
                <a:lnTo>
                  <a:pt x="349250" y="635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ердце 19">
            <a:extLst>
              <a:ext uri="{FF2B5EF4-FFF2-40B4-BE49-F238E27FC236}">
                <a16:creationId xmlns:a16="http://schemas.microsoft.com/office/drawing/2014/main" id="{06AF5075-7B92-473A-B1D0-538462C5027D}"/>
              </a:ext>
            </a:extLst>
          </p:cNvPr>
          <p:cNvSpPr/>
          <p:nvPr/>
        </p:nvSpPr>
        <p:spPr>
          <a:xfrm rot="19205938">
            <a:off x="1283800" y="1853287"/>
            <a:ext cx="2604024" cy="1844040"/>
          </a:xfrm>
          <a:prstGeom prst="heart">
            <a:avLst/>
          </a:prstGeom>
          <a:solidFill>
            <a:srgbClr val="FF00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879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BEC60-EBF5-EF22-8BAB-06D9FF96F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аффинных преобразований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15133B-BCD0-1E89-59E5-E143CD3D3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Эквиаффинное преобразование</a:t>
            </a:r>
          </a:p>
          <a:p>
            <a:pPr lvl="1"/>
            <a:r>
              <a:rPr lang="ru-RU" dirty="0"/>
              <a:t>Сохраняет площадь</a:t>
            </a:r>
          </a:p>
          <a:p>
            <a:r>
              <a:rPr lang="ru-RU" dirty="0"/>
              <a:t>Центроаффинное преобразование</a:t>
            </a:r>
          </a:p>
          <a:p>
            <a:pPr lvl="1"/>
            <a:r>
              <a:rPr lang="ru-RU" dirty="0"/>
              <a:t>Сохраняет начало координат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51041ED-9179-4077-AA61-EAC4F9355141}"/>
              </a:ext>
            </a:extLst>
          </p:cNvPr>
          <p:cNvSpPr/>
          <p:nvPr/>
        </p:nvSpPr>
        <p:spPr>
          <a:xfrm>
            <a:off x="1045219" y="4695305"/>
            <a:ext cx="792088" cy="504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79B186A-C301-445D-B3FD-9659D091D317}"/>
              </a:ext>
            </a:extLst>
          </p:cNvPr>
          <p:cNvSpPr/>
          <p:nvPr/>
        </p:nvSpPr>
        <p:spPr>
          <a:xfrm>
            <a:off x="2567608" y="4695305"/>
            <a:ext cx="792088" cy="5040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7F09529-5BDA-4392-A319-649377821ACA}"/>
              </a:ext>
            </a:extLst>
          </p:cNvPr>
          <p:cNvSpPr/>
          <p:nvPr/>
        </p:nvSpPr>
        <p:spPr>
          <a:xfrm>
            <a:off x="5935620" y="5235365"/>
            <a:ext cx="792088" cy="504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0209079-3A32-4374-BA3B-99708B060101}"/>
              </a:ext>
            </a:extLst>
          </p:cNvPr>
          <p:cNvSpPr/>
          <p:nvPr/>
        </p:nvSpPr>
        <p:spPr>
          <a:xfrm>
            <a:off x="9452771" y="5055344"/>
            <a:ext cx="1282050" cy="86409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FFAF57B8-4564-4222-A719-467CAAB85508}"/>
              </a:ext>
            </a:extLst>
          </p:cNvPr>
          <p:cNvGrpSpPr/>
          <p:nvPr/>
        </p:nvGrpSpPr>
        <p:grpSpPr>
          <a:xfrm>
            <a:off x="8941668" y="4407273"/>
            <a:ext cx="2592288" cy="1808584"/>
            <a:chOff x="7032104" y="3429000"/>
            <a:chExt cx="2592288" cy="1808584"/>
          </a:xfrm>
        </p:grpSpPr>
        <p:cxnSp>
          <p:nvCxnSpPr>
            <p:cNvPr id="17" name="Прямая со стрелкой 16">
              <a:extLst>
                <a:ext uri="{FF2B5EF4-FFF2-40B4-BE49-F238E27FC236}">
                  <a16:creationId xmlns:a16="http://schemas.microsoft.com/office/drawing/2014/main" id="{2703F656-52EF-4E58-BA5A-0968F92E314B}"/>
                </a:ext>
              </a:extLst>
            </p:cNvPr>
            <p:cNvCxnSpPr/>
            <p:nvPr/>
          </p:nvCxnSpPr>
          <p:spPr>
            <a:xfrm>
              <a:off x="7032104" y="4509120"/>
              <a:ext cx="25922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>
              <a:extLst>
                <a:ext uri="{FF2B5EF4-FFF2-40B4-BE49-F238E27FC236}">
                  <a16:creationId xmlns:a16="http://schemas.microsoft.com/office/drawing/2014/main" id="{B8A5E227-EB04-45D5-BA2D-6C10713592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4232" y="3429000"/>
              <a:ext cx="0" cy="1808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FCEBAC7C-CAF3-4374-877A-C2E48066284A}"/>
              </a:ext>
            </a:extLst>
          </p:cNvPr>
          <p:cNvGrpSpPr/>
          <p:nvPr/>
        </p:nvGrpSpPr>
        <p:grpSpPr>
          <a:xfrm>
            <a:off x="1117227" y="4407273"/>
            <a:ext cx="2592288" cy="1808584"/>
            <a:chOff x="7032104" y="3429000"/>
            <a:chExt cx="2592288" cy="1808584"/>
          </a:xfrm>
        </p:grpSpPr>
        <p:cxnSp>
          <p:nvCxnSpPr>
            <p:cNvPr id="5" name="Прямая со стрелкой 4">
              <a:extLst>
                <a:ext uri="{FF2B5EF4-FFF2-40B4-BE49-F238E27FC236}">
                  <a16:creationId xmlns:a16="http://schemas.microsoft.com/office/drawing/2014/main" id="{326D2386-C3DA-496A-952B-6CC2F28F0FF8}"/>
                </a:ext>
              </a:extLst>
            </p:cNvPr>
            <p:cNvCxnSpPr/>
            <p:nvPr/>
          </p:nvCxnSpPr>
          <p:spPr>
            <a:xfrm>
              <a:off x="7032104" y="4509120"/>
              <a:ext cx="25922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 стрелкой 5">
              <a:extLst>
                <a:ext uri="{FF2B5EF4-FFF2-40B4-BE49-F238E27FC236}">
                  <a16:creationId xmlns:a16="http://schemas.microsoft.com/office/drawing/2014/main" id="{C4B60F53-ED7E-40B9-9376-50028D8C84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4232" y="3429000"/>
              <a:ext cx="0" cy="1808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3A82F32-50EA-492D-91FF-18BFC0C664F9}"/>
              </a:ext>
            </a:extLst>
          </p:cNvPr>
          <p:cNvGrpSpPr/>
          <p:nvPr/>
        </p:nvGrpSpPr>
        <p:grpSpPr>
          <a:xfrm>
            <a:off x="5179536" y="4407273"/>
            <a:ext cx="2592288" cy="1808584"/>
            <a:chOff x="7032104" y="3429000"/>
            <a:chExt cx="2592288" cy="1808584"/>
          </a:xfrm>
        </p:grpSpPr>
        <p:cxnSp>
          <p:nvCxnSpPr>
            <p:cNvPr id="12" name="Прямая со стрелкой 11">
              <a:extLst>
                <a:ext uri="{FF2B5EF4-FFF2-40B4-BE49-F238E27FC236}">
                  <a16:creationId xmlns:a16="http://schemas.microsoft.com/office/drawing/2014/main" id="{F4BA4C9C-3C68-47CC-97C2-2F79C304A5D9}"/>
                </a:ext>
              </a:extLst>
            </p:cNvPr>
            <p:cNvCxnSpPr/>
            <p:nvPr/>
          </p:nvCxnSpPr>
          <p:spPr>
            <a:xfrm>
              <a:off x="7032104" y="4509120"/>
              <a:ext cx="25922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 стрелкой 12">
              <a:extLst>
                <a:ext uri="{FF2B5EF4-FFF2-40B4-BE49-F238E27FC236}">
                  <a16:creationId xmlns:a16="http://schemas.microsoft.com/office/drawing/2014/main" id="{32CBEF64-2FD4-4142-957B-DA5CDBEB49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4232" y="3429000"/>
              <a:ext cx="0" cy="1808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99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3.7037E-6 L 0.03763 0.1462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7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1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4" grpId="0" animBg="1"/>
      <p:bldP spid="1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EC2EA5-3BD3-45CB-852A-5A7D37555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Аффинные преобразования на плоскости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9FE9BA6-9754-4621-BAD6-8D41235A2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7761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786EC4-BD7B-4E71-8F46-C15FD9039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Общий вид аффинных преобразований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055" name="Object 7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2503078" y="3413049"/>
                <a:ext cx="6681787" cy="175736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ru-RU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ru-RU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ru-RU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ru-RU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ru-RU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ru-RU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30055" name="Object 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2503078" y="3413049"/>
                <a:ext cx="6681787" cy="1757362"/>
              </a:xfrm>
              <a:prstGeom prst="rect">
                <a:avLst/>
              </a:prstGeom>
              <a:blipFill>
                <a:blip r:embed="rId3"/>
                <a:stretch>
                  <a:fillRect t="-10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4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67408" y="1725113"/>
            <a:ext cx="10801200" cy="1199831"/>
          </a:xfrm>
          <a:noFill/>
        </p:spPr>
        <p:txBody>
          <a:bodyPr/>
          <a:lstStyle/>
          <a:p>
            <a:pPr eaLnBrk="1" hangingPunct="1"/>
            <a:r>
              <a:rPr lang="ru-RU" sz="2800" dirty="0"/>
              <a:t>При аффинных преобразованиях координаты точки </a:t>
            </a:r>
            <a:r>
              <a:rPr lang="en-US" sz="2800" dirty="0"/>
              <a:t>Q </a:t>
            </a:r>
            <a:r>
              <a:rPr lang="ru-RU" sz="2800" dirty="0"/>
              <a:t>являются </a:t>
            </a:r>
            <a:r>
              <a:rPr lang="ru-RU" sz="2800" b="1" dirty="0"/>
              <a:t>линейными комбинациями</a:t>
            </a:r>
            <a:r>
              <a:rPr lang="ru-RU" sz="2800" dirty="0"/>
              <a:t> соответствующих координат точки </a:t>
            </a:r>
            <a:r>
              <a:rPr lang="en-US" sz="2800" dirty="0"/>
              <a:t>P</a:t>
            </a:r>
            <a:endParaRPr lang="ru-RU" sz="2800" dirty="0"/>
          </a:p>
        </p:txBody>
      </p:sp>
      <p:sp>
        <p:nvSpPr>
          <p:cNvPr id="130056" name="Text Box 8"/>
          <p:cNvSpPr txBox="1">
            <a:spLocks noChangeArrowheads="1"/>
          </p:cNvSpPr>
          <p:nvPr/>
        </p:nvSpPr>
        <p:spPr bwMode="auto">
          <a:xfrm>
            <a:off x="2503078" y="5517232"/>
            <a:ext cx="78767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/>
              <a:t>m</a:t>
            </a:r>
            <a:r>
              <a:rPr lang="en-US" sz="2800" baseline="-25000" dirty="0"/>
              <a:t>11</a:t>
            </a:r>
            <a:r>
              <a:rPr lang="en-US" sz="2800" dirty="0"/>
              <a:t>, m</a:t>
            </a:r>
            <a:r>
              <a:rPr lang="en-US" sz="2800" baseline="-25000" dirty="0"/>
              <a:t>12</a:t>
            </a:r>
            <a:r>
              <a:rPr lang="ru-RU" sz="2800" dirty="0"/>
              <a:t>, </a:t>
            </a:r>
            <a:r>
              <a:rPr lang="en-US" sz="2800" dirty="0"/>
              <a:t>m</a:t>
            </a:r>
            <a:r>
              <a:rPr lang="en-US" sz="2800" baseline="-25000" dirty="0"/>
              <a:t>13</a:t>
            </a:r>
            <a:r>
              <a:rPr lang="en-US" sz="2800" dirty="0"/>
              <a:t>, m</a:t>
            </a:r>
            <a:r>
              <a:rPr lang="en-US" sz="2800" baseline="-25000" dirty="0"/>
              <a:t>21</a:t>
            </a:r>
            <a:r>
              <a:rPr lang="en-US" sz="2800" dirty="0"/>
              <a:t>, m</a:t>
            </a:r>
            <a:r>
              <a:rPr lang="en-US" sz="2800" baseline="-25000" dirty="0"/>
              <a:t>22</a:t>
            </a:r>
            <a:r>
              <a:rPr lang="en-US" sz="2800" dirty="0"/>
              <a:t>, m</a:t>
            </a:r>
            <a:r>
              <a:rPr lang="en-US" sz="2800" baseline="-25000" dirty="0"/>
              <a:t>23</a:t>
            </a:r>
            <a:r>
              <a:rPr lang="en-US" sz="2800" dirty="0"/>
              <a:t> – </a:t>
            </a:r>
            <a:r>
              <a:rPr lang="ru-RU" sz="2800" dirty="0"/>
              <a:t>некоторые константы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/>
              <a:t>Матричное представление аффинных преобразований</a:t>
            </a:r>
          </a:p>
        </p:txBody>
      </p:sp>
      <p:sp>
        <p:nvSpPr>
          <p:cNvPr id="133126" name="Text Box 6"/>
          <p:cNvSpPr txBox="1">
            <a:spLocks noChangeArrowheads="1"/>
          </p:cNvSpPr>
          <p:nvPr/>
        </p:nvSpPr>
        <p:spPr bwMode="auto">
          <a:xfrm>
            <a:off x="838200" y="3573463"/>
            <a:ext cx="103703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000" dirty="0"/>
              <a:t>Для </a:t>
            </a:r>
            <a:r>
              <a:rPr lang="ru-RU" sz="2000" b="1" dirty="0"/>
              <a:t>любого аффинного преобразования</a:t>
            </a:r>
            <a:r>
              <a:rPr lang="ru-RU" sz="2000" dirty="0"/>
              <a:t> третья строка матрицы всегда равняется (0</a:t>
            </a:r>
            <a:r>
              <a:rPr lang="en-US" sz="2000" dirty="0"/>
              <a:t>, 0, 1)</a:t>
            </a:r>
            <a:endParaRPr lang="ru-RU" sz="2000" dirty="0"/>
          </a:p>
        </p:txBody>
      </p:sp>
      <p:sp>
        <p:nvSpPr>
          <p:cNvPr id="133128" name="Text Box 8"/>
          <p:cNvSpPr txBox="1">
            <a:spLocks noChangeArrowheads="1"/>
          </p:cNvSpPr>
          <p:nvPr/>
        </p:nvSpPr>
        <p:spPr bwMode="auto">
          <a:xfrm>
            <a:off x="838200" y="4404048"/>
            <a:ext cx="949934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000" dirty="0"/>
              <a:t>Аффинные преобразования могут применяться не только к точкам, но и к векторам</a:t>
            </a:r>
            <a:r>
              <a:rPr lang="en-US" sz="2000" dirty="0"/>
              <a:t>.</a:t>
            </a:r>
          </a:p>
          <a:p>
            <a:r>
              <a:rPr lang="ru-RU" sz="2000" dirty="0"/>
              <a:t>Аффинное преобразование вектора является вектором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28654F7-2618-449B-B452-4C529BED0AB5}"/>
                  </a:ext>
                </a:extLst>
              </p:cNvPr>
              <p:cNvSpPr txBox="1"/>
              <p:nvPr/>
            </p:nvSpPr>
            <p:spPr>
              <a:xfrm>
                <a:off x="838200" y="2201480"/>
                <a:ext cx="9002217" cy="11890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28654F7-2618-449B-B452-4C529BED0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01480"/>
                <a:ext cx="9002217" cy="11890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D0F213E-6BEE-4504-9915-192A468CA4C6}"/>
                  </a:ext>
                </a:extLst>
              </p:cNvPr>
              <p:cNvSpPr txBox="1"/>
              <p:nvPr/>
            </p:nvSpPr>
            <p:spPr>
              <a:xfrm>
                <a:off x="838200" y="5542411"/>
                <a:ext cx="8863371" cy="11890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D0F213E-6BEE-4504-9915-192A468CA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542411"/>
                <a:ext cx="8863371" cy="11890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6" grpId="0"/>
      <p:bldP spid="133128" grpId="0"/>
      <p:bldP spid="2" grpId="0"/>
      <p:bldP spid="14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FC911A9-A4A7-4D43-AA28-B8AF7084C6AB}"/>
              </a:ext>
            </a:extLst>
          </p:cNvPr>
          <p:cNvSpPr/>
          <p:nvPr/>
        </p:nvSpPr>
        <p:spPr>
          <a:xfrm>
            <a:off x="8944704" y="5532852"/>
            <a:ext cx="792088" cy="504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3600"/>
              <a:t>Геометрические эффекты элементарных аффинных преобразований</a:t>
            </a:r>
            <a:r>
              <a:rPr lang="ru-RU" sz="4000"/>
              <a:t> </a:t>
            </a:r>
          </a:p>
        </p:txBody>
      </p:sp>
      <p:sp>
        <p:nvSpPr>
          <p:cNvPr id="10854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/>
              <a:t>Аффинные преобразования осуществляют комбинации из четырех элементарных преобразований</a:t>
            </a:r>
          </a:p>
          <a:p>
            <a:pPr lvl="1" eaLnBrk="1" hangingPunct="1"/>
            <a:r>
              <a:rPr lang="ru-RU"/>
              <a:t>Перемещение</a:t>
            </a:r>
          </a:p>
          <a:p>
            <a:pPr lvl="1" eaLnBrk="1" hangingPunct="1"/>
            <a:r>
              <a:rPr lang="ru-RU"/>
              <a:t>Масштабирование</a:t>
            </a:r>
          </a:p>
          <a:p>
            <a:pPr lvl="1" eaLnBrk="1" hangingPunct="1"/>
            <a:r>
              <a:rPr lang="ru-RU"/>
              <a:t>Поворот</a:t>
            </a:r>
          </a:p>
          <a:p>
            <a:pPr lvl="1" eaLnBrk="1" hangingPunct="1"/>
            <a:r>
              <a:rPr lang="ru-RU"/>
              <a:t>Сдвиг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1EEF013-E99F-4E7F-A019-72CB89AD8AB0}"/>
              </a:ext>
            </a:extLst>
          </p:cNvPr>
          <p:cNvSpPr/>
          <p:nvPr/>
        </p:nvSpPr>
        <p:spPr>
          <a:xfrm>
            <a:off x="1415480" y="5532852"/>
            <a:ext cx="792088" cy="504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2A2DA80-DB69-4D36-8201-E59EA3BD013D}"/>
              </a:ext>
            </a:extLst>
          </p:cNvPr>
          <p:cNvGrpSpPr/>
          <p:nvPr/>
        </p:nvGrpSpPr>
        <p:grpSpPr>
          <a:xfrm>
            <a:off x="659396" y="4704760"/>
            <a:ext cx="2592288" cy="1808584"/>
            <a:chOff x="7032104" y="3429000"/>
            <a:chExt cx="2592288" cy="1808584"/>
          </a:xfrm>
        </p:grpSpPr>
        <p:cxnSp>
          <p:nvCxnSpPr>
            <p:cNvPr id="6" name="Прямая со стрелкой 5">
              <a:extLst>
                <a:ext uri="{FF2B5EF4-FFF2-40B4-BE49-F238E27FC236}">
                  <a16:creationId xmlns:a16="http://schemas.microsoft.com/office/drawing/2014/main" id="{0902D56E-D008-45FC-B088-2664BFE4672F}"/>
                </a:ext>
              </a:extLst>
            </p:cNvPr>
            <p:cNvCxnSpPr/>
            <p:nvPr/>
          </p:nvCxnSpPr>
          <p:spPr>
            <a:xfrm>
              <a:off x="7032104" y="4509120"/>
              <a:ext cx="25922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 стрелкой 6">
              <a:extLst>
                <a:ext uri="{FF2B5EF4-FFF2-40B4-BE49-F238E27FC236}">
                  <a16:creationId xmlns:a16="http://schemas.microsoft.com/office/drawing/2014/main" id="{E4CA860B-EA2E-44F3-A495-693F189923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4232" y="3429000"/>
              <a:ext cx="0" cy="1808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8174DC2-A4C5-4946-813C-D452948E9D50}"/>
              </a:ext>
            </a:extLst>
          </p:cNvPr>
          <p:cNvSpPr/>
          <p:nvPr/>
        </p:nvSpPr>
        <p:spPr>
          <a:xfrm>
            <a:off x="5088496" y="5532852"/>
            <a:ext cx="792088" cy="5040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E42C74B6-17C4-4BEB-8F89-F9C9A7DB8602}"/>
              </a:ext>
            </a:extLst>
          </p:cNvPr>
          <p:cNvGrpSpPr/>
          <p:nvPr/>
        </p:nvGrpSpPr>
        <p:grpSpPr>
          <a:xfrm>
            <a:off x="4332412" y="4704760"/>
            <a:ext cx="2592288" cy="1808584"/>
            <a:chOff x="7032104" y="3429000"/>
            <a:chExt cx="2592288" cy="1808584"/>
          </a:xfrm>
        </p:grpSpPr>
        <p:cxnSp>
          <p:nvCxnSpPr>
            <p:cNvPr id="10" name="Прямая со стрелкой 9">
              <a:extLst>
                <a:ext uri="{FF2B5EF4-FFF2-40B4-BE49-F238E27FC236}">
                  <a16:creationId xmlns:a16="http://schemas.microsoft.com/office/drawing/2014/main" id="{46865348-E178-4427-89EF-851C5F2C20DA}"/>
                </a:ext>
              </a:extLst>
            </p:cNvPr>
            <p:cNvCxnSpPr/>
            <p:nvPr/>
          </p:nvCxnSpPr>
          <p:spPr>
            <a:xfrm>
              <a:off x="7032104" y="4509120"/>
              <a:ext cx="25922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 стрелкой 10">
              <a:extLst>
                <a:ext uri="{FF2B5EF4-FFF2-40B4-BE49-F238E27FC236}">
                  <a16:creationId xmlns:a16="http://schemas.microsoft.com/office/drawing/2014/main" id="{8E3A0304-9800-4445-8B7B-28C7223F1E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4232" y="3429000"/>
              <a:ext cx="0" cy="1808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86AA1517-E0E9-4998-A2E6-977D9E6682FB}"/>
              </a:ext>
            </a:extLst>
          </p:cNvPr>
          <p:cNvGrpSpPr/>
          <p:nvPr/>
        </p:nvGrpSpPr>
        <p:grpSpPr>
          <a:xfrm>
            <a:off x="8188620" y="4704760"/>
            <a:ext cx="2592288" cy="1808584"/>
            <a:chOff x="7032104" y="3429000"/>
            <a:chExt cx="2592288" cy="1808584"/>
          </a:xfrm>
        </p:grpSpPr>
        <p:cxnSp>
          <p:nvCxnSpPr>
            <p:cNvPr id="14" name="Прямая со стрелкой 13">
              <a:extLst>
                <a:ext uri="{FF2B5EF4-FFF2-40B4-BE49-F238E27FC236}">
                  <a16:creationId xmlns:a16="http://schemas.microsoft.com/office/drawing/2014/main" id="{122881EB-4C4E-4AB8-B239-E9F082061640}"/>
                </a:ext>
              </a:extLst>
            </p:cNvPr>
            <p:cNvCxnSpPr/>
            <p:nvPr/>
          </p:nvCxnSpPr>
          <p:spPr>
            <a:xfrm>
              <a:off x="7032104" y="4509120"/>
              <a:ext cx="25922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 стрелкой 14">
              <a:extLst>
                <a:ext uri="{FF2B5EF4-FFF2-40B4-BE49-F238E27FC236}">
                  <a16:creationId xmlns:a16="http://schemas.microsoft.com/office/drawing/2014/main" id="{21585166-C25A-4C7C-985C-FF53B63258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4232" y="3429000"/>
              <a:ext cx="0" cy="1808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нак ''плюс'' 1">
            <a:extLst>
              <a:ext uri="{FF2B5EF4-FFF2-40B4-BE49-F238E27FC236}">
                <a16:creationId xmlns:a16="http://schemas.microsoft.com/office/drawing/2014/main" id="{CB526247-52C5-4F90-B20E-E080C33F531E}"/>
              </a:ext>
            </a:extLst>
          </p:cNvPr>
          <p:cNvSpPr/>
          <p:nvPr/>
        </p:nvSpPr>
        <p:spPr>
          <a:xfrm>
            <a:off x="3503712" y="5532852"/>
            <a:ext cx="540667" cy="540667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авно 2">
            <a:extLst>
              <a:ext uri="{FF2B5EF4-FFF2-40B4-BE49-F238E27FC236}">
                <a16:creationId xmlns:a16="http://schemas.microsoft.com/office/drawing/2014/main" id="{4D416B34-E009-424F-AD76-207D835D4D76}"/>
              </a:ext>
            </a:extLst>
          </p:cNvPr>
          <p:cNvSpPr/>
          <p:nvPr/>
        </p:nvSpPr>
        <p:spPr>
          <a:xfrm>
            <a:off x="7268386" y="5516744"/>
            <a:ext cx="572881" cy="572881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1.48148E-6 L 0.06497 -0.07361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42" y="-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48148E-6 L 0.06497 -0.07361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42" y="-368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2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4" grpId="0" animBg="1"/>
      <p:bldP spid="8" grpId="0" animBg="1"/>
      <p:bldP spid="2" grpId="0" animBg="1"/>
      <p:bldP spid="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Перемещение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988841"/>
            <a:ext cx="8915400" cy="1646536"/>
          </a:xfrm>
        </p:spPr>
        <p:txBody>
          <a:bodyPr/>
          <a:lstStyle/>
          <a:p>
            <a:pPr eaLnBrk="1" hangingPunct="1"/>
            <a:r>
              <a:rPr lang="ru-RU" sz="2800" dirty="0"/>
              <a:t>Преобразование перемещения переносит </a:t>
            </a:r>
            <a:r>
              <a:rPr lang="ru-RU" sz="2800" b="1" dirty="0"/>
              <a:t>точку</a:t>
            </a:r>
            <a:r>
              <a:rPr lang="ru-RU" sz="2800" dirty="0"/>
              <a:t> вдоль заданного </a:t>
            </a:r>
            <a:r>
              <a:rPr lang="ru-RU" sz="2800" b="1" dirty="0"/>
              <a:t>вектора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385D16-7DDB-4EBB-B16B-BDB4F923B3B0}"/>
                  </a:ext>
                </a:extLst>
              </p:cNvPr>
              <p:cNvSpPr txBox="1"/>
              <p:nvPr/>
            </p:nvSpPr>
            <p:spPr>
              <a:xfrm>
                <a:off x="2423593" y="3804839"/>
                <a:ext cx="7488831" cy="9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385D16-7DDB-4EBB-B16B-BDB4F923B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93" y="3804839"/>
                <a:ext cx="7488831" cy="9908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24958C2-EAD2-4915-90F4-E546C1BF3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Перемещение объекта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83862FE5-435C-4B2F-878B-6978853EBBB3}"/>
              </a:ext>
            </a:extLst>
          </p:cNvPr>
          <p:cNvCxnSpPr>
            <a:cxnSpLocks/>
          </p:cNvCxnSpPr>
          <p:nvPr/>
        </p:nvCxnSpPr>
        <p:spPr>
          <a:xfrm flipV="1">
            <a:off x="4151784" y="2708920"/>
            <a:ext cx="0" cy="34563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85EBB47C-68C8-4264-BD65-46009F708CB4}"/>
              </a:ext>
            </a:extLst>
          </p:cNvPr>
          <p:cNvCxnSpPr>
            <a:cxnSpLocks/>
          </p:cNvCxnSpPr>
          <p:nvPr/>
        </p:nvCxnSpPr>
        <p:spPr>
          <a:xfrm>
            <a:off x="2207568" y="4581128"/>
            <a:ext cx="417646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36C2920-03CA-498C-B6CE-00CBC8879154}"/>
              </a:ext>
            </a:extLst>
          </p:cNvPr>
          <p:cNvGrpSpPr/>
          <p:nvPr/>
        </p:nvGrpSpPr>
        <p:grpSpPr>
          <a:xfrm>
            <a:off x="4223793" y="3573017"/>
            <a:ext cx="1352801" cy="1008103"/>
            <a:chOff x="2699792" y="3573016"/>
            <a:chExt cx="1352801" cy="1008103"/>
          </a:xfrm>
        </p:grpSpPr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A4C73835-57E4-4087-8F87-0D550014C545}"/>
                </a:ext>
              </a:extLst>
            </p:cNvPr>
            <p:cNvSpPr/>
            <p:nvPr/>
          </p:nvSpPr>
          <p:spPr>
            <a:xfrm>
              <a:off x="2771799" y="3645034"/>
              <a:ext cx="1224131" cy="86407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8878EE70-524E-4EDD-84AD-5B24FC448602}"/>
                </a:ext>
              </a:extLst>
            </p:cNvPr>
            <p:cNvSpPr/>
            <p:nvPr/>
          </p:nvSpPr>
          <p:spPr>
            <a:xfrm>
              <a:off x="2699792" y="3573016"/>
              <a:ext cx="144015" cy="14401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131ED995-023B-4C92-AC70-40600574A32E}"/>
                </a:ext>
              </a:extLst>
            </p:cNvPr>
            <p:cNvSpPr/>
            <p:nvPr/>
          </p:nvSpPr>
          <p:spPr>
            <a:xfrm>
              <a:off x="3908578" y="3573016"/>
              <a:ext cx="144015" cy="1440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205CA037-8D5D-4ECA-A729-D9B82683D4D2}"/>
                </a:ext>
              </a:extLst>
            </p:cNvPr>
            <p:cNvSpPr/>
            <p:nvPr/>
          </p:nvSpPr>
          <p:spPr>
            <a:xfrm>
              <a:off x="2699792" y="4437104"/>
              <a:ext cx="144015" cy="14401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58DFA0E1-E93D-4E39-9647-F7DEA6768E6E}"/>
                </a:ext>
              </a:extLst>
            </p:cNvPr>
            <p:cNvSpPr/>
            <p:nvPr/>
          </p:nvSpPr>
          <p:spPr>
            <a:xfrm>
              <a:off x="3908577" y="4437104"/>
              <a:ext cx="144015" cy="14401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8579E089-635A-4ABE-BC4B-FB2DE2FCA381}"/>
              </a:ext>
            </a:extLst>
          </p:cNvPr>
          <p:cNvGrpSpPr/>
          <p:nvPr/>
        </p:nvGrpSpPr>
        <p:grpSpPr>
          <a:xfrm>
            <a:off x="6063497" y="2780929"/>
            <a:ext cx="1352801" cy="1008103"/>
            <a:chOff x="2699792" y="3573016"/>
            <a:chExt cx="1352801" cy="1008103"/>
          </a:xfrm>
        </p:grpSpPr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FFD0A556-C93A-4C34-9D1D-6B29DCA7EEF4}"/>
                </a:ext>
              </a:extLst>
            </p:cNvPr>
            <p:cNvSpPr/>
            <p:nvPr/>
          </p:nvSpPr>
          <p:spPr>
            <a:xfrm>
              <a:off x="2771799" y="3645034"/>
              <a:ext cx="1224131" cy="86407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61DA3126-8E34-4243-9408-0C11F34467C0}"/>
                </a:ext>
              </a:extLst>
            </p:cNvPr>
            <p:cNvSpPr/>
            <p:nvPr/>
          </p:nvSpPr>
          <p:spPr>
            <a:xfrm>
              <a:off x="2699792" y="3573016"/>
              <a:ext cx="144015" cy="14401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4DF3ED05-64F8-44EB-97E7-507C2A1E1A98}"/>
                </a:ext>
              </a:extLst>
            </p:cNvPr>
            <p:cNvSpPr/>
            <p:nvPr/>
          </p:nvSpPr>
          <p:spPr>
            <a:xfrm>
              <a:off x="3908578" y="3573016"/>
              <a:ext cx="144015" cy="1440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9A67DC01-4463-404D-9FB5-2BB49CE41C00}"/>
                </a:ext>
              </a:extLst>
            </p:cNvPr>
            <p:cNvSpPr/>
            <p:nvPr/>
          </p:nvSpPr>
          <p:spPr>
            <a:xfrm>
              <a:off x="2699792" y="4437104"/>
              <a:ext cx="144015" cy="14401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43BE89A6-0CE8-4096-A026-DA60A4FE0D1D}"/>
                </a:ext>
              </a:extLst>
            </p:cNvPr>
            <p:cNvSpPr/>
            <p:nvPr/>
          </p:nvSpPr>
          <p:spPr>
            <a:xfrm>
              <a:off x="3908577" y="4437104"/>
              <a:ext cx="144015" cy="14401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A8CB4694-29A8-4F35-9603-36E0F3CD7D3D}"/>
              </a:ext>
            </a:extLst>
          </p:cNvPr>
          <p:cNvCxnSpPr>
            <a:cxnSpLocks/>
          </p:cNvCxnSpPr>
          <p:nvPr/>
        </p:nvCxnSpPr>
        <p:spPr>
          <a:xfrm flipV="1">
            <a:off x="4900192" y="3248980"/>
            <a:ext cx="1839704" cy="79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323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616A64-6F10-9ECB-CCF1-121FA2AA7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B4A7CD-5DF2-AEAB-932F-AF9CF9E2C080}"/>
                  </a:ext>
                </a:extLst>
              </p:cNvPr>
              <p:cNvSpPr txBox="1"/>
              <p:nvPr/>
            </p:nvSpPr>
            <p:spPr>
              <a:xfrm>
                <a:off x="1919536" y="3429001"/>
                <a:ext cx="7416824" cy="1557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3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sz="3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3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3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sz="36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B4A7CD-5DF2-AEAB-932F-AF9CF9E2C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6" y="3429001"/>
                <a:ext cx="7416824" cy="15573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336F047-3967-5CB7-4D61-BF74BA0FD022}"/>
              </a:ext>
            </a:extLst>
          </p:cNvPr>
          <p:cNvSpPr txBox="1"/>
          <p:nvPr/>
        </p:nvSpPr>
        <p:spPr>
          <a:xfrm>
            <a:off x="838200" y="1916833"/>
            <a:ext cx="8210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Какое преобразование выполняет эта матрица</a:t>
            </a:r>
            <a:r>
              <a:rPr lang="en-US" sz="2800" dirty="0"/>
              <a:t>?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29052644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1D4E6D-4211-4EC8-8285-3C0156A38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EBA5F21-86A1-426E-9116-68F8026308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ru-RU" sz="2800" dirty="0"/>
              <a:t>Чему равен результат переноса</a:t>
            </a:r>
            <a:r>
              <a:rPr lang="ru-RU" sz="2800" b="1" dirty="0"/>
              <a:t> </a:t>
            </a:r>
            <a:r>
              <a:rPr lang="ru-RU" sz="2800" dirty="0"/>
              <a:t>произвольного вектора </a:t>
            </a:r>
            <a:r>
              <a:rPr lang="en-US" sz="2800" dirty="0"/>
              <a:t>(Vx, </a:t>
            </a:r>
            <a:r>
              <a:rPr lang="en-US" sz="2800" dirty="0" err="1"/>
              <a:t>Vy</a:t>
            </a:r>
            <a:r>
              <a:rPr lang="en-US" sz="2800" dirty="0"/>
              <a:t>) </a:t>
            </a:r>
            <a:r>
              <a:rPr lang="ru-RU" sz="2800" dirty="0"/>
              <a:t>вдоль вектора </a:t>
            </a:r>
            <a:r>
              <a:rPr lang="en-US" sz="2800" dirty="0"/>
              <a:t>(dx, </a:t>
            </a:r>
            <a:r>
              <a:rPr lang="en-US" sz="2800" dirty="0" err="1"/>
              <a:t>dy</a:t>
            </a:r>
            <a:r>
              <a:rPr lang="en-US" sz="2800" dirty="0"/>
              <a:t>)?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D0E133-87AC-48E1-B79A-69449AAB44BA}"/>
                  </a:ext>
                </a:extLst>
              </p:cNvPr>
              <p:cNvSpPr txBox="1"/>
              <p:nvPr/>
            </p:nvSpPr>
            <p:spPr>
              <a:xfrm>
                <a:off x="1682825" y="3804838"/>
                <a:ext cx="8229600" cy="17203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D0E133-87AC-48E1-B79A-69449AAB4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2825" y="3804838"/>
                <a:ext cx="8229600" cy="17203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9907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uiExpand="1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Масштабирование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57B95-0FBB-477F-BECE-A55A9BDEB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400" dirty="0"/>
              <a:t>Масштабирование изменяет размер объекта и использует два масштабных множителя </a:t>
            </a:r>
            <a:r>
              <a:rPr lang="en-US" sz="2400" b="1" dirty="0" err="1">
                <a:solidFill>
                  <a:schemeClr val="hlink"/>
                </a:solidFill>
              </a:rPr>
              <a:t>Sx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r>
              <a:rPr lang="en-US" sz="2400" b="1" dirty="0">
                <a:solidFill>
                  <a:schemeClr val="hlink"/>
                </a:solidFill>
              </a:rPr>
              <a:t>Sy</a:t>
            </a:r>
            <a:r>
              <a:rPr lang="en-US" sz="2400" dirty="0"/>
              <a:t> </a:t>
            </a:r>
            <a:r>
              <a:rPr lang="ru-RU" sz="2400" dirty="0"/>
              <a:t>для координат </a:t>
            </a:r>
            <a:r>
              <a:rPr lang="en-US" sz="2400" b="1" dirty="0"/>
              <a:t>x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r>
              <a:rPr lang="en-US" sz="2400" b="1" dirty="0"/>
              <a:t>y</a:t>
            </a:r>
            <a:r>
              <a:rPr lang="en-US" sz="2400" dirty="0"/>
              <a:t> </a:t>
            </a:r>
            <a:r>
              <a:rPr lang="ru-RU" sz="2400" dirty="0"/>
              <a:t>соответственно</a:t>
            </a:r>
            <a:endParaRPr lang="en-US" sz="2400" dirty="0"/>
          </a:p>
          <a:p>
            <a:pPr eaLnBrk="1" hangingPunct="1"/>
            <a:endParaRPr lang="ru-RU" sz="2400" dirty="0"/>
          </a:p>
          <a:p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43ECA9-FF29-4548-83AC-FC20AB9D4483}"/>
                  </a:ext>
                </a:extLst>
              </p:cNvPr>
              <p:cNvSpPr txBox="1"/>
              <p:nvPr/>
            </p:nvSpPr>
            <p:spPr>
              <a:xfrm>
                <a:off x="2351585" y="3717033"/>
                <a:ext cx="6120680" cy="13871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43ECA9-FF29-4548-83AC-FC20AB9D4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585" y="3717033"/>
                <a:ext cx="6120680" cy="13871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24958C2-EAD2-4915-90F4-E546C1BF3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Масштабирование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83862FE5-435C-4B2F-878B-6978853EBBB3}"/>
              </a:ext>
            </a:extLst>
          </p:cNvPr>
          <p:cNvCxnSpPr>
            <a:cxnSpLocks/>
          </p:cNvCxnSpPr>
          <p:nvPr/>
        </p:nvCxnSpPr>
        <p:spPr>
          <a:xfrm flipV="1">
            <a:off x="4151784" y="2708920"/>
            <a:ext cx="0" cy="34563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85EBB47C-68C8-4264-BD65-46009F708CB4}"/>
              </a:ext>
            </a:extLst>
          </p:cNvPr>
          <p:cNvCxnSpPr>
            <a:cxnSpLocks/>
          </p:cNvCxnSpPr>
          <p:nvPr/>
        </p:nvCxnSpPr>
        <p:spPr>
          <a:xfrm>
            <a:off x="2207568" y="4581128"/>
            <a:ext cx="417646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36C2920-03CA-498C-B6CE-00CBC8879154}"/>
              </a:ext>
            </a:extLst>
          </p:cNvPr>
          <p:cNvGrpSpPr/>
          <p:nvPr/>
        </p:nvGrpSpPr>
        <p:grpSpPr>
          <a:xfrm>
            <a:off x="3750730" y="3838873"/>
            <a:ext cx="1352801" cy="1008103"/>
            <a:chOff x="2699792" y="3573016"/>
            <a:chExt cx="1352801" cy="1008103"/>
          </a:xfrm>
        </p:grpSpPr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A4C73835-57E4-4087-8F87-0D550014C545}"/>
                </a:ext>
              </a:extLst>
            </p:cNvPr>
            <p:cNvSpPr/>
            <p:nvPr/>
          </p:nvSpPr>
          <p:spPr>
            <a:xfrm>
              <a:off x="2771799" y="3645034"/>
              <a:ext cx="1224131" cy="86407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8878EE70-524E-4EDD-84AD-5B24FC448602}"/>
                </a:ext>
              </a:extLst>
            </p:cNvPr>
            <p:cNvSpPr/>
            <p:nvPr/>
          </p:nvSpPr>
          <p:spPr>
            <a:xfrm>
              <a:off x="2699792" y="3573016"/>
              <a:ext cx="144015" cy="14401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131ED995-023B-4C92-AC70-40600574A32E}"/>
                </a:ext>
              </a:extLst>
            </p:cNvPr>
            <p:cNvSpPr/>
            <p:nvPr/>
          </p:nvSpPr>
          <p:spPr>
            <a:xfrm>
              <a:off x="3908578" y="3573016"/>
              <a:ext cx="144015" cy="1440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205CA037-8D5D-4ECA-A729-D9B82683D4D2}"/>
                </a:ext>
              </a:extLst>
            </p:cNvPr>
            <p:cNvSpPr/>
            <p:nvPr/>
          </p:nvSpPr>
          <p:spPr>
            <a:xfrm>
              <a:off x="2699792" y="4437104"/>
              <a:ext cx="144015" cy="14401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58DFA0E1-E93D-4E39-9647-F7DEA6768E6E}"/>
                </a:ext>
              </a:extLst>
            </p:cNvPr>
            <p:cNvSpPr/>
            <p:nvPr/>
          </p:nvSpPr>
          <p:spPr>
            <a:xfrm>
              <a:off x="3908577" y="4437104"/>
              <a:ext cx="144015" cy="14401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93CFBA0-A6C5-46C4-BA77-77232956BB05}"/>
              </a:ext>
            </a:extLst>
          </p:cNvPr>
          <p:cNvGrpSpPr/>
          <p:nvPr/>
        </p:nvGrpSpPr>
        <p:grpSpPr>
          <a:xfrm>
            <a:off x="3431705" y="3140968"/>
            <a:ext cx="2592013" cy="1886890"/>
            <a:chOff x="4539496" y="2780928"/>
            <a:chExt cx="2592013" cy="1886890"/>
          </a:xfrm>
        </p:grpSpPr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FFD0A556-C93A-4C34-9D1D-6B29DCA7EEF4}"/>
                </a:ext>
              </a:extLst>
            </p:cNvPr>
            <p:cNvSpPr/>
            <p:nvPr/>
          </p:nvSpPr>
          <p:spPr>
            <a:xfrm>
              <a:off x="4611502" y="2852946"/>
              <a:ext cx="2448000" cy="1728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61DA3126-8E34-4243-9408-0C11F34467C0}"/>
                </a:ext>
              </a:extLst>
            </p:cNvPr>
            <p:cNvSpPr/>
            <p:nvPr/>
          </p:nvSpPr>
          <p:spPr>
            <a:xfrm>
              <a:off x="4539496" y="2780928"/>
              <a:ext cx="144015" cy="14401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4DF3ED05-64F8-44EB-97E7-507C2A1E1A98}"/>
                </a:ext>
              </a:extLst>
            </p:cNvPr>
            <p:cNvSpPr/>
            <p:nvPr/>
          </p:nvSpPr>
          <p:spPr>
            <a:xfrm>
              <a:off x="6987494" y="2780928"/>
              <a:ext cx="144015" cy="1440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9A67DC01-4463-404D-9FB5-2BB49CE41C00}"/>
                </a:ext>
              </a:extLst>
            </p:cNvPr>
            <p:cNvSpPr/>
            <p:nvPr/>
          </p:nvSpPr>
          <p:spPr>
            <a:xfrm>
              <a:off x="4539497" y="4523803"/>
              <a:ext cx="144015" cy="14401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43BE89A6-0CE8-4096-A026-DA60A4FE0D1D}"/>
                </a:ext>
              </a:extLst>
            </p:cNvPr>
            <p:cNvSpPr/>
            <p:nvPr/>
          </p:nvSpPr>
          <p:spPr>
            <a:xfrm>
              <a:off x="6987494" y="4523803"/>
              <a:ext cx="144015" cy="14401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C1B2F51F-B834-4B49-B0D1-26E9613F873B}"/>
              </a:ext>
            </a:extLst>
          </p:cNvPr>
          <p:cNvGrpSpPr/>
          <p:nvPr/>
        </p:nvGrpSpPr>
        <p:grpSpPr>
          <a:xfrm>
            <a:off x="3495040" y="3200400"/>
            <a:ext cx="2456180" cy="1757680"/>
            <a:chOff x="1971040" y="3200400"/>
            <a:chExt cx="2456180" cy="1757680"/>
          </a:xfrm>
        </p:grpSpPr>
        <p:cxnSp>
          <p:nvCxnSpPr>
            <p:cNvPr id="7" name="Прямая со стрелкой 6">
              <a:extLst>
                <a:ext uri="{FF2B5EF4-FFF2-40B4-BE49-F238E27FC236}">
                  <a16:creationId xmlns:a16="http://schemas.microsoft.com/office/drawing/2014/main" id="{0D278ABE-CDB0-4452-8643-9F64059071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7784" y="3210560"/>
              <a:ext cx="1799436" cy="1370568"/>
            </a:xfrm>
            <a:prstGeom prst="straightConnector1">
              <a:avLst/>
            </a:prstGeom>
            <a:ln>
              <a:solidFill>
                <a:srgbClr val="33333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>
              <a:extLst>
                <a:ext uri="{FF2B5EF4-FFF2-40B4-BE49-F238E27FC236}">
                  <a16:creationId xmlns:a16="http://schemas.microsoft.com/office/drawing/2014/main" id="{60C8E98F-5469-4A3D-896C-18F8FFE094FC}"/>
                </a:ext>
              </a:extLst>
            </p:cNvPr>
            <p:cNvCxnSpPr>
              <a:cxnSpLocks/>
            </p:cNvCxnSpPr>
            <p:nvPr/>
          </p:nvCxnSpPr>
          <p:spPr>
            <a:xfrm>
              <a:off x="2617763" y="4578863"/>
              <a:ext cx="1791677" cy="363977"/>
            </a:xfrm>
            <a:prstGeom prst="straightConnector1">
              <a:avLst/>
            </a:prstGeom>
            <a:ln>
              <a:solidFill>
                <a:srgbClr val="33333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 стрелкой 29">
              <a:extLst>
                <a:ext uri="{FF2B5EF4-FFF2-40B4-BE49-F238E27FC236}">
                  <a16:creationId xmlns:a16="http://schemas.microsoft.com/office/drawing/2014/main" id="{44DDD550-0EA0-4475-B80B-6C8B70D09B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1040" y="3200400"/>
              <a:ext cx="656254" cy="1378463"/>
            </a:xfrm>
            <a:prstGeom prst="straightConnector1">
              <a:avLst/>
            </a:prstGeom>
            <a:ln>
              <a:solidFill>
                <a:srgbClr val="33333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 стрелкой 32">
              <a:extLst>
                <a:ext uri="{FF2B5EF4-FFF2-40B4-BE49-F238E27FC236}">
                  <a16:creationId xmlns:a16="http://schemas.microsoft.com/office/drawing/2014/main" id="{CE081BA5-1240-4C4A-BE18-24FF1796B5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81200" y="4578863"/>
              <a:ext cx="623375" cy="379217"/>
            </a:xfrm>
            <a:prstGeom prst="straightConnector1">
              <a:avLst/>
            </a:prstGeom>
            <a:ln>
              <a:solidFill>
                <a:srgbClr val="33333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4012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Поворот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4A34781-4833-49DB-8C0C-0C467DF05F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sz="2800" dirty="0"/>
              <a:t>Одна из основных операций в компьютерной графике – поворот изображения относительно заданной точки на некоторый угол</a:t>
            </a:r>
          </a:p>
          <a:p>
            <a:pPr eaLnBrk="1" hangingPunct="1">
              <a:lnSpc>
                <a:spcPct val="90000"/>
              </a:lnSpc>
            </a:pPr>
            <a:r>
              <a:rPr lang="ru-RU" sz="2800" dirty="0"/>
              <a:t>Преобразование поворота относительно начала координат имеет следующий вид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B8BC0C-8C91-4243-8B6C-4E2E53D7C6D6}"/>
                  </a:ext>
                </a:extLst>
              </p:cNvPr>
              <p:cNvSpPr txBox="1"/>
              <p:nvPr/>
            </p:nvSpPr>
            <p:spPr>
              <a:xfrm>
                <a:off x="1127448" y="4077072"/>
                <a:ext cx="9433047" cy="9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sz="200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00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B8BC0C-8C91-4243-8B6C-4E2E53D7C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448" y="4077072"/>
                <a:ext cx="9433047" cy="9908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24958C2-EAD2-4915-90F4-E546C1BF3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Поворот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83862FE5-435C-4B2F-878B-6978853EBBB3}"/>
              </a:ext>
            </a:extLst>
          </p:cNvPr>
          <p:cNvCxnSpPr>
            <a:cxnSpLocks/>
          </p:cNvCxnSpPr>
          <p:nvPr/>
        </p:nvCxnSpPr>
        <p:spPr>
          <a:xfrm flipV="1">
            <a:off x="4151784" y="2708920"/>
            <a:ext cx="0" cy="34563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85EBB47C-68C8-4264-BD65-46009F708CB4}"/>
              </a:ext>
            </a:extLst>
          </p:cNvPr>
          <p:cNvCxnSpPr>
            <a:cxnSpLocks/>
          </p:cNvCxnSpPr>
          <p:nvPr/>
        </p:nvCxnSpPr>
        <p:spPr>
          <a:xfrm>
            <a:off x="2207568" y="4581128"/>
            <a:ext cx="417646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36C2920-03CA-498C-B6CE-00CBC8879154}"/>
              </a:ext>
            </a:extLst>
          </p:cNvPr>
          <p:cNvGrpSpPr/>
          <p:nvPr/>
        </p:nvGrpSpPr>
        <p:grpSpPr>
          <a:xfrm>
            <a:off x="3475384" y="4077077"/>
            <a:ext cx="1352801" cy="1008103"/>
            <a:chOff x="2699792" y="3573016"/>
            <a:chExt cx="1352801" cy="1008103"/>
          </a:xfrm>
        </p:grpSpPr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A4C73835-57E4-4087-8F87-0D550014C545}"/>
                </a:ext>
              </a:extLst>
            </p:cNvPr>
            <p:cNvSpPr/>
            <p:nvPr/>
          </p:nvSpPr>
          <p:spPr>
            <a:xfrm>
              <a:off x="2771799" y="3645034"/>
              <a:ext cx="1224131" cy="86407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8878EE70-524E-4EDD-84AD-5B24FC448602}"/>
                </a:ext>
              </a:extLst>
            </p:cNvPr>
            <p:cNvSpPr/>
            <p:nvPr/>
          </p:nvSpPr>
          <p:spPr>
            <a:xfrm>
              <a:off x="2699792" y="3573016"/>
              <a:ext cx="144015" cy="14401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131ED995-023B-4C92-AC70-40600574A32E}"/>
                </a:ext>
              </a:extLst>
            </p:cNvPr>
            <p:cNvSpPr/>
            <p:nvPr/>
          </p:nvSpPr>
          <p:spPr>
            <a:xfrm>
              <a:off x="3908578" y="3573016"/>
              <a:ext cx="144015" cy="14401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205CA037-8D5D-4ECA-A729-D9B82683D4D2}"/>
                </a:ext>
              </a:extLst>
            </p:cNvPr>
            <p:cNvSpPr/>
            <p:nvPr/>
          </p:nvSpPr>
          <p:spPr>
            <a:xfrm>
              <a:off x="2699792" y="4437104"/>
              <a:ext cx="144015" cy="14401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58DFA0E1-E93D-4E39-9647-F7DEA6768E6E}"/>
                </a:ext>
              </a:extLst>
            </p:cNvPr>
            <p:cNvSpPr/>
            <p:nvPr/>
          </p:nvSpPr>
          <p:spPr>
            <a:xfrm>
              <a:off x="3908577" y="4437104"/>
              <a:ext cx="144015" cy="14401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13191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1800000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Сдвиг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400" dirty="0"/>
              <a:t>При сдвиге вдоль оси </a:t>
            </a:r>
            <a:r>
              <a:rPr lang="en-US" sz="2400" dirty="0"/>
              <a:t>x</a:t>
            </a:r>
            <a:r>
              <a:rPr lang="ru-RU" sz="2400" dirty="0"/>
              <a:t> координата </a:t>
            </a:r>
            <a:r>
              <a:rPr lang="en-US" sz="2400" b="1" dirty="0"/>
              <a:t>y</a:t>
            </a:r>
            <a:r>
              <a:rPr lang="en-US" sz="2400" dirty="0"/>
              <a:t> </a:t>
            </a:r>
            <a:r>
              <a:rPr lang="ru-RU" sz="2400" dirty="0"/>
              <a:t>каждой точки остается неизменной, а координата </a:t>
            </a:r>
            <a:r>
              <a:rPr lang="en-US" sz="2400" b="1" dirty="0"/>
              <a:t>x</a:t>
            </a:r>
            <a:r>
              <a:rPr lang="en-US" sz="2400" dirty="0"/>
              <a:t> </a:t>
            </a:r>
            <a:r>
              <a:rPr lang="ru-RU" sz="2400" dirty="0"/>
              <a:t>перемещается на величину, линейно возрастающую с ростом </a:t>
            </a:r>
            <a:r>
              <a:rPr lang="en-US" sz="2400" dirty="0"/>
              <a:t>y</a:t>
            </a:r>
          </a:p>
          <a:p>
            <a:pPr lvl="1" eaLnBrk="1" hangingPunct="1"/>
            <a:r>
              <a:rPr lang="ru-RU" sz="2000" dirty="0"/>
              <a:t>При сдвиге вдоль оси </a:t>
            </a:r>
            <a:r>
              <a:rPr lang="en-US" sz="2000" dirty="0"/>
              <a:t>y – </a:t>
            </a:r>
            <a:r>
              <a:rPr lang="ru-RU" sz="2000" dirty="0"/>
              <a:t>ситуация противоположная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E4C581D-1DDA-4B1C-9B83-5B0C95FB18C9}"/>
              </a:ext>
            </a:extLst>
          </p:cNvPr>
          <p:cNvGrpSpPr/>
          <p:nvPr/>
        </p:nvGrpSpPr>
        <p:grpSpPr>
          <a:xfrm>
            <a:off x="2063553" y="3998913"/>
            <a:ext cx="6950273" cy="1181100"/>
            <a:chOff x="539552" y="3998913"/>
            <a:chExt cx="6950273" cy="11811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557" name="Object 5"/>
                <p:cNvSpPr txBox="1">
                  <a:spLocks noGrp="1"/>
                </p:cNvSpPr>
                <p:nvPr>
                  <p:ph sz="half" idx="2"/>
                </p:nvPr>
              </p:nvSpPr>
              <p:spPr bwMode="auto">
                <a:xfrm>
                  <a:off x="539552" y="3998913"/>
                  <a:ext cx="4551562" cy="1181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ru-RU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ru-RU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sSub>
                                    <m:sSubPr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ru-RU" sz="1800" dirty="0"/>
                </a:p>
              </p:txBody>
            </p:sp>
          </mc:Choice>
          <mc:Fallback xmlns="">
            <p:sp>
              <p:nvSpPr>
                <p:cNvPr id="151557" name="Object 5"/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>
                  <p:ph sz="half" idx="2"/>
                </p:nvPr>
              </p:nvSpPr>
              <p:spPr bwMode="auto">
                <a:xfrm>
                  <a:off x="539552" y="3998913"/>
                  <a:ext cx="4551562" cy="11811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1559" name="Text Box 7"/>
            <p:cNvSpPr txBox="1">
              <a:spLocks noChangeArrowheads="1"/>
            </p:cNvSpPr>
            <p:nvPr/>
          </p:nvSpPr>
          <p:spPr bwMode="auto">
            <a:xfrm>
              <a:off x="5343525" y="4310063"/>
              <a:ext cx="214630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dirty="0"/>
                <a:t>Сдвиг вдоль оси </a:t>
              </a:r>
              <a:r>
                <a:rPr lang="en-US" dirty="0"/>
                <a:t>x</a:t>
              </a:r>
              <a:endParaRPr lang="ru-RU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9389FA5-37C0-439B-BAF4-1E534BA413C8}"/>
              </a:ext>
            </a:extLst>
          </p:cNvPr>
          <p:cNvGrpSpPr/>
          <p:nvPr/>
        </p:nvGrpSpPr>
        <p:grpSpPr>
          <a:xfrm>
            <a:off x="2063552" y="5373688"/>
            <a:ext cx="6972498" cy="1181100"/>
            <a:chOff x="539552" y="5373688"/>
            <a:chExt cx="6972498" cy="11811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558" name="Object 6"/>
                <p:cNvSpPr txBox="1"/>
                <p:nvPr/>
              </p:nvSpPr>
              <p:spPr bwMode="auto">
                <a:xfrm>
                  <a:off x="539552" y="5373688"/>
                  <a:ext cx="4551562" cy="11811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51558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9552" y="5373688"/>
                  <a:ext cx="4551562" cy="11811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1560" name="Text Box 8"/>
            <p:cNvSpPr txBox="1">
              <a:spLocks noChangeArrowheads="1"/>
            </p:cNvSpPr>
            <p:nvPr/>
          </p:nvSpPr>
          <p:spPr bwMode="auto">
            <a:xfrm>
              <a:off x="5364163" y="5373688"/>
              <a:ext cx="2147887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/>
                <a:t>Сдвиг вдоль оси </a:t>
              </a:r>
              <a:r>
                <a:rPr lang="en-US"/>
                <a:t>y</a:t>
              </a:r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Сдвиг</a:t>
            </a:r>
          </a:p>
        </p:txBody>
      </p:sp>
      <p:sp>
        <p:nvSpPr>
          <p:cNvPr id="112643" name="Text Box 4"/>
          <p:cNvSpPr txBox="1">
            <a:spLocks noChangeArrowheads="1"/>
          </p:cNvSpPr>
          <p:nvPr/>
        </p:nvSpPr>
        <p:spPr bwMode="auto">
          <a:xfrm>
            <a:off x="1847851" y="1916114"/>
            <a:ext cx="2532063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0000" dirty="0">
                <a:latin typeface="Verdana" pitchFamily="34" charset="0"/>
              </a:rPr>
              <a:t>T</a:t>
            </a:r>
            <a:endParaRPr lang="ru-RU" sz="30000" dirty="0">
              <a:latin typeface="Verdana" pitchFamily="34" charset="0"/>
            </a:endParaRPr>
          </a:p>
        </p:txBody>
      </p:sp>
      <p:sp>
        <p:nvSpPr>
          <p:cNvPr id="153605" name="Text Box 5"/>
          <p:cNvSpPr txBox="1">
            <a:spLocks noChangeArrowheads="1"/>
          </p:cNvSpPr>
          <p:nvPr/>
        </p:nvSpPr>
        <p:spPr bwMode="auto">
          <a:xfrm>
            <a:off x="6383338" y="1916114"/>
            <a:ext cx="2532062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0000" i="1" dirty="0">
                <a:latin typeface="Verdana" pitchFamily="34" charset="0"/>
              </a:rPr>
              <a:t>T</a:t>
            </a:r>
            <a:endParaRPr lang="ru-RU" sz="30000" i="1" dirty="0">
              <a:latin typeface="Verdana" pitchFamily="34" charset="0"/>
            </a:endParaRPr>
          </a:p>
        </p:txBody>
      </p:sp>
      <p:sp>
        <p:nvSpPr>
          <p:cNvPr id="112645" name="Line 6"/>
          <p:cNvSpPr>
            <a:spLocks noChangeShapeType="1"/>
          </p:cNvSpPr>
          <p:nvPr/>
        </p:nvSpPr>
        <p:spPr bwMode="auto">
          <a:xfrm>
            <a:off x="1847851" y="5732463"/>
            <a:ext cx="4067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12646" name="Line 7"/>
          <p:cNvSpPr>
            <a:spLocks noChangeShapeType="1"/>
          </p:cNvSpPr>
          <p:nvPr/>
        </p:nvSpPr>
        <p:spPr bwMode="auto">
          <a:xfrm flipV="1">
            <a:off x="1847850" y="2347913"/>
            <a:ext cx="0" cy="338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53608" name="Line 8"/>
          <p:cNvSpPr>
            <a:spLocks noChangeShapeType="1"/>
          </p:cNvSpPr>
          <p:nvPr/>
        </p:nvSpPr>
        <p:spPr bwMode="auto">
          <a:xfrm>
            <a:off x="6383339" y="5743575"/>
            <a:ext cx="4067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53609" name="Line 9"/>
          <p:cNvSpPr>
            <a:spLocks noChangeShapeType="1"/>
          </p:cNvSpPr>
          <p:nvPr/>
        </p:nvSpPr>
        <p:spPr bwMode="auto">
          <a:xfrm flipV="1">
            <a:off x="6383338" y="2359025"/>
            <a:ext cx="0" cy="338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5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5" grpId="0"/>
      <p:bldP spid="153608" grpId="0" animBg="1"/>
      <p:bldP spid="15360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Инвертирование аффинного преобразования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400" dirty="0"/>
              <a:t>Матрица </a:t>
            </a:r>
            <a:r>
              <a:rPr lang="en-US" sz="2400" i="1" dirty="0"/>
              <a:t>M</a:t>
            </a:r>
            <a:r>
              <a:rPr lang="en-US" sz="2400" dirty="0"/>
              <a:t> </a:t>
            </a:r>
            <a:r>
              <a:rPr lang="ru-RU" sz="2400" dirty="0"/>
              <a:t>размерностью </a:t>
            </a:r>
            <a:r>
              <a:rPr lang="en-US" sz="2400" dirty="0"/>
              <a:t>n</a:t>
            </a:r>
            <a:r>
              <a:rPr lang="ru-RU" sz="2400" dirty="0"/>
              <a:t> на </a:t>
            </a:r>
            <a:r>
              <a:rPr lang="en-US" sz="2400" dirty="0"/>
              <a:t>n </a:t>
            </a:r>
            <a:r>
              <a:rPr lang="ru-RU" sz="2400" dirty="0"/>
              <a:t>называется </a:t>
            </a:r>
            <a:r>
              <a:rPr lang="ru-RU" sz="2400" b="1" dirty="0"/>
              <a:t>невырожденной</a:t>
            </a:r>
            <a:r>
              <a:rPr lang="ru-RU" sz="2400" dirty="0"/>
              <a:t>, если ее определитель </a:t>
            </a:r>
            <a:r>
              <a:rPr lang="en-US" sz="2400" dirty="0"/>
              <a:t>|M| </a:t>
            </a:r>
            <a:r>
              <a:rPr lang="ru-RU" sz="2400" dirty="0"/>
              <a:t>отличен от нуля</a:t>
            </a:r>
          </a:p>
          <a:p>
            <a:pPr eaLnBrk="1" hangingPunct="1"/>
            <a:r>
              <a:rPr lang="ru-RU" sz="2400" dirty="0"/>
              <a:t>В этом случае матрица </a:t>
            </a:r>
            <a:r>
              <a:rPr lang="en-US" sz="2400" dirty="0"/>
              <a:t>M </a:t>
            </a:r>
            <a:r>
              <a:rPr lang="ru-RU" sz="2400" dirty="0"/>
              <a:t>имеет обратную матрицу </a:t>
            </a:r>
            <a:r>
              <a:rPr lang="en-US" sz="2400" dirty="0"/>
              <a:t>M</a:t>
            </a:r>
            <a:r>
              <a:rPr lang="en-US" sz="2400" baseline="30000" dirty="0"/>
              <a:t>-1</a:t>
            </a:r>
            <a:r>
              <a:rPr lang="en-US" sz="2400" dirty="0"/>
              <a:t>, </a:t>
            </a:r>
            <a:r>
              <a:rPr lang="ru-RU" sz="2400" dirty="0"/>
              <a:t>обладающую свойством:</a:t>
            </a:r>
          </a:p>
          <a:p>
            <a:pPr lvl="1" eaLnBrk="1" hangingPunct="1"/>
            <a:r>
              <a:rPr lang="en-US" sz="2000" b="1" dirty="0"/>
              <a:t>MM</a:t>
            </a:r>
            <a:r>
              <a:rPr lang="en-US" sz="2000" b="1" baseline="30000" dirty="0"/>
              <a:t>-1</a:t>
            </a:r>
            <a:r>
              <a:rPr lang="en-US" sz="2000" b="1" dirty="0"/>
              <a:t> = M</a:t>
            </a:r>
            <a:r>
              <a:rPr lang="en-US" sz="2000" b="1" baseline="30000" dirty="0"/>
              <a:t>-1</a:t>
            </a:r>
            <a:r>
              <a:rPr lang="en-US" sz="2000" b="1" dirty="0"/>
              <a:t>M = I,</a:t>
            </a:r>
            <a:br>
              <a:rPr lang="en-US" sz="2000" b="1" dirty="0"/>
            </a:br>
            <a:r>
              <a:rPr lang="ru-RU" sz="2000" dirty="0"/>
              <a:t>где </a:t>
            </a:r>
            <a:r>
              <a:rPr lang="en-US" sz="2000" dirty="0"/>
              <a:t>I – </a:t>
            </a:r>
            <a:r>
              <a:rPr lang="ru-RU" sz="2000" dirty="0"/>
              <a:t>единичная матрица размерностью </a:t>
            </a:r>
            <a:r>
              <a:rPr lang="en-US" sz="2000" dirty="0"/>
              <a:t>n </a:t>
            </a:r>
            <a:r>
              <a:rPr lang="ru-RU" sz="2000" dirty="0"/>
              <a:t>на </a:t>
            </a:r>
            <a:r>
              <a:rPr lang="en-US" sz="2000" dirty="0"/>
              <a:t>n</a:t>
            </a:r>
            <a:endParaRPr lang="ru-RU" sz="2000" dirty="0"/>
          </a:p>
          <a:p>
            <a:pPr eaLnBrk="1" hangingPunct="1"/>
            <a:r>
              <a:rPr lang="ru-RU" sz="2400" dirty="0"/>
              <a:t>Матрица, обратная к произведению квадратных матриц имеет вид:</a:t>
            </a:r>
          </a:p>
          <a:p>
            <a:pPr lvl="1" eaLnBrk="1" hangingPunct="1"/>
            <a:r>
              <a:rPr lang="ru-RU" sz="2000" dirty="0"/>
              <a:t>(</a:t>
            </a:r>
            <a:r>
              <a:rPr lang="en-US" sz="2000" dirty="0"/>
              <a:t>AB)</a:t>
            </a:r>
            <a:r>
              <a:rPr lang="en-US" sz="2000" b="1" baseline="30000" dirty="0"/>
              <a:t>-</a:t>
            </a:r>
            <a:r>
              <a:rPr lang="en-US" sz="2000" baseline="30000" dirty="0"/>
              <a:t>1</a:t>
            </a:r>
            <a:r>
              <a:rPr lang="en-US" sz="2000" dirty="0"/>
              <a:t> = B</a:t>
            </a:r>
            <a:r>
              <a:rPr lang="en-US" sz="2000" baseline="30000" dirty="0"/>
              <a:t>-1</a:t>
            </a:r>
            <a:r>
              <a:rPr lang="en-US" sz="2000" dirty="0"/>
              <a:t>A</a:t>
            </a:r>
            <a:r>
              <a:rPr lang="en-US" sz="2000" baseline="30000" dirty="0"/>
              <a:t>-1</a:t>
            </a:r>
            <a:endParaRPr lang="ru-RU" sz="2000" dirty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89CD5554-58D2-4AEC-B141-0B045F25C48B}"/>
              </a:ext>
            </a:extLst>
          </p:cNvPr>
          <p:cNvGrpSpPr/>
          <p:nvPr/>
        </p:nvGrpSpPr>
        <p:grpSpPr>
          <a:xfrm>
            <a:off x="4943872" y="4869160"/>
            <a:ext cx="2592288" cy="1808584"/>
            <a:chOff x="7032104" y="3429000"/>
            <a:chExt cx="2592288" cy="1808584"/>
          </a:xfrm>
        </p:grpSpPr>
        <p:cxnSp>
          <p:nvCxnSpPr>
            <p:cNvPr id="8" name="Прямая со стрелкой 7">
              <a:extLst>
                <a:ext uri="{FF2B5EF4-FFF2-40B4-BE49-F238E27FC236}">
                  <a16:creationId xmlns:a16="http://schemas.microsoft.com/office/drawing/2014/main" id="{EA1E547E-4A6F-4295-A718-75003519DB88}"/>
                </a:ext>
              </a:extLst>
            </p:cNvPr>
            <p:cNvCxnSpPr/>
            <p:nvPr/>
          </p:nvCxnSpPr>
          <p:spPr>
            <a:xfrm>
              <a:off x="7032104" y="4509120"/>
              <a:ext cx="25922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 стрелкой 8">
              <a:extLst>
                <a:ext uri="{FF2B5EF4-FFF2-40B4-BE49-F238E27FC236}">
                  <a16:creationId xmlns:a16="http://schemas.microsoft.com/office/drawing/2014/main" id="{9D6C921E-CDC7-43FE-8186-FA20FA873D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4232" y="3429000"/>
              <a:ext cx="0" cy="1808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Овал 3">
            <a:extLst>
              <a:ext uri="{FF2B5EF4-FFF2-40B4-BE49-F238E27FC236}">
                <a16:creationId xmlns:a16="http://schemas.microsoft.com/office/drawing/2014/main" id="{986D4837-A194-4639-9048-E99EF8B48B09}"/>
              </a:ext>
            </a:extLst>
          </p:cNvPr>
          <p:cNvSpPr/>
          <p:nvPr/>
        </p:nvSpPr>
        <p:spPr>
          <a:xfrm>
            <a:off x="5087888" y="508518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0FD9E260-19E3-4161-8DF5-FC621549ADCE}"/>
              </a:ext>
            </a:extLst>
          </p:cNvPr>
          <p:cNvSpPr/>
          <p:nvPr/>
        </p:nvSpPr>
        <p:spPr>
          <a:xfrm>
            <a:off x="6023992" y="509356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1A524B4E-449B-4D2F-9629-3E5992BEEB35}"/>
              </a:ext>
            </a:extLst>
          </p:cNvPr>
          <p:cNvSpPr/>
          <p:nvPr/>
        </p:nvSpPr>
        <p:spPr>
          <a:xfrm>
            <a:off x="6744072" y="5557490"/>
            <a:ext cx="144016" cy="144016"/>
          </a:xfrm>
          <a:prstGeom prst="ellipse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8A8A8027-7C84-4508-ABC0-628D86946EA8}"/>
              </a:ext>
            </a:extLst>
          </p:cNvPr>
          <p:cNvSpPr/>
          <p:nvPr/>
        </p:nvSpPr>
        <p:spPr>
          <a:xfrm>
            <a:off x="6023992" y="5557490"/>
            <a:ext cx="144016" cy="144016"/>
          </a:xfrm>
          <a:prstGeom prst="ellipse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C7A3ABB6-0B48-4E50-BC06-A0DBC706C137}"/>
              </a:ext>
            </a:extLst>
          </p:cNvPr>
          <p:cNvCxnSpPr>
            <a:stCxn id="12" idx="2"/>
            <a:endCxn id="13" idx="6"/>
          </p:cNvCxnSpPr>
          <p:nvPr/>
        </p:nvCxnSpPr>
        <p:spPr>
          <a:xfrm flipH="1">
            <a:off x="6168008" y="5629498"/>
            <a:ext cx="576064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994A8BBE-7676-445B-8DE4-20F800F5E866}"/>
              </a:ext>
            </a:extLst>
          </p:cNvPr>
          <p:cNvCxnSpPr>
            <a:cxnSpLocks/>
            <a:stCxn id="4" idx="6"/>
            <a:endCxn id="11" idx="2"/>
          </p:cNvCxnSpPr>
          <p:nvPr/>
        </p:nvCxnSpPr>
        <p:spPr>
          <a:xfrm>
            <a:off x="5231904" y="5157192"/>
            <a:ext cx="792088" cy="838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Определитель матрицы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726" name="Object 6"/>
              <p:cNvSpPr txBox="1"/>
              <p:nvPr/>
            </p:nvSpPr>
            <p:spPr bwMode="auto">
              <a:xfrm>
                <a:off x="996950" y="4629150"/>
                <a:ext cx="10787682" cy="19764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872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6950" y="4629150"/>
                <a:ext cx="10787682" cy="1976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727" name="Text Box 7"/>
          <p:cNvSpPr txBox="1">
            <a:spLocks noChangeArrowheads="1"/>
          </p:cNvSpPr>
          <p:nvPr/>
        </p:nvSpPr>
        <p:spPr bwMode="auto">
          <a:xfrm>
            <a:off x="6508750" y="6253163"/>
            <a:ext cx="37544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</a:t>
            </a:r>
            <a:r>
              <a:rPr lang="en-US" baseline="-25000"/>
              <a:t>ij</a:t>
            </a:r>
            <a:r>
              <a:rPr lang="en-US"/>
              <a:t> – </a:t>
            </a:r>
            <a:r>
              <a:rPr lang="ru-RU"/>
              <a:t>алгебраическое дополнение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1DE9EDD-8917-2949-9717-7E5BFE1F3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800" dirty="0"/>
              <a:t>С каждой квадратной матрицей связано некоторое число, называемое ее </a:t>
            </a:r>
            <a:r>
              <a:rPr lang="ru-RU" sz="2800" b="1" dirty="0"/>
              <a:t>определителем</a:t>
            </a:r>
          </a:p>
          <a:p>
            <a:pPr lvl="1" eaLnBrk="1" hangingPunct="1"/>
            <a:r>
              <a:rPr lang="ru-RU" dirty="0"/>
              <a:t>Обозначается </a:t>
            </a:r>
            <a:r>
              <a:rPr lang="en-US" dirty="0"/>
              <a:t>|M| </a:t>
            </a:r>
            <a:r>
              <a:rPr lang="ru-RU" dirty="0"/>
              <a:t>или </a:t>
            </a:r>
            <a:r>
              <a:rPr lang="en-US" dirty="0"/>
              <a:t>det M</a:t>
            </a:r>
            <a:endParaRPr lang="ru-RU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DF13E427-4872-AA0A-BD2E-50B5928A1BC5}"/>
                  </a:ext>
                </a:extLst>
              </p:cNvPr>
              <p:cNvSpPr txBox="1"/>
              <p:nvPr/>
            </p:nvSpPr>
            <p:spPr bwMode="auto">
              <a:xfrm>
                <a:off x="1199456" y="3500438"/>
                <a:ext cx="6192688" cy="10525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DF13E427-4872-AA0A-BD2E-50B5928A1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99456" y="3500438"/>
                <a:ext cx="6192688" cy="1052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7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Обратная матрица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85F53DB-3EEB-41C0-9397-25EF427A8B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400" dirty="0"/>
              <a:t>Пусть </a:t>
            </a:r>
            <a:r>
              <a:rPr lang="en-US" sz="2400" dirty="0"/>
              <a:t>A – </a:t>
            </a:r>
            <a:r>
              <a:rPr lang="ru-RU" sz="2400" dirty="0"/>
              <a:t>матрица обратная к матрице </a:t>
            </a:r>
            <a:r>
              <a:rPr lang="en-US" sz="2400" dirty="0"/>
              <a:t>M. </a:t>
            </a:r>
            <a:r>
              <a:rPr lang="ru-RU" sz="2400" dirty="0"/>
              <a:t>В этом она равна: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782231E0-D280-4C0A-8311-203AF40A0DEC}"/>
                  </a:ext>
                </a:extLst>
              </p:cNvPr>
              <p:cNvSpPr txBox="1"/>
              <p:nvPr/>
            </p:nvSpPr>
            <p:spPr bwMode="auto">
              <a:xfrm>
                <a:off x="4583833" y="2996953"/>
                <a:ext cx="2384425" cy="13335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ru-RU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𝑎𝑑𝑗𝑀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u-RU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ru-RU" sz="3600" dirty="0"/>
              </a:p>
            </p:txBody>
          </p:sp>
        </mc:Choice>
        <mc:Fallback xmlns=""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782231E0-D280-4C0A-8311-203AF40A0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83833" y="2996953"/>
                <a:ext cx="2384425" cy="1333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9730DA8-761B-9A20-3B31-7EA4EE30BDA2}"/>
              </a:ext>
            </a:extLst>
          </p:cNvPr>
          <p:cNvSpPr txBox="1"/>
          <p:nvPr/>
        </p:nvSpPr>
        <p:spPr>
          <a:xfrm>
            <a:off x="1271464" y="5229200"/>
            <a:ext cx="9577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adjM</a:t>
            </a:r>
            <a:r>
              <a:rPr lang="en-US" dirty="0"/>
              <a:t> – </a:t>
            </a:r>
            <a:r>
              <a:rPr lang="ru-RU" dirty="0"/>
              <a:t>присоединенная матрица</a:t>
            </a:r>
            <a:r>
              <a:rPr lang="en-US" dirty="0"/>
              <a:t> (</a:t>
            </a:r>
            <a:r>
              <a:rPr lang="ru-RU" dirty="0"/>
              <a:t>матрица составленная из алгебраических дополнений транспонированной матрицы)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B4A59-6FC9-2E11-0A74-3D03CABD3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FFA04B4-73A7-4BDC-AD84-5DE66959A9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dirty="0"/>
                  <a:t>Найдите обратную матрицу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ru-RU" dirty="0"/>
              </a:p>
              <a:p>
                <a:pPr lvl="2"/>
                <a:r>
                  <a:rPr lang="ru-RU" dirty="0"/>
                  <a:t>Ответ: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ru-R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ru-RU" dirty="0"/>
              </a:p>
              <a:p>
                <a:pPr lvl="2"/>
                <a:r>
                  <a:rPr lang="ru-RU" dirty="0"/>
                  <a:t>Ответ: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os</m:t>
                              </m:r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os</m:t>
                              </m:r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FFA04B4-73A7-4BDC-AD84-5DE66959A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696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3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4AC13-244B-7B0E-6A6E-81330D4E4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системы линейных уравнений</a:t>
            </a:r>
            <a:r>
              <a:rPr lang="en-US" dirty="0"/>
              <a:t> c</a:t>
            </a:r>
            <a:r>
              <a:rPr lang="ru-RU" dirty="0"/>
              <a:t> помощью матриц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3D4571-389A-FAC9-4355-F04F2A63CA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ru-RU" dirty="0"/>
                  <a:t>Решим систему линейных уравнений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ненулевой вектор</a:t>
                </a:r>
              </a:p>
              <a:p>
                <a:pPr lvl="1"/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ru-RU" dirty="0"/>
                  <a:t> существует, 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Пример:</a:t>
                </a:r>
              </a:p>
              <a:p>
                <a:pPr lvl="1"/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ru-RU" dirty="0"/>
                  <a:t>,</a:t>
                </a:r>
                <a:r>
                  <a:rPr lang="en-US" dirty="0"/>
                  <a:t> </a:t>
                </a:r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некоторые известные 2</a:t>
                </a:r>
                <a:r>
                  <a:rPr lang="en-US" dirty="0"/>
                  <a:t>D </a:t>
                </a:r>
                <a:r>
                  <a:rPr lang="ru-RU" dirty="0"/>
                  <a:t>векторы. Найти скаляры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/>
                  <a:t>.</a:t>
                </a:r>
              </a:p>
              <a:p>
                <a:pPr lvl="1"/>
                <a:r>
                  <a:rPr lang="ru-RU" dirty="0"/>
                  <a:t>Решение:</a:t>
                </a:r>
              </a:p>
              <a:p>
                <a:pPr lvl="2"/>
                <a:r>
                  <a:rPr lang="ru-RU" b="0" dirty="0"/>
                  <a:t>Вектор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можно представить через произведение матриц: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pPr lvl="2"/>
                <a:r>
                  <a:rPr lang="ru-RU" dirty="0"/>
                  <a:t>Тогда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pPr lvl="1"/>
                <a:r>
                  <a:rPr lang="ru-RU" dirty="0"/>
                  <a:t>Аналогично можно найти коэффициенты линейной комбинации векторов большей размерности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3D4571-389A-FAC9-4355-F04F2A63CA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935385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Сложные преобразования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Часто требуется осуществить сложное преобразование, состоящее из нескольких элементарных</a:t>
            </a:r>
          </a:p>
          <a:p>
            <a:pPr lvl="1" eaLnBrk="1" hangingPunct="1"/>
            <a:r>
              <a:rPr lang="ru-RU" dirty="0"/>
              <a:t>Поворот относительно </a:t>
            </a:r>
            <a:r>
              <a:rPr lang="ru-RU" b="1" dirty="0"/>
              <a:t>произвольной</a:t>
            </a:r>
            <a:r>
              <a:rPr lang="ru-RU" dirty="0"/>
              <a:t> точки</a:t>
            </a:r>
            <a:r>
              <a:rPr lang="en-US" dirty="0"/>
              <a:t> (</a:t>
            </a:r>
            <a:r>
              <a:rPr lang="ru-RU" dirty="0"/>
              <a:t>оси в </a:t>
            </a:r>
            <a:r>
              <a:rPr lang="en-US" dirty="0"/>
              <a:t>3D)</a:t>
            </a:r>
            <a:endParaRPr lang="ru-RU" dirty="0"/>
          </a:p>
          <a:p>
            <a:pPr lvl="1" eaLnBrk="1" hangingPunct="1"/>
            <a:r>
              <a:rPr lang="ru-RU" dirty="0"/>
              <a:t>Отражение относительно произвольной прямой (плоскости в </a:t>
            </a:r>
            <a:r>
              <a:rPr lang="en-US" dirty="0"/>
              <a:t>3D)</a:t>
            </a:r>
          </a:p>
          <a:p>
            <a:pPr lvl="1" eaLnBrk="1" hangingPunct="1"/>
            <a:r>
              <a:rPr lang="ru-RU" dirty="0"/>
              <a:t>Масштабирование и сдвиг относительно произвольных «опорных точек»</a:t>
            </a:r>
            <a:endParaRPr lang="en-US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Композиция преобразований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/>
              <a:t>Процесс последовательного применения нескольких преобразований с целью формирования единого суммарного преобразования называется </a:t>
            </a:r>
            <a:r>
              <a:rPr lang="ru-RU" b="1">
                <a:solidFill>
                  <a:schemeClr val="hlink"/>
                </a:solidFill>
              </a:rPr>
              <a:t>композицией</a:t>
            </a:r>
            <a:r>
              <a:rPr lang="ru-RU"/>
              <a:t> (компоновкой, конкатенацией) этих преобразований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Пример</a:t>
            </a:r>
          </a:p>
        </p:txBody>
      </p:sp>
      <p:sp>
        <p:nvSpPr>
          <p:cNvPr id="116739" name="Line 4"/>
          <p:cNvSpPr>
            <a:spLocks noChangeShapeType="1"/>
          </p:cNvSpPr>
          <p:nvPr/>
        </p:nvSpPr>
        <p:spPr bwMode="auto">
          <a:xfrm>
            <a:off x="1847851" y="6021388"/>
            <a:ext cx="4067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16740" name="Line 5"/>
          <p:cNvSpPr>
            <a:spLocks noChangeShapeType="1"/>
          </p:cNvSpPr>
          <p:nvPr/>
        </p:nvSpPr>
        <p:spPr bwMode="auto">
          <a:xfrm flipV="1">
            <a:off x="1847850" y="2636838"/>
            <a:ext cx="0" cy="338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16741" name="Oval 6"/>
          <p:cNvSpPr>
            <a:spLocks noChangeArrowheads="1"/>
          </p:cNvSpPr>
          <p:nvPr/>
        </p:nvSpPr>
        <p:spPr bwMode="auto">
          <a:xfrm>
            <a:off x="2135189" y="4005264"/>
            <a:ext cx="73025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64871" name="Oval 7"/>
          <p:cNvSpPr>
            <a:spLocks noChangeArrowheads="1"/>
          </p:cNvSpPr>
          <p:nvPr/>
        </p:nvSpPr>
        <p:spPr bwMode="auto">
          <a:xfrm>
            <a:off x="3863976" y="2997201"/>
            <a:ext cx="73025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64872" name="Oval 8"/>
          <p:cNvSpPr>
            <a:spLocks noChangeArrowheads="1"/>
          </p:cNvSpPr>
          <p:nvPr/>
        </p:nvSpPr>
        <p:spPr bwMode="auto">
          <a:xfrm>
            <a:off x="5375276" y="4365626"/>
            <a:ext cx="73025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64873" name="Arc 9"/>
          <p:cNvSpPr>
            <a:spLocks/>
          </p:cNvSpPr>
          <p:nvPr/>
        </p:nvSpPr>
        <p:spPr bwMode="auto">
          <a:xfrm>
            <a:off x="2208213" y="2997200"/>
            <a:ext cx="1511300" cy="1009650"/>
          </a:xfrm>
          <a:custGeom>
            <a:avLst/>
            <a:gdLst>
              <a:gd name="T0" fmla="*/ 0 w 23504"/>
              <a:gd name="T1" fmla="*/ 1858960177 h 21600"/>
              <a:gd name="T2" fmla="*/ 2147483647 w 23504"/>
              <a:gd name="T3" fmla="*/ 11234832 h 21600"/>
              <a:gd name="T4" fmla="*/ 2147483647 w 23504"/>
              <a:gd name="T5" fmla="*/ 2147483647 h 21600"/>
              <a:gd name="T6" fmla="*/ 0 60000 65536"/>
              <a:gd name="T7" fmla="*/ 0 60000 65536"/>
              <a:gd name="T8" fmla="*/ 0 60000 65536"/>
              <a:gd name="T9" fmla="*/ 0 w 23504"/>
              <a:gd name="T10" fmla="*/ 0 h 21600"/>
              <a:gd name="T11" fmla="*/ 23504 w 2350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504" h="21600" fill="none" extrusionOk="0">
                <a:moveTo>
                  <a:pt x="-1" y="18201"/>
                </a:moveTo>
                <a:cubicBezTo>
                  <a:pt x="1670" y="7716"/>
                  <a:pt x="10713" y="-1"/>
                  <a:pt x="21331" y="0"/>
                </a:cubicBezTo>
                <a:cubicBezTo>
                  <a:pt x="22056" y="0"/>
                  <a:pt x="22781" y="36"/>
                  <a:pt x="23504" y="109"/>
                </a:cubicBezTo>
              </a:path>
              <a:path w="23504" h="21600" stroke="0" extrusionOk="0">
                <a:moveTo>
                  <a:pt x="-1" y="18201"/>
                </a:moveTo>
                <a:cubicBezTo>
                  <a:pt x="1670" y="7716"/>
                  <a:pt x="10713" y="-1"/>
                  <a:pt x="21331" y="0"/>
                </a:cubicBezTo>
                <a:cubicBezTo>
                  <a:pt x="22056" y="0"/>
                  <a:pt x="22781" y="36"/>
                  <a:pt x="23504" y="109"/>
                </a:cubicBezTo>
                <a:lnTo>
                  <a:pt x="21331" y="2160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64874" name="Arc 10"/>
          <p:cNvSpPr>
            <a:spLocks/>
          </p:cNvSpPr>
          <p:nvPr/>
        </p:nvSpPr>
        <p:spPr bwMode="auto">
          <a:xfrm>
            <a:off x="3935413" y="3068638"/>
            <a:ext cx="1466850" cy="1439862"/>
          </a:xfrm>
          <a:custGeom>
            <a:avLst/>
            <a:gdLst>
              <a:gd name="T0" fmla="*/ 645138339 w 21367"/>
              <a:gd name="T1" fmla="*/ 0 h 21508"/>
              <a:gd name="T2" fmla="*/ 2147483647 w 21367"/>
              <a:gd name="T3" fmla="*/ 2147483647 h 21508"/>
              <a:gd name="T4" fmla="*/ 0 w 21367"/>
              <a:gd name="T5" fmla="*/ 2147483647 h 21508"/>
              <a:gd name="T6" fmla="*/ 0 60000 65536"/>
              <a:gd name="T7" fmla="*/ 0 60000 65536"/>
              <a:gd name="T8" fmla="*/ 0 60000 65536"/>
              <a:gd name="T9" fmla="*/ 0 w 21367"/>
              <a:gd name="T10" fmla="*/ 0 h 21508"/>
              <a:gd name="T11" fmla="*/ 21367 w 21367"/>
              <a:gd name="T12" fmla="*/ 21508 h 215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367" h="21508" fill="none" extrusionOk="0">
                <a:moveTo>
                  <a:pt x="1993" y="0"/>
                </a:moveTo>
                <a:cubicBezTo>
                  <a:pt x="11907" y="919"/>
                  <a:pt x="19909" y="8495"/>
                  <a:pt x="21367" y="18344"/>
                </a:cubicBezTo>
              </a:path>
              <a:path w="21367" h="21508" stroke="0" extrusionOk="0">
                <a:moveTo>
                  <a:pt x="1993" y="0"/>
                </a:moveTo>
                <a:cubicBezTo>
                  <a:pt x="11907" y="919"/>
                  <a:pt x="19909" y="8495"/>
                  <a:pt x="21367" y="18344"/>
                </a:cubicBezTo>
                <a:lnTo>
                  <a:pt x="0" y="21508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64875" name="Arc 11"/>
          <p:cNvSpPr>
            <a:spLocks/>
          </p:cNvSpPr>
          <p:nvPr/>
        </p:nvSpPr>
        <p:spPr bwMode="auto">
          <a:xfrm flipV="1">
            <a:off x="2208214" y="3860801"/>
            <a:ext cx="3101975" cy="936625"/>
          </a:xfrm>
          <a:custGeom>
            <a:avLst/>
            <a:gdLst>
              <a:gd name="T0" fmla="*/ 0 w 35987"/>
              <a:gd name="T1" fmla="*/ 1198379686 h 21600"/>
              <a:gd name="T2" fmla="*/ 2147483647 w 35987"/>
              <a:gd name="T3" fmla="*/ 536327065 h 21600"/>
              <a:gd name="T4" fmla="*/ 2147483647 w 35987"/>
              <a:gd name="T5" fmla="*/ 1761122862 h 21600"/>
              <a:gd name="T6" fmla="*/ 0 60000 65536"/>
              <a:gd name="T7" fmla="*/ 0 60000 65536"/>
              <a:gd name="T8" fmla="*/ 0 60000 65536"/>
              <a:gd name="T9" fmla="*/ 0 w 35987"/>
              <a:gd name="T10" fmla="*/ 0 h 21600"/>
              <a:gd name="T11" fmla="*/ 35987 w 3598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987" h="21600" fill="none" extrusionOk="0">
                <a:moveTo>
                  <a:pt x="-1" y="14697"/>
                </a:moveTo>
                <a:cubicBezTo>
                  <a:pt x="2961" y="5914"/>
                  <a:pt x="11197" y="-1"/>
                  <a:pt x="20467" y="0"/>
                </a:cubicBezTo>
                <a:cubicBezTo>
                  <a:pt x="26317" y="0"/>
                  <a:pt x="31918" y="2373"/>
                  <a:pt x="35987" y="6577"/>
                </a:cubicBezTo>
              </a:path>
              <a:path w="35987" h="21600" stroke="0" extrusionOk="0">
                <a:moveTo>
                  <a:pt x="-1" y="14697"/>
                </a:moveTo>
                <a:cubicBezTo>
                  <a:pt x="2961" y="5914"/>
                  <a:pt x="11197" y="-1"/>
                  <a:pt x="20467" y="0"/>
                </a:cubicBezTo>
                <a:cubicBezTo>
                  <a:pt x="26317" y="0"/>
                  <a:pt x="31918" y="2373"/>
                  <a:pt x="35987" y="6577"/>
                </a:cubicBezTo>
                <a:lnTo>
                  <a:pt x="20467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16747" name="Text Box 12"/>
          <p:cNvSpPr txBox="1">
            <a:spLocks noChangeArrowheads="1"/>
          </p:cNvSpPr>
          <p:nvPr/>
        </p:nvSpPr>
        <p:spPr bwMode="auto">
          <a:xfrm>
            <a:off x="2259013" y="3805238"/>
            <a:ext cx="3095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endParaRPr lang="ru-RU"/>
          </a:p>
        </p:txBody>
      </p:sp>
      <p:sp>
        <p:nvSpPr>
          <p:cNvPr id="164877" name="Text Box 13"/>
          <p:cNvSpPr txBox="1">
            <a:spLocks noChangeArrowheads="1"/>
          </p:cNvSpPr>
          <p:nvPr/>
        </p:nvSpPr>
        <p:spPr bwMode="auto">
          <a:xfrm>
            <a:off x="3792539" y="2565401"/>
            <a:ext cx="3460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Q</a:t>
            </a:r>
            <a:endParaRPr lang="ru-RU"/>
          </a:p>
        </p:txBody>
      </p:sp>
      <p:sp>
        <p:nvSpPr>
          <p:cNvPr id="164878" name="Text Box 14"/>
          <p:cNvSpPr txBox="1">
            <a:spLocks noChangeArrowheads="1"/>
          </p:cNvSpPr>
          <p:nvPr/>
        </p:nvSpPr>
        <p:spPr bwMode="auto">
          <a:xfrm>
            <a:off x="5519739" y="4149726"/>
            <a:ext cx="3905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</a:t>
            </a:r>
            <a:endParaRPr lang="ru-RU"/>
          </a:p>
        </p:txBody>
      </p:sp>
      <p:sp>
        <p:nvSpPr>
          <p:cNvPr id="164879" name="Text Box 15"/>
          <p:cNvSpPr txBox="1">
            <a:spLocks noChangeArrowheads="1"/>
          </p:cNvSpPr>
          <p:nvPr/>
        </p:nvSpPr>
        <p:spPr bwMode="auto">
          <a:xfrm>
            <a:off x="2424114" y="2781301"/>
            <a:ext cx="574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</a:t>
            </a:r>
            <a:r>
              <a:rPr lang="en-US" baseline="-25000"/>
              <a:t>1</a:t>
            </a:r>
            <a:r>
              <a:rPr lang="en-US"/>
              <a:t>()</a:t>
            </a:r>
            <a:endParaRPr lang="ru-RU"/>
          </a:p>
        </p:txBody>
      </p:sp>
      <p:sp>
        <p:nvSpPr>
          <p:cNvPr id="164880" name="Text Box 16"/>
          <p:cNvSpPr txBox="1">
            <a:spLocks noChangeArrowheads="1"/>
          </p:cNvSpPr>
          <p:nvPr/>
        </p:nvSpPr>
        <p:spPr bwMode="auto">
          <a:xfrm>
            <a:off x="3432175" y="4292601"/>
            <a:ext cx="539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</a:t>
            </a:r>
            <a:r>
              <a:rPr lang="en-US" baseline="-25000"/>
              <a:t> </a:t>
            </a:r>
            <a:r>
              <a:rPr lang="en-US"/>
              <a:t>()</a:t>
            </a:r>
            <a:endParaRPr lang="ru-RU"/>
          </a:p>
        </p:txBody>
      </p:sp>
      <p:sp>
        <p:nvSpPr>
          <p:cNvPr id="164881" name="Text Box 17"/>
          <p:cNvSpPr txBox="1">
            <a:spLocks noChangeArrowheads="1"/>
          </p:cNvSpPr>
          <p:nvPr/>
        </p:nvSpPr>
        <p:spPr bwMode="auto">
          <a:xfrm>
            <a:off x="4943476" y="2997201"/>
            <a:ext cx="574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</a:t>
            </a:r>
            <a:r>
              <a:rPr lang="en-US" baseline="-25000"/>
              <a:t>2</a:t>
            </a:r>
            <a:r>
              <a:rPr lang="en-US"/>
              <a:t>()</a:t>
            </a:r>
            <a:endParaRPr lang="ru-RU"/>
          </a:p>
        </p:txBody>
      </p:sp>
      <p:sp>
        <p:nvSpPr>
          <p:cNvPr id="164882" name="Text Box 18"/>
          <p:cNvSpPr txBox="1">
            <a:spLocks noChangeArrowheads="1"/>
          </p:cNvSpPr>
          <p:nvPr/>
        </p:nvSpPr>
        <p:spPr bwMode="auto">
          <a:xfrm>
            <a:off x="3359151" y="4508500"/>
            <a:ext cx="4429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chemeClr val="hlink"/>
                </a:solidFill>
              </a:rPr>
              <a:t>?</a:t>
            </a:r>
            <a:endParaRPr lang="ru-RU" sz="3600" b="1">
              <a:solidFill>
                <a:schemeClr val="hlink"/>
              </a:solidFill>
            </a:endParaRPr>
          </a:p>
        </p:txBody>
      </p:sp>
      <p:sp>
        <p:nvSpPr>
          <p:cNvPr id="164883" name="Text Box 19"/>
          <p:cNvSpPr txBox="1">
            <a:spLocks noChangeArrowheads="1"/>
          </p:cNvSpPr>
          <p:nvPr/>
        </p:nvSpPr>
        <p:spPr bwMode="auto">
          <a:xfrm>
            <a:off x="6167439" y="2652713"/>
            <a:ext cx="4249737" cy="280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/>
              <a:t>Пусть преобразования </a:t>
            </a:r>
            <a:r>
              <a:rPr lang="en-US" sz="2000"/>
              <a:t>T1</a:t>
            </a:r>
            <a:r>
              <a:rPr lang="ru-RU" sz="2000"/>
              <a:t> и </a:t>
            </a:r>
            <a:r>
              <a:rPr lang="en-US" sz="2000"/>
              <a:t>T2 </a:t>
            </a:r>
            <a:r>
              <a:rPr lang="ru-RU" sz="2000"/>
              <a:t>заданы матрицами </a:t>
            </a:r>
            <a:r>
              <a:rPr lang="en-US" sz="2000"/>
              <a:t>M</a:t>
            </a:r>
            <a:r>
              <a:rPr lang="en-US" sz="2000" baseline="-25000"/>
              <a:t>1</a:t>
            </a:r>
            <a:r>
              <a:rPr lang="ru-RU" sz="2000"/>
              <a:t> и </a:t>
            </a:r>
            <a:r>
              <a:rPr lang="en-US" sz="2000"/>
              <a:t>M</a:t>
            </a:r>
            <a:r>
              <a:rPr lang="en-US" sz="2000" baseline="-25000"/>
              <a:t>2</a:t>
            </a:r>
          </a:p>
          <a:p>
            <a:r>
              <a:rPr lang="ru-RU" sz="2000"/>
              <a:t>Тогда</a:t>
            </a:r>
            <a:r>
              <a:rPr lang="en-US" sz="2000"/>
              <a:t>:</a:t>
            </a:r>
          </a:p>
          <a:p>
            <a:r>
              <a:rPr lang="en-US" sz="2000"/>
              <a:t>Q = M</a:t>
            </a:r>
            <a:r>
              <a:rPr lang="en-US" sz="2000" baseline="-25000"/>
              <a:t>1</a:t>
            </a:r>
            <a:r>
              <a:rPr lang="en-US" sz="2000"/>
              <a:t>P</a:t>
            </a:r>
          </a:p>
          <a:p>
            <a:r>
              <a:rPr lang="en-US" sz="2000"/>
              <a:t>W = M</a:t>
            </a:r>
            <a:r>
              <a:rPr lang="en-US" sz="2000" baseline="-25000"/>
              <a:t>2</a:t>
            </a:r>
            <a:r>
              <a:rPr lang="en-US" sz="2000"/>
              <a:t>Q = M</a:t>
            </a:r>
            <a:r>
              <a:rPr lang="en-US" sz="2000" baseline="-25000"/>
              <a:t>2</a:t>
            </a:r>
            <a:r>
              <a:rPr lang="en-US" sz="2000"/>
              <a:t>(M</a:t>
            </a:r>
            <a:r>
              <a:rPr lang="en-US" sz="2000" baseline="-25000"/>
              <a:t>1</a:t>
            </a:r>
            <a:r>
              <a:rPr lang="en-US" sz="2000"/>
              <a:t>P)</a:t>
            </a:r>
          </a:p>
          <a:p>
            <a:r>
              <a:rPr lang="ru-RU" sz="2000"/>
              <a:t>В силу ассоциативности умножения матриц мы имеем:</a:t>
            </a:r>
          </a:p>
          <a:p>
            <a:r>
              <a:rPr lang="en-US" sz="2000"/>
              <a:t>W = M</a:t>
            </a:r>
            <a:r>
              <a:rPr lang="en-US" sz="2000" baseline="-25000"/>
              <a:t>2</a:t>
            </a:r>
            <a:r>
              <a:rPr lang="en-US" sz="2000"/>
              <a:t>(M</a:t>
            </a:r>
            <a:r>
              <a:rPr lang="en-US" sz="2000" baseline="-25000"/>
              <a:t>1</a:t>
            </a:r>
            <a:r>
              <a:rPr lang="en-US" sz="2000"/>
              <a:t>P)=(M</a:t>
            </a:r>
            <a:r>
              <a:rPr lang="en-US" sz="2000" baseline="-25000"/>
              <a:t>2</a:t>
            </a:r>
            <a:r>
              <a:rPr lang="en-US" sz="2000"/>
              <a:t>M</a:t>
            </a:r>
            <a:r>
              <a:rPr lang="en-US" sz="2000" baseline="-25000"/>
              <a:t>1</a:t>
            </a:r>
            <a:r>
              <a:rPr lang="en-US" sz="2000"/>
              <a:t>)P = MP</a:t>
            </a:r>
          </a:p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64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4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6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64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4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64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64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64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64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64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164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164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164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164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1" grpId="0" animBg="1"/>
      <p:bldP spid="164872" grpId="0" animBg="1"/>
      <p:bldP spid="164873" grpId="0" animBg="1"/>
      <p:bldP spid="164874" grpId="0" animBg="1"/>
      <p:bldP spid="164875" grpId="0" animBg="1"/>
      <p:bldP spid="164877" grpId="0"/>
      <p:bldP spid="164878" grpId="0"/>
      <p:bldP spid="164879" grpId="0"/>
      <p:bldP spid="164880" grpId="0"/>
      <p:bldP spid="164881" grpId="0"/>
      <p:bldP spid="164882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Композиция аффинных преобразований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800" dirty="0"/>
              <a:t>При использовании однородных координат аффинные преобразования компонуются при помощи умножения матриц</a:t>
            </a:r>
          </a:p>
          <a:p>
            <a:pPr lvl="1" eaLnBrk="1" hangingPunct="1"/>
            <a:r>
              <a:rPr lang="ru-RU" dirty="0"/>
              <a:t>Матрицы располагаются в порядке, обратном по отношению к порядку применения преобразований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M = M</a:t>
            </a:r>
            <a:r>
              <a:rPr lang="en-US" baseline="-25000" dirty="0"/>
              <a:t>2</a:t>
            </a:r>
            <a:r>
              <a:rPr lang="en-US" dirty="0"/>
              <a:t>M</a:t>
            </a:r>
            <a:r>
              <a:rPr lang="en-US" baseline="-25000" dirty="0"/>
              <a:t>1</a:t>
            </a:r>
          </a:p>
          <a:p>
            <a:pPr eaLnBrk="1" hangingPunct="1"/>
            <a:r>
              <a:rPr lang="ru-RU" dirty="0"/>
              <a:t>Любое количество аффинных преобразований может быть скомпоновано простым умножением соответствующих матриц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Полезные свойства аффинных преобразований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FD4E6FC-768B-49C7-80B9-7D3B741E63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400" dirty="0"/>
              <a:t>Сохраняются аффинных комбинации точек</a:t>
            </a:r>
            <a:endParaRPr lang="en-US" sz="2400" dirty="0"/>
          </a:p>
          <a:p>
            <a:pPr eaLnBrk="1" hangingPunct="1"/>
            <a:r>
              <a:rPr lang="ru-RU" sz="2400" dirty="0"/>
              <a:t>Сохраняются прямые линии и плоскости</a:t>
            </a:r>
          </a:p>
          <a:p>
            <a:pPr eaLnBrk="1" hangingPunct="1"/>
            <a:r>
              <a:rPr lang="ru-RU" sz="2400" dirty="0"/>
              <a:t>Сохраняются параллельность прямых и плоскостей</a:t>
            </a:r>
            <a:endParaRPr lang="ru-RU" sz="2200" dirty="0"/>
          </a:p>
          <a:p>
            <a:pPr eaLnBrk="1" hangingPunct="1"/>
            <a:r>
              <a:rPr lang="ru-RU" sz="2400" dirty="0"/>
              <a:t>Столбцы матрицы показывают координатный фрейм</a:t>
            </a:r>
          </a:p>
          <a:p>
            <a:pPr eaLnBrk="1" hangingPunct="1"/>
            <a:r>
              <a:rPr lang="ru-RU" sz="2400" dirty="0"/>
              <a:t>Сохраняются относительные пропорции объектов</a:t>
            </a:r>
            <a:endParaRPr lang="ru-RU" sz="2200" dirty="0"/>
          </a:p>
          <a:p>
            <a:pPr eaLnBrk="1" hangingPunct="1"/>
            <a:r>
              <a:rPr lang="ru-RU" sz="2400" dirty="0"/>
              <a:t>Влияние на площади и объемы фигур</a:t>
            </a:r>
            <a:r>
              <a:rPr lang="en-US" sz="2400" dirty="0"/>
              <a:t>:</a:t>
            </a:r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1" name="Object 6"/>
              <p:cNvSpPr txBox="1"/>
              <p:nvPr/>
            </p:nvSpPr>
            <p:spPr bwMode="auto">
              <a:xfrm>
                <a:off x="3431704" y="5253037"/>
                <a:ext cx="1839913" cy="10969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531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31704" y="5253037"/>
                <a:ext cx="1839913" cy="10969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8D1FF36D-8094-4464-84C3-98610D67BA52}"/>
                  </a:ext>
                </a:extLst>
              </p:cNvPr>
              <p:cNvSpPr txBox="1"/>
              <p:nvPr/>
            </p:nvSpPr>
            <p:spPr bwMode="auto">
              <a:xfrm>
                <a:off x="842020" y="5262563"/>
                <a:ext cx="2152650" cy="12604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8D1FF36D-8094-4464-84C3-98610D67B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2020" y="5262563"/>
                <a:ext cx="2152650" cy="12604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7F4AEE-439A-48E1-A854-FB297B2C0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FDC0861-382E-4852-AFAE-44ADBB8B41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Чему равен определитель матрицы переноса</a:t>
                </a:r>
                <a:r>
                  <a:rPr lang="en-US" dirty="0"/>
                  <a:t> </a:t>
                </a:r>
                <a:r>
                  <a:rPr lang="ru-RU" dirty="0"/>
                  <a:t>вдоль вектора </a:t>
                </a:r>
                <a:r>
                  <a:rPr lang="en-US" dirty="0"/>
                  <a:t>(dx, </a:t>
                </a:r>
                <a:r>
                  <a:rPr lang="en-US" dirty="0" err="1"/>
                  <a:t>dy</a:t>
                </a:r>
                <a:r>
                  <a:rPr lang="en-US" dirty="0"/>
                  <a:t>)?</a:t>
                </a:r>
                <a:endParaRPr lang="ru-RU" dirty="0"/>
              </a:p>
              <a:p>
                <a:r>
                  <a:rPr lang="ru-RU" dirty="0"/>
                  <a:t>Чему равен определитель матрицы поворота на угол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?</a:t>
                </a:r>
                <a:endParaRPr lang="ru-RU" dirty="0"/>
              </a:p>
              <a:p>
                <a:r>
                  <a:rPr lang="ru-RU" dirty="0"/>
                  <a:t>Чему равен определитель матрицы сдвига вдоль о</a:t>
                </a:r>
                <a:r>
                  <a:rPr lang="en-US" dirty="0"/>
                  <a:t>c</a:t>
                </a:r>
                <a:r>
                  <a:rPr lang="ru-RU" dirty="0"/>
                  <a:t>и с коэффициентом </a:t>
                </a:r>
                <a:r>
                  <a:rPr lang="en-US" dirty="0"/>
                  <a:t>h?</a:t>
                </a:r>
                <a:endParaRPr lang="ru-RU" dirty="0"/>
              </a:p>
              <a:p>
                <a:r>
                  <a:rPr lang="ru-RU" dirty="0"/>
                  <a:t>Чему равен определитель матрицы масштабирования</a:t>
                </a:r>
                <a:r>
                  <a:rPr lang="en-US" dirty="0"/>
                  <a:t> </a:t>
                </a:r>
                <a:r>
                  <a:rPr lang="ru-RU" dirty="0"/>
                  <a:t>с коэффициентами (</a:t>
                </a:r>
                <a:r>
                  <a:rPr lang="en-US" dirty="0" err="1"/>
                  <a:t>Sx</a:t>
                </a:r>
                <a:r>
                  <a:rPr lang="en-US" dirty="0"/>
                  <a:t>, Sy)</a:t>
                </a:r>
              </a:p>
              <a:p>
                <a:r>
                  <a:rPr lang="ru-RU" dirty="0"/>
                  <a:t>Чему равен определитель матрицы обратной матрице </a:t>
                </a:r>
                <a:r>
                  <a:rPr lang="en-US" dirty="0"/>
                  <a:t>M?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FDC0861-382E-4852-AFAE-44ADBB8B41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89" t="-1110" r="-519" b="-31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437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Трехмерные аффинные преобразования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4A5DFA-F13A-C076-B48C-E78B5B523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AF8C4-2312-4649-AFBC-248B9A1CA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Однородное представление точек и векторов в</a:t>
            </a:r>
            <a:r>
              <a:rPr lang="en-US" dirty="0"/>
              <a:t> 3D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EFA59D2E-8D65-4E24-B308-E7D40BF7AD5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ru-RU" sz="2400" dirty="0"/>
                  <a:t>К трехмерным аффинным преобразованиям применимы те же идеи, что и к двухмерным</a:t>
                </a:r>
                <a:endParaRPr lang="en-US" sz="2400" dirty="0"/>
              </a:p>
              <a:p>
                <a:pPr eaLnBrk="1" hangingPunct="1"/>
                <a:r>
                  <a:rPr lang="ru-RU" sz="2400" dirty="0"/>
                  <a:t>В </a:t>
                </a:r>
                <a:r>
                  <a:rPr lang="en-US" sz="2400" dirty="0"/>
                  <a:t>3D </a:t>
                </a:r>
                <a:r>
                  <a:rPr lang="ru-RU" sz="2400" dirty="0"/>
                  <a:t>пространстве точка </a:t>
                </a:r>
                <a:r>
                  <a:rPr lang="en-US" sz="2400" dirty="0"/>
                  <a:t>P </a:t>
                </a:r>
                <a:r>
                  <a:rPr lang="ru-RU" sz="2400" dirty="0"/>
                  <a:t>имеет координаты: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ru-RU" sz="2400" baseline="-25000" dirty="0"/>
              </a:p>
              <a:p>
                <a:pPr eaLnBrk="1" hangingPunct="1"/>
                <a:r>
                  <a:rPr lang="en-US" sz="2400" dirty="0"/>
                  <a:t>3D </a:t>
                </a:r>
                <a:r>
                  <a:rPr lang="ru-RU" sz="2400" dirty="0"/>
                  <a:t>Вектор имеет координаты: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baseline="-25000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baseline="-25000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baseline="-25000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2400" dirty="0"/>
              </a:p>
              <a:p>
                <a:pPr eaLnBrk="1" hangingPunct="1"/>
                <a:endParaRPr lang="en-US" sz="2400" dirty="0"/>
              </a:p>
            </p:txBody>
          </p:sp>
        </mc:Choice>
        <mc:Fallback xmlns=""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EFA59D2E-8D65-4E24-B308-E7D40BF7AD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961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519E48-3AE6-46B2-B0EC-A1A9D1FF32C0}"/>
                  </a:ext>
                </a:extLst>
              </p:cNvPr>
              <p:cNvSpPr txBox="1"/>
              <p:nvPr/>
            </p:nvSpPr>
            <p:spPr>
              <a:xfrm>
                <a:off x="6384032" y="4547107"/>
                <a:ext cx="2016224" cy="18648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32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519E48-3AE6-46B2-B0EC-A1A9D1FF3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32" y="4547107"/>
                <a:ext cx="2016224" cy="18648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902748-2414-4BED-8989-7F4F7B6E904D}"/>
                  </a:ext>
                </a:extLst>
              </p:cNvPr>
              <p:cNvSpPr txBox="1"/>
              <p:nvPr/>
            </p:nvSpPr>
            <p:spPr>
              <a:xfrm>
                <a:off x="2413248" y="4603629"/>
                <a:ext cx="2039704" cy="18648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32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902748-2414-4BED-8989-7F4F7B6E9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248" y="4603629"/>
                <a:ext cx="2039704" cy="18648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Матрица аффинного преобразования в </a:t>
            </a:r>
            <a:r>
              <a:rPr lang="en-US" dirty="0"/>
              <a:t>3D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AD699B7C-A1B0-4207-A822-09A75D71F6D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ru-RU" sz="2400" dirty="0"/>
                  <a:t>Пусть </a:t>
                </a:r>
                <a:r>
                  <a:rPr lang="en-US" sz="2400" dirty="0"/>
                  <a:t>T() – </a:t>
                </a:r>
                <a:r>
                  <a:rPr lang="ru-RU" sz="2400" b="1" dirty="0"/>
                  <a:t>аффинное преобразование</a:t>
                </a:r>
                <a:r>
                  <a:rPr lang="ru-RU" sz="2400" dirty="0"/>
                  <a:t>, преобразующее точку </a:t>
                </a:r>
                <a:r>
                  <a:rPr lang="en-US" sz="2400" dirty="0"/>
                  <a:t>P </a:t>
                </a:r>
                <a:r>
                  <a:rPr lang="ru-RU" sz="2400" dirty="0"/>
                  <a:t>в точку </a:t>
                </a:r>
                <a:r>
                  <a:rPr lang="en-US" sz="2400" dirty="0"/>
                  <a:t>Q</a:t>
                </a:r>
              </a:p>
              <a:p>
                <a:pPr eaLnBrk="1" hangingPunct="1"/>
                <a:r>
                  <a:rPr lang="ru-RU" sz="2400" dirty="0"/>
                  <a:t>Это преобразование можно представить в виде матрицы</a:t>
                </a:r>
                <a:r>
                  <a:rPr lang="en-US" sz="2400" dirty="0"/>
                  <a:t> M</a:t>
                </a:r>
                <a:r>
                  <a:rPr lang="ru-RU" sz="2400" dirty="0"/>
                  <a:t> размерностью </a:t>
                </a:r>
                <a:r>
                  <a:rPr lang="en-US" sz="2400" dirty="0"/>
                  <a:t>4x</a:t>
                </a:r>
                <a:r>
                  <a:rPr lang="ru-RU" sz="2400" dirty="0"/>
                  <a:t>4: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sz="2000" dirty="0"/>
              </a:p>
              <a:p>
                <a:r>
                  <a:rPr lang="ru-RU" sz="2400" dirty="0"/>
                  <a:t>Оно преобразует </a:t>
                </a:r>
                <a:r>
                  <a:rPr lang="en-US" sz="2400" dirty="0"/>
                  <a:t>P</a:t>
                </a:r>
                <a:r>
                  <a:rPr lang="ru-RU" sz="2400" dirty="0"/>
                  <a:t> в </a:t>
                </a:r>
                <a:r>
                  <a:rPr lang="en-US" sz="2400" dirty="0"/>
                  <a:t>Q </a:t>
                </a:r>
                <a:r>
                  <a:rPr lang="ru-RU" sz="2400" dirty="0"/>
                  <a:t>следующим образом: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pPr eaLnBrk="1" hangingPunct="1"/>
                <a:endParaRPr lang="ru-RU" sz="2400" dirty="0"/>
              </a:p>
            </p:txBody>
          </p:sp>
        </mc:Choice>
        <mc:Fallback xmlns="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AD699B7C-A1B0-4207-A822-09A75D71F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Элементарные трехмерные преобразования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ADFFA3-2968-9D6E-4218-668D47169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Перемещение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4" name="Rectangle 8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ru-RU" sz="2800" dirty="0"/>
                  <a:t>Матрица перемещения осуществляет перенос точки на вектор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𝑑𝑦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𝑑𝑧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𝑑𝑧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𝑑𝑧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2560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Масштабирование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8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Матрица масштабирования относительно начала отсчета имеет следующий вид: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2662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build="p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Сдвиг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FB70261-A5B3-D136-AD8C-3BA457D853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ru-RU" dirty="0"/>
                  <a:t>Матрица единичного сдвига является единичной матрицей, в которой один из нулей заменен некоторой величиной </a:t>
                </a:r>
                <a:r>
                  <a:rPr lang="en-US" dirty="0"/>
                  <a:t>f:</a:t>
                </a:r>
                <a:endParaRPr lang="ru-RU" dirty="0"/>
              </a:p>
              <a:p>
                <a:pPr lvl="1"/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𝑀𝑃</m:t>
                    </m:r>
                    <m:r>
                      <a:rPr lang="en-US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FB70261-A5B3-D136-AD8C-3BA457D853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Вращение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dirty="0"/>
              <a:t>Трехмерное пространство предоставляет большее разнообразие для осуществления поворота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/>
              <a:t>Вращение может происходить вокруг произвольной оси, что усложняет построение матрицы поворота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/>
              <a:t>Можно разложить сложный поворот на несколько более простых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Элементарные повороты вокруг координатных осей</a:t>
            </a:r>
          </a:p>
        </p:txBody>
      </p:sp>
      <p:sp>
        <p:nvSpPr>
          <p:cNvPr id="121859" name="Line 4"/>
          <p:cNvSpPr>
            <a:spLocks noChangeShapeType="1"/>
          </p:cNvSpPr>
          <p:nvPr/>
        </p:nvSpPr>
        <p:spPr bwMode="auto">
          <a:xfrm flipV="1">
            <a:off x="5735638" y="2205039"/>
            <a:ext cx="0" cy="2232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21860" name="Line 5"/>
          <p:cNvSpPr>
            <a:spLocks noChangeShapeType="1"/>
          </p:cNvSpPr>
          <p:nvPr/>
        </p:nvSpPr>
        <p:spPr bwMode="auto">
          <a:xfrm flipH="1">
            <a:off x="3719514" y="4437063"/>
            <a:ext cx="2016125" cy="12239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21861" name="Line 6"/>
          <p:cNvSpPr>
            <a:spLocks noChangeShapeType="1"/>
          </p:cNvSpPr>
          <p:nvPr/>
        </p:nvSpPr>
        <p:spPr bwMode="auto">
          <a:xfrm>
            <a:off x="5735639" y="4437063"/>
            <a:ext cx="2232025" cy="10080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21862" name="Text Box 7"/>
          <p:cNvSpPr txBox="1">
            <a:spLocks noChangeArrowheads="1"/>
          </p:cNvSpPr>
          <p:nvPr/>
        </p:nvSpPr>
        <p:spPr bwMode="auto">
          <a:xfrm>
            <a:off x="3792538" y="55895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z</a:t>
            </a:r>
            <a:endParaRPr lang="ru-RU" b="1"/>
          </a:p>
        </p:txBody>
      </p:sp>
      <p:sp>
        <p:nvSpPr>
          <p:cNvPr id="121863" name="Text Box 8"/>
          <p:cNvSpPr txBox="1">
            <a:spLocks noChangeArrowheads="1"/>
          </p:cNvSpPr>
          <p:nvPr/>
        </p:nvSpPr>
        <p:spPr bwMode="auto">
          <a:xfrm>
            <a:off x="7751763" y="5516563"/>
            <a:ext cx="3222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x</a:t>
            </a:r>
            <a:endParaRPr lang="ru-RU" b="1"/>
          </a:p>
        </p:txBody>
      </p:sp>
      <p:sp>
        <p:nvSpPr>
          <p:cNvPr id="121864" name="Text Box 9"/>
          <p:cNvSpPr txBox="1">
            <a:spLocks noChangeArrowheads="1"/>
          </p:cNvSpPr>
          <p:nvPr/>
        </p:nvSpPr>
        <p:spPr bwMode="auto">
          <a:xfrm>
            <a:off x="5808663" y="2133601"/>
            <a:ext cx="3159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</a:t>
            </a:r>
            <a:endParaRPr lang="ru-RU" b="1"/>
          </a:p>
        </p:txBody>
      </p:sp>
      <p:sp>
        <p:nvSpPr>
          <p:cNvPr id="189450" name="Oval 10"/>
          <p:cNvSpPr>
            <a:spLocks noChangeArrowheads="1"/>
          </p:cNvSpPr>
          <p:nvPr/>
        </p:nvSpPr>
        <p:spPr bwMode="auto">
          <a:xfrm>
            <a:off x="4152900" y="4651376"/>
            <a:ext cx="647700" cy="10826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9451" name="Line 11"/>
          <p:cNvSpPr>
            <a:spLocks noChangeShapeType="1"/>
          </p:cNvSpPr>
          <p:nvPr/>
        </p:nvSpPr>
        <p:spPr bwMode="auto">
          <a:xfrm flipV="1">
            <a:off x="4440239" y="4652963"/>
            <a:ext cx="142875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89452" name="Line 12"/>
          <p:cNvSpPr>
            <a:spLocks noChangeShapeType="1"/>
          </p:cNvSpPr>
          <p:nvPr/>
        </p:nvSpPr>
        <p:spPr bwMode="auto">
          <a:xfrm>
            <a:off x="4440238" y="5229225"/>
            <a:ext cx="360362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89453" name="Arc 13"/>
          <p:cNvSpPr>
            <a:spLocks/>
          </p:cNvSpPr>
          <p:nvPr/>
        </p:nvSpPr>
        <p:spPr bwMode="auto">
          <a:xfrm>
            <a:off x="4583114" y="4508501"/>
            <a:ext cx="433387" cy="931863"/>
          </a:xfrm>
          <a:custGeom>
            <a:avLst/>
            <a:gdLst>
              <a:gd name="T0" fmla="*/ 24377378 w 21600"/>
              <a:gd name="T1" fmla="*/ 0 h 28616"/>
              <a:gd name="T2" fmla="*/ 164413445 w 21600"/>
              <a:gd name="T3" fmla="*/ 988184822 h 28616"/>
              <a:gd name="T4" fmla="*/ 0 w 21600"/>
              <a:gd name="T5" fmla="*/ 738583679 h 28616"/>
              <a:gd name="T6" fmla="*/ 0 60000 65536"/>
              <a:gd name="T7" fmla="*/ 0 60000 65536"/>
              <a:gd name="T8" fmla="*/ 0 60000 65536"/>
              <a:gd name="T9" fmla="*/ 0 w 21600"/>
              <a:gd name="T10" fmla="*/ 0 h 28616"/>
              <a:gd name="T11" fmla="*/ 21600 w 21600"/>
              <a:gd name="T12" fmla="*/ 28616 h 286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8616" fill="none" extrusionOk="0">
                <a:moveTo>
                  <a:pt x="3018" y="-1"/>
                </a:moveTo>
                <a:cubicBezTo>
                  <a:pt x="13675" y="1503"/>
                  <a:pt x="21600" y="10624"/>
                  <a:pt x="21600" y="21388"/>
                </a:cubicBezTo>
                <a:cubicBezTo>
                  <a:pt x="21600" y="23850"/>
                  <a:pt x="21178" y="26295"/>
                  <a:pt x="20354" y="28615"/>
                </a:cubicBezTo>
              </a:path>
              <a:path w="21600" h="28616" stroke="0" extrusionOk="0">
                <a:moveTo>
                  <a:pt x="3018" y="-1"/>
                </a:moveTo>
                <a:cubicBezTo>
                  <a:pt x="13675" y="1503"/>
                  <a:pt x="21600" y="10624"/>
                  <a:pt x="21600" y="21388"/>
                </a:cubicBezTo>
                <a:cubicBezTo>
                  <a:pt x="21600" y="23850"/>
                  <a:pt x="21178" y="26295"/>
                  <a:pt x="20354" y="28615"/>
                </a:cubicBezTo>
                <a:lnTo>
                  <a:pt x="0" y="2138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9454" name="Text Box 14"/>
          <p:cNvSpPr txBox="1">
            <a:spLocks noChangeArrowheads="1"/>
          </p:cNvSpPr>
          <p:nvPr/>
        </p:nvSpPr>
        <p:spPr bwMode="auto">
          <a:xfrm>
            <a:off x="4924426" y="5389563"/>
            <a:ext cx="4048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P’’</a:t>
            </a:r>
            <a:endParaRPr lang="ru-RU"/>
          </a:p>
        </p:txBody>
      </p:sp>
      <p:sp>
        <p:nvSpPr>
          <p:cNvPr id="189455" name="Text Box 15"/>
          <p:cNvSpPr txBox="1">
            <a:spLocks noChangeArrowheads="1"/>
          </p:cNvSpPr>
          <p:nvPr/>
        </p:nvSpPr>
        <p:spPr bwMode="auto">
          <a:xfrm>
            <a:off x="4295776" y="4076701"/>
            <a:ext cx="4413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Q’’</a:t>
            </a:r>
            <a:endParaRPr lang="ru-RU"/>
          </a:p>
        </p:txBody>
      </p:sp>
      <p:sp>
        <p:nvSpPr>
          <p:cNvPr id="189456" name="Oval 16"/>
          <p:cNvSpPr>
            <a:spLocks noChangeArrowheads="1"/>
          </p:cNvSpPr>
          <p:nvPr/>
        </p:nvSpPr>
        <p:spPr bwMode="auto">
          <a:xfrm>
            <a:off x="6959600" y="4508501"/>
            <a:ext cx="361950" cy="10826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9459" name="Arc 19"/>
          <p:cNvSpPr>
            <a:spLocks/>
          </p:cNvSpPr>
          <p:nvPr/>
        </p:nvSpPr>
        <p:spPr bwMode="auto">
          <a:xfrm>
            <a:off x="6888163" y="4221163"/>
            <a:ext cx="584200" cy="863600"/>
          </a:xfrm>
          <a:custGeom>
            <a:avLst/>
            <a:gdLst>
              <a:gd name="T0" fmla="*/ 0 w 31953"/>
              <a:gd name="T1" fmla="*/ 334702532 h 21600"/>
              <a:gd name="T2" fmla="*/ 195281559 w 31953"/>
              <a:gd name="T3" fmla="*/ 603384787 h 21600"/>
              <a:gd name="T4" fmla="*/ 86172596 w 31953"/>
              <a:gd name="T5" fmla="*/ 1380480733 h 21600"/>
              <a:gd name="T6" fmla="*/ 0 60000 65536"/>
              <a:gd name="T7" fmla="*/ 0 60000 65536"/>
              <a:gd name="T8" fmla="*/ 0 60000 65536"/>
              <a:gd name="T9" fmla="*/ 0 w 31953"/>
              <a:gd name="T10" fmla="*/ 0 h 21600"/>
              <a:gd name="T11" fmla="*/ 31953 w 3195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953" h="21600" fill="none" extrusionOk="0">
                <a:moveTo>
                  <a:pt x="-1" y="5236"/>
                </a:moveTo>
                <a:cubicBezTo>
                  <a:pt x="3920" y="1858"/>
                  <a:pt x="8924" y="-1"/>
                  <a:pt x="14100" y="0"/>
                </a:cubicBezTo>
                <a:cubicBezTo>
                  <a:pt x="21246" y="0"/>
                  <a:pt x="27930" y="3534"/>
                  <a:pt x="31952" y="9441"/>
                </a:cubicBezTo>
              </a:path>
              <a:path w="31953" h="21600" stroke="0" extrusionOk="0">
                <a:moveTo>
                  <a:pt x="-1" y="5236"/>
                </a:moveTo>
                <a:cubicBezTo>
                  <a:pt x="3920" y="1858"/>
                  <a:pt x="8924" y="-1"/>
                  <a:pt x="14100" y="0"/>
                </a:cubicBezTo>
                <a:cubicBezTo>
                  <a:pt x="21246" y="0"/>
                  <a:pt x="27930" y="3534"/>
                  <a:pt x="31952" y="9441"/>
                </a:cubicBezTo>
                <a:lnTo>
                  <a:pt x="1410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9460" name="Line 20"/>
          <p:cNvSpPr>
            <a:spLocks noChangeShapeType="1"/>
          </p:cNvSpPr>
          <p:nvPr/>
        </p:nvSpPr>
        <p:spPr bwMode="auto">
          <a:xfrm flipV="1">
            <a:off x="7175501" y="4941889"/>
            <a:ext cx="144463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89461" name="Line 21"/>
          <p:cNvSpPr>
            <a:spLocks noChangeShapeType="1"/>
          </p:cNvSpPr>
          <p:nvPr/>
        </p:nvSpPr>
        <p:spPr bwMode="auto">
          <a:xfrm flipH="1" flipV="1">
            <a:off x="7032626" y="4652963"/>
            <a:ext cx="142875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89462" name="Text Box 22"/>
          <p:cNvSpPr txBox="1">
            <a:spLocks noChangeArrowheads="1"/>
          </p:cNvSpPr>
          <p:nvPr/>
        </p:nvSpPr>
        <p:spPr bwMode="auto">
          <a:xfrm>
            <a:off x="7535863" y="4508501"/>
            <a:ext cx="3095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endParaRPr lang="ru-RU"/>
          </a:p>
        </p:txBody>
      </p:sp>
      <p:sp>
        <p:nvSpPr>
          <p:cNvPr id="189463" name="Text Box 23"/>
          <p:cNvSpPr txBox="1">
            <a:spLocks noChangeArrowheads="1"/>
          </p:cNvSpPr>
          <p:nvPr/>
        </p:nvSpPr>
        <p:spPr bwMode="auto">
          <a:xfrm>
            <a:off x="6527801" y="4149726"/>
            <a:ext cx="3460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Q</a:t>
            </a:r>
            <a:endParaRPr lang="ru-RU"/>
          </a:p>
        </p:txBody>
      </p:sp>
      <p:sp>
        <p:nvSpPr>
          <p:cNvPr id="189464" name="Oval 24"/>
          <p:cNvSpPr>
            <a:spLocks noChangeArrowheads="1"/>
          </p:cNvSpPr>
          <p:nvPr/>
        </p:nvSpPr>
        <p:spPr bwMode="auto">
          <a:xfrm>
            <a:off x="5159375" y="3144838"/>
            <a:ext cx="1130300" cy="355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9465" name="Arc 25"/>
          <p:cNvSpPr>
            <a:spLocks/>
          </p:cNvSpPr>
          <p:nvPr/>
        </p:nvSpPr>
        <p:spPr bwMode="auto">
          <a:xfrm>
            <a:off x="5087938" y="3500439"/>
            <a:ext cx="1295400" cy="288925"/>
          </a:xfrm>
          <a:custGeom>
            <a:avLst/>
            <a:gdLst>
              <a:gd name="T0" fmla="*/ 1394412195 w 39483"/>
              <a:gd name="T1" fmla="*/ 20653990 h 21600"/>
              <a:gd name="T2" fmla="*/ 0 w 39483"/>
              <a:gd name="T3" fmla="*/ 21297744 h 21600"/>
              <a:gd name="T4" fmla="*/ 695104744 w 39483"/>
              <a:gd name="T5" fmla="*/ 0 h 21600"/>
              <a:gd name="T6" fmla="*/ 0 60000 65536"/>
              <a:gd name="T7" fmla="*/ 0 60000 65536"/>
              <a:gd name="T8" fmla="*/ 0 60000 65536"/>
              <a:gd name="T9" fmla="*/ 0 w 39483"/>
              <a:gd name="T10" fmla="*/ 0 h 21600"/>
              <a:gd name="T11" fmla="*/ 39483 w 3948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483" h="21600" fill="none" extrusionOk="0">
                <a:moveTo>
                  <a:pt x="39483" y="8630"/>
                </a:moveTo>
                <a:cubicBezTo>
                  <a:pt x="36050" y="16506"/>
                  <a:pt x="28274" y="21599"/>
                  <a:pt x="19682" y="21600"/>
                </a:cubicBezTo>
                <a:cubicBezTo>
                  <a:pt x="11196" y="21600"/>
                  <a:pt x="3496" y="16631"/>
                  <a:pt x="0" y="8898"/>
                </a:cubicBezTo>
              </a:path>
              <a:path w="39483" h="21600" stroke="0" extrusionOk="0">
                <a:moveTo>
                  <a:pt x="39483" y="8630"/>
                </a:moveTo>
                <a:cubicBezTo>
                  <a:pt x="36050" y="16506"/>
                  <a:pt x="28274" y="21599"/>
                  <a:pt x="19682" y="21600"/>
                </a:cubicBezTo>
                <a:cubicBezTo>
                  <a:pt x="11196" y="21600"/>
                  <a:pt x="3496" y="16631"/>
                  <a:pt x="0" y="8898"/>
                </a:cubicBezTo>
                <a:lnTo>
                  <a:pt x="19682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9466" name="Text Box 26"/>
          <p:cNvSpPr txBox="1">
            <a:spLocks noChangeArrowheads="1"/>
          </p:cNvSpPr>
          <p:nvPr/>
        </p:nvSpPr>
        <p:spPr bwMode="auto">
          <a:xfrm>
            <a:off x="4656139" y="3213101"/>
            <a:ext cx="3571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P’</a:t>
            </a:r>
            <a:endParaRPr lang="ru-RU"/>
          </a:p>
        </p:txBody>
      </p:sp>
      <p:sp>
        <p:nvSpPr>
          <p:cNvPr id="189467" name="Text Box 27"/>
          <p:cNvSpPr txBox="1">
            <a:spLocks noChangeArrowheads="1"/>
          </p:cNvSpPr>
          <p:nvPr/>
        </p:nvSpPr>
        <p:spPr bwMode="auto">
          <a:xfrm>
            <a:off x="6456363" y="3141663"/>
            <a:ext cx="3937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Q’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9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8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8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8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8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8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8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8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8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8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89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89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89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89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189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189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50" grpId="0" animBg="1"/>
      <p:bldP spid="189451" grpId="0" animBg="1"/>
      <p:bldP spid="189452" grpId="0" animBg="1"/>
      <p:bldP spid="189453" grpId="0" animBg="1"/>
      <p:bldP spid="189454" grpId="0"/>
      <p:bldP spid="189455" grpId="0"/>
      <p:bldP spid="189456" grpId="0" animBg="1"/>
      <p:bldP spid="189459" grpId="0" animBg="1"/>
      <p:bldP spid="189460" grpId="0" animBg="1"/>
      <p:bldP spid="189461" grpId="0" animBg="1"/>
      <p:bldP spid="189462" grpId="0"/>
      <p:bldP spid="189463" grpId="0"/>
      <p:bldP spid="189464" grpId="0" animBg="1"/>
      <p:bldP spid="189465" grpId="0" animBg="1"/>
      <p:bldP spid="189466" grpId="0"/>
      <p:bldP spid="189467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Матрицы элементарных поворотов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1492" name="Object 4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695400" y="4025900"/>
                <a:ext cx="3425750" cy="16954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1492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95400" y="4025900"/>
                <a:ext cx="3425750" cy="1695450"/>
              </a:xfrm>
              <a:prstGeom prst="rect">
                <a:avLst/>
              </a:prstGeom>
              <a:blipFill>
                <a:blip r:embed="rId3"/>
                <a:stretch>
                  <a:fillRect t="-107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496" name="Object 8"/>
              <p:cNvSpPr txBox="1"/>
              <p:nvPr/>
            </p:nvSpPr>
            <p:spPr bwMode="auto">
              <a:xfrm>
                <a:off x="4057725" y="4005263"/>
                <a:ext cx="3425750" cy="172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149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57725" y="4005263"/>
                <a:ext cx="3425750" cy="172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497" name="Object 9"/>
              <p:cNvSpPr txBox="1"/>
              <p:nvPr/>
            </p:nvSpPr>
            <p:spPr bwMode="auto">
              <a:xfrm>
                <a:off x="7824192" y="4025900"/>
                <a:ext cx="3213497" cy="16557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e>
                                <m:r>
                                  <a:rPr lang="en-US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149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24192" y="4025900"/>
                <a:ext cx="3213497" cy="16557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77" name="Object 11"/>
              <p:cNvSpPr txBox="1"/>
              <p:nvPr/>
            </p:nvSpPr>
            <p:spPr bwMode="auto">
              <a:xfrm>
                <a:off x="838200" y="1844824"/>
                <a:ext cx="1782762" cy="1143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677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1844824"/>
                <a:ext cx="1782762" cy="1143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1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2" grpId="0" build="p"/>
      <p:bldP spid="191496" grpId="0"/>
      <p:bldP spid="191497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Комбинирование поворотов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sz="2400" dirty="0"/>
              <a:t>Порядок, в котором осуществляются повороты вокруг различных осей </a:t>
            </a:r>
            <a:r>
              <a:rPr lang="ru-RU" sz="2400" b="1" dirty="0"/>
              <a:t>имеет значение</a:t>
            </a:r>
          </a:p>
          <a:p>
            <a:pPr lvl="1" eaLnBrk="1" hangingPunct="1">
              <a:lnSpc>
                <a:spcPct val="90000"/>
              </a:lnSpc>
            </a:pPr>
            <a:r>
              <a:rPr lang="ru-RU" sz="2000" dirty="0"/>
              <a:t>Трехмерные матрицы поворота </a:t>
            </a:r>
            <a:r>
              <a:rPr lang="ru-RU" sz="2000" b="1" dirty="0"/>
              <a:t>некоммутативны</a:t>
            </a:r>
          </a:p>
          <a:p>
            <a:pPr eaLnBrk="1" hangingPunct="1">
              <a:lnSpc>
                <a:spcPct val="90000"/>
              </a:lnSpc>
            </a:pPr>
            <a:r>
              <a:rPr lang="ru-RU" sz="2400" dirty="0"/>
              <a:t>Поворот в трех измерениях обычно строят как композицию трех элементарных поворотов</a:t>
            </a:r>
          </a:p>
        </p:txBody>
      </p:sp>
      <p:sp>
        <p:nvSpPr>
          <p:cNvPr id="29701" name="Text Box 6"/>
          <p:cNvSpPr txBox="1">
            <a:spLocks noChangeArrowheads="1"/>
          </p:cNvSpPr>
          <p:nvPr/>
        </p:nvSpPr>
        <p:spPr bwMode="auto">
          <a:xfrm>
            <a:off x="2567608" y="4959233"/>
            <a:ext cx="686117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Углы </a:t>
            </a:r>
            <a:r>
              <a:rPr lang="el-GR">
                <a:cs typeface="Tahoma" pitchFamily="34" charset="0"/>
              </a:rPr>
              <a:t>β</a:t>
            </a:r>
            <a:r>
              <a:rPr lang="en-US" baseline="-25000">
                <a:cs typeface="Tahoma" pitchFamily="34" charset="0"/>
              </a:rPr>
              <a:t>1</a:t>
            </a:r>
            <a:r>
              <a:rPr lang="en-US">
                <a:cs typeface="Tahoma" pitchFamily="34" charset="0"/>
              </a:rPr>
              <a:t>, </a:t>
            </a:r>
            <a:r>
              <a:rPr lang="el-GR"/>
              <a:t>β</a:t>
            </a:r>
            <a:r>
              <a:rPr lang="ru-RU" baseline="-25000">
                <a:cs typeface="Tahoma" pitchFamily="34" charset="0"/>
              </a:rPr>
              <a:t>2</a:t>
            </a:r>
            <a:r>
              <a:rPr lang="en-US"/>
              <a:t>, </a:t>
            </a:r>
            <a:r>
              <a:rPr lang="el-GR"/>
              <a:t>β</a:t>
            </a:r>
            <a:r>
              <a:rPr lang="ru-RU" baseline="-25000">
                <a:cs typeface="Tahoma" pitchFamily="34" charset="0"/>
              </a:rPr>
              <a:t>3</a:t>
            </a:r>
            <a:r>
              <a:rPr lang="en-US"/>
              <a:t> </a:t>
            </a:r>
            <a:r>
              <a:rPr lang="ru-RU"/>
              <a:t>в данном контексте называют </a:t>
            </a:r>
            <a:r>
              <a:rPr lang="ru-RU" b="1"/>
              <a:t>углами Эйлера</a:t>
            </a:r>
            <a:endParaRPr lang="el-GR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7FECB247-5E36-4FCE-8DD6-16092A2EEB8E}"/>
                  </a:ext>
                </a:extLst>
              </p:cNvPr>
              <p:cNvSpPr txBox="1"/>
              <p:nvPr/>
            </p:nvSpPr>
            <p:spPr bwMode="auto">
              <a:xfrm>
                <a:off x="2719388" y="4144963"/>
                <a:ext cx="3952676" cy="5492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7FECB247-5E36-4FCE-8DD6-16092A2EE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9388" y="4144963"/>
                <a:ext cx="3952676" cy="549275"/>
              </a:xfrm>
              <a:prstGeom prst="rect">
                <a:avLst/>
              </a:prstGeom>
              <a:blipFill>
                <a:blip r:embed="rId3"/>
                <a:stretch>
                  <a:fillRect l="-30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/>
      <p:bldP spid="8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Вращение вокруг произвольной оси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sz="2800" dirty="0"/>
              <a:t>При использовании углов Эйлера мы выполняем последовательность </a:t>
            </a:r>
            <a:r>
              <a:rPr lang="en-US" sz="2800" dirty="0"/>
              <a:t>x-, y- </a:t>
            </a:r>
            <a:r>
              <a:rPr lang="ru-RU" sz="2800" dirty="0"/>
              <a:t>и </a:t>
            </a:r>
            <a:r>
              <a:rPr lang="en-US" sz="2800" dirty="0"/>
              <a:t>z-</a:t>
            </a:r>
            <a:r>
              <a:rPr lang="ru-RU" sz="2800" dirty="0"/>
              <a:t>вращений</a:t>
            </a:r>
          </a:p>
          <a:p>
            <a:pPr eaLnBrk="1" hangingPunct="1">
              <a:lnSpc>
                <a:spcPct val="90000"/>
              </a:lnSpc>
            </a:pPr>
            <a:r>
              <a:rPr lang="ru-RU" sz="2800" dirty="0"/>
              <a:t>Часто возникает необходимость поворота вокруг произвольной оси</a:t>
            </a:r>
          </a:p>
          <a:p>
            <a:pPr eaLnBrk="1" hangingPunct="1">
              <a:lnSpc>
                <a:spcPct val="90000"/>
              </a:lnSpc>
            </a:pPr>
            <a:r>
              <a:rPr lang="ru-RU" sz="2800" b="1" dirty="0"/>
              <a:t>Теорема Эйлера: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/>
              <a:t>Любой поворот или последовательность поворотов вокруг произвольной точки эквивалентен повороту вокруг некоторой оси, проходящей через эту точку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3BCF7F5-95DC-47BF-996F-B4BC38A2F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30734954-EBBB-4580-82DA-0A98F809E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5638" y="2205039"/>
            <a:ext cx="0" cy="2232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0382536D-9EC9-43D7-B27A-2A0FA4AACA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19514" y="4437063"/>
            <a:ext cx="2016125" cy="12239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58C1BA09-143E-4CCF-B23A-C475074391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5639" y="4437063"/>
            <a:ext cx="2232025" cy="10080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173B6995-E567-4F44-B1EF-85C6B5EDB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2538" y="55895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z</a:t>
            </a:r>
            <a:endParaRPr lang="ru-RU" b="1"/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13522801-4BDB-443A-9D7C-B8FD7B78F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1763" y="5516563"/>
            <a:ext cx="3222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x</a:t>
            </a:r>
            <a:endParaRPr lang="ru-RU" b="1"/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56D09497-394F-4537-AE79-C026CBE7F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663" y="2133601"/>
            <a:ext cx="3159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</a:t>
            </a:r>
            <a:endParaRPr lang="ru-RU" b="1"/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959D0470-F018-4084-8232-983C195688FA}"/>
              </a:ext>
            </a:extLst>
          </p:cNvPr>
          <p:cNvGrpSpPr/>
          <p:nvPr/>
        </p:nvGrpSpPr>
        <p:grpSpPr>
          <a:xfrm rot="21018197">
            <a:off x="5847620" y="3500437"/>
            <a:ext cx="1317625" cy="1441450"/>
            <a:chOff x="5097463" y="2995613"/>
            <a:chExt cx="1317625" cy="1441450"/>
          </a:xfrm>
        </p:grpSpPr>
        <p:sp>
          <p:nvSpPr>
            <p:cNvPr id="19" name="Oval 16">
              <a:extLst>
                <a:ext uri="{FF2B5EF4-FFF2-40B4-BE49-F238E27FC236}">
                  <a16:creationId xmlns:a16="http://schemas.microsoft.com/office/drawing/2014/main" id="{1DAD49DA-759B-4B39-B3DF-8B36DFBAD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9263" y="3354388"/>
              <a:ext cx="361950" cy="10826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F0BA6E8B-1693-4FFE-B6AC-37DFBAE97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7826" y="3067051"/>
              <a:ext cx="584200" cy="863600"/>
            </a:xfrm>
            <a:custGeom>
              <a:avLst/>
              <a:gdLst>
                <a:gd name="T0" fmla="*/ 0 w 31953"/>
                <a:gd name="T1" fmla="*/ 334702532 h 21600"/>
                <a:gd name="T2" fmla="*/ 195281559 w 31953"/>
                <a:gd name="T3" fmla="*/ 603384787 h 21600"/>
                <a:gd name="T4" fmla="*/ 86172596 w 31953"/>
                <a:gd name="T5" fmla="*/ 1380480733 h 21600"/>
                <a:gd name="T6" fmla="*/ 0 60000 65536"/>
                <a:gd name="T7" fmla="*/ 0 60000 65536"/>
                <a:gd name="T8" fmla="*/ 0 60000 65536"/>
                <a:gd name="T9" fmla="*/ 0 w 31953"/>
                <a:gd name="T10" fmla="*/ 0 h 21600"/>
                <a:gd name="T11" fmla="*/ 31953 w 3195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953" h="21600" fill="none" extrusionOk="0">
                  <a:moveTo>
                    <a:pt x="-1" y="5236"/>
                  </a:moveTo>
                  <a:cubicBezTo>
                    <a:pt x="3920" y="1858"/>
                    <a:pt x="8924" y="-1"/>
                    <a:pt x="14100" y="0"/>
                  </a:cubicBezTo>
                  <a:cubicBezTo>
                    <a:pt x="21246" y="0"/>
                    <a:pt x="27930" y="3534"/>
                    <a:pt x="31952" y="9441"/>
                  </a:cubicBezTo>
                </a:path>
                <a:path w="31953" h="21600" stroke="0" extrusionOk="0">
                  <a:moveTo>
                    <a:pt x="-1" y="5236"/>
                  </a:moveTo>
                  <a:cubicBezTo>
                    <a:pt x="3920" y="1858"/>
                    <a:pt x="8924" y="-1"/>
                    <a:pt x="14100" y="0"/>
                  </a:cubicBezTo>
                  <a:cubicBezTo>
                    <a:pt x="21246" y="0"/>
                    <a:pt x="27930" y="3534"/>
                    <a:pt x="31952" y="9441"/>
                  </a:cubicBezTo>
                  <a:lnTo>
                    <a:pt x="141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E082650C-5C0F-4832-A22D-64CAE24AA9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45163" y="3787776"/>
              <a:ext cx="144463" cy="142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EECB5422-5592-433E-9C02-82A804C5D1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02288" y="3498851"/>
              <a:ext cx="142875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E934AC5E-3956-4124-9D2E-67D7410530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81803">
              <a:off x="6105526" y="3354387"/>
              <a:ext cx="309562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P</a:t>
              </a:r>
              <a:endParaRPr lang="ru-RU" dirty="0"/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20F00923-2906-4E84-B9EF-87F3769D5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81803">
              <a:off x="5097463" y="2995613"/>
              <a:ext cx="34607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Q</a:t>
              </a:r>
              <a:endParaRPr lang="ru-RU" dirty="0"/>
            </a:p>
          </p:txBody>
        </p:sp>
      </p:grp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343A87BE-A8E7-4C13-8A61-BBC4EC0CA39F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735638" y="4357689"/>
            <a:ext cx="1201326" cy="79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72723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Матрица поворота вокруг произвольной оси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7637" name="Object 5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838200" y="2232025"/>
                <a:ext cx="9505950" cy="21447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acc>
                            <m:accPr>
                              <m:chr m:val="̄"/>
                              <m:ctrlPr>
                                <a:rPr 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sub>
                      </m:sSub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+(1−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Sup>
                                  <m:sSubSup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+(1−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Sup>
                                  <m:sSubSup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+(1−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Sup>
                                  <m:sSubSupPr>
                                    <m:ctrlP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9763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2232025"/>
                <a:ext cx="9505950" cy="2144713"/>
              </a:xfrm>
              <a:prstGeom prst="rect">
                <a:avLst/>
              </a:prstGeom>
              <a:blipFill>
                <a:blip r:embed="rId3"/>
                <a:stretch>
                  <a:fillRect t="-19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638" name="Object 6"/>
              <p:cNvSpPr txBox="1"/>
              <p:nvPr/>
            </p:nvSpPr>
            <p:spPr bwMode="auto">
              <a:xfrm>
                <a:off x="1991544" y="4581128"/>
                <a:ext cx="3168972" cy="14985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̄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763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1544" y="4581128"/>
                <a:ext cx="3168972" cy="14985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dirty="0"/>
              <a:t>Определение оси и угла поворота по матрице поворота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684" name="Object 4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838200" y="2656959"/>
                <a:ext cx="5113784" cy="1131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acc>
                            <m:accPr>
                              <m:chr m:val="̄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9684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2656959"/>
                <a:ext cx="5113784" cy="1131888"/>
              </a:xfrm>
              <a:prstGeom prst="rect">
                <a:avLst/>
              </a:prstGeom>
              <a:blipFill>
                <a:blip r:embed="rId3"/>
                <a:stretch>
                  <a:fillRect t="-16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686" name="Object 6"/>
              <p:cNvSpPr txBox="1"/>
              <p:nvPr/>
            </p:nvSpPr>
            <p:spPr bwMode="auto">
              <a:xfrm>
                <a:off x="1775520" y="4545568"/>
                <a:ext cx="4032448" cy="12620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)−1</m:t>
                      </m:r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arccos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968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5520" y="4545568"/>
                <a:ext cx="4032448" cy="12620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687" name="Object 7"/>
              <p:cNvSpPr txBox="1"/>
              <p:nvPr/>
            </p:nvSpPr>
            <p:spPr bwMode="auto">
              <a:xfrm>
                <a:off x="7680324" y="4365625"/>
                <a:ext cx="2613645" cy="2035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968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80324" y="4365625"/>
                <a:ext cx="2613645" cy="20351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50" name="Text Box 9"/>
          <p:cNvSpPr txBox="1">
            <a:spLocks noChangeArrowheads="1"/>
          </p:cNvSpPr>
          <p:nvPr/>
        </p:nvSpPr>
        <p:spPr bwMode="auto">
          <a:xfrm>
            <a:off x="838200" y="1943101"/>
            <a:ext cx="94557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/>
              <a:t>Пусть матрица вращения задана следующим образом:</a:t>
            </a:r>
          </a:p>
        </p:txBody>
      </p:sp>
      <p:sp>
        <p:nvSpPr>
          <p:cNvPr id="199691" name="Text Box 11"/>
          <p:cNvSpPr txBox="1">
            <a:spLocks noChangeArrowheads="1"/>
          </p:cNvSpPr>
          <p:nvPr/>
        </p:nvSpPr>
        <p:spPr bwMode="auto">
          <a:xfrm>
            <a:off x="1467546" y="4058206"/>
            <a:ext cx="2345544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/>
              <a:t>Угол вращения:</a:t>
            </a:r>
          </a:p>
        </p:txBody>
      </p:sp>
      <p:sp>
        <p:nvSpPr>
          <p:cNvPr id="199692" name="Text Box 12"/>
          <p:cNvSpPr txBox="1">
            <a:spLocks noChangeArrowheads="1"/>
          </p:cNvSpPr>
          <p:nvPr/>
        </p:nvSpPr>
        <p:spPr bwMode="auto">
          <a:xfrm>
            <a:off x="7464425" y="3860801"/>
            <a:ext cx="1735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Ось вращения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Преобразование систем координат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F27951-1827-B748-C5F9-4B2A20C85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Преобразование системы координат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Аффинные преобразования используются для создания новой системы координат, в которой происходит отображение исходных точек</a:t>
            </a:r>
          </a:p>
          <a:p>
            <a:pPr lvl="1" eaLnBrk="1" hangingPunct="1"/>
            <a:r>
              <a:rPr lang="ru-RU" dirty="0"/>
              <a:t>Моделирование сцен, виртуальных «камер»</a:t>
            </a:r>
            <a:endParaRPr lang="en-US" dirty="0"/>
          </a:p>
          <a:p>
            <a:pPr eaLnBrk="1" hangingPunct="1"/>
            <a:r>
              <a:rPr lang="ru-RU" dirty="0"/>
              <a:t>Задача визуализации – преобразовать координаты объекта из мировой системы координат, в систему координат наблюдателя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Преобразование координатного фрейма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861" name="Object 37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7331560" y="3144837"/>
                <a:ext cx="2148815" cy="1339715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5861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7331560" y="3144837"/>
                <a:ext cx="2148815" cy="13397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72" name="Oval 10"/>
          <p:cNvSpPr>
            <a:spLocks noChangeArrowheads="1"/>
          </p:cNvSpPr>
          <p:nvPr/>
        </p:nvSpPr>
        <p:spPr bwMode="auto">
          <a:xfrm>
            <a:off x="4224339" y="5013326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grpSp>
        <p:nvGrpSpPr>
          <p:cNvPr id="32773" name="Group 19"/>
          <p:cNvGrpSpPr>
            <a:grpSpLocks/>
          </p:cNvGrpSpPr>
          <p:nvPr/>
        </p:nvGrpSpPr>
        <p:grpSpPr bwMode="auto">
          <a:xfrm>
            <a:off x="1919289" y="3141664"/>
            <a:ext cx="4427537" cy="3394075"/>
            <a:chOff x="249" y="1979"/>
            <a:chExt cx="2789" cy="2138"/>
          </a:xfrm>
        </p:grpSpPr>
        <p:sp>
          <p:nvSpPr>
            <p:cNvPr id="32788" name="Line 4"/>
            <p:cNvSpPr>
              <a:spLocks noChangeShapeType="1"/>
            </p:cNvSpPr>
            <p:nvPr/>
          </p:nvSpPr>
          <p:spPr bwMode="auto">
            <a:xfrm>
              <a:off x="476" y="4111"/>
              <a:ext cx="25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789" name="Line 5"/>
            <p:cNvSpPr>
              <a:spLocks noChangeShapeType="1"/>
            </p:cNvSpPr>
            <p:nvPr/>
          </p:nvSpPr>
          <p:spPr bwMode="auto">
            <a:xfrm flipV="1">
              <a:off x="476" y="1979"/>
              <a:ext cx="0" cy="213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790" name="Line 11"/>
            <p:cNvSpPr>
              <a:spLocks noChangeShapeType="1"/>
            </p:cNvSpPr>
            <p:nvPr/>
          </p:nvSpPr>
          <p:spPr bwMode="auto">
            <a:xfrm flipH="1">
              <a:off x="476" y="3203"/>
              <a:ext cx="12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791" name="Line 12"/>
            <p:cNvSpPr>
              <a:spLocks noChangeShapeType="1"/>
            </p:cNvSpPr>
            <p:nvPr/>
          </p:nvSpPr>
          <p:spPr bwMode="auto">
            <a:xfrm>
              <a:off x="1746" y="3203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792" name="Text Box 13"/>
            <p:cNvSpPr txBox="1">
              <a:spLocks noChangeArrowheads="1"/>
            </p:cNvSpPr>
            <p:nvPr/>
          </p:nvSpPr>
          <p:spPr bwMode="auto">
            <a:xfrm>
              <a:off x="1791" y="3886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a</a:t>
              </a:r>
              <a:endParaRPr lang="ru-RU" i="1">
                <a:latin typeface="Times New Roman" pitchFamily="18" charset="0"/>
              </a:endParaRPr>
            </a:p>
          </p:txBody>
        </p:sp>
        <p:sp>
          <p:nvSpPr>
            <p:cNvPr id="32793" name="Text Box 14"/>
            <p:cNvSpPr txBox="1">
              <a:spLocks noChangeArrowheads="1"/>
            </p:cNvSpPr>
            <p:nvPr/>
          </p:nvSpPr>
          <p:spPr bwMode="auto">
            <a:xfrm>
              <a:off x="249" y="3067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b</a:t>
              </a:r>
              <a:endParaRPr lang="ru-RU" i="1">
                <a:latin typeface="Times New Roman" pitchFamily="18" charset="0"/>
              </a:endParaRPr>
            </a:p>
          </p:txBody>
        </p:sp>
        <p:sp>
          <p:nvSpPr>
            <p:cNvPr id="32794" name="Line 15"/>
            <p:cNvSpPr>
              <a:spLocks noChangeShapeType="1"/>
            </p:cNvSpPr>
            <p:nvPr/>
          </p:nvSpPr>
          <p:spPr bwMode="auto">
            <a:xfrm>
              <a:off x="476" y="4110"/>
              <a:ext cx="59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795" name="Line 16"/>
            <p:cNvSpPr>
              <a:spLocks noChangeShapeType="1"/>
            </p:cNvSpPr>
            <p:nvPr/>
          </p:nvSpPr>
          <p:spPr bwMode="auto">
            <a:xfrm rot="-5400000">
              <a:off x="181" y="3816"/>
              <a:ext cx="59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796" name="Text Box 17"/>
            <p:cNvSpPr txBox="1">
              <a:spLocks noChangeArrowheads="1"/>
            </p:cNvSpPr>
            <p:nvPr/>
          </p:nvSpPr>
          <p:spPr bwMode="auto">
            <a:xfrm>
              <a:off x="884" y="3838"/>
              <a:ext cx="1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i="1">
                  <a:latin typeface="Times New Roman" pitchFamily="18" charset="0"/>
                </a:rPr>
                <a:t>i</a:t>
              </a:r>
              <a:endParaRPr lang="ru-RU" b="1" i="1">
                <a:latin typeface="Times New Roman" pitchFamily="18" charset="0"/>
              </a:endParaRPr>
            </a:p>
          </p:txBody>
        </p:sp>
        <p:sp>
          <p:nvSpPr>
            <p:cNvPr id="32797" name="Text Box 18"/>
            <p:cNvSpPr txBox="1">
              <a:spLocks noChangeArrowheads="1"/>
            </p:cNvSpPr>
            <p:nvPr/>
          </p:nvSpPr>
          <p:spPr bwMode="auto">
            <a:xfrm>
              <a:off x="249" y="3566"/>
              <a:ext cx="1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i="1">
                  <a:latin typeface="Times New Roman" pitchFamily="18" charset="0"/>
                </a:rPr>
                <a:t>j</a:t>
              </a:r>
              <a:endParaRPr lang="ru-RU" b="1" i="1">
                <a:latin typeface="Times New Roman" pitchFamily="18" charset="0"/>
              </a:endParaRPr>
            </a:p>
          </p:txBody>
        </p:sp>
      </p:grpSp>
      <p:sp>
        <p:nvSpPr>
          <p:cNvPr id="205845" name="Line 21"/>
          <p:cNvSpPr>
            <a:spLocks noChangeShapeType="1"/>
          </p:cNvSpPr>
          <p:nvPr/>
        </p:nvSpPr>
        <p:spPr bwMode="auto">
          <a:xfrm rot="441391">
            <a:off x="2997201" y="5741988"/>
            <a:ext cx="40671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05846" name="Line 22"/>
          <p:cNvSpPr>
            <a:spLocks noChangeShapeType="1"/>
          </p:cNvSpPr>
          <p:nvPr/>
        </p:nvSpPr>
        <p:spPr bwMode="auto">
          <a:xfrm rot="441391" flipV="1">
            <a:off x="3230563" y="2111375"/>
            <a:ext cx="0" cy="33845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05847" name="Line 23"/>
          <p:cNvSpPr>
            <a:spLocks noChangeShapeType="1"/>
          </p:cNvSpPr>
          <p:nvPr/>
        </p:nvSpPr>
        <p:spPr bwMode="auto">
          <a:xfrm rot="441391" flipH="1">
            <a:off x="3082926" y="4989513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05848" name="Line 24"/>
          <p:cNvSpPr>
            <a:spLocks noChangeShapeType="1"/>
          </p:cNvSpPr>
          <p:nvPr/>
        </p:nvSpPr>
        <p:spPr bwMode="auto">
          <a:xfrm rot="441391">
            <a:off x="4265613" y="506571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05849" name="Text Box 25"/>
          <p:cNvSpPr txBox="1">
            <a:spLocks noChangeArrowheads="1"/>
          </p:cNvSpPr>
          <p:nvPr/>
        </p:nvSpPr>
        <p:spPr bwMode="auto">
          <a:xfrm rot="441391">
            <a:off x="3935413" y="5583238"/>
            <a:ext cx="285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latin typeface="Times New Roman" pitchFamily="18" charset="0"/>
              </a:rPr>
              <a:t>c</a:t>
            </a:r>
            <a:endParaRPr lang="ru-RU" i="1">
              <a:latin typeface="Times New Roman" pitchFamily="18" charset="0"/>
            </a:endParaRPr>
          </a:p>
        </p:txBody>
      </p:sp>
      <p:sp>
        <p:nvSpPr>
          <p:cNvPr id="205850" name="Text Box 26"/>
          <p:cNvSpPr txBox="1">
            <a:spLocks noChangeArrowheads="1"/>
          </p:cNvSpPr>
          <p:nvPr/>
        </p:nvSpPr>
        <p:spPr bwMode="auto">
          <a:xfrm rot="441391">
            <a:off x="3216275" y="4502151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latin typeface="Times New Roman" pitchFamily="18" charset="0"/>
              </a:rPr>
              <a:t>d</a:t>
            </a:r>
            <a:endParaRPr lang="ru-RU" i="1">
              <a:latin typeface="Times New Roman" pitchFamily="18" charset="0"/>
            </a:endParaRPr>
          </a:p>
        </p:txBody>
      </p:sp>
      <p:sp>
        <p:nvSpPr>
          <p:cNvPr id="205851" name="Line 27"/>
          <p:cNvSpPr>
            <a:spLocks noChangeShapeType="1"/>
          </p:cNvSpPr>
          <p:nvPr/>
        </p:nvSpPr>
        <p:spPr bwMode="auto">
          <a:xfrm rot="441391">
            <a:off x="3011489" y="5540375"/>
            <a:ext cx="936625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05852" name="Line 28"/>
          <p:cNvSpPr>
            <a:spLocks noChangeShapeType="1"/>
          </p:cNvSpPr>
          <p:nvPr/>
        </p:nvSpPr>
        <p:spPr bwMode="auto">
          <a:xfrm rot="16641390">
            <a:off x="2606676" y="5018088"/>
            <a:ext cx="936625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05853" name="Text Box 29"/>
          <p:cNvSpPr txBox="1">
            <a:spLocks noChangeArrowheads="1"/>
          </p:cNvSpPr>
          <p:nvPr/>
        </p:nvSpPr>
        <p:spPr bwMode="auto">
          <a:xfrm rot="441391">
            <a:off x="3684588" y="5151438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Times New Roman" pitchFamily="18" charset="0"/>
              </a:rPr>
              <a:t>i’</a:t>
            </a:r>
            <a:endParaRPr lang="ru-RU" b="1" i="1">
              <a:latin typeface="Times New Roman" pitchFamily="18" charset="0"/>
            </a:endParaRPr>
          </a:p>
        </p:txBody>
      </p:sp>
      <p:sp>
        <p:nvSpPr>
          <p:cNvPr id="205854" name="Text Box 30"/>
          <p:cNvSpPr txBox="1">
            <a:spLocks noChangeArrowheads="1"/>
          </p:cNvSpPr>
          <p:nvPr/>
        </p:nvSpPr>
        <p:spPr bwMode="auto">
          <a:xfrm rot="441391">
            <a:off x="2740025" y="4594226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latin typeface="Times New Roman" pitchFamily="18" charset="0"/>
              </a:rPr>
              <a:t>j’</a:t>
            </a:r>
            <a:endParaRPr lang="ru-RU" b="1" i="1">
              <a:latin typeface="Times New Roman" pitchFamily="18" charset="0"/>
            </a:endParaRPr>
          </a:p>
        </p:txBody>
      </p:sp>
      <p:sp>
        <p:nvSpPr>
          <p:cNvPr id="32784" name="Text Box 33"/>
          <p:cNvSpPr txBox="1">
            <a:spLocks noChangeArrowheads="1"/>
          </p:cNvSpPr>
          <p:nvPr/>
        </p:nvSpPr>
        <p:spPr bwMode="auto">
          <a:xfrm>
            <a:off x="1919289" y="6308726"/>
            <a:ext cx="3460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O</a:t>
            </a:r>
            <a:endParaRPr lang="ru-RU"/>
          </a:p>
        </p:txBody>
      </p:sp>
      <p:sp>
        <p:nvSpPr>
          <p:cNvPr id="205858" name="Text Box 34"/>
          <p:cNvSpPr txBox="1">
            <a:spLocks noChangeArrowheads="1"/>
          </p:cNvSpPr>
          <p:nvPr/>
        </p:nvSpPr>
        <p:spPr bwMode="auto">
          <a:xfrm>
            <a:off x="2640013" y="5300663"/>
            <a:ext cx="3937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O’</a:t>
            </a:r>
            <a:endParaRPr lang="ru-RU"/>
          </a:p>
        </p:txBody>
      </p:sp>
      <p:sp>
        <p:nvSpPr>
          <p:cNvPr id="32786" name="Text Box 36"/>
          <p:cNvSpPr txBox="1">
            <a:spLocks noChangeArrowheads="1"/>
          </p:cNvSpPr>
          <p:nvPr/>
        </p:nvSpPr>
        <p:spPr bwMode="auto">
          <a:xfrm>
            <a:off x="4440238" y="4868863"/>
            <a:ext cx="3095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87" name="Text Box 39"/>
              <p:cNvSpPr txBox="1">
                <a:spLocks noChangeArrowheads="1"/>
              </p:cNvSpPr>
              <p:nvPr/>
            </p:nvSpPr>
            <p:spPr bwMode="auto">
              <a:xfrm>
                <a:off x="3913112" y="1772321"/>
                <a:ext cx="8159552" cy="12003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Дано: координатный фрейм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и точка </a:t>
                </a:r>
                <a:r>
                  <a:rPr lang="en-US" dirty="0"/>
                  <a:t>P</a:t>
                </a:r>
                <a:r>
                  <a:rPr lang="ru-RU" dirty="0"/>
                  <a:t> с координатами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ru-RU" dirty="0"/>
                  <a:t>Преобразование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ru-RU" dirty="0"/>
                  <a:t>, выраженное матрицей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dirty="0"/>
                  <a:t>, переводит фрейм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координатный фрейм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ru-RU" dirty="0"/>
                  <a:t>, в котором точка </a:t>
                </a:r>
                <a:r>
                  <a:rPr lang="en-US" dirty="0"/>
                  <a:t>P</a:t>
                </a:r>
                <a:r>
                  <a:rPr lang="ru-RU" dirty="0"/>
                  <a:t> имеет координаты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32787" name="Text 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3112" y="1772321"/>
                <a:ext cx="8159552" cy="1200329"/>
              </a:xfrm>
              <a:prstGeom prst="rect">
                <a:avLst/>
              </a:prstGeom>
              <a:blipFill>
                <a:blip r:embed="rId4"/>
                <a:stretch>
                  <a:fillRect l="-673" t="-3046" b="-710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0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0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0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0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0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0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0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0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0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0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5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61" grpId="0" build="p"/>
      <p:bldP spid="205845" grpId="0" animBg="1"/>
      <p:bldP spid="205846" grpId="0" animBg="1"/>
      <p:bldP spid="205847" grpId="0" animBg="1"/>
      <p:bldP spid="205848" grpId="0" animBg="1"/>
      <p:bldP spid="205849" grpId="0"/>
      <p:bldP spid="205850" grpId="0"/>
      <p:bldP spid="205851" grpId="0" animBg="1"/>
      <p:bldP spid="205852" grpId="0" animBg="1"/>
      <p:bldP spid="205853" grpId="0"/>
      <p:bldP spid="205854" grpId="0"/>
      <p:bldP spid="205858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3600"/>
              <a:t>Последовательные преобразования координатного фрейма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92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Пусть система координат 1 переходит в систему 2 при помощи преобразования </a:t>
                </a:r>
                <a:r>
                  <a:rPr lang="en-US" sz="2800" dirty="0"/>
                  <a:t>T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(.), </a:t>
                </a:r>
                <a:r>
                  <a:rPr lang="ru-RU" sz="2800" dirty="0"/>
                  <a:t>а система 2 – в систему №3 при помощи преобразования </a:t>
                </a:r>
                <a:r>
                  <a:rPr lang="en-US" sz="2800" dirty="0"/>
                  <a:t>T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(.)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ru-RU" dirty="0"/>
                  <a:t>Заметим, что система №3</a:t>
                </a:r>
                <a:r>
                  <a:rPr lang="en-US" dirty="0"/>
                  <a:t> </a:t>
                </a:r>
                <a:r>
                  <a:rPr lang="ru-RU" dirty="0"/>
                  <a:t>трансформируется относительно системы №2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Если координаты точки </a:t>
                </a:r>
                <a:r>
                  <a:rPr lang="en-US" sz="2800" dirty="0"/>
                  <a:t>P </a:t>
                </a:r>
                <a:r>
                  <a:rPr lang="ru-RU" sz="2800" dirty="0"/>
                  <a:t>в системе №3 равны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,1)</m:t>
                    </m:r>
                    <m:r>
                      <a:rPr lang="en-US" sz="2800" i="1" baseline="30000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, </a:t>
                </a:r>
                <a:r>
                  <a:rPr lang="ru-RU" sz="2800" dirty="0"/>
                  <a:t>то чему будут равны координаты </a:t>
                </a:r>
                <a14:m>
                  <m:oMath xmlns:m="http://schemas.openxmlformats.org/officeDocument/2006/math">
                    <m:r>
                      <a:rPr lang="ru-RU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,1)</m:t>
                    </m:r>
                    <m:r>
                      <a:rPr lang="en-US" sz="2800" i="1" baseline="30000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в системе №1?</a:t>
                </a:r>
              </a:p>
            </p:txBody>
          </p:sp>
        </mc:Choice>
        <mc:Fallback xmlns="">
          <p:sp>
            <p:nvSpPr>
              <p:cNvPr id="2099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Двукратное преобразование координатного фрейма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7877" name="Object 5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1703512" y="2276475"/>
                <a:ext cx="5688632" cy="16129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0787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703512" y="2276475"/>
                <a:ext cx="5688632" cy="1612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7880" name="Text Box 8"/>
          <p:cNvSpPr txBox="1">
            <a:spLocks noChangeArrowheads="1"/>
          </p:cNvSpPr>
          <p:nvPr/>
        </p:nvSpPr>
        <p:spPr bwMode="auto">
          <a:xfrm>
            <a:off x="1559497" y="4292601"/>
            <a:ext cx="862431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/>
              <a:t>Сперва применяется преобразование </a:t>
            </a:r>
            <a:r>
              <a:rPr lang="en-US" dirty="0"/>
              <a:t>M</a:t>
            </a:r>
            <a:r>
              <a:rPr lang="en-US" baseline="-25000" dirty="0"/>
              <a:t>2</a:t>
            </a:r>
            <a:r>
              <a:rPr lang="en-US" dirty="0"/>
              <a:t>, </a:t>
            </a:r>
            <a:r>
              <a:rPr lang="ru-RU" dirty="0"/>
              <a:t>а затем </a:t>
            </a:r>
            <a:r>
              <a:rPr lang="en-US" dirty="0"/>
              <a:t>M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ru-RU" dirty="0"/>
              <a:t>в </a:t>
            </a:r>
            <a:r>
              <a:rPr lang="ru-RU" b="1" dirty="0"/>
              <a:t>обратном порядке</a:t>
            </a:r>
            <a:r>
              <a:rPr lang="ru-RU" dirty="0"/>
              <a:t> по сравнению с применением преобразований к точкам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7881" name="Text Box 9"/>
              <p:cNvSpPr txBox="1">
                <a:spLocks noChangeArrowheads="1"/>
              </p:cNvSpPr>
              <p:nvPr/>
            </p:nvSpPr>
            <p:spPr bwMode="auto">
              <a:xfrm>
                <a:off x="1559498" y="5373689"/>
                <a:ext cx="9073006" cy="9169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Это можно обобщить на произвольное количество преобразований координатного фрейма: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…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𝑀𝑛</m:t>
                      </m:r>
                    </m:oMath>
                  </m:oMathPara>
                </a14:m>
                <a:endParaRPr lang="ru-RU" baseline="-25000" dirty="0"/>
              </a:p>
            </p:txBody>
          </p:sp>
        </mc:Choice>
        <mc:Fallback xmlns="">
          <p:sp>
            <p:nvSpPr>
              <p:cNvPr id="207881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9498" y="5373689"/>
                <a:ext cx="9073006" cy="916982"/>
              </a:xfrm>
              <a:prstGeom prst="rect">
                <a:avLst/>
              </a:prstGeom>
              <a:blipFill>
                <a:blip r:embed="rId4"/>
                <a:stretch>
                  <a:fillRect l="-605" t="-4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7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7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80" grpId="0"/>
      <p:bldP spid="207881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Рисование трехмерных сцен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54B625-B736-4140-3D41-9312996C8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Составляющие элементы трехмерной сцены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dirty="0"/>
              <a:t>Камеры просмотра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/>
              <a:t>Позволяют задать положение и ориентацию «наблюдателя» в виртуальном пространстве и получать изображение объектов сцены с заданных точек</a:t>
            </a:r>
          </a:p>
          <a:p>
            <a:pPr eaLnBrk="1" hangingPunct="1">
              <a:lnSpc>
                <a:spcPct val="90000"/>
              </a:lnSpc>
            </a:pPr>
            <a:r>
              <a:rPr lang="ru-RU" dirty="0"/>
              <a:t>Объекты сцены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/>
              <a:t>Предметы виртуального пространства, оптические среды, изображение которых может быть получено при помощью камер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3" grpId="0" uiExpand="1" build="p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Процесс визуализации трехмерной сцены</a:t>
            </a:r>
          </a:p>
        </p:txBody>
      </p:sp>
      <p:sp>
        <p:nvSpPr>
          <p:cNvPr id="216070" name="AutoShape 6"/>
          <p:cNvSpPr>
            <a:spLocks noChangeArrowheads="1"/>
          </p:cNvSpPr>
          <p:nvPr/>
        </p:nvSpPr>
        <p:spPr bwMode="auto">
          <a:xfrm rot="9443456">
            <a:off x="3924301" y="4584700"/>
            <a:ext cx="4341813" cy="1500188"/>
          </a:xfrm>
          <a:prstGeom prst="parallelogram">
            <a:avLst>
              <a:gd name="adj" fmla="val 71055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6072" name="Line 8"/>
          <p:cNvSpPr>
            <a:spLocks noChangeShapeType="1"/>
          </p:cNvSpPr>
          <p:nvPr/>
        </p:nvSpPr>
        <p:spPr bwMode="auto">
          <a:xfrm>
            <a:off x="4087813" y="2168526"/>
            <a:ext cx="684212" cy="28876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16074" name="Line 10"/>
          <p:cNvSpPr>
            <a:spLocks noChangeShapeType="1"/>
          </p:cNvSpPr>
          <p:nvPr/>
        </p:nvSpPr>
        <p:spPr bwMode="auto">
          <a:xfrm>
            <a:off x="4079876" y="2151063"/>
            <a:ext cx="3730625" cy="1662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9030" name="AutoShape 11"/>
          <p:cNvSpPr>
            <a:spLocks noChangeArrowheads="1"/>
          </p:cNvSpPr>
          <p:nvPr/>
        </p:nvSpPr>
        <p:spPr bwMode="auto">
          <a:xfrm>
            <a:off x="5435601" y="4800600"/>
            <a:ext cx="1152525" cy="863600"/>
          </a:xfrm>
          <a:prstGeom prst="can">
            <a:avLst>
              <a:gd name="adj" fmla="val 3032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29031" name="AutoShape 12"/>
          <p:cNvSpPr>
            <a:spLocks noChangeArrowheads="1"/>
          </p:cNvSpPr>
          <p:nvPr/>
        </p:nvSpPr>
        <p:spPr bwMode="auto">
          <a:xfrm>
            <a:off x="5651501" y="4440239"/>
            <a:ext cx="792163" cy="503237"/>
          </a:xfrm>
          <a:prstGeom prst="cube">
            <a:avLst>
              <a:gd name="adj" fmla="val 25000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6079" name="Oval 15"/>
          <p:cNvSpPr>
            <a:spLocks noChangeArrowheads="1"/>
          </p:cNvSpPr>
          <p:nvPr/>
        </p:nvSpPr>
        <p:spPr bwMode="auto">
          <a:xfrm>
            <a:off x="4008438" y="2060576"/>
            <a:ext cx="144462" cy="14446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6080" name="Line 16"/>
          <p:cNvSpPr>
            <a:spLocks noChangeShapeType="1"/>
          </p:cNvSpPr>
          <p:nvPr/>
        </p:nvSpPr>
        <p:spPr bwMode="auto">
          <a:xfrm flipH="1">
            <a:off x="3976688" y="2079626"/>
            <a:ext cx="38100" cy="231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16081" name="Line 17"/>
          <p:cNvSpPr>
            <a:spLocks noChangeShapeType="1"/>
          </p:cNvSpPr>
          <p:nvPr/>
        </p:nvSpPr>
        <p:spPr bwMode="auto">
          <a:xfrm>
            <a:off x="4079876" y="2060575"/>
            <a:ext cx="227013" cy="269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9035" name="Line 19"/>
          <p:cNvSpPr>
            <a:spLocks noChangeShapeType="1"/>
          </p:cNvSpPr>
          <p:nvPr/>
        </p:nvSpPr>
        <p:spPr bwMode="auto">
          <a:xfrm flipV="1">
            <a:off x="5951538" y="3213101"/>
            <a:ext cx="0" cy="20161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29036" name="Line 20"/>
          <p:cNvSpPr>
            <a:spLocks noChangeShapeType="1"/>
          </p:cNvSpPr>
          <p:nvPr/>
        </p:nvSpPr>
        <p:spPr bwMode="auto">
          <a:xfrm flipH="1">
            <a:off x="4583114" y="5229225"/>
            <a:ext cx="1368425" cy="863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29037" name="Line 21"/>
          <p:cNvSpPr>
            <a:spLocks noChangeShapeType="1"/>
          </p:cNvSpPr>
          <p:nvPr/>
        </p:nvSpPr>
        <p:spPr bwMode="auto">
          <a:xfrm>
            <a:off x="5951538" y="5229226"/>
            <a:ext cx="1873250" cy="7921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29038" name="Text Box 22"/>
          <p:cNvSpPr txBox="1">
            <a:spLocks noChangeArrowheads="1"/>
          </p:cNvSpPr>
          <p:nvPr/>
        </p:nvSpPr>
        <p:spPr bwMode="auto">
          <a:xfrm>
            <a:off x="4635500" y="596423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z</a:t>
            </a:r>
            <a:endParaRPr lang="ru-RU" b="1"/>
          </a:p>
        </p:txBody>
      </p:sp>
      <p:sp>
        <p:nvSpPr>
          <p:cNvPr id="129039" name="Text Box 23"/>
          <p:cNvSpPr txBox="1">
            <a:spLocks noChangeArrowheads="1"/>
          </p:cNvSpPr>
          <p:nvPr/>
        </p:nvSpPr>
        <p:spPr bwMode="auto">
          <a:xfrm>
            <a:off x="6096001" y="3213101"/>
            <a:ext cx="3159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</a:t>
            </a:r>
            <a:endParaRPr lang="ru-RU" b="1"/>
          </a:p>
        </p:txBody>
      </p:sp>
      <p:sp>
        <p:nvSpPr>
          <p:cNvPr id="129040" name="Text Box 24"/>
          <p:cNvSpPr txBox="1">
            <a:spLocks noChangeArrowheads="1"/>
          </p:cNvSpPr>
          <p:nvPr/>
        </p:nvSpPr>
        <p:spPr bwMode="auto">
          <a:xfrm>
            <a:off x="7751763" y="5445126"/>
            <a:ext cx="3222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x</a:t>
            </a:r>
            <a:endParaRPr lang="ru-RU" b="1"/>
          </a:p>
        </p:txBody>
      </p:sp>
      <p:sp>
        <p:nvSpPr>
          <p:cNvPr id="216073" name="Line 9"/>
          <p:cNvSpPr>
            <a:spLocks noChangeShapeType="1"/>
          </p:cNvSpPr>
          <p:nvPr/>
        </p:nvSpPr>
        <p:spPr bwMode="auto">
          <a:xfrm>
            <a:off x="4071938" y="2168526"/>
            <a:ext cx="3357562" cy="3432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16071" name="Line 7"/>
          <p:cNvSpPr>
            <a:spLocks noChangeShapeType="1"/>
          </p:cNvSpPr>
          <p:nvPr/>
        </p:nvSpPr>
        <p:spPr bwMode="auto">
          <a:xfrm>
            <a:off x="4084638" y="2152650"/>
            <a:ext cx="285750" cy="4705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16089" name="Text Box 25"/>
          <p:cNvSpPr txBox="1">
            <a:spLocks noChangeArrowheads="1"/>
          </p:cNvSpPr>
          <p:nvPr/>
        </p:nvSpPr>
        <p:spPr bwMode="auto">
          <a:xfrm>
            <a:off x="1971676" y="3733800"/>
            <a:ext cx="12477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Ближняя</a:t>
            </a:r>
            <a:br>
              <a:rPr lang="ru-RU"/>
            </a:br>
            <a:r>
              <a:rPr lang="ru-RU"/>
              <a:t>плоскость</a:t>
            </a:r>
          </a:p>
        </p:txBody>
      </p:sp>
      <p:sp>
        <p:nvSpPr>
          <p:cNvPr id="216090" name="Text Box 26"/>
          <p:cNvSpPr txBox="1">
            <a:spLocks noChangeArrowheads="1"/>
          </p:cNvSpPr>
          <p:nvPr/>
        </p:nvSpPr>
        <p:spPr bwMode="auto">
          <a:xfrm>
            <a:off x="9120189" y="4868863"/>
            <a:ext cx="12477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Дальняя</a:t>
            </a:r>
            <a:br>
              <a:rPr lang="ru-RU"/>
            </a:br>
            <a:r>
              <a:rPr lang="ru-RU"/>
              <a:t>плоскость</a:t>
            </a:r>
          </a:p>
        </p:txBody>
      </p:sp>
      <p:sp>
        <p:nvSpPr>
          <p:cNvPr id="216091" name="Arc 27"/>
          <p:cNvSpPr>
            <a:spLocks/>
          </p:cNvSpPr>
          <p:nvPr/>
        </p:nvSpPr>
        <p:spPr bwMode="auto">
          <a:xfrm>
            <a:off x="2568575" y="3284539"/>
            <a:ext cx="2014538" cy="865187"/>
          </a:xfrm>
          <a:custGeom>
            <a:avLst/>
            <a:gdLst>
              <a:gd name="T0" fmla="*/ 0 w 33797"/>
              <a:gd name="T1" fmla="*/ 835304741 h 21600"/>
              <a:gd name="T2" fmla="*/ 2147483647 w 33797"/>
              <a:gd name="T3" fmla="*/ 330188485 h 21600"/>
              <a:gd name="T4" fmla="*/ 2147483647 w 33797"/>
              <a:gd name="T5" fmla="*/ 1388104880 h 21600"/>
              <a:gd name="T6" fmla="*/ 0 60000 65536"/>
              <a:gd name="T7" fmla="*/ 0 60000 65536"/>
              <a:gd name="T8" fmla="*/ 0 60000 65536"/>
              <a:gd name="T9" fmla="*/ 0 w 33797"/>
              <a:gd name="T10" fmla="*/ 0 h 21600"/>
              <a:gd name="T11" fmla="*/ 33797 w 3379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797" h="21600" fill="none" extrusionOk="0">
                <a:moveTo>
                  <a:pt x="-1" y="12997"/>
                </a:moveTo>
                <a:cubicBezTo>
                  <a:pt x="3426" y="5105"/>
                  <a:pt x="11209" y="-1"/>
                  <a:pt x="19813" y="0"/>
                </a:cubicBezTo>
                <a:cubicBezTo>
                  <a:pt x="24936" y="0"/>
                  <a:pt x="29892" y="1820"/>
                  <a:pt x="33797" y="5137"/>
                </a:cubicBezTo>
              </a:path>
              <a:path w="33797" h="21600" stroke="0" extrusionOk="0">
                <a:moveTo>
                  <a:pt x="-1" y="12997"/>
                </a:moveTo>
                <a:cubicBezTo>
                  <a:pt x="3426" y="5105"/>
                  <a:pt x="11209" y="-1"/>
                  <a:pt x="19813" y="0"/>
                </a:cubicBezTo>
                <a:cubicBezTo>
                  <a:pt x="24936" y="0"/>
                  <a:pt x="29892" y="1820"/>
                  <a:pt x="33797" y="5137"/>
                </a:cubicBezTo>
                <a:lnTo>
                  <a:pt x="19813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6092" name="Arc 28"/>
          <p:cNvSpPr>
            <a:spLocks/>
          </p:cNvSpPr>
          <p:nvPr/>
        </p:nvSpPr>
        <p:spPr bwMode="auto">
          <a:xfrm flipH="1">
            <a:off x="7377114" y="4508500"/>
            <a:ext cx="2333625" cy="793750"/>
          </a:xfrm>
          <a:custGeom>
            <a:avLst/>
            <a:gdLst>
              <a:gd name="T0" fmla="*/ 0 w 29584"/>
              <a:gd name="T1" fmla="*/ 489985667 h 21600"/>
              <a:gd name="T2" fmla="*/ 2147483647 w 29584"/>
              <a:gd name="T3" fmla="*/ 162765508 h 21600"/>
              <a:gd name="T4" fmla="*/ 2147483647 w 29584"/>
              <a:gd name="T5" fmla="*/ 1071873439 h 21600"/>
              <a:gd name="T6" fmla="*/ 0 60000 65536"/>
              <a:gd name="T7" fmla="*/ 0 60000 65536"/>
              <a:gd name="T8" fmla="*/ 0 60000 65536"/>
              <a:gd name="T9" fmla="*/ 0 w 29584"/>
              <a:gd name="T10" fmla="*/ 0 h 21600"/>
              <a:gd name="T11" fmla="*/ 29584 w 2958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584" h="21600" fill="none" extrusionOk="0">
                <a:moveTo>
                  <a:pt x="-1" y="9873"/>
                </a:moveTo>
                <a:cubicBezTo>
                  <a:pt x="3979" y="3717"/>
                  <a:pt x="10809" y="-1"/>
                  <a:pt x="18140" y="0"/>
                </a:cubicBezTo>
                <a:cubicBezTo>
                  <a:pt x="22186" y="0"/>
                  <a:pt x="26151" y="1136"/>
                  <a:pt x="29583" y="3280"/>
                </a:cubicBezTo>
              </a:path>
              <a:path w="29584" h="21600" stroke="0" extrusionOk="0">
                <a:moveTo>
                  <a:pt x="-1" y="9873"/>
                </a:moveTo>
                <a:cubicBezTo>
                  <a:pt x="3979" y="3717"/>
                  <a:pt x="10809" y="-1"/>
                  <a:pt x="18140" y="0"/>
                </a:cubicBezTo>
                <a:cubicBezTo>
                  <a:pt x="22186" y="0"/>
                  <a:pt x="26151" y="1136"/>
                  <a:pt x="29583" y="3280"/>
                </a:cubicBezTo>
                <a:lnTo>
                  <a:pt x="1814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6095" name="Text Box 31"/>
          <p:cNvSpPr txBox="1">
            <a:spLocks noChangeArrowheads="1"/>
          </p:cNvSpPr>
          <p:nvPr/>
        </p:nvSpPr>
        <p:spPr bwMode="auto">
          <a:xfrm>
            <a:off x="8401051" y="2060575"/>
            <a:ext cx="20161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Отображаемый объем</a:t>
            </a:r>
          </a:p>
        </p:txBody>
      </p:sp>
      <p:sp>
        <p:nvSpPr>
          <p:cNvPr id="216096" name="Arc 32"/>
          <p:cNvSpPr>
            <a:spLocks/>
          </p:cNvSpPr>
          <p:nvPr/>
        </p:nvSpPr>
        <p:spPr bwMode="auto">
          <a:xfrm flipH="1">
            <a:off x="6383339" y="2349500"/>
            <a:ext cx="2160587" cy="1727200"/>
          </a:xfrm>
          <a:custGeom>
            <a:avLst/>
            <a:gdLst>
              <a:gd name="T0" fmla="*/ 826284173 w 19904"/>
              <a:gd name="T1" fmla="*/ 0 h 21590"/>
              <a:gd name="T2" fmla="*/ 2147483647 w 19904"/>
              <a:gd name="T3" fmla="*/ 2147483647 h 21590"/>
              <a:gd name="T4" fmla="*/ 0 w 19904"/>
              <a:gd name="T5" fmla="*/ 2147483647 h 21590"/>
              <a:gd name="T6" fmla="*/ 0 60000 65536"/>
              <a:gd name="T7" fmla="*/ 0 60000 65536"/>
              <a:gd name="T8" fmla="*/ 0 60000 65536"/>
              <a:gd name="T9" fmla="*/ 0 w 19904"/>
              <a:gd name="T10" fmla="*/ 0 h 21590"/>
              <a:gd name="T11" fmla="*/ 19904 w 19904"/>
              <a:gd name="T12" fmla="*/ 21590 h 215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904" h="21590" fill="none" extrusionOk="0">
                <a:moveTo>
                  <a:pt x="646" y="-1"/>
                </a:moveTo>
                <a:cubicBezTo>
                  <a:pt x="9095" y="252"/>
                  <a:pt x="16620" y="5410"/>
                  <a:pt x="19903" y="13200"/>
                </a:cubicBezTo>
              </a:path>
              <a:path w="19904" h="21590" stroke="0" extrusionOk="0">
                <a:moveTo>
                  <a:pt x="646" y="-1"/>
                </a:moveTo>
                <a:cubicBezTo>
                  <a:pt x="9095" y="252"/>
                  <a:pt x="16620" y="5410"/>
                  <a:pt x="19903" y="13200"/>
                </a:cubicBezTo>
                <a:lnTo>
                  <a:pt x="0" y="2159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6097" name="AutoShape 33"/>
          <p:cNvSpPr>
            <a:spLocks noChangeArrowheads="1"/>
          </p:cNvSpPr>
          <p:nvPr/>
        </p:nvSpPr>
        <p:spPr bwMode="auto">
          <a:xfrm rot="9443456">
            <a:off x="4008439" y="3517901"/>
            <a:ext cx="2447925" cy="847725"/>
          </a:xfrm>
          <a:prstGeom prst="parallelogram">
            <a:avLst>
              <a:gd name="adj" fmla="val 70894"/>
            </a:avLst>
          </a:prstGeom>
          <a:noFill/>
          <a:ln w="12700">
            <a:solidFill>
              <a:srgbClr val="047009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6069" name="AutoShape 5"/>
          <p:cNvSpPr>
            <a:spLocks noChangeArrowheads="1"/>
          </p:cNvSpPr>
          <p:nvPr/>
        </p:nvSpPr>
        <p:spPr bwMode="auto">
          <a:xfrm rot="9443456">
            <a:off x="4002088" y="3084514"/>
            <a:ext cx="1712912" cy="592137"/>
          </a:xfrm>
          <a:prstGeom prst="parallelogram">
            <a:avLst>
              <a:gd name="adj" fmla="val 7102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6098" name="Text Box 34"/>
          <p:cNvSpPr txBox="1">
            <a:spLocks noChangeArrowheads="1"/>
          </p:cNvSpPr>
          <p:nvPr/>
        </p:nvSpPr>
        <p:spPr bwMode="auto">
          <a:xfrm>
            <a:off x="1703388" y="4868863"/>
            <a:ext cx="14605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Плоскость просмотра</a:t>
            </a:r>
          </a:p>
        </p:txBody>
      </p:sp>
      <p:sp>
        <p:nvSpPr>
          <p:cNvPr id="216099" name="Arc 35"/>
          <p:cNvSpPr>
            <a:spLocks/>
          </p:cNvSpPr>
          <p:nvPr/>
        </p:nvSpPr>
        <p:spPr bwMode="auto">
          <a:xfrm flipV="1">
            <a:off x="2782888" y="3789363"/>
            <a:ext cx="2305050" cy="1498600"/>
          </a:xfrm>
          <a:custGeom>
            <a:avLst/>
            <a:gdLst>
              <a:gd name="T0" fmla="*/ 2147483647 w 20141"/>
              <a:gd name="T1" fmla="*/ 0 h 21415"/>
              <a:gd name="T2" fmla="*/ 2147483647 w 20141"/>
              <a:gd name="T3" fmla="*/ 2147483647 h 21415"/>
              <a:gd name="T4" fmla="*/ 0 w 20141"/>
              <a:gd name="T5" fmla="*/ 2147483647 h 21415"/>
              <a:gd name="T6" fmla="*/ 0 60000 65536"/>
              <a:gd name="T7" fmla="*/ 0 60000 65536"/>
              <a:gd name="T8" fmla="*/ 0 60000 65536"/>
              <a:gd name="T9" fmla="*/ 0 w 20141"/>
              <a:gd name="T10" fmla="*/ 0 h 21415"/>
              <a:gd name="T11" fmla="*/ 20141 w 20141"/>
              <a:gd name="T12" fmla="*/ 21415 h 214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141" h="21415" fill="none" extrusionOk="0">
                <a:moveTo>
                  <a:pt x="2819" y="-1"/>
                </a:moveTo>
                <a:cubicBezTo>
                  <a:pt x="10646" y="1030"/>
                  <a:pt x="17289" y="6249"/>
                  <a:pt x="20141" y="13611"/>
                </a:cubicBezTo>
              </a:path>
              <a:path w="20141" h="21415" stroke="0" extrusionOk="0">
                <a:moveTo>
                  <a:pt x="2819" y="-1"/>
                </a:moveTo>
                <a:cubicBezTo>
                  <a:pt x="10646" y="1030"/>
                  <a:pt x="17289" y="6249"/>
                  <a:pt x="20141" y="13611"/>
                </a:cubicBezTo>
                <a:lnTo>
                  <a:pt x="0" y="21415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16100" name="Text Box 36"/>
          <p:cNvSpPr txBox="1">
            <a:spLocks noChangeArrowheads="1"/>
          </p:cNvSpPr>
          <p:nvPr/>
        </p:nvSpPr>
        <p:spPr bwMode="auto">
          <a:xfrm>
            <a:off x="2135188" y="1989138"/>
            <a:ext cx="6731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Глаз</a:t>
            </a:r>
          </a:p>
        </p:txBody>
      </p:sp>
      <p:sp>
        <p:nvSpPr>
          <p:cNvPr id="216101" name="Arc 37"/>
          <p:cNvSpPr>
            <a:spLocks/>
          </p:cNvSpPr>
          <p:nvPr/>
        </p:nvSpPr>
        <p:spPr bwMode="auto">
          <a:xfrm>
            <a:off x="2713039" y="1844676"/>
            <a:ext cx="1222375" cy="504825"/>
          </a:xfrm>
          <a:custGeom>
            <a:avLst/>
            <a:gdLst>
              <a:gd name="T0" fmla="*/ 0 w 31788"/>
              <a:gd name="T1" fmla="*/ 107031789 h 21600"/>
              <a:gd name="T2" fmla="*/ 1807536405 w 31788"/>
              <a:gd name="T3" fmla="*/ 73737541 h 21600"/>
              <a:gd name="T4" fmla="*/ 971490868 w 31788"/>
              <a:gd name="T5" fmla="*/ 275749619 h 21600"/>
              <a:gd name="T6" fmla="*/ 0 60000 65536"/>
              <a:gd name="T7" fmla="*/ 0 60000 65536"/>
              <a:gd name="T8" fmla="*/ 0 60000 65536"/>
              <a:gd name="T9" fmla="*/ 0 w 31788"/>
              <a:gd name="T10" fmla="*/ 0 h 21600"/>
              <a:gd name="T11" fmla="*/ 31788 w 317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788" h="21600" fill="none" extrusionOk="0">
                <a:moveTo>
                  <a:pt x="-1" y="8383"/>
                </a:moveTo>
                <a:cubicBezTo>
                  <a:pt x="4090" y="3095"/>
                  <a:pt x="10399" y="-1"/>
                  <a:pt x="17085" y="0"/>
                </a:cubicBezTo>
                <a:cubicBezTo>
                  <a:pt x="22539" y="0"/>
                  <a:pt x="27791" y="2063"/>
                  <a:pt x="31787" y="5776"/>
                </a:cubicBezTo>
              </a:path>
              <a:path w="31788" h="21600" stroke="0" extrusionOk="0">
                <a:moveTo>
                  <a:pt x="-1" y="8383"/>
                </a:moveTo>
                <a:cubicBezTo>
                  <a:pt x="4090" y="3095"/>
                  <a:pt x="10399" y="-1"/>
                  <a:pt x="17085" y="0"/>
                </a:cubicBezTo>
                <a:cubicBezTo>
                  <a:pt x="22539" y="0"/>
                  <a:pt x="27791" y="2063"/>
                  <a:pt x="31787" y="5776"/>
                </a:cubicBezTo>
                <a:lnTo>
                  <a:pt x="17085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1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1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1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16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1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1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16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1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1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16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21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21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21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21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21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21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21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70" grpId="0" animBg="1"/>
      <p:bldP spid="216072" grpId="0" animBg="1"/>
      <p:bldP spid="216074" grpId="0" animBg="1"/>
      <p:bldP spid="216079" grpId="0" animBg="1"/>
      <p:bldP spid="216080" grpId="0" animBg="1"/>
      <p:bldP spid="216081" grpId="0" animBg="1"/>
      <p:bldP spid="216073" grpId="0" animBg="1"/>
      <p:bldP spid="216071" grpId="0" animBg="1"/>
      <p:bldP spid="216089" grpId="0"/>
      <p:bldP spid="216090" grpId="0"/>
      <p:bldP spid="216091" grpId="0" animBg="1"/>
      <p:bldP spid="216092" grpId="0" animBg="1"/>
      <p:bldP spid="216095" grpId="0"/>
      <p:bldP spid="216096" grpId="0" animBg="1"/>
      <p:bldP spid="216097" grpId="0" animBg="1"/>
      <p:bldP spid="216069" grpId="0" animBg="1"/>
      <p:bldP spid="216098" grpId="0"/>
      <p:bldP spid="216099" grpId="0" animBg="1"/>
      <p:bldP spid="216100" grpId="0"/>
      <p:bldP spid="216101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Line 16"/>
          <p:cNvSpPr>
            <a:spLocks noChangeShapeType="1"/>
          </p:cNvSpPr>
          <p:nvPr/>
        </p:nvSpPr>
        <p:spPr bwMode="auto">
          <a:xfrm flipH="1" flipV="1">
            <a:off x="1774825" y="2420939"/>
            <a:ext cx="8027988" cy="22129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800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/>
              <a:t>Процесс визуализации трехмерной сцены (продолжение)</a:t>
            </a:r>
          </a:p>
        </p:txBody>
      </p:sp>
      <p:sp>
        <p:nvSpPr>
          <p:cNvPr id="220181" name="AutoShape 21"/>
          <p:cNvSpPr>
            <a:spLocks noChangeArrowheads="1"/>
          </p:cNvSpPr>
          <p:nvPr/>
        </p:nvSpPr>
        <p:spPr bwMode="auto">
          <a:xfrm>
            <a:off x="4872039" y="3068639"/>
            <a:ext cx="433387" cy="43338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0182" name="Oval 22"/>
          <p:cNvSpPr>
            <a:spLocks noChangeArrowheads="1"/>
          </p:cNvSpPr>
          <p:nvPr/>
        </p:nvSpPr>
        <p:spPr bwMode="auto">
          <a:xfrm>
            <a:off x="4872039" y="3465514"/>
            <a:ext cx="433387" cy="9207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0054" name="AutoShape 12"/>
          <p:cNvSpPr>
            <a:spLocks noChangeArrowheads="1"/>
          </p:cNvSpPr>
          <p:nvPr/>
        </p:nvSpPr>
        <p:spPr bwMode="auto">
          <a:xfrm rot="5259743" flipH="1">
            <a:off x="4485482" y="2564607"/>
            <a:ext cx="1087438" cy="1470025"/>
          </a:xfrm>
          <a:prstGeom prst="parallelogram">
            <a:avLst>
              <a:gd name="adj" fmla="val 25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0055" name="Line 14"/>
          <p:cNvSpPr>
            <a:spLocks noChangeShapeType="1"/>
          </p:cNvSpPr>
          <p:nvPr/>
        </p:nvSpPr>
        <p:spPr bwMode="auto">
          <a:xfrm flipH="1" flipV="1">
            <a:off x="1781176" y="2447926"/>
            <a:ext cx="7915275" cy="549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30056" name="Line 15"/>
          <p:cNvSpPr>
            <a:spLocks noChangeShapeType="1"/>
          </p:cNvSpPr>
          <p:nvPr/>
        </p:nvSpPr>
        <p:spPr bwMode="auto">
          <a:xfrm flipH="1" flipV="1">
            <a:off x="1774825" y="2420939"/>
            <a:ext cx="5080000" cy="2879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30057" name="AutoShape 18"/>
          <p:cNvSpPr>
            <a:spLocks noChangeArrowheads="1"/>
          </p:cNvSpPr>
          <p:nvPr/>
        </p:nvSpPr>
        <p:spPr bwMode="auto">
          <a:xfrm>
            <a:off x="7535863" y="3644901"/>
            <a:ext cx="1008062" cy="100806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0058" name="Oval 19"/>
          <p:cNvSpPr>
            <a:spLocks noChangeArrowheads="1"/>
          </p:cNvSpPr>
          <p:nvPr/>
        </p:nvSpPr>
        <p:spPr bwMode="auto">
          <a:xfrm>
            <a:off x="7535863" y="4508500"/>
            <a:ext cx="1008062" cy="2159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0059" name="Line 20"/>
          <p:cNvSpPr>
            <a:spLocks noChangeShapeType="1"/>
          </p:cNvSpPr>
          <p:nvPr/>
        </p:nvSpPr>
        <p:spPr bwMode="auto">
          <a:xfrm flipH="1" flipV="1">
            <a:off x="1781175" y="2441828"/>
            <a:ext cx="6259513" cy="12030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20183" name="AutoShape 23"/>
          <p:cNvSpPr>
            <a:spLocks noChangeArrowheads="1"/>
          </p:cNvSpPr>
          <p:nvPr/>
        </p:nvSpPr>
        <p:spPr bwMode="auto">
          <a:xfrm rot="5259743" flipH="1">
            <a:off x="4487070" y="2566195"/>
            <a:ext cx="1087437" cy="1470025"/>
          </a:xfrm>
          <a:prstGeom prst="parallelogram">
            <a:avLst>
              <a:gd name="adj" fmla="val 25000"/>
            </a:avLst>
          </a:prstGeom>
          <a:solidFill>
            <a:schemeClr val="accent2">
              <a:alpha val="45882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0061" name="Line 17"/>
          <p:cNvSpPr>
            <a:spLocks noChangeShapeType="1"/>
          </p:cNvSpPr>
          <p:nvPr/>
        </p:nvSpPr>
        <p:spPr bwMode="auto">
          <a:xfrm flipH="1" flipV="1">
            <a:off x="1774825" y="2420939"/>
            <a:ext cx="5022850" cy="1233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20184" name="Text Box 24"/>
          <p:cNvSpPr txBox="1">
            <a:spLocks noChangeArrowheads="1"/>
          </p:cNvSpPr>
          <p:nvPr/>
        </p:nvSpPr>
        <p:spPr bwMode="auto">
          <a:xfrm>
            <a:off x="8543926" y="2349501"/>
            <a:ext cx="3095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endParaRPr lang="ru-RU"/>
          </a:p>
        </p:txBody>
      </p:sp>
      <p:sp>
        <p:nvSpPr>
          <p:cNvPr id="220185" name="Text Box 25"/>
          <p:cNvSpPr txBox="1">
            <a:spLocks noChangeArrowheads="1"/>
          </p:cNvSpPr>
          <p:nvPr/>
        </p:nvSpPr>
        <p:spPr bwMode="auto">
          <a:xfrm>
            <a:off x="6024564" y="2060576"/>
            <a:ext cx="3571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P’</a:t>
            </a:r>
            <a:endParaRPr lang="ru-RU"/>
          </a:p>
        </p:txBody>
      </p:sp>
      <p:sp>
        <p:nvSpPr>
          <p:cNvPr id="220186" name="Arc 26"/>
          <p:cNvSpPr>
            <a:spLocks/>
          </p:cNvSpPr>
          <p:nvPr/>
        </p:nvSpPr>
        <p:spPr bwMode="auto">
          <a:xfrm flipH="1">
            <a:off x="8040689" y="2565401"/>
            <a:ext cx="503237" cy="1008063"/>
          </a:xfrm>
          <a:custGeom>
            <a:avLst/>
            <a:gdLst>
              <a:gd name="T0" fmla="*/ 0 w 21600"/>
              <a:gd name="T1" fmla="*/ 0 h 21600"/>
              <a:gd name="T2" fmla="*/ 2731555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0188" name="Arc 28"/>
          <p:cNvSpPr>
            <a:spLocks/>
          </p:cNvSpPr>
          <p:nvPr/>
        </p:nvSpPr>
        <p:spPr bwMode="auto">
          <a:xfrm flipH="1">
            <a:off x="5087938" y="2276476"/>
            <a:ext cx="863600" cy="720725"/>
          </a:xfrm>
          <a:custGeom>
            <a:avLst/>
            <a:gdLst>
              <a:gd name="T0" fmla="*/ 0 w 21600"/>
              <a:gd name="T1" fmla="*/ 0 h 21600"/>
              <a:gd name="T2" fmla="*/ 1380480733 w 21600"/>
              <a:gd name="T3" fmla="*/ 802418889 h 21600"/>
              <a:gd name="T4" fmla="*/ 0 w 21600"/>
              <a:gd name="T5" fmla="*/ 802418889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0066" name="AutoShape 13"/>
          <p:cNvSpPr>
            <a:spLocks noChangeArrowheads="1"/>
          </p:cNvSpPr>
          <p:nvPr/>
        </p:nvSpPr>
        <p:spPr bwMode="auto">
          <a:xfrm rot="5259743" flipH="1">
            <a:off x="7200900" y="2684463"/>
            <a:ext cx="2184400" cy="2952750"/>
          </a:xfrm>
          <a:prstGeom prst="parallelogram">
            <a:avLst>
              <a:gd name="adj" fmla="val 25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0189" name="Text Box 29"/>
          <p:cNvSpPr txBox="1">
            <a:spLocks noChangeArrowheads="1"/>
          </p:cNvSpPr>
          <p:nvPr/>
        </p:nvSpPr>
        <p:spPr bwMode="auto">
          <a:xfrm>
            <a:off x="6383339" y="1773238"/>
            <a:ext cx="39592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Проецирование точек на плоскость просмотра</a:t>
            </a:r>
          </a:p>
        </p:txBody>
      </p:sp>
      <p:sp>
        <p:nvSpPr>
          <p:cNvPr id="220191" name="AutoShape 31"/>
          <p:cNvSpPr>
            <a:spLocks noChangeArrowheads="1"/>
          </p:cNvSpPr>
          <p:nvPr/>
        </p:nvSpPr>
        <p:spPr bwMode="auto">
          <a:xfrm>
            <a:off x="2595563" y="5400675"/>
            <a:ext cx="2233612" cy="1295400"/>
          </a:xfrm>
          <a:prstGeom prst="roundRect">
            <a:avLst>
              <a:gd name="adj" fmla="val 16667"/>
            </a:avLst>
          </a:prstGeom>
          <a:solidFill>
            <a:srgbClr val="98B1E4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0190" name="Rectangle 30"/>
          <p:cNvSpPr>
            <a:spLocks noChangeArrowheads="1"/>
          </p:cNvSpPr>
          <p:nvPr/>
        </p:nvSpPr>
        <p:spPr bwMode="auto">
          <a:xfrm>
            <a:off x="2711451" y="5516563"/>
            <a:ext cx="2016125" cy="10795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0192" name="AutoShape 32"/>
          <p:cNvSpPr>
            <a:spLocks noChangeArrowheads="1"/>
          </p:cNvSpPr>
          <p:nvPr/>
        </p:nvSpPr>
        <p:spPr bwMode="auto">
          <a:xfrm>
            <a:off x="3359151" y="5661026"/>
            <a:ext cx="720725" cy="7207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0193" name="Oval 33"/>
          <p:cNvSpPr>
            <a:spLocks noChangeArrowheads="1"/>
          </p:cNvSpPr>
          <p:nvPr/>
        </p:nvSpPr>
        <p:spPr bwMode="auto">
          <a:xfrm>
            <a:off x="3360739" y="6299200"/>
            <a:ext cx="719137" cy="15398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0194" name="Text Box 34"/>
          <p:cNvSpPr txBox="1">
            <a:spLocks noChangeArrowheads="1"/>
          </p:cNvSpPr>
          <p:nvPr/>
        </p:nvSpPr>
        <p:spPr bwMode="auto">
          <a:xfrm>
            <a:off x="1919288" y="4652963"/>
            <a:ext cx="37449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Преобразование в видовой порт (порт просмотра, </a:t>
            </a:r>
            <a:r>
              <a:rPr lang="en-US"/>
              <a:t>View Port)</a:t>
            </a:r>
            <a:endParaRPr lang="ru-RU"/>
          </a:p>
        </p:txBody>
      </p:sp>
      <p:sp>
        <p:nvSpPr>
          <p:cNvPr id="220196" name="Text Box 36"/>
          <p:cNvSpPr txBox="1">
            <a:spLocks noChangeArrowheads="1"/>
          </p:cNvSpPr>
          <p:nvPr/>
        </p:nvSpPr>
        <p:spPr bwMode="auto">
          <a:xfrm>
            <a:off x="5303839" y="5678489"/>
            <a:ext cx="5113337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После того, как координаты ключевых точек объекта преобразованы в порт просмотра осуществляется этап </a:t>
            </a:r>
            <a:r>
              <a:rPr lang="ru-RU" b="1"/>
              <a:t>растеризации</a:t>
            </a:r>
            <a:r>
              <a:rPr lang="ru-RU"/>
              <a:t> объекта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2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2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2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2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2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2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2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22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22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22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22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22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22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81" grpId="0" animBg="1"/>
      <p:bldP spid="220182" grpId="0" animBg="1"/>
      <p:bldP spid="220183" grpId="0" animBg="1"/>
      <p:bldP spid="220184" grpId="0"/>
      <p:bldP spid="220185" grpId="0"/>
      <p:bldP spid="220186" grpId="0" animBg="1"/>
      <p:bldP spid="220188" grpId="0" animBg="1"/>
      <p:bldP spid="220189" grpId="0"/>
      <p:bldP spid="220191" grpId="0" animBg="1"/>
      <p:bldP spid="220190" grpId="0" animBg="1"/>
      <p:bldP spid="220192" grpId="0" animBg="1"/>
      <p:bldP spid="220193" grpId="0" animBg="1"/>
      <p:bldP spid="220194" grpId="0"/>
      <p:bldP spid="220196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Позиционирование и ориентирование камеры</a:t>
            </a:r>
          </a:p>
        </p:txBody>
      </p:sp>
      <p:sp>
        <p:nvSpPr>
          <p:cNvPr id="131075" name="Rectangle 1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Позиционирование:</a:t>
            </a:r>
          </a:p>
          <a:p>
            <a:pPr lvl="1" eaLnBrk="1" hangingPunct="1"/>
            <a:r>
              <a:rPr lang="ru-RU" dirty="0"/>
              <a:t>Перемещаем камеру (глаз наблюдателя) в некоторую точку пространства</a:t>
            </a:r>
          </a:p>
          <a:p>
            <a:pPr eaLnBrk="1" hangingPunct="1"/>
            <a:r>
              <a:rPr lang="ru-RU" dirty="0"/>
              <a:t>Ориентация:</a:t>
            </a:r>
          </a:p>
          <a:p>
            <a:pPr lvl="1" eaLnBrk="1" hangingPunct="1"/>
            <a:r>
              <a:rPr lang="ru-RU" dirty="0"/>
              <a:t>Повернем камеру так, чтобы нацелить и наклонить в желаемом направлении 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Line 14"/>
          <p:cNvSpPr>
            <a:spLocks noChangeShapeType="1"/>
          </p:cNvSpPr>
          <p:nvPr/>
        </p:nvSpPr>
        <p:spPr bwMode="auto">
          <a:xfrm>
            <a:off x="5951539" y="5300663"/>
            <a:ext cx="2376487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30051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Позиционирование и ориентирование камеры</a:t>
            </a:r>
          </a:p>
        </p:txBody>
      </p:sp>
      <p:sp>
        <p:nvSpPr>
          <p:cNvPr id="132100" name="AutoShape 7"/>
          <p:cNvSpPr>
            <a:spLocks noChangeArrowheads="1"/>
          </p:cNvSpPr>
          <p:nvPr/>
        </p:nvSpPr>
        <p:spPr bwMode="auto">
          <a:xfrm>
            <a:off x="7032625" y="4437064"/>
            <a:ext cx="1728788" cy="1368425"/>
          </a:xfrm>
          <a:prstGeom prst="cube">
            <a:avLst>
              <a:gd name="adj" fmla="val 34685"/>
            </a:avLst>
          </a:prstGeom>
          <a:solidFill>
            <a:srgbClr val="C1C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2101" name="AutoShape 8"/>
          <p:cNvSpPr>
            <a:spLocks noChangeArrowheads="1"/>
          </p:cNvSpPr>
          <p:nvPr/>
        </p:nvSpPr>
        <p:spPr bwMode="auto">
          <a:xfrm>
            <a:off x="7608888" y="4005263"/>
            <a:ext cx="576262" cy="792162"/>
          </a:xfrm>
          <a:prstGeom prst="can">
            <a:avLst>
              <a:gd name="adj" fmla="val 34366"/>
            </a:avLst>
          </a:prstGeom>
          <a:solidFill>
            <a:srgbClr val="E3855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7339" name="AutoShape 11"/>
          <p:cNvSpPr>
            <a:spLocks noChangeArrowheads="1"/>
          </p:cNvSpPr>
          <p:nvPr/>
        </p:nvSpPr>
        <p:spPr bwMode="auto">
          <a:xfrm rot="-5532125">
            <a:off x="2316163" y="5842001"/>
            <a:ext cx="360363" cy="5762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2103" name="Line 12"/>
          <p:cNvSpPr>
            <a:spLocks noChangeShapeType="1"/>
          </p:cNvSpPr>
          <p:nvPr/>
        </p:nvSpPr>
        <p:spPr bwMode="auto">
          <a:xfrm flipV="1">
            <a:off x="5951538" y="3068639"/>
            <a:ext cx="0" cy="2232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32104" name="Line 13"/>
          <p:cNvSpPr>
            <a:spLocks noChangeShapeType="1"/>
          </p:cNvSpPr>
          <p:nvPr/>
        </p:nvSpPr>
        <p:spPr bwMode="auto">
          <a:xfrm flipH="1">
            <a:off x="4151314" y="5300664"/>
            <a:ext cx="1800225" cy="9366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27346" name="Text Box 18"/>
          <p:cNvSpPr txBox="1">
            <a:spLocks noChangeArrowheads="1"/>
          </p:cNvSpPr>
          <p:nvPr/>
        </p:nvSpPr>
        <p:spPr bwMode="auto">
          <a:xfrm>
            <a:off x="2690814" y="6397626"/>
            <a:ext cx="54244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Перенос камеры в заданную точку пространства</a:t>
            </a:r>
          </a:p>
        </p:txBody>
      </p:sp>
      <p:sp>
        <p:nvSpPr>
          <p:cNvPr id="227347" name="Text Box 19"/>
          <p:cNvSpPr txBox="1">
            <a:spLocks noChangeArrowheads="1"/>
          </p:cNvSpPr>
          <p:nvPr/>
        </p:nvSpPr>
        <p:spPr bwMode="auto">
          <a:xfrm>
            <a:off x="4440239" y="2349501"/>
            <a:ext cx="56229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dirty="0"/>
              <a:t>Ориентирование камеры в заданном направлении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3.23699E-6 L 0.16545 -0.44578 " pathEditMode="relative" rAng="0" ptsTypes="AA">
                                      <p:cBhvr>
                                        <p:cTn id="11" dur="3000" fill="hold"/>
                                        <p:tgtEl>
                                          <p:spTgt spid="2273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00" y="-22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0"/>
                                        <p:tgtEl>
                                          <p:spTgt spid="227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2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680000">
                                      <p:cBhvr>
                                        <p:cTn id="24" dur="2000" fill="hold"/>
                                        <p:tgtEl>
                                          <p:spTgt spid="2273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9" grpId="0" animBg="1"/>
      <p:bldP spid="227339" grpId="1" animBg="1"/>
      <p:bldP spid="227346" grpId="0"/>
      <p:bldP spid="227346" grpId="1"/>
      <p:bldP spid="227347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99" name="Line 23"/>
          <p:cNvSpPr>
            <a:spLocks noChangeShapeType="1"/>
          </p:cNvSpPr>
          <p:nvPr/>
        </p:nvSpPr>
        <p:spPr bwMode="auto">
          <a:xfrm flipH="1" flipV="1">
            <a:off x="3575051" y="5634038"/>
            <a:ext cx="3095625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29391" name="Line 15"/>
          <p:cNvSpPr>
            <a:spLocks noChangeShapeType="1"/>
          </p:cNvSpPr>
          <p:nvPr/>
        </p:nvSpPr>
        <p:spPr bwMode="auto">
          <a:xfrm flipH="1" flipV="1">
            <a:off x="5807075" y="3959226"/>
            <a:ext cx="0" cy="13858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29392" name="Line 16"/>
          <p:cNvSpPr>
            <a:spLocks noChangeShapeType="1"/>
          </p:cNvSpPr>
          <p:nvPr/>
        </p:nvSpPr>
        <p:spPr bwMode="auto">
          <a:xfrm flipH="1">
            <a:off x="4654551" y="5345113"/>
            <a:ext cx="1152525" cy="7921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29393" name="Line 17"/>
          <p:cNvSpPr>
            <a:spLocks noChangeShapeType="1"/>
          </p:cNvSpPr>
          <p:nvPr/>
        </p:nvSpPr>
        <p:spPr bwMode="auto">
          <a:xfrm>
            <a:off x="5807076" y="5345113"/>
            <a:ext cx="1368425" cy="5762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331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Система координат, связанная с камерой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/>
              <a:t>Система координат камеры имеет начало, расположенное в точке глаза и три координатные оси</a:t>
            </a:r>
            <a:r>
              <a:rPr lang="en-US"/>
              <a:t>: </a:t>
            </a:r>
            <a:r>
              <a:rPr lang="en-US" b="1"/>
              <a:t>u</a:t>
            </a:r>
            <a:r>
              <a:rPr lang="en-US"/>
              <a:t>, </a:t>
            </a:r>
            <a:r>
              <a:rPr lang="en-US" b="1"/>
              <a:t>v</a:t>
            </a:r>
            <a:r>
              <a:rPr lang="en-US"/>
              <a:t>, </a:t>
            </a:r>
            <a:r>
              <a:rPr lang="en-US" b="1"/>
              <a:t>n</a:t>
            </a:r>
            <a:endParaRPr lang="ru-RU" b="1"/>
          </a:p>
        </p:txBody>
      </p:sp>
      <p:sp>
        <p:nvSpPr>
          <p:cNvPr id="229382" name="Line 6"/>
          <p:cNvSpPr>
            <a:spLocks noChangeShapeType="1"/>
          </p:cNvSpPr>
          <p:nvPr/>
        </p:nvSpPr>
        <p:spPr bwMode="auto">
          <a:xfrm flipH="1">
            <a:off x="1703388" y="5634038"/>
            <a:ext cx="4286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29383" name="Line 7"/>
          <p:cNvSpPr>
            <a:spLocks noChangeShapeType="1"/>
          </p:cNvSpPr>
          <p:nvPr/>
        </p:nvSpPr>
        <p:spPr bwMode="auto">
          <a:xfrm flipV="1">
            <a:off x="3575050" y="4194176"/>
            <a:ext cx="0" cy="1439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29384" name="Line 8"/>
          <p:cNvSpPr>
            <a:spLocks noChangeShapeType="1"/>
          </p:cNvSpPr>
          <p:nvPr/>
        </p:nvSpPr>
        <p:spPr bwMode="auto">
          <a:xfrm flipH="1">
            <a:off x="2351088" y="5634038"/>
            <a:ext cx="1223962" cy="86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29385" name="Text Box 9"/>
          <p:cNvSpPr txBox="1">
            <a:spLocks noChangeArrowheads="1"/>
          </p:cNvSpPr>
          <p:nvPr/>
        </p:nvSpPr>
        <p:spPr bwMode="auto">
          <a:xfrm>
            <a:off x="1754188" y="5072063"/>
            <a:ext cx="330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n</a:t>
            </a:r>
            <a:endParaRPr lang="ru-RU" b="1"/>
          </a:p>
        </p:txBody>
      </p:sp>
      <p:sp>
        <p:nvSpPr>
          <p:cNvPr id="229386" name="Text Box 10"/>
          <p:cNvSpPr txBox="1">
            <a:spLocks noChangeArrowheads="1"/>
          </p:cNvSpPr>
          <p:nvPr/>
        </p:nvSpPr>
        <p:spPr bwMode="auto">
          <a:xfrm>
            <a:off x="2638425" y="6353176"/>
            <a:ext cx="33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u</a:t>
            </a:r>
            <a:endParaRPr lang="ru-RU" b="1"/>
          </a:p>
        </p:txBody>
      </p:sp>
      <p:sp>
        <p:nvSpPr>
          <p:cNvPr id="229387" name="Text Box 11"/>
          <p:cNvSpPr txBox="1">
            <a:spLocks noChangeArrowheads="1"/>
          </p:cNvSpPr>
          <p:nvPr/>
        </p:nvSpPr>
        <p:spPr bwMode="auto">
          <a:xfrm>
            <a:off x="3646488" y="4049713"/>
            <a:ext cx="3159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v</a:t>
            </a:r>
            <a:endParaRPr lang="ru-RU" b="1"/>
          </a:p>
        </p:txBody>
      </p:sp>
      <p:sp>
        <p:nvSpPr>
          <p:cNvPr id="229394" name="Text Box 18"/>
          <p:cNvSpPr txBox="1">
            <a:spLocks noChangeArrowheads="1"/>
          </p:cNvSpPr>
          <p:nvPr/>
        </p:nvSpPr>
        <p:spPr bwMode="auto">
          <a:xfrm>
            <a:off x="4706938" y="5937251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z</a:t>
            </a:r>
            <a:endParaRPr lang="ru-RU" b="1">
              <a:solidFill>
                <a:srgbClr val="FF0000"/>
              </a:solidFill>
            </a:endParaRPr>
          </a:p>
        </p:txBody>
      </p:sp>
      <p:sp>
        <p:nvSpPr>
          <p:cNvPr id="229395" name="Text Box 19"/>
          <p:cNvSpPr txBox="1">
            <a:spLocks noChangeArrowheads="1"/>
          </p:cNvSpPr>
          <p:nvPr/>
        </p:nvSpPr>
        <p:spPr bwMode="auto">
          <a:xfrm>
            <a:off x="7104063" y="5705476"/>
            <a:ext cx="3222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x</a:t>
            </a:r>
            <a:endParaRPr lang="ru-RU" b="1">
              <a:solidFill>
                <a:srgbClr val="FF0000"/>
              </a:solidFill>
            </a:endParaRPr>
          </a:p>
        </p:txBody>
      </p:sp>
      <p:sp>
        <p:nvSpPr>
          <p:cNvPr id="229396" name="Text Box 20"/>
          <p:cNvSpPr txBox="1">
            <a:spLocks noChangeArrowheads="1"/>
          </p:cNvSpPr>
          <p:nvPr/>
        </p:nvSpPr>
        <p:spPr bwMode="auto">
          <a:xfrm>
            <a:off x="5519738" y="3833813"/>
            <a:ext cx="3159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y</a:t>
            </a:r>
            <a:endParaRPr lang="ru-RU" b="1">
              <a:solidFill>
                <a:srgbClr val="FF0000"/>
              </a:solidFill>
            </a:endParaRPr>
          </a:p>
        </p:txBody>
      </p:sp>
      <p:sp>
        <p:nvSpPr>
          <p:cNvPr id="229397" name="Freeform 21"/>
          <p:cNvSpPr>
            <a:spLocks/>
          </p:cNvSpPr>
          <p:nvPr/>
        </p:nvSpPr>
        <p:spPr bwMode="auto">
          <a:xfrm>
            <a:off x="3582989" y="5419725"/>
            <a:ext cx="1717675" cy="1435100"/>
          </a:xfrm>
          <a:custGeom>
            <a:avLst/>
            <a:gdLst>
              <a:gd name="T0" fmla="*/ 2147483647 w 1082"/>
              <a:gd name="T1" fmla="*/ 2147483647 h 904"/>
              <a:gd name="T2" fmla="*/ 2147483647 w 1082"/>
              <a:gd name="T3" fmla="*/ 0 h 904"/>
              <a:gd name="T4" fmla="*/ 0 w 1082"/>
              <a:gd name="T5" fmla="*/ 332660634 h 904"/>
              <a:gd name="T6" fmla="*/ 2147483647 w 1082"/>
              <a:gd name="T7" fmla="*/ 2147483647 h 904"/>
              <a:gd name="T8" fmla="*/ 0 60000 65536"/>
              <a:gd name="T9" fmla="*/ 0 60000 65536"/>
              <a:gd name="T10" fmla="*/ 0 60000 65536"/>
              <a:gd name="T11" fmla="*/ 0 60000 65536"/>
              <a:gd name="T12" fmla="*/ 0 w 1082"/>
              <a:gd name="T13" fmla="*/ 0 h 904"/>
              <a:gd name="T14" fmla="*/ 1082 w 1082"/>
              <a:gd name="T15" fmla="*/ 904 h 9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2" h="904">
                <a:moveTo>
                  <a:pt x="1082" y="904"/>
                </a:moveTo>
                <a:lnTo>
                  <a:pt x="1082" y="0"/>
                </a:lnTo>
                <a:lnTo>
                  <a:pt x="0" y="132"/>
                </a:lnTo>
                <a:lnTo>
                  <a:pt x="1082" y="904"/>
                </a:lnTo>
                <a:close/>
              </a:path>
            </a:pathLst>
          </a:custGeom>
          <a:solidFill>
            <a:srgbClr val="D3D6E5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29398" name="Freeform 22"/>
          <p:cNvSpPr>
            <a:spLocks/>
          </p:cNvSpPr>
          <p:nvPr/>
        </p:nvSpPr>
        <p:spPr bwMode="auto">
          <a:xfrm>
            <a:off x="3579813" y="4410076"/>
            <a:ext cx="3092450" cy="1216025"/>
          </a:xfrm>
          <a:custGeom>
            <a:avLst/>
            <a:gdLst>
              <a:gd name="T0" fmla="*/ 2147483647 w 1948"/>
              <a:gd name="T1" fmla="*/ 1602819261 h 766"/>
              <a:gd name="T2" fmla="*/ 2147483647 w 1948"/>
              <a:gd name="T3" fmla="*/ 0 h 766"/>
              <a:gd name="T4" fmla="*/ 0 w 1948"/>
              <a:gd name="T5" fmla="*/ 1930439866 h 766"/>
              <a:gd name="T6" fmla="*/ 2147483647 w 1948"/>
              <a:gd name="T7" fmla="*/ 1602819261 h 766"/>
              <a:gd name="T8" fmla="*/ 0 60000 65536"/>
              <a:gd name="T9" fmla="*/ 0 60000 65536"/>
              <a:gd name="T10" fmla="*/ 0 60000 65536"/>
              <a:gd name="T11" fmla="*/ 0 60000 65536"/>
              <a:gd name="T12" fmla="*/ 0 w 1948"/>
              <a:gd name="T13" fmla="*/ 0 h 766"/>
              <a:gd name="T14" fmla="*/ 1948 w 1948"/>
              <a:gd name="T15" fmla="*/ 766 h 7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48" h="766">
                <a:moveTo>
                  <a:pt x="1084" y="636"/>
                </a:moveTo>
                <a:lnTo>
                  <a:pt x="1948" y="0"/>
                </a:lnTo>
                <a:lnTo>
                  <a:pt x="0" y="766"/>
                </a:lnTo>
                <a:lnTo>
                  <a:pt x="1084" y="636"/>
                </a:lnTo>
                <a:close/>
              </a:path>
            </a:pathLst>
          </a:custGeom>
          <a:solidFill>
            <a:srgbClr val="D3D6E5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29380" name="AutoShape 4"/>
          <p:cNvSpPr>
            <a:spLocks noChangeArrowheads="1"/>
          </p:cNvSpPr>
          <p:nvPr/>
        </p:nvSpPr>
        <p:spPr bwMode="auto">
          <a:xfrm rot="16200000" flipH="1">
            <a:off x="4764089" y="4949826"/>
            <a:ext cx="2447925" cy="1368425"/>
          </a:xfrm>
          <a:prstGeom prst="parallelogram">
            <a:avLst>
              <a:gd name="adj" fmla="val 74006"/>
            </a:avLst>
          </a:prstGeom>
          <a:solidFill>
            <a:srgbClr val="D3D6E5">
              <a:alpha val="63921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9401" name="Line 25"/>
          <p:cNvSpPr>
            <a:spLocks noChangeShapeType="1"/>
          </p:cNvSpPr>
          <p:nvPr/>
        </p:nvSpPr>
        <p:spPr bwMode="auto">
          <a:xfrm flipH="1">
            <a:off x="5986463" y="5634038"/>
            <a:ext cx="13700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29402" name="Oval 26"/>
          <p:cNvSpPr>
            <a:spLocks noChangeArrowheads="1"/>
          </p:cNvSpPr>
          <p:nvPr/>
        </p:nvSpPr>
        <p:spPr bwMode="auto">
          <a:xfrm>
            <a:off x="3503614" y="5561014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9403" name="Text Box 27"/>
          <p:cNvSpPr txBox="1">
            <a:spLocks noChangeArrowheads="1"/>
          </p:cNvSpPr>
          <p:nvPr/>
        </p:nvSpPr>
        <p:spPr bwMode="auto">
          <a:xfrm>
            <a:off x="1990725" y="4481513"/>
            <a:ext cx="6731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Глаз</a:t>
            </a:r>
          </a:p>
        </p:txBody>
      </p:sp>
      <p:sp>
        <p:nvSpPr>
          <p:cNvPr id="229404" name="Arc 28"/>
          <p:cNvSpPr>
            <a:spLocks/>
          </p:cNvSpPr>
          <p:nvPr/>
        </p:nvSpPr>
        <p:spPr bwMode="auto">
          <a:xfrm flipV="1">
            <a:off x="2638426" y="4121151"/>
            <a:ext cx="1223963" cy="1439863"/>
          </a:xfrm>
          <a:custGeom>
            <a:avLst/>
            <a:gdLst>
              <a:gd name="T0" fmla="*/ 0 w 18611"/>
              <a:gd name="T1" fmla="*/ 2147483647 h 20754"/>
              <a:gd name="T2" fmla="*/ 2147483647 w 18611"/>
              <a:gd name="T3" fmla="*/ 0 h 20754"/>
              <a:gd name="T4" fmla="*/ 2147483647 w 18611"/>
              <a:gd name="T5" fmla="*/ 2147483647 h 20754"/>
              <a:gd name="T6" fmla="*/ 0 60000 65536"/>
              <a:gd name="T7" fmla="*/ 0 60000 65536"/>
              <a:gd name="T8" fmla="*/ 0 60000 65536"/>
              <a:gd name="T9" fmla="*/ 0 w 18611"/>
              <a:gd name="T10" fmla="*/ 0 h 20754"/>
              <a:gd name="T11" fmla="*/ 18611 w 18611"/>
              <a:gd name="T12" fmla="*/ 20754 h 207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611" h="20754" fill="none" extrusionOk="0">
                <a:moveTo>
                  <a:pt x="-1" y="9790"/>
                </a:moveTo>
                <a:cubicBezTo>
                  <a:pt x="2802" y="5033"/>
                  <a:pt x="7320" y="1529"/>
                  <a:pt x="12625" y="-1"/>
                </a:cubicBezTo>
              </a:path>
              <a:path w="18611" h="20754" stroke="0" extrusionOk="0">
                <a:moveTo>
                  <a:pt x="-1" y="9790"/>
                </a:moveTo>
                <a:cubicBezTo>
                  <a:pt x="2802" y="5033"/>
                  <a:pt x="7320" y="1529"/>
                  <a:pt x="12625" y="-1"/>
                </a:cubicBezTo>
                <a:lnTo>
                  <a:pt x="18611" y="20754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29406" name="Text Box 30"/>
          <p:cNvSpPr txBox="1">
            <a:spLocks noChangeArrowheads="1"/>
          </p:cNvSpPr>
          <p:nvPr/>
        </p:nvSpPr>
        <p:spPr bwMode="auto">
          <a:xfrm>
            <a:off x="7608888" y="3949700"/>
            <a:ext cx="3059112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Ось </a:t>
            </a:r>
            <a:r>
              <a:rPr lang="en-US" b="1"/>
              <a:t>n</a:t>
            </a:r>
            <a:r>
              <a:rPr lang="en-US"/>
              <a:t> </a:t>
            </a:r>
            <a:r>
              <a:rPr lang="ru-RU"/>
              <a:t>направлена вдоль оси камеры по направлению к наблюдателю</a:t>
            </a:r>
          </a:p>
          <a:p>
            <a:r>
              <a:rPr lang="ru-RU"/>
              <a:t>Ось </a:t>
            </a:r>
            <a:r>
              <a:rPr lang="en-US" b="1"/>
              <a:t>u</a:t>
            </a:r>
            <a:r>
              <a:rPr lang="en-US"/>
              <a:t> </a:t>
            </a:r>
            <a:r>
              <a:rPr lang="ru-RU"/>
              <a:t>совпадает с направлением</a:t>
            </a:r>
            <a:r>
              <a:rPr lang="en-US"/>
              <a:t> </a:t>
            </a:r>
            <a:r>
              <a:rPr lang="ru-RU"/>
              <a:t>«вправо»</a:t>
            </a:r>
          </a:p>
          <a:p>
            <a:r>
              <a:rPr lang="ru-RU"/>
              <a:t>Ось </a:t>
            </a:r>
            <a:r>
              <a:rPr lang="en-US" b="1"/>
              <a:t>v</a:t>
            </a:r>
            <a:r>
              <a:rPr lang="en-US"/>
              <a:t> – </a:t>
            </a:r>
            <a:r>
              <a:rPr lang="ru-RU"/>
              <a:t>«вверх»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9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2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29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2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29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2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29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2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29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22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22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29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29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229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22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2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22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22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229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22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22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22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99" grpId="0" animBg="1"/>
      <p:bldP spid="229391" grpId="0" animBg="1"/>
      <p:bldP spid="229392" grpId="0" animBg="1"/>
      <p:bldP spid="229393" grpId="0" animBg="1"/>
      <p:bldP spid="229379" grpId="0" build="p"/>
      <p:bldP spid="229382" grpId="0" animBg="1"/>
      <p:bldP spid="229383" grpId="0" animBg="1"/>
      <p:bldP spid="229384" grpId="0" animBg="1"/>
      <p:bldP spid="229385" grpId="0"/>
      <p:bldP spid="229386" grpId="0"/>
      <p:bldP spid="229387" grpId="0"/>
      <p:bldP spid="229394" grpId="0"/>
      <p:bldP spid="229395" grpId="0"/>
      <p:bldP spid="229396" grpId="0"/>
      <p:bldP spid="229397" grpId="0" animBg="1"/>
      <p:bldP spid="229398" grpId="0" animBg="1"/>
      <p:bldP spid="229380" grpId="0" animBg="1"/>
      <p:bldP spid="229401" grpId="0" animBg="1"/>
      <p:bldP spid="229402" grpId="0" animBg="1"/>
      <p:bldP spid="229403" grpId="0"/>
      <p:bldP spid="229404" grpId="0" animBg="1"/>
      <p:bldP spid="229406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08" name="Line 108"/>
          <p:cNvSpPr>
            <a:spLocks noChangeShapeType="1"/>
          </p:cNvSpPr>
          <p:nvPr/>
        </p:nvSpPr>
        <p:spPr bwMode="auto">
          <a:xfrm>
            <a:off x="4989514" y="5932488"/>
            <a:ext cx="2359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34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4000"/>
              <a:t>Свободное ориентирование камеры в пространстве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2800" b="1" dirty="0"/>
              <a:t>Задание ориентации камеры в авиационных терминах</a:t>
            </a:r>
          </a:p>
          <a:p>
            <a:pPr lvl="1" eaLnBrk="1" hangingPunct="1">
              <a:lnSpc>
                <a:spcPct val="80000"/>
              </a:lnSpc>
            </a:pPr>
            <a:r>
              <a:rPr lang="ru-RU" b="1" dirty="0"/>
              <a:t>Курс</a:t>
            </a:r>
            <a:r>
              <a:rPr lang="ru-RU" dirty="0"/>
              <a:t> (</a:t>
            </a:r>
            <a:r>
              <a:rPr lang="en-US" dirty="0"/>
              <a:t>heading) – </a:t>
            </a:r>
            <a:r>
              <a:rPr lang="ru-RU" dirty="0"/>
              <a:t>управление направлением «взгляда» камеры (ось </a:t>
            </a:r>
            <a:r>
              <a:rPr lang="en-US" b="1" dirty="0"/>
              <a:t>n</a:t>
            </a:r>
            <a:r>
              <a:rPr lang="en-US" dirty="0"/>
              <a:t>)</a:t>
            </a:r>
            <a:endParaRPr lang="ru-RU" dirty="0"/>
          </a:p>
          <a:p>
            <a:pPr lvl="1" eaLnBrk="1" hangingPunct="1">
              <a:lnSpc>
                <a:spcPct val="80000"/>
              </a:lnSpc>
            </a:pPr>
            <a:r>
              <a:rPr lang="ru-RU" b="1" dirty="0"/>
              <a:t>Тангаж</a:t>
            </a:r>
            <a:r>
              <a:rPr lang="ru-RU" dirty="0"/>
              <a:t> (</a:t>
            </a:r>
            <a:r>
              <a:rPr lang="en-US" dirty="0"/>
              <a:t>pitch) – </a:t>
            </a:r>
            <a:r>
              <a:rPr lang="ru-RU" dirty="0"/>
              <a:t>управление креном камеры (вращение вдоль курса камеры)</a:t>
            </a:r>
          </a:p>
          <a:p>
            <a:pPr lvl="1" eaLnBrk="1" hangingPunct="1">
              <a:lnSpc>
                <a:spcPct val="80000"/>
              </a:lnSpc>
            </a:pPr>
            <a:r>
              <a:rPr lang="ru-RU" b="1" dirty="0"/>
              <a:t>Рысканье</a:t>
            </a:r>
            <a:r>
              <a:rPr lang="ru-RU" dirty="0"/>
              <a:t> (</a:t>
            </a:r>
            <a:r>
              <a:rPr lang="en-US" dirty="0"/>
              <a:t>yaw) – </a:t>
            </a:r>
            <a:r>
              <a:rPr lang="ru-RU" dirty="0"/>
              <a:t>отклонение от курса (вращение вокруг вертикальной оси)</a:t>
            </a:r>
          </a:p>
        </p:txBody>
      </p:sp>
      <p:sp>
        <p:nvSpPr>
          <p:cNvPr id="230493" name="Line 93"/>
          <p:cNvSpPr>
            <a:spLocks noChangeShapeType="1"/>
          </p:cNvSpPr>
          <p:nvPr/>
        </p:nvSpPr>
        <p:spPr bwMode="auto">
          <a:xfrm>
            <a:off x="4757739" y="5932488"/>
            <a:ext cx="1341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pSp>
        <p:nvGrpSpPr>
          <p:cNvPr id="2" name="Group 94"/>
          <p:cNvGrpSpPr>
            <a:grpSpLocks/>
          </p:cNvGrpSpPr>
          <p:nvPr/>
        </p:nvGrpSpPr>
        <p:grpSpPr bwMode="auto">
          <a:xfrm>
            <a:off x="4943476" y="5053014"/>
            <a:ext cx="2405063" cy="1804987"/>
            <a:chOff x="1429" y="2160"/>
            <a:chExt cx="2358" cy="1769"/>
          </a:xfrm>
        </p:grpSpPr>
        <p:grpSp>
          <p:nvGrpSpPr>
            <p:cNvPr id="134183" name="Group 95"/>
            <p:cNvGrpSpPr>
              <a:grpSpLocks/>
            </p:cNvGrpSpPr>
            <p:nvPr/>
          </p:nvGrpSpPr>
          <p:grpSpPr bwMode="auto">
            <a:xfrm>
              <a:off x="1429" y="2160"/>
              <a:ext cx="2358" cy="1175"/>
              <a:chOff x="1429" y="2160"/>
              <a:chExt cx="2358" cy="1175"/>
            </a:xfrm>
          </p:grpSpPr>
          <p:sp>
            <p:nvSpPr>
              <p:cNvPr id="134185" name="Line 96"/>
              <p:cNvSpPr>
                <a:spLocks noChangeShapeType="1"/>
              </p:cNvSpPr>
              <p:nvPr/>
            </p:nvSpPr>
            <p:spPr bwMode="auto">
              <a:xfrm flipH="1">
                <a:off x="1429" y="3022"/>
                <a:ext cx="235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134186" name="Group 97"/>
              <p:cNvGrpSpPr>
                <a:grpSpLocks/>
              </p:cNvGrpSpPr>
              <p:nvPr/>
            </p:nvGrpSpPr>
            <p:grpSpPr bwMode="auto">
              <a:xfrm>
                <a:off x="1701" y="2523"/>
                <a:ext cx="1769" cy="771"/>
                <a:chOff x="1474" y="1979"/>
                <a:chExt cx="1769" cy="771"/>
              </a:xfrm>
            </p:grpSpPr>
            <p:sp>
              <p:nvSpPr>
                <p:cNvPr id="134190" name="Line 98"/>
                <p:cNvSpPr>
                  <a:spLocks noChangeShapeType="1"/>
                </p:cNvSpPr>
                <p:nvPr/>
              </p:nvSpPr>
              <p:spPr bwMode="auto">
                <a:xfrm>
                  <a:off x="1973" y="2341"/>
                  <a:ext cx="771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34191" name="Line 99"/>
                <p:cNvSpPr>
                  <a:spLocks noChangeShapeType="1"/>
                </p:cNvSpPr>
                <p:nvPr/>
              </p:nvSpPr>
              <p:spPr bwMode="auto">
                <a:xfrm>
                  <a:off x="1474" y="2478"/>
                  <a:ext cx="1769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134192" name="Oval 100"/>
                <p:cNvSpPr>
                  <a:spLocks noChangeArrowheads="1"/>
                </p:cNvSpPr>
                <p:nvPr/>
              </p:nvSpPr>
              <p:spPr bwMode="auto">
                <a:xfrm>
                  <a:off x="2290" y="2205"/>
                  <a:ext cx="136" cy="136"/>
                </a:xfrm>
                <a:prstGeom prst="ellipse">
                  <a:avLst/>
                </a:prstGeom>
                <a:solidFill>
                  <a:srgbClr val="E4E9E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134193" name="Oval 101"/>
                <p:cNvSpPr>
                  <a:spLocks noChangeArrowheads="1"/>
                </p:cNvSpPr>
                <p:nvPr/>
              </p:nvSpPr>
              <p:spPr bwMode="auto">
                <a:xfrm>
                  <a:off x="2200" y="2296"/>
                  <a:ext cx="318" cy="454"/>
                </a:xfrm>
                <a:prstGeom prst="ellipse">
                  <a:avLst/>
                </a:prstGeom>
                <a:solidFill>
                  <a:srgbClr val="D3D6E5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134194" name="Oval 102"/>
                <p:cNvSpPr>
                  <a:spLocks noChangeArrowheads="1"/>
                </p:cNvSpPr>
                <p:nvPr/>
              </p:nvSpPr>
              <p:spPr bwMode="auto">
                <a:xfrm>
                  <a:off x="2290" y="2432"/>
                  <a:ext cx="136" cy="136"/>
                </a:xfrm>
                <a:prstGeom prst="ellipse">
                  <a:avLst/>
                </a:prstGeom>
                <a:solidFill>
                  <a:srgbClr val="A6B7C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134195" name="Line 103"/>
                <p:cNvSpPr>
                  <a:spLocks noChangeShapeType="1"/>
                </p:cNvSpPr>
                <p:nvPr/>
              </p:nvSpPr>
              <p:spPr bwMode="auto">
                <a:xfrm flipV="1">
                  <a:off x="2357" y="1979"/>
                  <a:ext cx="0" cy="22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sp>
            <p:nvSpPr>
              <p:cNvPr id="134187" name="Line 104"/>
              <p:cNvSpPr>
                <a:spLocks noChangeShapeType="1"/>
              </p:cNvSpPr>
              <p:nvPr/>
            </p:nvSpPr>
            <p:spPr bwMode="auto">
              <a:xfrm flipV="1">
                <a:off x="2585" y="2179"/>
                <a:ext cx="0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4188" name="Text Box 105"/>
              <p:cNvSpPr txBox="1">
                <a:spLocks noChangeArrowheads="1"/>
              </p:cNvSpPr>
              <p:nvPr/>
            </p:nvSpPr>
            <p:spPr bwMode="auto">
              <a:xfrm>
                <a:off x="2562" y="2160"/>
                <a:ext cx="310" cy="3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/>
                  <a:t>v</a:t>
                </a:r>
                <a:endParaRPr lang="ru-RU" b="1"/>
              </a:p>
            </p:txBody>
          </p:sp>
          <p:sp>
            <p:nvSpPr>
              <p:cNvPr id="134189" name="Text Box 106"/>
              <p:cNvSpPr txBox="1">
                <a:spLocks noChangeArrowheads="1"/>
              </p:cNvSpPr>
              <p:nvPr/>
            </p:nvSpPr>
            <p:spPr bwMode="auto">
              <a:xfrm>
                <a:off x="1473" y="2976"/>
                <a:ext cx="323" cy="3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/>
                  <a:t>u</a:t>
                </a:r>
                <a:endParaRPr lang="ru-RU" b="1"/>
              </a:p>
            </p:txBody>
          </p:sp>
        </p:grpSp>
        <p:sp>
          <p:nvSpPr>
            <p:cNvPr id="134184" name="Rectangle 107"/>
            <p:cNvSpPr>
              <a:spLocks noChangeArrowheads="1"/>
            </p:cNvSpPr>
            <p:nvPr/>
          </p:nvSpPr>
          <p:spPr bwMode="auto">
            <a:xfrm>
              <a:off x="1429" y="2160"/>
              <a:ext cx="2358" cy="1769"/>
            </a:xfrm>
            <a:prstGeom prst="rect">
              <a:avLst/>
            </a:prstGeom>
            <a:noFill/>
            <a:ln w="9525">
              <a:solidFill>
                <a:srgbClr val="000000">
                  <a:alpha val="0"/>
                </a:srgb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230509" name="Arc 109"/>
          <p:cNvSpPr>
            <a:spLocks/>
          </p:cNvSpPr>
          <p:nvPr/>
        </p:nvSpPr>
        <p:spPr bwMode="auto">
          <a:xfrm flipH="1" flipV="1">
            <a:off x="5591175" y="5934075"/>
            <a:ext cx="509588" cy="254000"/>
          </a:xfrm>
          <a:custGeom>
            <a:avLst/>
            <a:gdLst>
              <a:gd name="T0" fmla="*/ 245968885 w 21600"/>
              <a:gd name="T1" fmla="*/ 0 h 10754"/>
              <a:gd name="T2" fmla="*/ 283628557 w 21600"/>
              <a:gd name="T3" fmla="*/ 141697039 h 10754"/>
              <a:gd name="T4" fmla="*/ 0 w 21600"/>
              <a:gd name="T5" fmla="*/ 141697039 h 10754"/>
              <a:gd name="T6" fmla="*/ 0 60000 65536"/>
              <a:gd name="T7" fmla="*/ 0 60000 65536"/>
              <a:gd name="T8" fmla="*/ 0 60000 65536"/>
              <a:gd name="T9" fmla="*/ 0 w 21600"/>
              <a:gd name="T10" fmla="*/ 0 h 10754"/>
              <a:gd name="T11" fmla="*/ 21600 w 21600"/>
              <a:gd name="T12" fmla="*/ 10754 h 107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0754" fill="none" extrusionOk="0">
                <a:moveTo>
                  <a:pt x="18732" y="-1"/>
                </a:moveTo>
                <a:cubicBezTo>
                  <a:pt x="20611" y="3272"/>
                  <a:pt x="21600" y="6980"/>
                  <a:pt x="21600" y="10754"/>
                </a:cubicBezTo>
              </a:path>
              <a:path w="21600" h="10754" stroke="0" extrusionOk="0">
                <a:moveTo>
                  <a:pt x="18732" y="-1"/>
                </a:moveTo>
                <a:cubicBezTo>
                  <a:pt x="20611" y="3272"/>
                  <a:pt x="21600" y="6980"/>
                  <a:pt x="21600" y="10754"/>
                </a:cubicBezTo>
                <a:lnTo>
                  <a:pt x="0" y="10754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0511" name="Line 111"/>
          <p:cNvSpPr>
            <a:spLocks noChangeShapeType="1"/>
          </p:cNvSpPr>
          <p:nvPr/>
        </p:nvSpPr>
        <p:spPr bwMode="auto">
          <a:xfrm>
            <a:off x="2767013" y="5945188"/>
            <a:ext cx="19605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pSp>
        <p:nvGrpSpPr>
          <p:cNvPr id="5" name="Group 112"/>
          <p:cNvGrpSpPr>
            <a:grpSpLocks/>
          </p:cNvGrpSpPr>
          <p:nvPr/>
        </p:nvGrpSpPr>
        <p:grpSpPr bwMode="auto">
          <a:xfrm>
            <a:off x="1703389" y="5229225"/>
            <a:ext cx="2492375" cy="1430338"/>
            <a:chOff x="2018" y="2387"/>
            <a:chExt cx="2767" cy="1587"/>
          </a:xfrm>
        </p:grpSpPr>
        <p:grpSp>
          <p:nvGrpSpPr>
            <p:cNvPr id="134173" name="Group 113"/>
            <p:cNvGrpSpPr>
              <a:grpSpLocks/>
            </p:cNvGrpSpPr>
            <p:nvPr/>
          </p:nvGrpSpPr>
          <p:grpSpPr bwMode="auto">
            <a:xfrm>
              <a:off x="2018" y="2704"/>
              <a:ext cx="2767" cy="916"/>
              <a:chOff x="2018" y="2704"/>
              <a:chExt cx="2767" cy="916"/>
            </a:xfrm>
          </p:grpSpPr>
          <p:sp>
            <p:nvSpPr>
              <p:cNvPr id="134175" name="Line 114"/>
              <p:cNvSpPr>
                <a:spLocks noChangeShapeType="1"/>
              </p:cNvSpPr>
              <p:nvPr/>
            </p:nvSpPr>
            <p:spPr bwMode="auto">
              <a:xfrm flipH="1" flipV="1">
                <a:off x="2018" y="3182"/>
                <a:ext cx="276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4176" name="AutoShape 115"/>
              <p:cNvSpPr>
                <a:spLocks noChangeArrowheads="1"/>
              </p:cNvSpPr>
              <p:nvPr/>
            </p:nvSpPr>
            <p:spPr bwMode="auto">
              <a:xfrm flipV="1">
                <a:off x="2479" y="2704"/>
                <a:ext cx="271" cy="5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348 w 21600"/>
                  <a:gd name="T13" fmla="*/ 3369 h 21600"/>
                  <a:gd name="T14" fmla="*/ 18252 w 21600"/>
                  <a:gd name="T15" fmla="*/ 18231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3099" y="21600"/>
                    </a:lnTo>
                    <a:lnTo>
                      <a:pt x="18501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1CDD5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134177" name="Oval 116"/>
              <p:cNvSpPr>
                <a:spLocks noChangeArrowheads="1"/>
              </p:cNvSpPr>
              <p:nvPr/>
            </p:nvSpPr>
            <p:spPr bwMode="auto">
              <a:xfrm>
                <a:off x="3809" y="2977"/>
                <a:ext cx="379" cy="22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134178" name="Oval 117"/>
              <p:cNvSpPr>
                <a:spLocks noChangeArrowheads="1"/>
              </p:cNvSpPr>
              <p:nvPr/>
            </p:nvSpPr>
            <p:spPr bwMode="auto">
              <a:xfrm>
                <a:off x="2561" y="3067"/>
                <a:ext cx="1980" cy="227"/>
              </a:xfrm>
              <a:prstGeom prst="ellipse">
                <a:avLst/>
              </a:prstGeom>
              <a:solidFill>
                <a:srgbClr val="A6B7C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134179" name="Oval 118"/>
              <p:cNvSpPr>
                <a:spLocks noChangeArrowheads="1"/>
              </p:cNvSpPr>
              <p:nvPr/>
            </p:nvSpPr>
            <p:spPr bwMode="auto">
              <a:xfrm>
                <a:off x="3049" y="3158"/>
                <a:ext cx="1058" cy="45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134180" name="Oval 119"/>
              <p:cNvSpPr>
                <a:spLocks noChangeArrowheads="1"/>
              </p:cNvSpPr>
              <p:nvPr/>
            </p:nvSpPr>
            <p:spPr bwMode="auto">
              <a:xfrm>
                <a:off x="2398" y="3113"/>
                <a:ext cx="407" cy="45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134181" name="Oval 120"/>
              <p:cNvSpPr>
                <a:spLocks noChangeArrowheads="1"/>
              </p:cNvSpPr>
              <p:nvPr/>
            </p:nvSpPr>
            <p:spPr bwMode="auto">
              <a:xfrm>
                <a:off x="4514" y="2886"/>
                <a:ext cx="54" cy="544"/>
              </a:xfrm>
              <a:prstGeom prst="ellipse">
                <a:avLst/>
              </a:prstGeom>
              <a:solidFill>
                <a:srgbClr val="E4E9E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134182" name="Text Box 121"/>
              <p:cNvSpPr txBox="1">
                <a:spLocks noChangeArrowheads="1"/>
              </p:cNvSpPr>
              <p:nvPr/>
            </p:nvSpPr>
            <p:spPr bwMode="auto">
              <a:xfrm>
                <a:off x="2051" y="3213"/>
                <a:ext cx="367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/>
                  <a:t>n</a:t>
                </a:r>
                <a:endParaRPr lang="ru-RU" b="1"/>
              </a:p>
            </p:txBody>
          </p:sp>
        </p:grpSp>
        <p:sp>
          <p:nvSpPr>
            <p:cNvPr id="134174" name="Rectangle 122"/>
            <p:cNvSpPr>
              <a:spLocks noChangeArrowheads="1"/>
            </p:cNvSpPr>
            <p:nvPr/>
          </p:nvSpPr>
          <p:spPr bwMode="auto">
            <a:xfrm>
              <a:off x="2018" y="2387"/>
              <a:ext cx="2767" cy="1587"/>
            </a:xfrm>
            <a:prstGeom prst="rect">
              <a:avLst/>
            </a:prstGeom>
            <a:noFill/>
            <a:ln w="9525">
              <a:solidFill>
                <a:srgbClr val="000000">
                  <a:alpha val="0"/>
                </a:srgb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230523" name="Arc 123"/>
          <p:cNvSpPr>
            <a:spLocks/>
          </p:cNvSpPr>
          <p:nvPr/>
        </p:nvSpPr>
        <p:spPr bwMode="auto">
          <a:xfrm>
            <a:off x="3419476" y="5391150"/>
            <a:ext cx="735013" cy="552450"/>
          </a:xfrm>
          <a:custGeom>
            <a:avLst/>
            <a:gdLst>
              <a:gd name="T0" fmla="*/ 561563749 w 21600"/>
              <a:gd name="T1" fmla="*/ 0 h 16231"/>
              <a:gd name="T2" fmla="*/ 851093840 w 21600"/>
              <a:gd name="T3" fmla="*/ 640012439 h 16231"/>
              <a:gd name="T4" fmla="*/ 0 w 21600"/>
              <a:gd name="T5" fmla="*/ 640012439 h 16231"/>
              <a:gd name="T6" fmla="*/ 0 60000 65536"/>
              <a:gd name="T7" fmla="*/ 0 60000 65536"/>
              <a:gd name="T8" fmla="*/ 0 60000 65536"/>
              <a:gd name="T9" fmla="*/ 0 w 21600"/>
              <a:gd name="T10" fmla="*/ 0 h 16231"/>
              <a:gd name="T11" fmla="*/ 21600 w 21600"/>
              <a:gd name="T12" fmla="*/ 16231 h 1623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6231" fill="none" extrusionOk="0">
                <a:moveTo>
                  <a:pt x="14251" y="0"/>
                </a:moveTo>
                <a:cubicBezTo>
                  <a:pt x="18922" y="4101"/>
                  <a:pt x="21600" y="10015"/>
                  <a:pt x="21600" y="16231"/>
                </a:cubicBezTo>
              </a:path>
              <a:path w="21600" h="16231" stroke="0" extrusionOk="0">
                <a:moveTo>
                  <a:pt x="14251" y="0"/>
                </a:moveTo>
                <a:cubicBezTo>
                  <a:pt x="18922" y="4101"/>
                  <a:pt x="21600" y="10015"/>
                  <a:pt x="21600" y="16231"/>
                </a:cubicBezTo>
                <a:lnTo>
                  <a:pt x="0" y="1623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grpSp>
        <p:nvGrpSpPr>
          <p:cNvPr id="7" name="Group 142"/>
          <p:cNvGrpSpPr>
            <a:grpSpLocks/>
          </p:cNvGrpSpPr>
          <p:nvPr/>
        </p:nvGrpSpPr>
        <p:grpSpPr bwMode="auto">
          <a:xfrm>
            <a:off x="7818438" y="4516439"/>
            <a:ext cx="2178050" cy="2236787"/>
            <a:chOff x="3965" y="2845"/>
            <a:chExt cx="1372" cy="1409"/>
          </a:xfrm>
        </p:grpSpPr>
        <p:sp>
          <p:nvSpPr>
            <p:cNvPr id="134160" name="Rectangle 127"/>
            <p:cNvSpPr>
              <a:spLocks noChangeArrowheads="1"/>
            </p:cNvSpPr>
            <p:nvPr/>
          </p:nvSpPr>
          <p:spPr bwMode="auto">
            <a:xfrm>
              <a:off x="3965" y="2845"/>
              <a:ext cx="1372" cy="1409"/>
            </a:xfrm>
            <a:prstGeom prst="rect">
              <a:avLst/>
            </a:prstGeom>
            <a:noFill/>
            <a:ln w="9525">
              <a:solidFill>
                <a:srgbClr val="000000">
                  <a:alpha val="0"/>
                </a:srgb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grpSp>
          <p:nvGrpSpPr>
            <p:cNvPr id="134161" name="Group 141"/>
            <p:cNvGrpSpPr>
              <a:grpSpLocks/>
            </p:cNvGrpSpPr>
            <p:nvPr/>
          </p:nvGrpSpPr>
          <p:grpSpPr bwMode="auto">
            <a:xfrm>
              <a:off x="4072" y="3294"/>
              <a:ext cx="1224" cy="957"/>
              <a:chOff x="4072" y="3294"/>
              <a:chExt cx="1224" cy="957"/>
            </a:xfrm>
          </p:grpSpPr>
          <p:sp>
            <p:nvSpPr>
              <p:cNvPr id="134162" name="Line 129"/>
              <p:cNvSpPr>
                <a:spLocks noChangeShapeType="1"/>
              </p:cNvSpPr>
              <p:nvPr/>
            </p:nvSpPr>
            <p:spPr bwMode="auto">
              <a:xfrm>
                <a:off x="4649" y="3552"/>
                <a:ext cx="0" cy="69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lg" len="lg"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134163" name="Group 130"/>
              <p:cNvGrpSpPr>
                <a:grpSpLocks/>
              </p:cNvGrpSpPr>
              <p:nvPr/>
            </p:nvGrpSpPr>
            <p:grpSpPr bwMode="auto">
              <a:xfrm>
                <a:off x="4072" y="3300"/>
                <a:ext cx="1147" cy="878"/>
                <a:chOff x="2833" y="2478"/>
                <a:chExt cx="2406" cy="1842"/>
              </a:xfrm>
            </p:grpSpPr>
            <p:sp>
              <p:nvSpPr>
                <p:cNvPr id="134167" name="Oval 131"/>
                <p:cNvSpPr>
                  <a:spLocks noChangeArrowheads="1"/>
                </p:cNvSpPr>
                <p:nvPr/>
              </p:nvSpPr>
              <p:spPr bwMode="auto">
                <a:xfrm>
                  <a:off x="3787" y="2478"/>
                  <a:ext cx="499" cy="45"/>
                </a:xfrm>
                <a:prstGeom prst="ellipse">
                  <a:avLst/>
                </a:prstGeom>
                <a:solidFill>
                  <a:srgbClr val="E4E9EC">
                    <a:alpha val="61960"/>
                  </a:srgbClr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134168" name="Rectangle 132"/>
                <p:cNvSpPr>
                  <a:spLocks noChangeArrowheads="1"/>
                </p:cNvSpPr>
                <p:nvPr/>
              </p:nvSpPr>
              <p:spPr bwMode="auto">
                <a:xfrm>
                  <a:off x="3606" y="3748"/>
                  <a:ext cx="860" cy="22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134169" name="Rectangle 133"/>
                <p:cNvSpPr>
                  <a:spLocks noChangeArrowheads="1"/>
                </p:cNvSpPr>
                <p:nvPr/>
              </p:nvSpPr>
              <p:spPr bwMode="auto">
                <a:xfrm>
                  <a:off x="2833" y="2886"/>
                  <a:ext cx="2406" cy="317"/>
                </a:xfrm>
                <a:prstGeom prst="rect">
                  <a:avLst/>
                </a:prstGeom>
                <a:solidFill>
                  <a:srgbClr val="42A475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134170" name="Oval 134"/>
                <p:cNvSpPr>
                  <a:spLocks noChangeArrowheads="1"/>
                </p:cNvSpPr>
                <p:nvPr/>
              </p:nvSpPr>
              <p:spPr bwMode="auto">
                <a:xfrm>
                  <a:off x="3923" y="2478"/>
                  <a:ext cx="227" cy="1678"/>
                </a:xfrm>
                <a:prstGeom prst="ellipse">
                  <a:avLst/>
                </a:prstGeom>
                <a:solidFill>
                  <a:srgbClr val="2A684A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134171" name="Oval 135"/>
                <p:cNvSpPr>
                  <a:spLocks noChangeArrowheads="1"/>
                </p:cNvSpPr>
                <p:nvPr/>
              </p:nvSpPr>
              <p:spPr bwMode="auto">
                <a:xfrm>
                  <a:off x="3969" y="2750"/>
                  <a:ext cx="136" cy="408"/>
                </a:xfrm>
                <a:prstGeom prst="ellipse">
                  <a:avLst/>
                </a:prstGeom>
                <a:solidFill>
                  <a:srgbClr val="C1CDD5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  <p:sp>
              <p:nvSpPr>
                <p:cNvPr id="134172" name="Oval 136"/>
                <p:cNvSpPr>
                  <a:spLocks noChangeArrowheads="1"/>
                </p:cNvSpPr>
                <p:nvPr/>
              </p:nvSpPr>
              <p:spPr bwMode="auto">
                <a:xfrm>
                  <a:off x="4014" y="3838"/>
                  <a:ext cx="45" cy="482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ru-RU"/>
                </a:p>
              </p:txBody>
            </p:sp>
          </p:grpSp>
          <p:sp>
            <p:nvSpPr>
              <p:cNvPr id="134164" name="Line 137"/>
              <p:cNvSpPr>
                <a:spLocks noChangeShapeType="1"/>
              </p:cNvSpPr>
              <p:nvPr/>
            </p:nvSpPr>
            <p:spPr bwMode="auto">
              <a:xfrm>
                <a:off x="4647" y="3554"/>
                <a:ext cx="64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lg" len="lg"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4165" name="Text Box 138"/>
              <p:cNvSpPr txBox="1">
                <a:spLocks noChangeArrowheads="1"/>
              </p:cNvSpPr>
              <p:nvPr/>
            </p:nvSpPr>
            <p:spPr bwMode="auto">
              <a:xfrm>
                <a:off x="5012" y="3294"/>
                <a:ext cx="22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b="1"/>
                  <a:t>u</a:t>
                </a:r>
                <a:endParaRPr lang="ru-RU" b="1"/>
              </a:p>
            </p:txBody>
          </p:sp>
          <p:sp>
            <p:nvSpPr>
              <p:cNvPr id="134166" name="Text Box 139"/>
              <p:cNvSpPr txBox="1">
                <a:spLocks noChangeArrowheads="1"/>
              </p:cNvSpPr>
              <p:nvPr/>
            </p:nvSpPr>
            <p:spPr bwMode="auto">
              <a:xfrm>
                <a:off x="4694" y="3973"/>
                <a:ext cx="20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/>
                  <a:t>n</a:t>
                </a:r>
                <a:endParaRPr lang="ru-RU" b="1"/>
              </a:p>
            </p:txBody>
          </p:sp>
        </p:grpSp>
      </p:grpSp>
      <p:sp>
        <p:nvSpPr>
          <p:cNvPr id="230543" name="Line 143"/>
          <p:cNvSpPr>
            <a:spLocks noChangeShapeType="1"/>
          </p:cNvSpPr>
          <p:nvPr/>
        </p:nvSpPr>
        <p:spPr bwMode="auto">
          <a:xfrm flipV="1">
            <a:off x="8913813" y="5157789"/>
            <a:ext cx="277812" cy="4778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30544" name="Text Box 144"/>
          <p:cNvSpPr txBox="1">
            <a:spLocks noChangeArrowheads="1"/>
          </p:cNvSpPr>
          <p:nvPr/>
        </p:nvSpPr>
        <p:spPr bwMode="auto">
          <a:xfrm>
            <a:off x="9028113" y="4813301"/>
            <a:ext cx="3159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v</a:t>
            </a:r>
            <a:endParaRPr lang="ru-RU" b="1"/>
          </a:p>
        </p:txBody>
      </p:sp>
      <p:sp>
        <p:nvSpPr>
          <p:cNvPr id="230545" name="Arc 145"/>
          <p:cNvSpPr>
            <a:spLocks/>
          </p:cNvSpPr>
          <p:nvPr/>
        </p:nvSpPr>
        <p:spPr bwMode="auto">
          <a:xfrm>
            <a:off x="8904288" y="5235576"/>
            <a:ext cx="792162" cy="403225"/>
          </a:xfrm>
          <a:custGeom>
            <a:avLst/>
            <a:gdLst>
              <a:gd name="T0" fmla="*/ 917226738 w 21600"/>
              <a:gd name="T1" fmla="*/ 0 h 10990"/>
              <a:gd name="T2" fmla="*/ 1065453104 w 21600"/>
              <a:gd name="T3" fmla="*/ 542808754 h 10990"/>
              <a:gd name="T4" fmla="*/ 0 w 21600"/>
              <a:gd name="T5" fmla="*/ 542808754 h 10990"/>
              <a:gd name="T6" fmla="*/ 0 60000 65536"/>
              <a:gd name="T7" fmla="*/ 0 60000 65536"/>
              <a:gd name="T8" fmla="*/ 0 60000 65536"/>
              <a:gd name="T9" fmla="*/ 0 w 21600"/>
              <a:gd name="T10" fmla="*/ 0 h 10990"/>
              <a:gd name="T11" fmla="*/ 21600 w 21600"/>
              <a:gd name="T12" fmla="*/ 10990 h 109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0990" fill="none" extrusionOk="0">
                <a:moveTo>
                  <a:pt x="18595" y="-1"/>
                </a:moveTo>
                <a:cubicBezTo>
                  <a:pt x="20562" y="3328"/>
                  <a:pt x="21600" y="7123"/>
                  <a:pt x="21600" y="10990"/>
                </a:cubicBezTo>
              </a:path>
              <a:path w="21600" h="10990" stroke="0" extrusionOk="0">
                <a:moveTo>
                  <a:pt x="18595" y="-1"/>
                </a:moveTo>
                <a:cubicBezTo>
                  <a:pt x="20562" y="3328"/>
                  <a:pt x="21600" y="7123"/>
                  <a:pt x="21600" y="10990"/>
                </a:cubicBezTo>
                <a:lnTo>
                  <a:pt x="0" y="1099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0525" name="Line 125"/>
          <p:cNvSpPr>
            <a:spLocks noChangeShapeType="1"/>
          </p:cNvSpPr>
          <p:nvPr/>
        </p:nvSpPr>
        <p:spPr bwMode="auto">
          <a:xfrm>
            <a:off x="7680325" y="5641975"/>
            <a:ext cx="2522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3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1800000"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000"/>
                                        <p:tgtEl>
                                          <p:spTgt spid="23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3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3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23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1800000">
                                      <p:cBhvr>
                                        <p:cTn id="4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23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230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230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23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230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1800000">
                                      <p:cBhvr>
                                        <p:cTn id="6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2000"/>
                                        <p:tgtEl>
                                          <p:spTgt spid="230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508" grpId="0" animBg="1"/>
      <p:bldP spid="230493" grpId="0" animBg="1"/>
      <p:bldP spid="230509" grpId="0" animBg="1"/>
      <p:bldP spid="230511" grpId="0" animBg="1"/>
      <p:bldP spid="230523" grpId="0" animBg="1"/>
      <p:bldP spid="230543" grpId="0" animBg="1"/>
      <p:bldP spid="230544" grpId="0"/>
      <p:bldP spid="230545" grpId="0" animBg="1"/>
      <p:bldP spid="230525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60" name="Line 12"/>
          <p:cNvSpPr>
            <a:spLocks noChangeShapeType="1"/>
          </p:cNvSpPr>
          <p:nvPr/>
        </p:nvSpPr>
        <p:spPr bwMode="auto">
          <a:xfrm flipH="1" flipV="1">
            <a:off x="7248526" y="4724400"/>
            <a:ext cx="3279775" cy="628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331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Построение векторов </a:t>
            </a:r>
            <a:br>
              <a:rPr lang="en-US"/>
            </a:br>
            <a:r>
              <a:rPr lang="en-US" b="1"/>
              <a:t>u</a:t>
            </a:r>
            <a:r>
              <a:rPr lang="en-US"/>
              <a:t>, </a:t>
            </a:r>
            <a:r>
              <a:rPr lang="en-US" b="1"/>
              <a:t>v</a:t>
            </a:r>
            <a:r>
              <a:rPr lang="en-US"/>
              <a:t> </a:t>
            </a:r>
            <a:r>
              <a:rPr lang="ru-RU"/>
              <a:t>и </a:t>
            </a:r>
            <a:r>
              <a:rPr lang="en-US" b="1"/>
              <a:t>n</a:t>
            </a:r>
            <a:endParaRPr lang="ru-RU" b="1"/>
          </a:p>
        </p:txBody>
      </p:sp>
      <p:sp>
        <p:nvSpPr>
          <p:cNvPr id="232454" name="Text Box 6"/>
          <p:cNvSpPr txBox="1">
            <a:spLocks noChangeArrowheads="1"/>
          </p:cNvSpPr>
          <p:nvPr/>
        </p:nvSpPr>
        <p:spPr bwMode="auto">
          <a:xfrm>
            <a:off x="7608889" y="4721226"/>
            <a:ext cx="547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Eye</a:t>
            </a:r>
            <a:endParaRPr lang="ru-RU"/>
          </a:p>
        </p:txBody>
      </p:sp>
      <p:sp>
        <p:nvSpPr>
          <p:cNvPr id="232455" name="Text Box 7"/>
          <p:cNvSpPr txBox="1">
            <a:spLocks noChangeArrowheads="1"/>
          </p:cNvSpPr>
          <p:nvPr/>
        </p:nvSpPr>
        <p:spPr bwMode="auto">
          <a:xfrm>
            <a:off x="9551988" y="5372101"/>
            <a:ext cx="660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Look</a:t>
            </a:r>
            <a:endParaRPr lang="ru-RU"/>
          </a:p>
        </p:txBody>
      </p:sp>
      <p:sp>
        <p:nvSpPr>
          <p:cNvPr id="232456" name="Text Box 8"/>
          <p:cNvSpPr txBox="1">
            <a:spLocks noChangeArrowheads="1"/>
          </p:cNvSpPr>
          <p:nvPr/>
        </p:nvSpPr>
        <p:spPr bwMode="auto">
          <a:xfrm>
            <a:off x="8977313" y="3429001"/>
            <a:ext cx="4746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up</a:t>
            </a:r>
            <a:endParaRPr lang="ru-RU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457" name="Text Box 9"/>
              <p:cNvSpPr txBox="1">
                <a:spLocks noChangeArrowheads="1"/>
              </p:cNvSpPr>
              <p:nvPr/>
            </p:nvSpPr>
            <p:spPr bwMode="auto">
              <a:xfrm>
                <a:off x="551385" y="2060576"/>
                <a:ext cx="6120880" cy="34163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Пусть нам известно:</a:t>
                </a:r>
              </a:p>
              <a:p>
                <a:pPr>
                  <a:buFontTx/>
                  <a:buChar char="•"/>
                </a:pPr>
                <a:r>
                  <a:rPr lang="ru-RU" dirty="0"/>
                  <a:t>Положение глаз наблюдателя</a:t>
                </a:r>
                <a:r>
                  <a:rPr lang="en-US" dirty="0"/>
                  <a:t> (Eye)</a:t>
                </a:r>
                <a:endParaRPr lang="ru-RU" dirty="0"/>
              </a:p>
              <a:p>
                <a:pPr>
                  <a:buFontTx/>
                  <a:buChar char="•"/>
                </a:pPr>
                <a:r>
                  <a:rPr lang="ru-RU" dirty="0"/>
                  <a:t>Положение точки наблюдения</a:t>
                </a:r>
                <a:r>
                  <a:rPr lang="en-US" dirty="0"/>
                  <a:t> (Look)</a:t>
                </a:r>
                <a:endParaRPr lang="ru-RU" dirty="0"/>
              </a:p>
              <a:p>
                <a:pPr>
                  <a:buFontTx/>
                  <a:buChar char="•"/>
                </a:pPr>
                <a:r>
                  <a:rPr lang="ru-RU" dirty="0"/>
                  <a:t>Направление вектора «вверх»</a:t>
                </a:r>
                <a:r>
                  <a:rPr lang="en-US" dirty="0"/>
                  <a:t> (</a:t>
                </a:r>
                <a:r>
                  <a:rPr lang="en-US" b="1" dirty="0"/>
                  <a:t>up</a:t>
                </a:r>
                <a:r>
                  <a:rPr lang="en-US" dirty="0"/>
                  <a:t>)</a:t>
                </a:r>
              </a:p>
              <a:p>
                <a:endParaRPr lang="ru-RU" dirty="0"/>
              </a:p>
              <a:p>
                <a:r>
                  <a:rPr lang="ru-RU" dirty="0"/>
                  <a:t>Тогда</a:t>
                </a:r>
                <a:r>
                  <a:rPr lang="en-US" dirty="0"/>
                  <a:t>:</a:t>
                </a:r>
                <a:endParaRPr lang="ru-RU" dirty="0"/>
              </a:p>
              <a:p>
                <a:pPr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𝐸𝑦𝑒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–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𝐿𝑜𝑜𝑘</m:t>
                    </m:r>
                  </m:oMath>
                </a14:m>
                <a:endParaRPr lang="en-US" dirty="0"/>
              </a:p>
              <a:p>
                <a:pPr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𝒖𝒑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b="1" dirty="0"/>
              </a:p>
              <a:p>
                <a:pPr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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𝒖</m:t>
                    </m:r>
                  </m:oMath>
                </a14:m>
                <a:endParaRPr lang="en-US" b="1" dirty="0">
                  <a:sym typeface="Symbol" pitchFamily="18" charset="2"/>
                </a:endParaRPr>
              </a:p>
              <a:p>
                <a:endParaRPr lang="ru-RU" dirty="0">
                  <a:sym typeface="Symbol" pitchFamily="18" charset="2"/>
                </a:endParaRPr>
              </a:p>
              <a:p>
                <a:r>
                  <a:rPr lang="ru-RU" dirty="0">
                    <a:sym typeface="Symbol" pitchFamily="18" charset="2"/>
                  </a:rPr>
                  <a:t>Затем производим нормализацию векторов </a:t>
                </a:r>
                <a:r>
                  <a:rPr lang="en-US" b="1" dirty="0">
                    <a:sym typeface="Symbol" pitchFamily="18" charset="2"/>
                  </a:rPr>
                  <a:t>u</a:t>
                </a:r>
                <a:r>
                  <a:rPr lang="en-US" dirty="0">
                    <a:sym typeface="Symbol" pitchFamily="18" charset="2"/>
                  </a:rPr>
                  <a:t>, </a:t>
                </a:r>
                <a:r>
                  <a:rPr lang="en-US" b="1" dirty="0">
                    <a:sym typeface="Symbol" pitchFamily="18" charset="2"/>
                  </a:rPr>
                  <a:t>v</a:t>
                </a:r>
                <a:r>
                  <a:rPr lang="en-US" dirty="0">
                    <a:sym typeface="Symbol" pitchFamily="18" charset="2"/>
                  </a:rPr>
                  <a:t>, </a:t>
                </a:r>
                <a:r>
                  <a:rPr lang="ru-RU" dirty="0">
                    <a:sym typeface="Symbol" pitchFamily="18" charset="2"/>
                  </a:rPr>
                  <a:t>и </a:t>
                </a:r>
                <a:r>
                  <a:rPr lang="en-US" b="1" dirty="0">
                    <a:sym typeface="Symbol" pitchFamily="18" charset="2"/>
                  </a:rPr>
                  <a:t>n</a:t>
                </a:r>
              </a:p>
              <a:p>
                <a:endParaRPr lang="ru-RU" dirty="0"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3245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1385" y="2060576"/>
                <a:ext cx="6120880" cy="3416320"/>
              </a:xfrm>
              <a:prstGeom prst="rect">
                <a:avLst/>
              </a:prstGeom>
              <a:blipFill>
                <a:blip r:embed="rId3"/>
                <a:stretch>
                  <a:fillRect l="-796" t="-89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2458" name="Oval 10"/>
          <p:cNvSpPr>
            <a:spLocks noChangeArrowheads="1"/>
          </p:cNvSpPr>
          <p:nvPr/>
        </p:nvSpPr>
        <p:spPr bwMode="auto">
          <a:xfrm>
            <a:off x="8328026" y="4868864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2459" name="Oval 11"/>
          <p:cNvSpPr>
            <a:spLocks noChangeArrowheads="1"/>
          </p:cNvSpPr>
          <p:nvPr/>
        </p:nvSpPr>
        <p:spPr bwMode="auto">
          <a:xfrm>
            <a:off x="9840914" y="5156201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2461" name="Line 13"/>
          <p:cNvSpPr>
            <a:spLocks noChangeShapeType="1"/>
          </p:cNvSpPr>
          <p:nvPr/>
        </p:nvSpPr>
        <p:spPr bwMode="auto">
          <a:xfrm flipH="1" flipV="1">
            <a:off x="6972300" y="4659314"/>
            <a:ext cx="1428750" cy="280987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232462" name="Text Box 14"/>
          <p:cNvSpPr txBox="1">
            <a:spLocks noChangeArrowheads="1"/>
          </p:cNvSpPr>
          <p:nvPr/>
        </p:nvSpPr>
        <p:spPr bwMode="auto">
          <a:xfrm>
            <a:off x="7156450" y="4237038"/>
            <a:ext cx="330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6600"/>
                </a:solidFill>
              </a:rPr>
              <a:t>n</a:t>
            </a:r>
            <a:endParaRPr lang="ru-RU" b="1">
              <a:solidFill>
                <a:srgbClr val="FF6600"/>
              </a:solidFill>
            </a:endParaRPr>
          </a:p>
        </p:txBody>
      </p:sp>
      <p:sp>
        <p:nvSpPr>
          <p:cNvPr id="232464" name="Line 16"/>
          <p:cNvSpPr>
            <a:spLocks noChangeShapeType="1"/>
          </p:cNvSpPr>
          <p:nvPr/>
        </p:nvSpPr>
        <p:spPr bwMode="auto">
          <a:xfrm flipH="1">
            <a:off x="7464426" y="4940301"/>
            <a:ext cx="936625" cy="1152525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232465" name="AutoShape 17"/>
          <p:cNvSpPr>
            <a:spLocks noChangeArrowheads="1"/>
          </p:cNvSpPr>
          <p:nvPr/>
        </p:nvSpPr>
        <p:spPr bwMode="auto">
          <a:xfrm rot="663211">
            <a:off x="7137401" y="3284539"/>
            <a:ext cx="1655763" cy="1546225"/>
          </a:xfrm>
          <a:prstGeom prst="parallelogram">
            <a:avLst>
              <a:gd name="adj" fmla="val 14323"/>
            </a:avLst>
          </a:prstGeom>
          <a:solidFill>
            <a:srgbClr val="FFFF99">
              <a:alpha val="63921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2466" name="Text Box 18"/>
          <p:cNvSpPr txBox="1">
            <a:spLocks noChangeArrowheads="1"/>
          </p:cNvSpPr>
          <p:nvPr/>
        </p:nvSpPr>
        <p:spPr bwMode="auto">
          <a:xfrm>
            <a:off x="7516813" y="5892801"/>
            <a:ext cx="33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u</a:t>
            </a:r>
            <a:endParaRPr lang="ru-RU" b="1"/>
          </a:p>
        </p:txBody>
      </p:sp>
      <p:sp>
        <p:nvSpPr>
          <p:cNvPr id="232452" name="Line 4"/>
          <p:cNvSpPr>
            <a:spLocks noChangeShapeType="1"/>
          </p:cNvSpPr>
          <p:nvPr/>
        </p:nvSpPr>
        <p:spPr bwMode="auto">
          <a:xfrm flipV="1">
            <a:off x="8401050" y="3500438"/>
            <a:ext cx="503238" cy="1439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32467" name="Line 19"/>
          <p:cNvSpPr>
            <a:spLocks noChangeShapeType="1"/>
          </p:cNvSpPr>
          <p:nvPr/>
        </p:nvSpPr>
        <p:spPr bwMode="auto">
          <a:xfrm flipV="1">
            <a:off x="8401050" y="2852738"/>
            <a:ext cx="0" cy="2087562"/>
          </a:xfrm>
          <a:prstGeom prst="line">
            <a:avLst/>
          </a:prstGeom>
          <a:noFill/>
          <a:ln w="38100">
            <a:solidFill>
              <a:srgbClr val="3366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32468" name="Text Box 20"/>
          <p:cNvSpPr txBox="1">
            <a:spLocks noChangeArrowheads="1"/>
          </p:cNvSpPr>
          <p:nvPr/>
        </p:nvSpPr>
        <p:spPr bwMode="auto">
          <a:xfrm>
            <a:off x="8451851" y="2725738"/>
            <a:ext cx="3159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v</a:t>
            </a:r>
            <a:endParaRPr lang="ru-RU" b="1"/>
          </a:p>
        </p:txBody>
      </p:sp>
      <p:sp>
        <p:nvSpPr>
          <p:cNvPr id="232470" name="AutoShape 22"/>
          <p:cNvSpPr>
            <a:spLocks noChangeArrowheads="1"/>
          </p:cNvSpPr>
          <p:nvPr/>
        </p:nvSpPr>
        <p:spPr bwMode="auto">
          <a:xfrm rot="661094">
            <a:off x="6096000" y="4724401"/>
            <a:ext cx="2197100" cy="1304925"/>
          </a:xfrm>
          <a:prstGeom prst="parallelogram">
            <a:avLst>
              <a:gd name="adj" fmla="val 53948"/>
            </a:avLst>
          </a:prstGeom>
          <a:solidFill>
            <a:srgbClr val="9999FF">
              <a:alpha val="59999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3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32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3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3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324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3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3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324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32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2324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232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23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3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2324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1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66" dur="1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7" dur="1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1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100" fill="hold"/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7" dur="100" fill="hold"/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8" dur="100" fill="hold"/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100" fill="hold"/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232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0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2000"/>
                                        <p:tgtEl>
                                          <p:spTgt spid="23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0"/>
                                        <p:tgtEl>
                                          <p:spTgt spid="23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8000"/>
                            </p:stCondLst>
                            <p:childTnLst>
                              <p:par>
                                <p:cTn id="9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0"/>
                                        <p:tgtEl>
                                          <p:spTgt spid="2324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000"/>
                                        <p:tgtEl>
                                          <p:spTgt spid="2324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100" fill="hold"/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10" dur="100" fill="hold"/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1" dur="100" fill="hold"/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100" fill="hold"/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" dur="100" fill="hold"/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21" dur="100" fill="hold"/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2" dur="100" fill="hold"/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100" fill="hold"/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00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2000"/>
                                        <p:tgtEl>
                                          <p:spTgt spid="23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000"/>
                            </p:stCondLst>
                            <p:childTnLst>
                              <p:par>
                                <p:cTn id="1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2000"/>
                                        <p:tgtEl>
                                          <p:spTgt spid="23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600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2000"/>
                                        <p:tgtEl>
                                          <p:spTgt spid="23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8000"/>
                            </p:stCondLst>
                            <p:childTnLst>
                              <p:par>
                                <p:cTn id="14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2000"/>
                                        <p:tgtEl>
                                          <p:spTgt spid="2324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000"/>
                                        <p:tgtEl>
                                          <p:spTgt spid="2324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60" grpId="0" animBg="1"/>
      <p:bldP spid="232454" grpId="0"/>
      <p:bldP spid="232455" grpId="0"/>
      <p:bldP spid="232456" grpId="0"/>
      <p:bldP spid="232458" grpId="0" animBg="1"/>
      <p:bldP spid="232459" grpId="0" animBg="1"/>
      <p:bldP spid="232461" grpId="0" animBg="1"/>
      <p:bldP spid="232461" grpId="1" animBg="1"/>
      <p:bldP spid="232461" grpId="2" animBg="1"/>
      <p:bldP spid="232462" grpId="0"/>
      <p:bldP spid="232464" grpId="0" animBg="1"/>
      <p:bldP spid="232464" grpId="1" animBg="1"/>
      <p:bldP spid="232465" grpId="0" animBg="1"/>
      <p:bldP spid="232465" grpId="1" animBg="1"/>
      <p:bldP spid="232466" grpId="0"/>
      <p:bldP spid="232452" grpId="0" animBg="1"/>
      <p:bldP spid="232452" grpId="1" animBg="1"/>
      <p:bldP spid="232467" grpId="0" animBg="1"/>
      <p:bldP spid="232468" grpId="0"/>
      <p:bldP spid="232470" grpId="0" animBg="1"/>
      <p:bldP spid="232470" grpId="1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60" name="Line 44"/>
          <p:cNvSpPr>
            <a:spLocks noChangeShapeType="1"/>
          </p:cNvSpPr>
          <p:nvPr/>
        </p:nvSpPr>
        <p:spPr bwMode="auto">
          <a:xfrm flipH="1">
            <a:off x="6959601" y="5900739"/>
            <a:ext cx="1909763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39649" name="Line 33"/>
          <p:cNvSpPr>
            <a:spLocks noChangeShapeType="1"/>
          </p:cNvSpPr>
          <p:nvPr/>
        </p:nvSpPr>
        <p:spPr bwMode="auto">
          <a:xfrm>
            <a:off x="2324100" y="2819401"/>
            <a:ext cx="1955800" cy="1958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34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Построение матрицы камеры</a:t>
            </a:r>
          </a:p>
        </p:txBody>
      </p:sp>
      <p:sp>
        <p:nvSpPr>
          <p:cNvPr id="239620" name="Line 4"/>
          <p:cNvSpPr>
            <a:spLocks noChangeShapeType="1"/>
          </p:cNvSpPr>
          <p:nvPr/>
        </p:nvSpPr>
        <p:spPr bwMode="auto">
          <a:xfrm flipH="1" flipV="1">
            <a:off x="6975476" y="5900739"/>
            <a:ext cx="2422525" cy="168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39624" name="Line 8"/>
          <p:cNvSpPr>
            <a:spLocks noChangeShapeType="1"/>
          </p:cNvSpPr>
          <p:nvPr/>
        </p:nvSpPr>
        <p:spPr bwMode="auto">
          <a:xfrm flipH="1">
            <a:off x="5510214" y="5902325"/>
            <a:ext cx="1449387" cy="0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39625" name="Line 9"/>
          <p:cNvSpPr>
            <a:spLocks noChangeShapeType="1"/>
          </p:cNvSpPr>
          <p:nvPr/>
        </p:nvSpPr>
        <p:spPr bwMode="auto">
          <a:xfrm flipV="1">
            <a:off x="6975475" y="4773614"/>
            <a:ext cx="1588" cy="1127125"/>
          </a:xfrm>
          <a:prstGeom prst="line">
            <a:avLst/>
          </a:prstGeom>
          <a:noFill/>
          <a:ln w="38100">
            <a:solidFill>
              <a:srgbClr val="3366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39626" name="Line 10"/>
          <p:cNvSpPr>
            <a:spLocks noChangeShapeType="1"/>
          </p:cNvSpPr>
          <p:nvPr/>
        </p:nvSpPr>
        <p:spPr bwMode="auto">
          <a:xfrm flipH="1">
            <a:off x="6018213" y="5900739"/>
            <a:ext cx="957262" cy="674687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39627" name="Text Box 11"/>
          <p:cNvSpPr txBox="1">
            <a:spLocks noChangeArrowheads="1"/>
          </p:cNvSpPr>
          <p:nvPr/>
        </p:nvSpPr>
        <p:spPr bwMode="auto">
          <a:xfrm>
            <a:off x="5549900" y="5461001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669900"/>
                </a:solidFill>
              </a:rPr>
              <a:t>z</a:t>
            </a:r>
            <a:endParaRPr lang="ru-RU" b="1">
              <a:solidFill>
                <a:srgbClr val="669900"/>
              </a:solidFill>
            </a:endParaRPr>
          </a:p>
        </p:txBody>
      </p:sp>
      <p:sp>
        <p:nvSpPr>
          <p:cNvPr id="239628" name="Text Box 12"/>
          <p:cNvSpPr txBox="1">
            <a:spLocks noChangeArrowheads="1"/>
          </p:cNvSpPr>
          <p:nvPr/>
        </p:nvSpPr>
        <p:spPr bwMode="auto">
          <a:xfrm>
            <a:off x="6242051" y="6462713"/>
            <a:ext cx="3222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6600"/>
                </a:solidFill>
              </a:rPr>
              <a:t>x</a:t>
            </a:r>
            <a:endParaRPr lang="ru-RU" b="1">
              <a:solidFill>
                <a:srgbClr val="FF6600"/>
              </a:solidFill>
            </a:endParaRPr>
          </a:p>
        </p:txBody>
      </p:sp>
      <p:sp>
        <p:nvSpPr>
          <p:cNvPr id="239629" name="Text Box 13"/>
          <p:cNvSpPr txBox="1">
            <a:spLocks noChangeArrowheads="1"/>
          </p:cNvSpPr>
          <p:nvPr/>
        </p:nvSpPr>
        <p:spPr bwMode="auto">
          <a:xfrm>
            <a:off x="7031038" y="4660901"/>
            <a:ext cx="3159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3366FF"/>
                </a:solidFill>
              </a:rPr>
              <a:t>y</a:t>
            </a:r>
            <a:endParaRPr lang="ru-RU" b="1">
              <a:solidFill>
                <a:srgbClr val="3366FF"/>
              </a:solidFill>
            </a:endParaRPr>
          </a:p>
        </p:txBody>
      </p:sp>
      <p:sp>
        <p:nvSpPr>
          <p:cNvPr id="239633" name="Freeform 17"/>
          <p:cNvSpPr>
            <a:spLocks/>
          </p:cNvSpPr>
          <p:nvPr/>
        </p:nvSpPr>
        <p:spPr bwMode="auto">
          <a:xfrm>
            <a:off x="6977064" y="5730875"/>
            <a:ext cx="1343025" cy="1123950"/>
          </a:xfrm>
          <a:custGeom>
            <a:avLst/>
            <a:gdLst>
              <a:gd name="T0" fmla="*/ 1667020340 w 1082"/>
              <a:gd name="T1" fmla="*/ 1397415734 h 904"/>
              <a:gd name="T2" fmla="*/ 1667020340 w 1082"/>
              <a:gd name="T3" fmla="*/ 0 h 904"/>
              <a:gd name="T4" fmla="*/ 0 w 1082"/>
              <a:gd name="T5" fmla="*/ 204047923 h 904"/>
              <a:gd name="T6" fmla="*/ 1667020340 w 1082"/>
              <a:gd name="T7" fmla="*/ 1397415734 h 904"/>
              <a:gd name="T8" fmla="*/ 0 60000 65536"/>
              <a:gd name="T9" fmla="*/ 0 60000 65536"/>
              <a:gd name="T10" fmla="*/ 0 60000 65536"/>
              <a:gd name="T11" fmla="*/ 0 60000 65536"/>
              <a:gd name="T12" fmla="*/ 0 w 1082"/>
              <a:gd name="T13" fmla="*/ 0 h 904"/>
              <a:gd name="T14" fmla="*/ 1082 w 1082"/>
              <a:gd name="T15" fmla="*/ 904 h 9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2" h="904">
                <a:moveTo>
                  <a:pt x="1082" y="904"/>
                </a:moveTo>
                <a:lnTo>
                  <a:pt x="1082" y="0"/>
                </a:lnTo>
                <a:lnTo>
                  <a:pt x="0" y="132"/>
                </a:lnTo>
                <a:lnTo>
                  <a:pt x="1082" y="904"/>
                </a:lnTo>
                <a:close/>
              </a:path>
            </a:pathLst>
          </a:custGeom>
          <a:solidFill>
            <a:srgbClr val="D3D6E5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39634" name="Freeform 18"/>
          <p:cNvSpPr>
            <a:spLocks/>
          </p:cNvSpPr>
          <p:nvPr/>
        </p:nvSpPr>
        <p:spPr bwMode="auto">
          <a:xfrm>
            <a:off x="6978650" y="4943476"/>
            <a:ext cx="2420938" cy="950913"/>
          </a:xfrm>
          <a:custGeom>
            <a:avLst/>
            <a:gdLst>
              <a:gd name="T0" fmla="*/ 1674244119 w 1948"/>
              <a:gd name="T1" fmla="*/ 980124400 h 766"/>
              <a:gd name="T2" fmla="*/ 2147483647 w 1948"/>
              <a:gd name="T3" fmla="*/ 0 h 766"/>
              <a:gd name="T4" fmla="*/ 0 w 1948"/>
              <a:gd name="T5" fmla="*/ 1180464077 h 766"/>
              <a:gd name="T6" fmla="*/ 1674244119 w 1948"/>
              <a:gd name="T7" fmla="*/ 980124400 h 766"/>
              <a:gd name="T8" fmla="*/ 0 60000 65536"/>
              <a:gd name="T9" fmla="*/ 0 60000 65536"/>
              <a:gd name="T10" fmla="*/ 0 60000 65536"/>
              <a:gd name="T11" fmla="*/ 0 60000 65536"/>
              <a:gd name="T12" fmla="*/ 0 w 1948"/>
              <a:gd name="T13" fmla="*/ 0 h 766"/>
              <a:gd name="T14" fmla="*/ 1948 w 1948"/>
              <a:gd name="T15" fmla="*/ 766 h 7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48" h="766">
                <a:moveTo>
                  <a:pt x="1084" y="636"/>
                </a:moveTo>
                <a:lnTo>
                  <a:pt x="1948" y="0"/>
                </a:lnTo>
                <a:lnTo>
                  <a:pt x="0" y="766"/>
                </a:lnTo>
                <a:lnTo>
                  <a:pt x="1084" y="636"/>
                </a:lnTo>
                <a:close/>
              </a:path>
            </a:pathLst>
          </a:custGeom>
          <a:solidFill>
            <a:srgbClr val="D3D6E5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39635" name="AutoShape 19"/>
          <p:cNvSpPr>
            <a:spLocks noChangeArrowheads="1"/>
          </p:cNvSpPr>
          <p:nvPr/>
        </p:nvSpPr>
        <p:spPr bwMode="auto">
          <a:xfrm rot="16200000" flipH="1">
            <a:off x="7906545" y="5364957"/>
            <a:ext cx="1914525" cy="1071563"/>
          </a:xfrm>
          <a:prstGeom prst="parallelogram">
            <a:avLst>
              <a:gd name="adj" fmla="val 73915"/>
            </a:avLst>
          </a:prstGeom>
          <a:solidFill>
            <a:srgbClr val="D3D6E5">
              <a:alpha val="63921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9636" name="Line 20"/>
          <p:cNvSpPr>
            <a:spLocks noChangeShapeType="1"/>
          </p:cNvSpPr>
          <p:nvPr/>
        </p:nvSpPr>
        <p:spPr bwMode="auto">
          <a:xfrm flipH="1">
            <a:off x="8863013" y="5900739"/>
            <a:ext cx="1071562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39637" name="Oval 21"/>
          <p:cNvSpPr>
            <a:spLocks noChangeArrowheads="1"/>
          </p:cNvSpPr>
          <p:nvPr/>
        </p:nvSpPr>
        <p:spPr bwMode="auto">
          <a:xfrm>
            <a:off x="6919914" y="5843589"/>
            <a:ext cx="111125" cy="11112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9642" name="Oval 26"/>
          <p:cNvSpPr>
            <a:spLocks noChangeArrowheads="1"/>
          </p:cNvSpPr>
          <p:nvPr/>
        </p:nvSpPr>
        <p:spPr bwMode="auto">
          <a:xfrm>
            <a:off x="2640013" y="3141663"/>
            <a:ext cx="144462" cy="14446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9646" name="Line 30"/>
          <p:cNvSpPr>
            <a:spLocks noChangeShapeType="1"/>
          </p:cNvSpPr>
          <p:nvPr/>
        </p:nvSpPr>
        <p:spPr bwMode="auto">
          <a:xfrm>
            <a:off x="2711451" y="3213101"/>
            <a:ext cx="2447925" cy="21574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39640" name="AutoShape 24"/>
          <p:cNvSpPr>
            <a:spLocks noChangeArrowheads="1"/>
          </p:cNvSpPr>
          <p:nvPr/>
        </p:nvSpPr>
        <p:spPr bwMode="auto">
          <a:xfrm rot="17134856" flipH="1">
            <a:off x="3229769" y="3774282"/>
            <a:ext cx="2133600" cy="2017712"/>
          </a:xfrm>
          <a:prstGeom prst="parallelogram">
            <a:avLst>
              <a:gd name="adj" fmla="val 37098"/>
            </a:avLst>
          </a:prstGeom>
          <a:solidFill>
            <a:srgbClr val="D3D6E5">
              <a:alpha val="63921"/>
            </a:srgb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9647" name="Freeform 31"/>
          <p:cNvSpPr>
            <a:spLocks/>
          </p:cNvSpPr>
          <p:nvPr/>
        </p:nvSpPr>
        <p:spPr bwMode="auto">
          <a:xfrm>
            <a:off x="2711450" y="3213100"/>
            <a:ext cx="692150" cy="2324100"/>
          </a:xfrm>
          <a:custGeom>
            <a:avLst/>
            <a:gdLst>
              <a:gd name="T0" fmla="*/ 514111929 w 436"/>
              <a:gd name="T1" fmla="*/ 2147483647 h 1464"/>
              <a:gd name="T2" fmla="*/ 1098788214 w 436"/>
              <a:gd name="T3" fmla="*/ 1562496751 h 1464"/>
              <a:gd name="T4" fmla="*/ 0 w 436"/>
              <a:gd name="T5" fmla="*/ 0 h 1464"/>
              <a:gd name="T6" fmla="*/ 514111929 w 436"/>
              <a:gd name="T7" fmla="*/ 2147483647 h 1464"/>
              <a:gd name="T8" fmla="*/ 0 60000 65536"/>
              <a:gd name="T9" fmla="*/ 0 60000 65536"/>
              <a:gd name="T10" fmla="*/ 0 60000 65536"/>
              <a:gd name="T11" fmla="*/ 0 60000 65536"/>
              <a:gd name="T12" fmla="*/ 0 w 436"/>
              <a:gd name="T13" fmla="*/ 0 h 1464"/>
              <a:gd name="T14" fmla="*/ 436 w 436"/>
              <a:gd name="T15" fmla="*/ 1464 h 14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6" h="1464">
                <a:moveTo>
                  <a:pt x="204" y="1464"/>
                </a:moveTo>
                <a:lnTo>
                  <a:pt x="436" y="620"/>
                </a:lnTo>
                <a:lnTo>
                  <a:pt x="0" y="0"/>
                </a:lnTo>
                <a:lnTo>
                  <a:pt x="204" y="1464"/>
                </a:lnTo>
                <a:close/>
              </a:path>
            </a:pathLst>
          </a:custGeom>
          <a:solidFill>
            <a:srgbClr val="D3D6E5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39648" name="Freeform 32"/>
          <p:cNvSpPr>
            <a:spLocks/>
          </p:cNvSpPr>
          <p:nvPr/>
        </p:nvSpPr>
        <p:spPr bwMode="auto">
          <a:xfrm>
            <a:off x="2711450" y="3213100"/>
            <a:ext cx="2857500" cy="992188"/>
          </a:xfrm>
          <a:custGeom>
            <a:avLst/>
            <a:gdLst>
              <a:gd name="T0" fmla="*/ 1108868846 w 1800"/>
              <a:gd name="T1" fmla="*/ 1575099025 h 625"/>
              <a:gd name="T2" fmla="*/ 2147483647 w 1800"/>
              <a:gd name="T3" fmla="*/ 1272680241 h 625"/>
              <a:gd name="T4" fmla="*/ 0 w 1800"/>
              <a:gd name="T5" fmla="*/ 0 h 625"/>
              <a:gd name="T6" fmla="*/ 1108868846 w 1800"/>
              <a:gd name="T7" fmla="*/ 1575099025 h 625"/>
              <a:gd name="T8" fmla="*/ 0 60000 65536"/>
              <a:gd name="T9" fmla="*/ 0 60000 65536"/>
              <a:gd name="T10" fmla="*/ 0 60000 65536"/>
              <a:gd name="T11" fmla="*/ 0 60000 65536"/>
              <a:gd name="T12" fmla="*/ 0 w 1800"/>
              <a:gd name="T13" fmla="*/ 0 h 625"/>
              <a:gd name="T14" fmla="*/ 1800 w 1800"/>
              <a:gd name="T15" fmla="*/ 625 h 62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00" h="625">
                <a:moveTo>
                  <a:pt x="440" y="625"/>
                </a:moveTo>
                <a:lnTo>
                  <a:pt x="1800" y="505"/>
                </a:lnTo>
                <a:lnTo>
                  <a:pt x="0" y="0"/>
                </a:lnTo>
                <a:lnTo>
                  <a:pt x="440" y="625"/>
                </a:lnTo>
                <a:close/>
              </a:path>
            </a:pathLst>
          </a:custGeom>
          <a:solidFill>
            <a:srgbClr val="D3D6E5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39652" name="Line 36"/>
          <p:cNvSpPr>
            <a:spLocks noChangeShapeType="1"/>
          </p:cNvSpPr>
          <p:nvPr/>
        </p:nvSpPr>
        <p:spPr bwMode="auto">
          <a:xfrm flipH="1" flipV="1">
            <a:off x="2135189" y="2636839"/>
            <a:ext cx="574675" cy="574675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239653" name="Line 37"/>
          <p:cNvSpPr>
            <a:spLocks noChangeShapeType="1"/>
          </p:cNvSpPr>
          <p:nvPr/>
        </p:nvSpPr>
        <p:spPr bwMode="auto">
          <a:xfrm flipH="1">
            <a:off x="1847850" y="3213101"/>
            <a:ext cx="863600" cy="73025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239654" name="Line 38"/>
          <p:cNvSpPr>
            <a:spLocks noChangeShapeType="1"/>
          </p:cNvSpPr>
          <p:nvPr/>
        </p:nvSpPr>
        <p:spPr bwMode="auto">
          <a:xfrm flipV="1">
            <a:off x="2711450" y="2349501"/>
            <a:ext cx="215900" cy="792163"/>
          </a:xfrm>
          <a:prstGeom prst="line">
            <a:avLst/>
          </a:prstGeom>
          <a:noFill/>
          <a:ln w="38100">
            <a:solidFill>
              <a:srgbClr val="3366FF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239655" name="Line 39"/>
          <p:cNvSpPr>
            <a:spLocks noChangeShapeType="1"/>
          </p:cNvSpPr>
          <p:nvPr/>
        </p:nvSpPr>
        <p:spPr bwMode="auto">
          <a:xfrm>
            <a:off x="4271964" y="4773614"/>
            <a:ext cx="815975" cy="815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39656" name="Text Box 40"/>
          <p:cNvSpPr txBox="1">
            <a:spLocks noChangeArrowheads="1"/>
          </p:cNvSpPr>
          <p:nvPr/>
        </p:nvSpPr>
        <p:spPr bwMode="auto">
          <a:xfrm>
            <a:off x="1992313" y="3354388"/>
            <a:ext cx="330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6600"/>
                </a:solidFill>
              </a:rPr>
              <a:t>u</a:t>
            </a:r>
            <a:endParaRPr lang="ru-RU" b="1">
              <a:solidFill>
                <a:srgbClr val="FF6600"/>
              </a:solidFill>
            </a:endParaRPr>
          </a:p>
        </p:txBody>
      </p:sp>
      <p:sp>
        <p:nvSpPr>
          <p:cNvPr id="239657" name="Text Box 41"/>
          <p:cNvSpPr txBox="1">
            <a:spLocks noChangeArrowheads="1"/>
          </p:cNvSpPr>
          <p:nvPr/>
        </p:nvSpPr>
        <p:spPr bwMode="auto">
          <a:xfrm>
            <a:off x="3000376" y="2349501"/>
            <a:ext cx="3159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3366FF"/>
                </a:solidFill>
              </a:rPr>
              <a:t>v</a:t>
            </a:r>
            <a:endParaRPr lang="ru-RU" b="1">
              <a:solidFill>
                <a:srgbClr val="3366FF"/>
              </a:solidFill>
            </a:endParaRPr>
          </a:p>
        </p:txBody>
      </p:sp>
      <p:sp>
        <p:nvSpPr>
          <p:cNvPr id="239658" name="Text Box 42"/>
          <p:cNvSpPr txBox="1">
            <a:spLocks noChangeArrowheads="1"/>
          </p:cNvSpPr>
          <p:nvPr/>
        </p:nvSpPr>
        <p:spPr bwMode="auto">
          <a:xfrm>
            <a:off x="2208213" y="2349501"/>
            <a:ext cx="33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669900"/>
                </a:solidFill>
              </a:rPr>
              <a:t>n</a:t>
            </a:r>
            <a:endParaRPr lang="ru-RU" b="1">
              <a:solidFill>
                <a:srgbClr val="669900"/>
              </a:solidFill>
            </a:endParaRPr>
          </a:p>
        </p:txBody>
      </p:sp>
      <p:sp>
        <p:nvSpPr>
          <p:cNvPr id="239661" name="Text Box 45"/>
          <p:cNvSpPr txBox="1">
            <a:spLocks noChangeArrowheads="1"/>
          </p:cNvSpPr>
          <p:nvPr/>
        </p:nvSpPr>
        <p:spPr bwMode="auto">
          <a:xfrm>
            <a:off x="3432175" y="2349501"/>
            <a:ext cx="673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Глаз</a:t>
            </a:r>
          </a:p>
        </p:txBody>
      </p:sp>
      <p:sp>
        <p:nvSpPr>
          <p:cNvPr id="239662" name="Arc 46"/>
          <p:cNvSpPr>
            <a:spLocks/>
          </p:cNvSpPr>
          <p:nvPr/>
        </p:nvSpPr>
        <p:spPr bwMode="auto">
          <a:xfrm flipH="1">
            <a:off x="2782889" y="2709863"/>
            <a:ext cx="865187" cy="863600"/>
          </a:xfrm>
          <a:custGeom>
            <a:avLst/>
            <a:gdLst>
              <a:gd name="T0" fmla="*/ 0 w 17880"/>
              <a:gd name="T1" fmla="*/ 0 h 21600"/>
              <a:gd name="T2" fmla="*/ 2025791700 w 17880"/>
              <a:gd name="T3" fmla="*/ 605940723 h 21600"/>
              <a:gd name="T4" fmla="*/ 0 w 17880"/>
              <a:gd name="T5" fmla="*/ 1380480733 h 21600"/>
              <a:gd name="T6" fmla="*/ 0 60000 65536"/>
              <a:gd name="T7" fmla="*/ 0 60000 65536"/>
              <a:gd name="T8" fmla="*/ 0 60000 65536"/>
              <a:gd name="T9" fmla="*/ 0 w 17880"/>
              <a:gd name="T10" fmla="*/ 0 h 21600"/>
              <a:gd name="T11" fmla="*/ 17880 w 1788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880" h="21600" fill="none" extrusionOk="0">
                <a:moveTo>
                  <a:pt x="-1" y="0"/>
                </a:moveTo>
                <a:cubicBezTo>
                  <a:pt x="7163" y="0"/>
                  <a:pt x="13860" y="3551"/>
                  <a:pt x="17879" y="9481"/>
                </a:cubicBezTo>
              </a:path>
              <a:path w="17880" h="21600" stroke="0" extrusionOk="0">
                <a:moveTo>
                  <a:pt x="-1" y="0"/>
                </a:moveTo>
                <a:cubicBezTo>
                  <a:pt x="7163" y="0"/>
                  <a:pt x="13860" y="3551"/>
                  <a:pt x="17879" y="9481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9663" name="Arc 47"/>
          <p:cNvSpPr>
            <a:spLocks/>
          </p:cNvSpPr>
          <p:nvPr/>
        </p:nvSpPr>
        <p:spPr bwMode="auto">
          <a:xfrm>
            <a:off x="4656138" y="3429000"/>
            <a:ext cx="2735262" cy="2324100"/>
          </a:xfrm>
          <a:custGeom>
            <a:avLst/>
            <a:gdLst>
              <a:gd name="T0" fmla="*/ 2147483647 w 18710"/>
              <a:gd name="T1" fmla="*/ 0 h 21388"/>
              <a:gd name="T2" fmla="*/ 2147483647 w 18710"/>
              <a:gd name="T3" fmla="*/ 2147483647 h 21388"/>
              <a:gd name="T4" fmla="*/ 0 w 18710"/>
              <a:gd name="T5" fmla="*/ 2147483647 h 21388"/>
              <a:gd name="T6" fmla="*/ 0 60000 65536"/>
              <a:gd name="T7" fmla="*/ 0 60000 65536"/>
              <a:gd name="T8" fmla="*/ 0 60000 65536"/>
              <a:gd name="T9" fmla="*/ 0 w 18710"/>
              <a:gd name="T10" fmla="*/ 0 h 21388"/>
              <a:gd name="T11" fmla="*/ 18710 w 18710"/>
              <a:gd name="T12" fmla="*/ 21388 h 213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10" h="21388" fill="none" extrusionOk="0">
                <a:moveTo>
                  <a:pt x="3016" y="-1"/>
                </a:moveTo>
                <a:cubicBezTo>
                  <a:pt x="9598" y="927"/>
                  <a:pt x="15387" y="4835"/>
                  <a:pt x="18709" y="10594"/>
                </a:cubicBezTo>
              </a:path>
              <a:path w="18710" h="21388" stroke="0" extrusionOk="0">
                <a:moveTo>
                  <a:pt x="3016" y="-1"/>
                </a:moveTo>
                <a:cubicBezTo>
                  <a:pt x="9598" y="927"/>
                  <a:pt x="15387" y="4835"/>
                  <a:pt x="18709" y="10594"/>
                </a:cubicBezTo>
                <a:lnTo>
                  <a:pt x="0" y="2138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39664" name="Text Box 48"/>
          <p:cNvSpPr txBox="1">
            <a:spLocks noChangeArrowheads="1"/>
          </p:cNvSpPr>
          <p:nvPr/>
        </p:nvSpPr>
        <p:spPr bwMode="auto">
          <a:xfrm>
            <a:off x="6240463" y="3500438"/>
            <a:ext cx="5762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endParaRPr lang="ru-RU"/>
          </a:p>
        </p:txBody>
      </p:sp>
      <p:sp>
        <p:nvSpPr>
          <p:cNvPr id="239665" name="Text Box 49"/>
          <p:cNvSpPr txBox="1">
            <a:spLocks noChangeArrowheads="1"/>
          </p:cNvSpPr>
          <p:nvPr/>
        </p:nvSpPr>
        <p:spPr bwMode="auto">
          <a:xfrm>
            <a:off x="4656138" y="1844676"/>
            <a:ext cx="601186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dirty="0"/>
              <a:t>Матрица камеры </a:t>
            </a:r>
            <a:r>
              <a:rPr lang="en-US" dirty="0"/>
              <a:t>V </a:t>
            </a:r>
            <a:r>
              <a:rPr lang="ru-RU" dirty="0"/>
              <a:t>преобразовывает точки из мировых координат в систему координат наблюдателя (система координат камеры)</a:t>
            </a:r>
          </a:p>
        </p:txBody>
      </p:sp>
      <p:sp>
        <p:nvSpPr>
          <p:cNvPr id="239666" name="Text Box 50"/>
          <p:cNvSpPr txBox="1">
            <a:spLocks noChangeArrowheads="1"/>
          </p:cNvSpPr>
          <p:nvPr/>
        </p:nvSpPr>
        <p:spPr bwMode="auto">
          <a:xfrm>
            <a:off x="6018214" y="3141663"/>
            <a:ext cx="45418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/>
              <a:t>Вектор </a:t>
            </a:r>
            <a:r>
              <a:rPr lang="en-US" b="1" dirty="0">
                <a:solidFill>
                  <a:srgbClr val="FF6600"/>
                </a:solidFill>
              </a:rPr>
              <a:t>u</a:t>
            </a:r>
            <a:r>
              <a:rPr lang="en-US" dirty="0"/>
              <a:t> </a:t>
            </a:r>
            <a:r>
              <a:rPr lang="ru-RU" dirty="0"/>
              <a:t>преобразовывается в вектор </a:t>
            </a:r>
            <a:r>
              <a:rPr lang="en-US" b="1" dirty="0">
                <a:solidFill>
                  <a:srgbClr val="FF6600"/>
                </a:solidFill>
              </a:rPr>
              <a:t>x</a:t>
            </a:r>
            <a:endParaRPr lang="ru-RU" b="1" dirty="0">
              <a:solidFill>
                <a:srgbClr val="FF6600"/>
              </a:solidFill>
            </a:endParaRPr>
          </a:p>
        </p:txBody>
      </p:sp>
      <p:sp>
        <p:nvSpPr>
          <p:cNvPr id="239667" name="Text Box 51"/>
          <p:cNvSpPr txBox="1">
            <a:spLocks noChangeArrowheads="1"/>
          </p:cNvSpPr>
          <p:nvPr/>
        </p:nvSpPr>
        <p:spPr bwMode="auto">
          <a:xfrm>
            <a:off x="8074026" y="3789363"/>
            <a:ext cx="25939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Вектор </a:t>
            </a:r>
            <a:r>
              <a:rPr lang="en-US" b="1">
                <a:solidFill>
                  <a:srgbClr val="3366FF"/>
                </a:solidFill>
              </a:rPr>
              <a:t>v</a:t>
            </a:r>
            <a:r>
              <a:rPr lang="en-US"/>
              <a:t> - </a:t>
            </a:r>
            <a:r>
              <a:rPr lang="ru-RU"/>
              <a:t>в вектор </a:t>
            </a:r>
            <a:r>
              <a:rPr lang="en-US" b="1">
                <a:solidFill>
                  <a:srgbClr val="3366FF"/>
                </a:solidFill>
              </a:rPr>
              <a:t>y</a:t>
            </a:r>
            <a:endParaRPr lang="ru-RU" b="1">
              <a:solidFill>
                <a:srgbClr val="3366FF"/>
              </a:solidFill>
            </a:endParaRPr>
          </a:p>
        </p:txBody>
      </p:sp>
      <p:sp>
        <p:nvSpPr>
          <p:cNvPr id="239668" name="Text Box 52"/>
          <p:cNvSpPr txBox="1">
            <a:spLocks noChangeArrowheads="1"/>
          </p:cNvSpPr>
          <p:nvPr/>
        </p:nvSpPr>
        <p:spPr bwMode="auto">
          <a:xfrm>
            <a:off x="8112126" y="4365626"/>
            <a:ext cx="25558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Вектор </a:t>
            </a:r>
            <a:r>
              <a:rPr lang="en-US" b="1">
                <a:solidFill>
                  <a:srgbClr val="669900"/>
                </a:solidFill>
              </a:rPr>
              <a:t>n</a:t>
            </a:r>
            <a:r>
              <a:rPr lang="en-US"/>
              <a:t> - </a:t>
            </a:r>
            <a:r>
              <a:rPr lang="ru-RU"/>
              <a:t>в вектор </a:t>
            </a:r>
            <a:r>
              <a:rPr lang="en-US" b="1">
                <a:solidFill>
                  <a:srgbClr val="669900"/>
                </a:solidFill>
              </a:rPr>
              <a:t>z</a:t>
            </a:r>
            <a:endParaRPr lang="ru-RU" b="1">
              <a:solidFill>
                <a:srgbClr val="6699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3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3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3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39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39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39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3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3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3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39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3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3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239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23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3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23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23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239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1000"/>
                                        <p:tgtEl>
                                          <p:spTgt spid="23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9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2000"/>
                                        <p:tgtEl>
                                          <p:spTgt spid="23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9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23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2000"/>
                                        <p:tgtEl>
                                          <p:spTgt spid="239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9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500"/>
                            </p:stCondLst>
                            <p:childTnLst>
                              <p:par>
                                <p:cTn id="9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2000"/>
                                        <p:tgtEl>
                                          <p:spTgt spid="239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45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39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0"/>
                                        <p:tgtEl>
                                          <p:spTgt spid="23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2000"/>
                                        <p:tgtEl>
                                          <p:spTgt spid="23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39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500"/>
                            </p:stCondLst>
                            <p:childTnLst>
                              <p:par>
                                <p:cTn id="1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2000"/>
                                        <p:tgtEl>
                                          <p:spTgt spid="239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450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39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00"/>
                                        <p:tgtEl>
                                          <p:spTgt spid="239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60" grpId="0" animBg="1"/>
      <p:bldP spid="239649" grpId="0" animBg="1"/>
      <p:bldP spid="239620" grpId="0" animBg="1"/>
      <p:bldP spid="239624" grpId="0" animBg="1"/>
      <p:bldP spid="239625" grpId="0" animBg="1"/>
      <p:bldP spid="239626" grpId="0" animBg="1"/>
      <p:bldP spid="239627" grpId="0"/>
      <p:bldP spid="239628" grpId="0"/>
      <p:bldP spid="239629" grpId="0"/>
      <p:bldP spid="239633" grpId="0" animBg="1"/>
      <p:bldP spid="239634" grpId="0" animBg="1"/>
      <p:bldP spid="239635" grpId="0" animBg="1"/>
      <p:bldP spid="239636" grpId="0" animBg="1"/>
      <p:bldP spid="239637" grpId="0" animBg="1"/>
      <p:bldP spid="239642" grpId="0" animBg="1"/>
      <p:bldP spid="239646" grpId="0" animBg="1"/>
      <p:bldP spid="239640" grpId="0" animBg="1"/>
      <p:bldP spid="239647" grpId="0" animBg="1"/>
      <p:bldP spid="239648" grpId="0" animBg="1"/>
      <p:bldP spid="239652" grpId="0" animBg="1"/>
      <p:bldP spid="239653" grpId="0" animBg="1"/>
      <p:bldP spid="239654" grpId="0" animBg="1"/>
      <p:bldP spid="239655" grpId="0" animBg="1"/>
      <p:bldP spid="239656" grpId="0"/>
      <p:bldP spid="239657" grpId="0"/>
      <p:bldP spid="239658" grpId="0"/>
      <p:bldP spid="239661" grpId="0"/>
      <p:bldP spid="239662" grpId="0" animBg="1"/>
      <p:bldP spid="239663" grpId="0" animBg="1"/>
      <p:bldP spid="239664" grpId="0"/>
      <p:bldP spid="239665" grpId="0"/>
      <p:bldP spid="239666" grpId="0"/>
      <p:bldP spid="239667" grpId="0"/>
      <p:bldP spid="239668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Построение матрицы камеры</a:t>
            </a:r>
          </a:p>
        </p:txBody>
      </p:sp>
      <p:sp>
        <p:nvSpPr>
          <p:cNvPr id="234505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800" dirty="0"/>
              <a:t>Матрица камеры, которую строит функция </a:t>
            </a:r>
            <a:r>
              <a:rPr lang="en-US" sz="2800" dirty="0" err="1"/>
              <a:t>gluLookAt</a:t>
            </a:r>
            <a:r>
              <a:rPr lang="ru-RU" sz="2800" dirty="0"/>
              <a:t> и ей подобные, имеет следующий вид: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9D185B-3689-420B-981D-28131E6A7CB3}"/>
                  </a:ext>
                </a:extLst>
              </p:cNvPr>
              <p:cNvSpPr txBox="1"/>
              <p:nvPr/>
            </p:nvSpPr>
            <p:spPr>
              <a:xfrm>
                <a:off x="1487488" y="2951393"/>
                <a:ext cx="8507288" cy="35414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=</a:t>
                </a:r>
              </a:p>
              <a:p>
                <a:pPr algn="ctr"/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𝑒𝑦𝑒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acc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𝑒𝑦𝑒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𝑒𝑦𝑒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acc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9D185B-3689-420B-981D-28131E6A7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488" y="2951393"/>
                <a:ext cx="8507288" cy="35414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4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5" grpId="0" build="p"/>
      <p:bldP spid="2" grpId="0" build="p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D2AA5-7BEF-D861-F2E7-1307408F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Куда матрица камеры трансформирует точку </a:t>
            </a:r>
            <a:r>
              <a:rPr lang="en-US" dirty="0"/>
              <a:t>Eye?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1C288-BB56-AB8D-E636-5A80E46E98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𝑒𝑦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𝑒𝑦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𝑒𝑦𝑒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acc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𝑒𝑦𝑒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𝑒𝑦𝑒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acc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𝑒𝑦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𝑒𝑦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ru-RU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𝑒𝑦𝑒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𝑒𝑦𝑒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𝑒𝑦𝑒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𝑒𝑦𝑒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𝑒𝑦𝑒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𝑒𝑦𝑒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1C288-BB56-AB8D-E636-5A80E46E98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91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54" name="Freeform 66"/>
          <p:cNvSpPr>
            <a:spLocks/>
          </p:cNvSpPr>
          <p:nvPr/>
        </p:nvSpPr>
        <p:spPr bwMode="auto">
          <a:xfrm>
            <a:off x="4727576" y="3500438"/>
            <a:ext cx="144463" cy="144462"/>
          </a:xfrm>
          <a:custGeom>
            <a:avLst/>
            <a:gdLst>
              <a:gd name="T0" fmla="*/ 0 w 136"/>
              <a:gd name="T1" fmla="*/ 153450508 h 136"/>
              <a:gd name="T2" fmla="*/ 0 w 136"/>
              <a:gd name="T3" fmla="*/ 0 h 136"/>
              <a:gd name="T4" fmla="*/ 153452633 w 136"/>
              <a:gd name="T5" fmla="*/ 0 h 136"/>
              <a:gd name="T6" fmla="*/ 0 60000 65536"/>
              <a:gd name="T7" fmla="*/ 0 60000 65536"/>
              <a:gd name="T8" fmla="*/ 0 60000 65536"/>
              <a:gd name="T9" fmla="*/ 0 w 136"/>
              <a:gd name="T10" fmla="*/ 0 h 136"/>
              <a:gd name="T11" fmla="*/ 136 w 136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" h="136">
                <a:moveTo>
                  <a:pt x="0" y="136"/>
                </a:moveTo>
                <a:lnTo>
                  <a:pt x="0" y="0"/>
                </a:lnTo>
                <a:lnTo>
                  <a:pt x="136" y="0"/>
                </a:ln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52" name="Line 64"/>
          <p:cNvSpPr>
            <a:spLocks noChangeShapeType="1"/>
          </p:cNvSpPr>
          <p:nvPr/>
        </p:nvSpPr>
        <p:spPr bwMode="auto">
          <a:xfrm flipV="1">
            <a:off x="4524375" y="3165476"/>
            <a:ext cx="342900" cy="2381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48" name="Line 60"/>
          <p:cNvSpPr>
            <a:spLocks noChangeShapeType="1"/>
          </p:cNvSpPr>
          <p:nvPr/>
        </p:nvSpPr>
        <p:spPr bwMode="auto">
          <a:xfrm>
            <a:off x="4872038" y="3162300"/>
            <a:ext cx="0" cy="482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51" name="AutoShape 63"/>
          <p:cNvSpPr>
            <a:spLocks noChangeArrowheads="1"/>
          </p:cNvSpPr>
          <p:nvPr/>
        </p:nvSpPr>
        <p:spPr bwMode="auto">
          <a:xfrm flipH="1">
            <a:off x="3143250" y="2349500"/>
            <a:ext cx="4681538" cy="1295400"/>
          </a:xfrm>
          <a:prstGeom prst="rtTriangle">
            <a:avLst/>
          </a:prstGeom>
          <a:solidFill>
            <a:srgbClr val="9999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2716" name="AutoShape 28"/>
          <p:cNvSpPr>
            <a:spLocks noChangeArrowheads="1"/>
          </p:cNvSpPr>
          <p:nvPr/>
        </p:nvSpPr>
        <p:spPr bwMode="auto">
          <a:xfrm rot="1562076">
            <a:off x="8943976" y="4768851"/>
            <a:ext cx="360363" cy="360363"/>
          </a:xfrm>
          <a:prstGeom prst="cube">
            <a:avLst>
              <a:gd name="adj" fmla="val 280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2699" name="Line 11"/>
          <p:cNvSpPr>
            <a:spLocks noChangeShapeType="1"/>
          </p:cNvSpPr>
          <p:nvPr/>
        </p:nvSpPr>
        <p:spPr bwMode="auto">
          <a:xfrm>
            <a:off x="2206625" y="3644900"/>
            <a:ext cx="6769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58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Перспективная проекция точки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2742" name="Object 54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1703388" y="5516563"/>
                <a:ext cx="1000125" cy="654050"/>
              </a:xfrm>
              <a:prstGeom prst="rect">
                <a:avLst/>
              </a:prstGeom>
              <a:noFill/>
            </p:spPr>
            <p:txBody>
              <a:bodyPr>
                <a:normAutofit fontScale="55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2742" name="Object 5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703388" y="5516563"/>
                <a:ext cx="1000125" cy="6540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2692" name="Line 4"/>
          <p:cNvSpPr>
            <a:spLocks noChangeShapeType="1"/>
          </p:cNvSpPr>
          <p:nvPr/>
        </p:nvSpPr>
        <p:spPr bwMode="auto">
          <a:xfrm flipH="1">
            <a:off x="1703389" y="3644900"/>
            <a:ext cx="1449387" cy="0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42693" name="Line 5"/>
          <p:cNvSpPr>
            <a:spLocks noChangeShapeType="1"/>
          </p:cNvSpPr>
          <p:nvPr/>
        </p:nvSpPr>
        <p:spPr bwMode="auto">
          <a:xfrm flipV="1">
            <a:off x="3168650" y="2516189"/>
            <a:ext cx="1588" cy="1127125"/>
          </a:xfrm>
          <a:prstGeom prst="line">
            <a:avLst/>
          </a:prstGeom>
          <a:noFill/>
          <a:ln w="38100">
            <a:solidFill>
              <a:srgbClr val="3366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42694" name="Line 6"/>
          <p:cNvSpPr>
            <a:spLocks noChangeShapeType="1"/>
          </p:cNvSpPr>
          <p:nvPr/>
        </p:nvSpPr>
        <p:spPr bwMode="auto">
          <a:xfrm flipH="1">
            <a:off x="2211388" y="3643314"/>
            <a:ext cx="957262" cy="674687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42695" name="Text Box 7"/>
          <p:cNvSpPr txBox="1">
            <a:spLocks noChangeArrowheads="1"/>
          </p:cNvSpPr>
          <p:nvPr/>
        </p:nvSpPr>
        <p:spPr bwMode="auto">
          <a:xfrm>
            <a:off x="1743075" y="3203576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669900"/>
                </a:solidFill>
              </a:rPr>
              <a:t>z</a:t>
            </a:r>
            <a:endParaRPr lang="ru-RU" b="1">
              <a:solidFill>
                <a:srgbClr val="669900"/>
              </a:solidFill>
            </a:endParaRPr>
          </a:p>
        </p:txBody>
      </p:sp>
      <p:sp>
        <p:nvSpPr>
          <p:cNvPr id="242696" name="Text Box 8"/>
          <p:cNvSpPr txBox="1">
            <a:spLocks noChangeArrowheads="1"/>
          </p:cNvSpPr>
          <p:nvPr/>
        </p:nvSpPr>
        <p:spPr bwMode="auto">
          <a:xfrm>
            <a:off x="2435226" y="4205288"/>
            <a:ext cx="3222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6600"/>
                </a:solidFill>
              </a:rPr>
              <a:t>x</a:t>
            </a:r>
            <a:endParaRPr lang="ru-RU" b="1">
              <a:solidFill>
                <a:srgbClr val="FF6600"/>
              </a:solidFill>
            </a:endParaRPr>
          </a:p>
        </p:txBody>
      </p:sp>
      <p:sp>
        <p:nvSpPr>
          <p:cNvPr id="242697" name="Text Box 9"/>
          <p:cNvSpPr txBox="1">
            <a:spLocks noChangeArrowheads="1"/>
          </p:cNvSpPr>
          <p:nvPr/>
        </p:nvSpPr>
        <p:spPr bwMode="auto">
          <a:xfrm>
            <a:off x="3224213" y="2403476"/>
            <a:ext cx="3159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3366FF"/>
                </a:solidFill>
              </a:rPr>
              <a:t>y</a:t>
            </a:r>
            <a:endParaRPr lang="ru-RU" b="1">
              <a:solidFill>
                <a:srgbClr val="3366FF"/>
              </a:solidFill>
            </a:endParaRPr>
          </a:p>
        </p:txBody>
      </p:sp>
      <p:sp>
        <p:nvSpPr>
          <p:cNvPr id="242698" name="Oval 10"/>
          <p:cNvSpPr>
            <a:spLocks noChangeArrowheads="1"/>
          </p:cNvSpPr>
          <p:nvPr/>
        </p:nvSpPr>
        <p:spPr bwMode="auto">
          <a:xfrm>
            <a:off x="3113089" y="3586164"/>
            <a:ext cx="111125" cy="11112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2700" name="Line 12"/>
          <p:cNvSpPr>
            <a:spLocks noChangeShapeType="1"/>
          </p:cNvSpPr>
          <p:nvPr/>
        </p:nvSpPr>
        <p:spPr bwMode="auto">
          <a:xfrm flipV="1">
            <a:off x="3105151" y="3522663"/>
            <a:ext cx="244475" cy="120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01" name="Line 13"/>
          <p:cNvSpPr>
            <a:spLocks noChangeShapeType="1"/>
          </p:cNvSpPr>
          <p:nvPr/>
        </p:nvSpPr>
        <p:spPr bwMode="auto">
          <a:xfrm>
            <a:off x="3105150" y="3643313"/>
            <a:ext cx="21590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02" name="Arc 14"/>
          <p:cNvSpPr>
            <a:spLocks/>
          </p:cNvSpPr>
          <p:nvPr/>
        </p:nvSpPr>
        <p:spPr bwMode="auto">
          <a:xfrm>
            <a:off x="3209926" y="3540125"/>
            <a:ext cx="149225" cy="228600"/>
          </a:xfrm>
          <a:custGeom>
            <a:avLst/>
            <a:gdLst>
              <a:gd name="T0" fmla="*/ 4023065 w 21600"/>
              <a:gd name="T1" fmla="*/ 0 h 35662"/>
              <a:gd name="T2" fmla="*/ 4016142 w 21600"/>
              <a:gd name="T3" fmla="*/ 9393278 h 35662"/>
              <a:gd name="T4" fmla="*/ 0 w 21600"/>
              <a:gd name="T5" fmla="*/ 4694793 h 35662"/>
              <a:gd name="T6" fmla="*/ 0 60000 65536"/>
              <a:gd name="T7" fmla="*/ 0 60000 65536"/>
              <a:gd name="T8" fmla="*/ 0 60000 65536"/>
              <a:gd name="T9" fmla="*/ 0 w 21600"/>
              <a:gd name="T10" fmla="*/ 0 h 35662"/>
              <a:gd name="T11" fmla="*/ 21600 w 21600"/>
              <a:gd name="T12" fmla="*/ 35662 h 356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5662" fill="none" extrusionOk="0">
                <a:moveTo>
                  <a:pt x="12201" y="-1"/>
                </a:moveTo>
                <a:cubicBezTo>
                  <a:pt x="18083" y="4026"/>
                  <a:pt x="21600" y="10695"/>
                  <a:pt x="21600" y="17824"/>
                </a:cubicBezTo>
                <a:cubicBezTo>
                  <a:pt x="21600" y="24961"/>
                  <a:pt x="18074" y="31637"/>
                  <a:pt x="12180" y="35662"/>
                </a:cubicBezTo>
              </a:path>
              <a:path w="21600" h="35662" stroke="0" extrusionOk="0">
                <a:moveTo>
                  <a:pt x="12201" y="-1"/>
                </a:moveTo>
                <a:cubicBezTo>
                  <a:pt x="18083" y="4026"/>
                  <a:pt x="21600" y="10695"/>
                  <a:pt x="21600" y="17824"/>
                </a:cubicBezTo>
                <a:cubicBezTo>
                  <a:pt x="21600" y="24961"/>
                  <a:pt x="18074" y="31637"/>
                  <a:pt x="12180" y="35662"/>
                </a:cubicBezTo>
                <a:lnTo>
                  <a:pt x="0" y="17824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2703" name="Oval 15"/>
          <p:cNvSpPr>
            <a:spLocks noChangeArrowheads="1"/>
          </p:cNvSpPr>
          <p:nvPr/>
        </p:nvSpPr>
        <p:spPr bwMode="auto">
          <a:xfrm>
            <a:off x="3287714" y="3571876"/>
            <a:ext cx="7302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2704" name="AutoShape 16"/>
          <p:cNvSpPr>
            <a:spLocks noChangeArrowheads="1"/>
          </p:cNvSpPr>
          <p:nvPr/>
        </p:nvSpPr>
        <p:spPr bwMode="auto">
          <a:xfrm rot="16200000" flipV="1">
            <a:off x="3323432" y="2745582"/>
            <a:ext cx="3240087" cy="1727200"/>
          </a:xfrm>
          <a:prstGeom prst="parallelogram">
            <a:avLst>
              <a:gd name="adj" fmla="val 83148"/>
            </a:avLst>
          </a:prstGeom>
          <a:solidFill>
            <a:srgbClr val="CCFF66">
              <a:alpha val="47842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2706" name="Line 18"/>
          <p:cNvSpPr>
            <a:spLocks noChangeShapeType="1"/>
          </p:cNvSpPr>
          <p:nvPr/>
        </p:nvSpPr>
        <p:spPr bwMode="auto">
          <a:xfrm flipV="1">
            <a:off x="3143251" y="2997200"/>
            <a:ext cx="3744913" cy="6477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oval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42707" name="Line 19"/>
          <p:cNvSpPr>
            <a:spLocks noChangeShapeType="1"/>
          </p:cNvSpPr>
          <p:nvPr/>
        </p:nvSpPr>
        <p:spPr bwMode="auto">
          <a:xfrm flipH="1">
            <a:off x="6888163" y="3644900"/>
            <a:ext cx="957262" cy="674688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10" name="Line 22"/>
          <p:cNvSpPr>
            <a:spLocks noChangeShapeType="1"/>
          </p:cNvSpPr>
          <p:nvPr/>
        </p:nvSpPr>
        <p:spPr bwMode="auto">
          <a:xfrm>
            <a:off x="4530725" y="3397250"/>
            <a:ext cx="0" cy="5032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11" name="Line 23"/>
          <p:cNvSpPr>
            <a:spLocks noChangeShapeType="1"/>
          </p:cNvSpPr>
          <p:nvPr/>
        </p:nvSpPr>
        <p:spPr bwMode="auto">
          <a:xfrm flipV="1">
            <a:off x="4532313" y="3656013"/>
            <a:ext cx="330200" cy="2333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13" name="Rectangle 25"/>
          <p:cNvSpPr>
            <a:spLocks noChangeArrowheads="1"/>
          </p:cNvSpPr>
          <p:nvPr/>
        </p:nvSpPr>
        <p:spPr bwMode="auto">
          <a:xfrm>
            <a:off x="6888164" y="5013326"/>
            <a:ext cx="2592387" cy="1439863"/>
          </a:xfrm>
          <a:prstGeom prst="rect">
            <a:avLst/>
          </a:prstGeom>
          <a:solidFill>
            <a:srgbClr val="CCFF66">
              <a:alpha val="4901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2714" name="Line 26"/>
          <p:cNvSpPr>
            <a:spLocks noChangeShapeType="1"/>
          </p:cNvSpPr>
          <p:nvPr/>
        </p:nvSpPr>
        <p:spPr bwMode="auto">
          <a:xfrm flipV="1">
            <a:off x="8185150" y="4508500"/>
            <a:ext cx="0" cy="2160588"/>
          </a:xfrm>
          <a:prstGeom prst="line">
            <a:avLst/>
          </a:prstGeom>
          <a:noFill/>
          <a:ln w="38100">
            <a:solidFill>
              <a:srgbClr val="3366FF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242715" name="Line 27"/>
          <p:cNvSpPr>
            <a:spLocks noChangeShapeType="1"/>
          </p:cNvSpPr>
          <p:nvPr/>
        </p:nvSpPr>
        <p:spPr bwMode="auto">
          <a:xfrm>
            <a:off x="6600826" y="5734050"/>
            <a:ext cx="3527425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242717" name="Line 29"/>
          <p:cNvSpPr>
            <a:spLocks noChangeShapeType="1"/>
          </p:cNvSpPr>
          <p:nvPr/>
        </p:nvSpPr>
        <p:spPr bwMode="auto">
          <a:xfrm flipV="1">
            <a:off x="9120188" y="5157788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oval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42718" name="Line 30"/>
          <p:cNvSpPr>
            <a:spLocks noChangeShapeType="1"/>
          </p:cNvSpPr>
          <p:nvPr/>
        </p:nvSpPr>
        <p:spPr bwMode="auto">
          <a:xfrm flipV="1">
            <a:off x="8185150" y="5157788"/>
            <a:ext cx="9350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oval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42719" name="Text Box 31"/>
          <p:cNvSpPr txBox="1">
            <a:spLocks noChangeArrowheads="1"/>
          </p:cNvSpPr>
          <p:nvPr/>
        </p:nvSpPr>
        <p:spPr bwMode="auto">
          <a:xfrm>
            <a:off x="10036176" y="5678488"/>
            <a:ext cx="3222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6600"/>
                </a:solidFill>
              </a:rPr>
              <a:t>x</a:t>
            </a:r>
            <a:endParaRPr lang="ru-RU" b="1">
              <a:solidFill>
                <a:srgbClr val="FF6600"/>
              </a:solidFill>
            </a:endParaRPr>
          </a:p>
        </p:txBody>
      </p:sp>
      <p:sp>
        <p:nvSpPr>
          <p:cNvPr id="242721" name="Text Box 33"/>
          <p:cNvSpPr txBox="1">
            <a:spLocks noChangeArrowheads="1"/>
          </p:cNvSpPr>
          <p:nvPr/>
        </p:nvSpPr>
        <p:spPr bwMode="auto">
          <a:xfrm>
            <a:off x="7824788" y="4292601"/>
            <a:ext cx="3159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3366FF"/>
                </a:solidFill>
              </a:rPr>
              <a:t>y</a:t>
            </a:r>
            <a:endParaRPr lang="ru-RU" b="1">
              <a:solidFill>
                <a:srgbClr val="3366FF"/>
              </a:solidFill>
            </a:endParaRPr>
          </a:p>
        </p:txBody>
      </p:sp>
      <p:sp>
        <p:nvSpPr>
          <p:cNvPr id="242722" name="Text Box 34"/>
          <p:cNvSpPr txBox="1">
            <a:spLocks noChangeArrowheads="1"/>
          </p:cNvSpPr>
          <p:nvPr/>
        </p:nvSpPr>
        <p:spPr bwMode="auto">
          <a:xfrm>
            <a:off x="8904289" y="5734051"/>
            <a:ext cx="422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x*</a:t>
            </a:r>
            <a:endParaRPr lang="ru-RU"/>
          </a:p>
        </p:txBody>
      </p:sp>
      <p:sp>
        <p:nvSpPr>
          <p:cNvPr id="242729" name="Text Box 41"/>
          <p:cNvSpPr txBox="1">
            <a:spLocks noChangeArrowheads="1"/>
          </p:cNvSpPr>
          <p:nvPr/>
        </p:nvSpPr>
        <p:spPr bwMode="auto">
          <a:xfrm>
            <a:off x="7751764" y="5013326"/>
            <a:ext cx="4267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y*</a:t>
            </a:r>
            <a:endParaRPr lang="ru-RU"/>
          </a:p>
        </p:txBody>
      </p:sp>
      <p:sp>
        <p:nvSpPr>
          <p:cNvPr id="242730" name="Line 42"/>
          <p:cNvSpPr>
            <a:spLocks noChangeShapeType="1"/>
          </p:cNvSpPr>
          <p:nvPr/>
        </p:nvSpPr>
        <p:spPr bwMode="auto">
          <a:xfrm>
            <a:off x="1992313" y="4581525"/>
            <a:ext cx="20875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42731" name="Text Box 43"/>
          <p:cNvSpPr txBox="1">
            <a:spLocks noChangeArrowheads="1"/>
          </p:cNvSpPr>
          <p:nvPr/>
        </p:nvSpPr>
        <p:spPr bwMode="auto">
          <a:xfrm>
            <a:off x="2855913" y="4581526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</a:t>
            </a:r>
            <a:endParaRPr lang="ru-RU"/>
          </a:p>
        </p:txBody>
      </p:sp>
      <p:sp>
        <p:nvSpPr>
          <p:cNvPr id="242733" name="Text Box 45"/>
          <p:cNvSpPr txBox="1">
            <a:spLocks noChangeArrowheads="1"/>
          </p:cNvSpPr>
          <p:nvPr/>
        </p:nvSpPr>
        <p:spPr bwMode="auto">
          <a:xfrm>
            <a:off x="4465638" y="3094039"/>
            <a:ext cx="2159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US"/>
              <a:t>P’</a:t>
            </a:r>
            <a:endParaRPr lang="ru-RU"/>
          </a:p>
        </p:txBody>
      </p:sp>
      <p:sp>
        <p:nvSpPr>
          <p:cNvPr id="242734" name="Text Box 46"/>
          <p:cNvSpPr txBox="1">
            <a:spLocks noChangeArrowheads="1"/>
          </p:cNvSpPr>
          <p:nvPr/>
        </p:nvSpPr>
        <p:spPr bwMode="auto">
          <a:xfrm>
            <a:off x="7804151" y="3300413"/>
            <a:ext cx="3778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z</a:t>
            </a:r>
            <a:endParaRPr lang="ru-RU" baseline="-25000"/>
          </a:p>
        </p:txBody>
      </p:sp>
      <p:sp>
        <p:nvSpPr>
          <p:cNvPr id="242705" name="AutoShape 17"/>
          <p:cNvSpPr>
            <a:spLocks noChangeArrowheads="1"/>
          </p:cNvSpPr>
          <p:nvPr/>
        </p:nvSpPr>
        <p:spPr bwMode="auto">
          <a:xfrm rot="19082292">
            <a:off x="6461126" y="1890714"/>
            <a:ext cx="1008063" cy="865187"/>
          </a:xfrm>
          <a:prstGeom prst="cube">
            <a:avLst>
              <a:gd name="adj" fmla="val 29421"/>
            </a:avLst>
          </a:prstGeom>
          <a:solidFill>
            <a:srgbClr val="00E4A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2736" name="Text Box 48"/>
          <p:cNvSpPr txBox="1">
            <a:spLocks noChangeArrowheads="1"/>
          </p:cNvSpPr>
          <p:nvPr/>
        </p:nvSpPr>
        <p:spPr bwMode="auto">
          <a:xfrm>
            <a:off x="6580188" y="4092576"/>
            <a:ext cx="3857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x</a:t>
            </a:r>
            <a:endParaRPr lang="ru-RU" baseline="-25000"/>
          </a:p>
        </p:txBody>
      </p:sp>
      <p:sp>
        <p:nvSpPr>
          <p:cNvPr id="242737" name="Text Box 49"/>
          <p:cNvSpPr txBox="1">
            <a:spLocks noChangeArrowheads="1"/>
          </p:cNvSpPr>
          <p:nvPr/>
        </p:nvSpPr>
        <p:spPr bwMode="auto">
          <a:xfrm>
            <a:off x="6959601" y="2924176"/>
            <a:ext cx="3857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y</a:t>
            </a:r>
            <a:endParaRPr lang="ru-RU" baseline="-25000"/>
          </a:p>
        </p:txBody>
      </p:sp>
      <p:sp>
        <p:nvSpPr>
          <p:cNvPr id="242732" name="Text Box 44"/>
          <p:cNvSpPr txBox="1">
            <a:spLocks noChangeArrowheads="1"/>
          </p:cNvSpPr>
          <p:nvPr/>
        </p:nvSpPr>
        <p:spPr bwMode="auto">
          <a:xfrm>
            <a:off x="6527801" y="2636838"/>
            <a:ext cx="3095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endParaRPr lang="ru-RU"/>
          </a:p>
        </p:txBody>
      </p:sp>
      <p:sp>
        <p:nvSpPr>
          <p:cNvPr id="242741" name="Freeform 53"/>
          <p:cNvSpPr>
            <a:spLocks/>
          </p:cNvSpPr>
          <p:nvPr/>
        </p:nvSpPr>
        <p:spPr bwMode="auto">
          <a:xfrm>
            <a:off x="4643439" y="3641725"/>
            <a:ext cx="134937" cy="69850"/>
          </a:xfrm>
          <a:custGeom>
            <a:avLst/>
            <a:gdLst>
              <a:gd name="T0" fmla="*/ 101155535 w 180"/>
              <a:gd name="T1" fmla="*/ 52462614 h 93"/>
              <a:gd name="T2" fmla="*/ 0 w 180"/>
              <a:gd name="T3" fmla="*/ 51898556 h 93"/>
              <a:gd name="T4" fmla="*/ 76428314 w 180"/>
              <a:gd name="T5" fmla="*/ 0 h 93"/>
              <a:gd name="T6" fmla="*/ 0 60000 65536"/>
              <a:gd name="T7" fmla="*/ 0 60000 65536"/>
              <a:gd name="T8" fmla="*/ 0 60000 65536"/>
              <a:gd name="T9" fmla="*/ 0 w 180"/>
              <a:gd name="T10" fmla="*/ 0 h 93"/>
              <a:gd name="T11" fmla="*/ 180 w 180"/>
              <a:gd name="T12" fmla="*/ 93 h 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0" h="93">
                <a:moveTo>
                  <a:pt x="180" y="93"/>
                </a:moveTo>
                <a:lnTo>
                  <a:pt x="0" y="92"/>
                </a:lnTo>
                <a:lnTo>
                  <a:pt x="136" y="0"/>
                </a:ln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38" name="Freeform 50"/>
          <p:cNvSpPr>
            <a:spLocks/>
          </p:cNvSpPr>
          <p:nvPr/>
        </p:nvSpPr>
        <p:spPr bwMode="auto">
          <a:xfrm>
            <a:off x="3155950" y="3648075"/>
            <a:ext cx="4679950" cy="673100"/>
          </a:xfrm>
          <a:custGeom>
            <a:avLst/>
            <a:gdLst>
              <a:gd name="T0" fmla="*/ 0 w 2948"/>
              <a:gd name="T1" fmla="*/ 0 h 424"/>
              <a:gd name="T2" fmla="*/ 2147483647 w 2948"/>
              <a:gd name="T3" fmla="*/ 0 h 424"/>
              <a:gd name="T4" fmla="*/ 2147483647 w 2948"/>
              <a:gd name="T5" fmla="*/ 1068546339 h 424"/>
              <a:gd name="T6" fmla="*/ 0 w 2948"/>
              <a:gd name="T7" fmla="*/ 0 h 424"/>
              <a:gd name="T8" fmla="*/ 0 60000 65536"/>
              <a:gd name="T9" fmla="*/ 0 60000 65536"/>
              <a:gd name="T10" fmla="*/ 0 60000 65536"/>
              <a:gd name="T11" fmla="*/ 0 60000 65536"/>
              <a:gd name="T12" fmla="*/ 0 w 2948"/>
              <a:gd name="T13" fmla="*/ 0 h 424"/>
              <a:gd name="T14" fmla="*/ 2948 w 2948"/>
              <a:gd name="T15" fmla="*/ 424 h 4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48" h="424">
                <a:moveTo>
                  <a:pt x="0" y="0"/>
                </a:moveTo>
                <a:lnTo>
                  <a:pt x="2948" y="0"/>
                </a:lnTo>
                <a:lnTo>
                  <a:pt x="2348" y="42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39" name="Freeform 51"/>
          <p:cNvSpPr>
            <a:spLocks/>
          </p:cNvSpPr>
          <p:nvPr/>
        </p:nvSpPr>
        <p:spPr bwMode="auto">
          <a:xfrm>
            <a:off x="7340600" y="3638550"/>
            <a:ext cx="285750" cy="147638"/>
          </a:xfrm>
          <a:custGeom>
            <a:avLst/>
            <a:gdLst>
              <a:gd name="T0" fmla="*/ 453628170 w 180"/>
              <a:gd name="T1" fmla="*/ 234376141 h 93"/>
              <a:gd name="T2" fmla="*/ 0 w 180"/>
              <a:gd name="T3" fmla="*/ 231855183 h 93"/>
              <a:gd name="T4" fmla="*/ 342741233 w 180"/>
              <a:gd name="T5" fmla="*/ 0 h 93"/>
              <a:gd name="T6" fmla="*/ 0 60000 65536"/>
              <a:gd name="T7" fmla="*/ 0 60000 65536"/>
              <a:gd name="T8" fmla="*/ 0 60000 65536"/>
              <a:gd name="T9" fmla="*/ 0 w 180"/>
              <a:gd name="T10" fmla="*/ 0 h 93"/>
              <a:gd name="T11" fmla="*/ 180 w 180"/>
              <a:gd name="T12" fmla="*/ 93 h 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0" h="93">
                <a:moveTo>
                  <a:pt x="180" y="93"/>
                </a:moveTo>
                <a:lnTo>
                  <a:pt x="0" y="92"/>
                </a:lnTo>
                <a:lnTo>
                  <a:pt x="136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2744" name="Object 56"/>
              <p:cNvSpPr txBox="1"/>
              <p:nvPr/>
            </p:nvSpPr>
            <p:spPr bwMode="auto">
              <a:xfrm>
                <a:off x="3719513" y="6203950"/>
                <a:ext cx="1152525" cy="654050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2744" name="Object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9513" y="6203950"/>
                <a:ext cx="1152525" cy="6540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745" name="Object 57"/>
              <p:cNvSpPr txBox="1"/>
              <p:nvPr/>
            </p:nvSpPr>
            <p:spPr bwMode="auto">
              <a:xfrm>
                <a:off x="3359150" y="5516563"/>
                <a:ext cx="1020763" cy="673100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2745" name="Object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9150" y="5516563"/>
                <a:ext cx="1020763" cy="6731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746" name="Object 58"/>
              <p:cNvSpPr txBox="1"/>
              <p:nvPr/>
            </p:nvSpPr>
            <p:spPr bwMode="auto">
              <a:xfrm>
                <a:off x="5159375" y="6165850"/>
                <a:ext cx="1152525" cy="692150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2746" name="Object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59375" y="6165850"/>
                <a:ext cx="1152525" cy="6921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2709" name="Oval 21"/>
          <p:cNvSpPr>
            <a:spLocks noChangeArrowheads="1"/>
          </p:cNvSpPr>
          <p:nvPr/>
        </p:nvSpPr>
        <p:spPr bwMode="auto">
          <a:xfrm>
            <a:off x="4481514" y="3338514"/>
            <a:ext cx="117475" cy="117475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2755" name="Freeform 67"/>
          <p:cNvSpPr>
            <a:spLocks/>
          </p:cNvSpPr>
          <p:nvPr/>
        </p:nvSpPr>
        <p:spPr bwMode="auto">
          <a:xfrm>
            <a:off x="7535864" y="3355976"/>
            <a:ext cx="288925" cy="288925"/>
          </a:xfrm>
          <a:custGeom>
            <a:avLst/>
            <a:gdLst>
              <a:gd name="T0" fmla="*/ 0 w 136"/>
              <a:gd name="T1" fmla="*/ 613806281 h 136"/>
              <a:gd name="T2" fmla="*/ 0 w 136"/>
              <a:gd name="T3" fmla="*/ 0 h 136"/>
              <a:gd name="T4" fmla="*/ 613806281 w 136"/>
              <a:gd name="T5" fmla="*/ 0 h 136"/>
              <a:gd name="T6" fmla="*/ 0 60000 65536"/>
              <a:gd name="T7" fmla="*/ 0 60000 65536"/>
              <a:gd name="T8" fmla="*/ 0 60000 65536"/>
              <a:gd name="T9" fmla="*/ 0 w 136"/>
              <a:gd name="T10" fmla="*/ 0 h 136"/>
              <a:gd name="T11" fmla="*/ 136 w 136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" h="136">
                <a:moveTo>
                  <a:pt x="0" y="136"/>
                </a:moveTo>
                <a:lnTo>
                  <a:pt x="0" y="0"/>
                </a:lnTo>
                <a:lnTo>
                  <a:pt x="136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56" name="Text Box 68"/>
          <p:cNvSpPr txBox="1">
            <a:spLocks noChangeArrowheads="1"/>
          </p:cNvSpPr>
          <p:nvPr/>
        </p:nvSpPr>
        <p:spPr bwMode="auto">
          <a:xfrm>
            <a:off x="7824788" y="2276475"/>
            <a:ext cx="20358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y</a:t>
            </a:r>
            <a:endParaRPr lang="ru-RU" baseline="-25000"/>
          </a:p>
        </p:txBody>
      </p:sp>
      <p:sp>
        <p:nvSpPr>
          <p:cNvPr id="242757" name="Line 69"/>
          <p:cNvSpPr>
            <a:spLocks noChangeShapeType="1"/>
          </p:cNvSpPr>
          <p:nvPr/>
        </p:nvSpPr>
        <p:spPr bwMode="auto">
          <a:xfrm flipH="1">
            <a:off x="6862763" y="2362200"/>
            <a:ext cx="957262" cy="674688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08" name="Line 20"/>
          <p:cNvSpPr>
            <a:spLocks noChangeShapeType="1"/>
          </p:cNvSpPr>
          <p:nvPr/>
        </p:nvSpPr>
        <p:spPr bwMode="auto">
          <a:xfrm>
            <a:off x="6888163" y="2997200"/>
            <a:ext cx="0" cy="1295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2735" name="Oval 47"/>
          <p:cNvSpPr>
            <a:spLocks noChangeArrowheads="1"/>
          </p:cNvSpPr>
          <p:nvPr/>
        </p:nvSpPr>
        <p:spPr bwMode="auto">
          <a:xfrm>
            <a:off x="6816726" y="2924176"/>
            <a:ext cx="117475" cy="117475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2759" name="Text Box 71"/>
          <p:cNvSpPr txBox="1">
            <a:spLocks noChangeArrowheads="1"/>
          </p:cNvSpPr>
          <p:nvPr/>
        </p:nvSpPr>
        <p:spPr bwMode="auto">
          <a:xfrm>
            <a:off x="1611314" y="5173663"/>
            <a:ext cx="41544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По признаку подобия треугольников:</a:t>
            </a:r>
          </a:p>
        </p:txBody>
      </p:sp>
      <p:sp>
        <p:nvSpPr>
          <p:cNvPr id="242760" name="Text Box 72"/>
          <p:cNvSpPr txBox="1">
            <a:spLocks noChangeArrowheads="1"/>
          </p:cNvSpPr>
          <p:nvPr/>
        </p:nvSpPr>
        <p:spPr bwMode="auto">
          <a:xfrm>
            <a:off x="1524000" y="6308726"/>
            <a:ext cx="19383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Следовательно:</a:t>
            </a:r>
          </a:p>
        </p:txBody>
      </p:sp>
      <p:sp>
        <p:nvSpPr>
          <p:cNvPr id="242762" name="Text Box 74"/>
          <p:cNvSpPr txBox="1">
            <a:spLocks noChangeArrowheads="1"/>
          </p:cNvSpPr>
          <p:nvPr/>
        </p:nvSpPr>
        <p:spPr bwMode="auto">
          <a:xfrm>
            <a:off x="9120189" y="5084763"/>
            <a:ext cx="3571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P’</a:t>
            </a:r>
            <a:endParaRPr lang="ru-RU"/>
          </a:p>
        </p:txBody>
      </p:sp>
      <p:sp>
        <p:nvSpPr>
          <p:cNvPr id="242764" name="Text Box 76"/>
          <p:cNvSpPr txBox="1">
            <a:spLocks noChangeArrowheads="1"/>
          </p:cNvSpPr>
          <p:nvPr/>
        </p:nvSpPr>
        <p:spPr bwMode="auto">
          <a:xfrm>
            <a:off x="4511675" y="3933825"/>
            <a:ext cx="18594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x*</a:t>
            </a:r>
            <a:endParaRPr lang="ru-RU" sz="1400"/>
          </a:p>
        </p:txBody>
      </p:sp>
      <p:sp>
        <p:nvSpPr>
          <p:cNvPr id="242765" name="Text Box 77"/>
          <p:cNvSpPr txBox="1">
            <a:spLocks noChangeArrowheads="1"/>
          </p:cNvSpPr>
          <p:nvPr/>
        </p:nvSpPr>
        <p:spPr bwMode="auto">
          <a:xfrm>
            <a:off x="4872038" y="2924175"/>
            <a:ext cx="18755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y*</a:t>
            </a:r>
            <a:endParaRPr lang="ru-RU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42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4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4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4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42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4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4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4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4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4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4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4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24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24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24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4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24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24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242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4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242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4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0"/>
                                        <p:tgtEl>
                                          <p:spTgt spid="24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2000"/>
                                        <p:tgtEl>
                                          <p:spTgt spid="24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0"/>
                                        <p:tgtEl>
                                          <p:spTgt spid="24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0"/>
                                        <p:tgtEl>
                                          <p:spTgt spid="24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40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00"/>
                                        <p:tgtEl>
                                          <p:spTgt spid="24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000"/>
                                        <p:tgtEl>
                                          <p:spTgt spid="24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0"/>
                                        <p:tgtEl>
                                          <p:spTgt spid="24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0"/>
                                        <p:tgtEl>
                                          <p:spTgt spid="24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0"/>
                                        <p:tgtEl>
                                          <p:spTgt spid="24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0"/>
                                        <p:tgtEl>
                                          <p:spTgt spid="24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000"/>
                                        <p:tgtEl>
                                          <p:spTgt spid="24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000"/>
                                        <p:tgtEl>
                                          <p:spTgt spid="24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000"/>
                                        <p:tgtEl>
                                          <p:spTgt spid="242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00"/>
                                        <p:tgtEl>
                                          <p:spTgt spid="24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00"/>
                                        <p:tgtEl>
                                          <p:spTgt spid="24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000"/>
                                        <p:tgtEl>
                                          <p:spTgt spid="24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000"/>
                                        <p:tgtEl>
                                          <p:spTgt spid="24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2000"/>
                                        <p:tgtEl>
                                          <p:spTgt spid="24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2000"/>
                                        <p:tgtEl>
                                          <p:spTgt spid="24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000"/>
                                        <p:tgtEl>
                                          <p:spTgt spid="242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000"/>
                                        <p:tgtEl>
                                          <p:spTgt spid="242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000"/>
                                        <p:tgtEl>
                                          <p:spTgt spid="24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2000"/>
                                        <p:tgtEl>
                                          <p:spTgt spid="242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2000"/>
                                        <p:tgtEl>
                                          <p:spTgt spid="242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2000"/>
                                        <p:tgtEl>
                                          <p:spTgt spid="24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2000"/>
                                        <p:tgtEl>
                                          <p:spTgt spid="24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2000"/>
                                        <p:tgtEl>
                                          <p:spTgt spid="24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2000"/>
                                        <p:tgtEl>
                                          <p:spTgt spid="242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2000"/>
                                        <p:tgtEl>
                                          <p:spTgt spid="242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2000"/>
                                        <p:tgtEl>
                                          <p:spTgt spid="24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242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24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2000"/>
                                        <p:tgtEl>
                                          <p:spTgt spid="24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24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24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754" grpId="0" animBg="1"/>
      <p:bldP spid="242752" grpId="0" animBg="1"/>
      <p:bldP spid="242748" grpId="0" animBg="1"/>
      <p:bldP spid="242751" grpId="0" animBg="1"/>
      <p:bldP spid="242716" grpId="0" animBg="1"/>
      <p:bldP spid="242699" grpId="0" animBg="1"/>
      <p:bldP spid="242742" grpId="0" build="p"/>
      <p:bldP spid="242692" grpId="0" animBg="1"/>
      <p:bldP spid="242693" grpId="0" animBg="1"/>
      <p:bldP spid="242694" grpId="0" animBg="1"/>
      <p:bldP spid="242695" grpId="0"/>
      <p:bldP spid="242696" grpId="0"/>
      <p:bldP spid="242697" grpId="0"/>
      <p:bldP spid="242698" grpId="0" animBg="1"/>
      <p:bldP spid="242700" grpId="0" animBg="1"/>
      <p:bldP spid="242701" grpId="0" animBg="1"/>
      <p:bldP spid="242702" grpId="0" animBg="1"/>
      <p:bldP spid="242703" grpId="0" animBg="1"/>
      <p:bldP spid="242704" grpId="0" animBg="1"/>
      <p:bldP spid="242706" grpId="0" animBg="1"/>
      <p:bldP spid="242707" grpId="0" animBg="1"/>
      <p:bldP spid="242710" grpId="0" animBg="1"/>
      <p:bldP spid="242711" grpId="0" animBg="1"/>
      <p:bldP spid="242713" grpId="0" animBg="1"/>
      <p:bldP spid="242714" grpId="0" animBg="1"/>
      <p:bldP spid="242715" grpId="0" animBg="1"/>
      <p:bldP spid="242717" grpId="0" animBg="1"/>
      <p:bldP spid="242718" grpId="0" animBg="1"/>
      <p:bldP spid="242719" grpId="0"/>
      <p:bldP spid="242721" grpId="0"/>
      <p:bldP spid="242722" grpId="0"/>
      <p:bldP spid="242729" grpId="0"/>
      <p:bldP spid="242730" grpId="0" animBg="1"/>
      <p:bldP spid="242731" grpId="0"/>
      <p:bldP spid="242733" grpId="0"/>
      <p:bldP spid="242734" grpId="0"/>
      <p:bldP spid="242705" grpId="0" animBg="1"/>
      <p:bldP spid="242736" grpId="0"/>
      <p:bldP spid="242737" grpId="0"/>
      <p:bldP spid="242732" grpId="0"/>
      <p:bldP spid="242741" grpId="0" animBg="1"/>
      <p:bldP spid="242738" grpId="0" animBg="1"/>
      <p:bldP spid="242739" grpId="0" animBg="1"/>
      <p:bldP spid="242744" grpId="0"/>
      <p:bldP spid="242745" grpId="0"/>
      <p:bldP spid="242746" grpId="0"/>
      <p:bldP spid="242709" grpId="0" animBg="1"/>
      <p:bldP spid="242755" grpId="0" animBg="1"/>
      <p:bldP spid="242756" grpId="0"/>
      <p:bldP spid="242757" grpId="0" animBg="1"/>
      <p:bldP spid="242708" grpId="0" animBg="1"/>
      <p:bldP spid="242735" grpId="0" animBg="1"/>
      <p:bldP spid="242759" grpId="0"/>
      <p:bldP spid="242760" grpId="0"/>
      <p:bldP spid="242762" grpId="0"/>
      <p:bldP spid="242764" grpId="0"/>
      <p:bldP spid="242765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0462E-BAE7-CE80-270D-21BC8512C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350F58-7BF7-C6B2-387A-665F84252D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В каком месте размещается точка </a:t>
                </a:r>
                <a:r>
                  <a:rPr lang="en-US" i="0" dirty="0">
                    <a:latin typeface="+mj-lt"/>
                  </a:rPr>
                  <a:t>P=(1, 0.5, -1.5)</a:t>
                </a:r>
                <a:r>
                  <a:rPr lang="ru-RU" dirty="0"/>
                  <a:t> на плоскости просмотра камеры, ближняя плоскость которой находится на расстоянии </a:t>
                </a:r>
                <a:r>
                  <a:rPr lang="en-US" dirty="0"/>
                  <a:t>N=2?</a:t>
                </a:r>
              </a:p>
              <a:p>
                <a:r>
                  <a:rPr lang="ru-RU" dirty="0"/>
                  <a:t>Решение: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−1.5</m:t>
                                </m:r>
                              </m:e>
                            </m:d>
                          </m:den>
                        </m:f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2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−1.5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=(1.3333, 0.6666)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350F58-7BF7-C6B2-387A-665F84252D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448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Перспективная проекция прямых линий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99EDE5-5914-AC69-1564-C16B497F0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AFE6CA-6ADB-2636-92D7-2645F37576D9}"/>
              </a:ext>
            </a:extLst>
          </p:cNvPr>
          <p:cNvCxnSpPr>
            <a:cxnSpLocks/>
          </p:cNvCxnSpPr>
          <p:nvPr/>
        </p:nvCxnSpPr>
        <p:spPr>
          <a:xfrm flipV="1">
            <a:off x="1078042" y="4553588"/>
            <a:ext cx="7344816" cy="12823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3600"/>
              <a:t>Проецирование параллельных прямых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800" dirty="0"/>
              <a:t>Перспективная проекция прямой линии является прямой линией</a:t>
            </a:r>
          </a:p>
          <a:p>
            <a:pPr eaLnBrk="1" hangingPunct="1"/>
            <a:r>
              <a:rPr lang="ru-RU" sz="2800" dirty="0"/>
              <a:t>Если две прямые параллельны друг другу, а также плоскости просмотра, они проецируются в </a:t>
            </a:r>
            <a:r>
              <a:rPr lang="ru-RU" sz="2800" b="1" dirty="0"/>
              <a:t>параллельные</a:t>
            </a:r>
            <a:r>
              <a:rPr lang="ru-RU" sz="2800" dirty="0"/>
              <a:t> прямые</a:t>
            </a:r>
          </a:p>
          <a:p>
            <a:pPr eaLnBrk="1" hangingPunct="1"/>
            <a:r>
              <a:rPr lang="ru-RU" sz="2800" dirty="0"/>
              <a:t>Параллельные прямые, не параллельные плоскости просмотра сходятся в некоторой </a:t>
            </a:r>
            <a:r>
              <a:rPr lang="ru-RU" sz="2800" b="1" dirty="0">
                <a:solidFill>
                  <a:schemeClr val="hlink"/>
                </a:solidFill>
              </a:rPr>
              <a:t>точке схода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B5A7AFA-CDC0-E1C3-0B46-482025952428}"/>
              </a:ext>
            </a:extLst>
          </p:cNvPr>
          <p:cNvCxnSpPr>
            <a:cxnSpLocks/>
          </p:cNvCxnSpPr>
          <p:nvPr/>
        </p:nvCxnSpPr>
        <p:spPr>
          <a:xfrm flipV="1">
            <a:off x="4195476" y="5053630"/>
            <a:ext cx="1393611" cy="2469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E4F99B-4509-0088-F3E1-C76DCE4C99E5}"/>
                  </a:ext>
                </a:extLst>
              </p:cNvPr>
              <p:cNvSpPr txBox="1"/>
              <p:nvPr/>
            </p:nvSpPr>
            <p:spPr>
              <a:xfrm>
                <a:off x="4808760" y="5133957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acc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E4F99B-4509-0088-F3E1-C76DCE4C9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760" y="5133957"/>
                <a:ext cx="216024" cy="369332"/>
              </a:xfrm>
              <a:prstGeom prst="rect">
                <a:avLst/>
              </a:prstGeom>
              <a:blipFill>
                <a:blip r:embed="rId3"/>
                <a:stretch>
                  <a:fillRect r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790068-4B35-2C3B-F804-86524F8B86A1}"/>
                  </a:ext>
                </a:extLst>
              </p:cNvPr>
              <p:cNvSpPr txBox="1"/>
              <p:nvPr/>
            </p:nvSpPr>
            <p:spPr>
              <a:xfrm>
                <a:off x="3752883" y="4565781"/>
                <a:ext cx="23042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790068-4B35-2C3B-F804-86524F8B8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883" y="4565781"/>
                <a:ext cx="2304256" cy="369332"/>
              </a:xfrm>
              <a:prstGeom prst="rect">
                <a:avLst/>
              </a:prstGeom>
              <a:blipFill>
                <a:blip r:embed="rId4"/>
                <a:stretch>
                  <a:fillRect t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AB0470-0A9F-124B-BCA9-74DC0533A7D7}"/>
                  </a:ext>
                </a:extLst>
              </p:cNvPr>
              <p:cNvSpPr txBox="1"/>
              <p:nvPr/>
            </p:nvSpPr>
            <p:spPr>
              <a:xfrm>
                <a:off x="7791876" y="3871414"/>
                <a:ext cx="4319872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AB0470-0A9F-124B-BCA9-74DC0533A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1876" y="3871414"/>
                <a:ext cx="4319872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A1E9BB11-10DB-6471-C1B3-2429CD558A8E}"/>
              </a:ext>
            </a:extLst>
          </p:cNvPr>
          <p:cNvSpPr/>
          <p:nvPr/>
        </p:nvSpPr>
        <p:spPr>
          <a:xfrm>
            <a:off x="5985131" y="4942016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9B35EA8-1039-9653-A4C8-C90E37CC4ECF}"/>
                  </a:ext>
                </a:extLst>
              </p:cNvPr>
              <p:cNvSpPr txBox="1"/>
              <p:nvPr/>
            </p:nvSpPr>
            <p:spPr>
              <a:xfrm>
                <a:off x="5841115" y="4981884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9B35EA8-1039-9653-A4C8-C90E37CC4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115" y="4981884"/>
                <a:ext cx="216024" cy="369332"/>
              </a:xfrm>
              <a:prstGeom prst="rect">
                <a:avLst/>
              </a:prstGeom>
              <a:blipFill>
                <a:blip r:embed="rId6"/>
                <a:stretch>
                  <a:fillRect r="-47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C509C30-5596-7C90-7EFC-DFF035B3A6DC}"/>
              </a:ext>
            </a:extLst>
          </p:cNvPr>
          <p:cNvCxnSpPr>
            <a:cxnSpLocks/>
          </p:cNvCxnSpPr>
          <p:nvPr/>
        </p:nvCxnSpPr>
        <p:spPr>
          <a:xfrm>
            <a:off x="2590210" y="4565781"/>
            <a:ext cx="0" cy="21389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8470D3-50A5-BEB1-F34C-824770F58476}"/>
              </a:ext>
            </a:extLst>
          </p:cNvPr>
          <p:cNvCxnSpPr/>
          <p:nvPr/>
        </p:nvCxnSpPr>
        <p:spPr>
          <a:xfrm>
            <a:off x="1078042" y="5474019"/>
            <a:ext cx="68407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90DB4CE-6F87-C56D-52B8-7B9308C56A39}"/>
              </a:ext>
            </a:extLst>
          </p:cNvPr>
          <p:cNvCxnSpPr>
            <a:cxnSpLocks/>
          </p:cNvCxnSpPr>
          <p:nvPr/>
        </p:nvCxnSpPr>
        <p:spPr>
          <a:xfrm flipV="1">
            <a:off x="1078042" y="4967556"/>
            <a:ext cx="4948733" cy="50646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882213A4-2B42-7F1C-053F-67EAD0D9609B}"/>
              </a:ext>
            </a:extLst>
          </p:cNvPr>
          <p:cNvSpPr/>
          <p:nvPr/>
        </p:nvSpPr>
        <p:spPr>
          <a:xfrm>
            <a:off x="4174386" y="5264617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74C0AF-3886-7B57-5359-B0096D38C901}"/>
                  </a:ext>
                </a:extLst>
              </p:cNvPr>
              <p:cNvSpPr txBox="1"/>
              <p:nvPr/>
            </p:nvSpPr>
            <p:spPr>
              <a:xfrm>
                <a:off x="4162894" y="5168859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74C0AF-3886-7B57-5359-B0096D38C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894" y="5168859"/>
                <a:ext cx="216024" cy="369332"/>
              </a:xfrm>
              <a:prstGeom prst="rect">
                <a:avLst/>
              </a:prstGeom>
              <a:blipFill>
                <a:blip r:embed="rId7"/>
                <a:stretch>
                  <a:fillRect r="-4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A5169F02-1F6C-4BF6-5AFC-385E9270206D}"/>
              </a:ext>
            </a:extLst>
          </p:cNvPr>
          <p:cNvSpPr/>
          <p:nvPr/>
        </p:nvSpPr>
        <p:spPr>
          <a:xfrm>
            <a:off x="2550852" y="5285435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0F669A9-33B6-3274-C9FF-841D50E995E4}"/>
                  </a:ext>
                </a:extLst>
              </p:cNvPr>
              <p:cNvSpPr txBox="1"/>
              <p:nvPr/>
            </p:nvSpPr>
            <p:spPr>
              <a:xfrm>
                <a:off x="2313801" y="5014024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0F669A9-33B6-3274-C9FF-841D50E99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3801" y="5014024"/>
                <a:ext cx="216024" cy="369332"/>
              </a:xfrm>
              <a:prstGeom prst="rect">
                <a:avLst/>
              </a:prstGeom>
              <a:blipFill>
                <a:blip r:embed="rId8"/>
                <a:stretch>
                  <a:fillRect r="-4285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4440295-6462-67DC-3EA2-B8892B84259B}"/>
                  </a:ext>
                </a:extLst>
              </p:cNvPr>
              <p:cNvSpPr txBox="1"/>
              <p:nvPr/>
            </p:nvSpPr>
            <p:spPr>
              <a:xfrm>
                <a:off x="8399781" y="5430809"/>
                <a:ext cx="3703720" cy="656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4440295-6462-67DC-3EA2-B8892B842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9781" y="5430809"/>
                <a:ext cx="3703720" cy="65620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3D37DD0-FB51-5B73-0039-3BDE2C942E69}"/>
                  </a:ext>
                </a:extLst>
              </p:cNvPr>
              <p:cNvSpPr txBox="1"/>
              <p:nvPr/>
            </p:nvSpPr>
            <p:spPr>
              <a:xfrm>
                <a:off x="8295946" y="4827688"/>
                <a:ext cx="39921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Если прямая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dirty="0"/>
                  <a:t> параллельна плоскости просмотра </a:t>
                </a:r>
                <a:r>
                  <a:rPr lang="en-US" dirty="0"/>
                  <a:t>(</a:t>
                </a:r>
                <a:r>
                  <a:rPr lang="ru-RU" dirty="0"/>
                  <a:t>то есть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3D37DD0-FB51-5B73-0039-3BDE2C942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946" y="4827688"/>
                <a:ext cx="3992136" cy="646331"/>
              </a:xfrm>
              <a:prstGeom prst="rect">
                <a:avLst/>
              </a:prstGeom>
              <a:blipFill>
                <a:blip r:embed="rId10"/>
                <a:stretch>
                  <a:fillRect l="-1374" t="-13208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8192C689-3B01-E74A-C18C-34D1F8F62783}"/>
              </a:ext>
            </a:extLst>
          </p:cNvPr>
          <p:cNvSpPr txBox="1"/>
          <p:nvPr/>
        </p:nvSpPr>
        <p:spPr>
          <a:xfrm>
            <a:off x="8544272" y="6054217"/>
            <a:ext cx="3647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наклон такой прямой не зависит от положения прямой.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9282262-9932-00B5-3559-F124C3639051}"/>
                  </a:ext>
                </a:extLst>
              </p:cNvPr>
              <p:cNvSpPr txBox="1"/>
              <p:nvPr/>
            </p:nvSpPr>
            <p:spPr>
              <a:xfrm>
                <a:off x="583494" y="6007992"/>
                <a:ext cx="7920273" cy="789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для прямых, не параллельных плоскости просмотра</a:t>
                </a:r>
                <a:r>
                  <a:rPr lang="en-US" dirty="0"/>
                  <a:t> </a:t>
                </a:r>
                <a:r>
                  <a:rPr lang="ru-RU" dirty="0"/>
                  <a:t>параллельные прямые сходятся в одной и той же точке схода</a:t>
                </a:r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9282262-9932-00B5-3559-F124C3639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94" y="6007992"/>
                <a:ext cx="7920273" cy="789512"/>
              </a:xfrm>
              <a:prstGeom prst="rect">
                <a:avLst/>
              </a:prstGeom>
              <a:blipFill>
                <a:blip r:embed="rId11"/>
                <a:stretch>
                  <a:fillRect l="-69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23C4A20-1C7B-0E6F-3762-B182D60D8BCB}"/>
              </a:ext>
            </a:extLst>
          </p:cNvPr>
          <p:cNvCxnSpPr/>
          <p:nvPr/>
        </p:nvCxnSpPr>
        <p:spPr>
          <a:xfrm flipH="1">
            <a:off x="573986" y="5480641"/>
            <a:ext cx="2012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1CD831B-CF56-6F52-38D4-FED39CACB0CE}"/>
              </a:ext>
            </a:extLst>
          </p:cNvPr>
          <p:cNvCxnSpPr>
            <a:cxnSpLocks/>
          </p:cNvCxnSpPr>
          <p:nvPr/>
        </p:nvCxnSpPr>
        <p:spPr>
          <a:xfrm flipV="1">
            <a:off x="1090807" y="4209681"/>
            <a:ext cx="0" cy="1264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93EA619-5951-960F-A4D8-5DAAAEF27E22}"/>
                  </a:ext>
                </a:extLst>
              </p:cNvPr>
              <p:cNvSpPr txBox="1"/>
              <p:nvPr/>
            </p:nvSpPr>
            <p:spPr>
              <a:xfrm>
                <a:off x="584531" y="5396778"/>
                <a:ext cx="1440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93EA619-5951-960F-A4D8-5DAAAEF27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31" y="5396778"/>
                <a:ext cx="144016" cy="369332"/>
              </a:xfrm>
              <a:prstGeom prst="rect">
                <a:avLst/>
              </a:prstGeom>
              <a:blipFill>
                <a:blip r:embed="rId12"/>
                <a:stretch>
                  <a:fillRect r="-6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1635B0-C140-C317-6573-4F5AE8C963CE}"/>
                  </a:ext>
                </a:extLst>
              </p:cNvPr>
              <p:cNvSpPr txBox="1"/>
              <p:nvPr/>
            </p:nvSpPr>
            <p:spPr>
              <a:xfrm>
                <a:off x="1130166" y="4196449"/>
                <a:ext cx="1440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1635B0-C140-C317-6573-4F5AE8C96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66" y="4196449"/>
                <a:ext cx="144016" cy="369332"/>
              </a:xfrm>
              <a:prstGeom prst="rect">
                <a:avLst/>
              </a:prstGeom>
              <a:blipFill>
                <a:blip r:embed="rId13"/>
                <a:stretch>
                  <a:fillRect l="-8333" r="-95833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9D8A623-6A8A-5BDE-7C88-5FA0DB43920C}"/>
              </a:ext>
            </a:extLst>
          </p:cNvPr>
          <p:cNvCxnSpPr>
            <a:cxnSpLocks/>
          </p:cNvCxnSpPr>
          <p:nvPr/>
        </p:nvCxnSpPr>
        <p:spPr>
          <a:xfrm flipH="1">
            <a:off x="84372" y="5474019"/>
            <a:ext cx="1006435" cy="930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9C8584B-90A0-187B-8414-B2503E90A402}"/>
                  </a:ext>
                </a:extLst>
              </p:cNvPr>
              <p:cNvSpPr txBox="1"/>
              <p:nvPr/>
            </p:nvSpPr>
            <p:spPr>
              <a:xfrm>
                <a:off x="214553" y="6190250"/>
                <a:ext cx="1440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9C8584B-90A0-187B-8414-B2503E90A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553" y="6190250"/>
                <a:ext cx="144016" cy="369332"/>
              </a:xfrm>
              <a:prstGeom prst="rect">
                <a:avLst/>
              </a:prstGeom>
              <a:blipFill>
                <a:blip r:embed="rId14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 uiExpand="1" build="p"/>
      <p:bldP spid="9" grpId="0"/>
      <p:bldP spid="32" grpId="0"/>
      <p:bldP spid="33" grpId="0"/>
      <p:bldP spid="34" grpId="0"/>
      <p:bldP spid="35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Точка схода параллельных прямых</a:t>
            </a:r>
          </a:p>
        </p:txBody>
      </p:sp>
      <p:sp>
        <p:nvSpPr>
          <p:cNvPr id="139267" name="Rectangle 7"/>
          <p:cNvSpPr>
            <a:spLocks noChangeArrowheads="1"/>
          </p:cNvSpPr>
          <p:nvPr/>
        </p:nvSpPr>
        <p:spPr bwMode="auto">
          <a:xfrm>
            <a:off x="2063750" y="4581526"/>
            <a:ext cx="1944688" cy="1368425"/>
          </a:xfrm>
          <a:prstGeom prst="rect">
            <a:avLst/>
          </a:prstGeom>
          <a:solidFill>
            <a:srgbClr val="74836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9268" name="Freeform 8"/>
          <p:cNvSpPr>
            <a:spLocks/>
          </p:cNvSpPr>
          <p:nvPr/>
        </p:nvSpPr>
        <p:spPr bwMode="auto">
          <a:xfrm>
            <a:off x="2063750" y="3952875"/>
            <a:ext cx="2571750" cy="628650"/>
          </a:xfrm>
          <a:custGeom>
            <a:avLst/>
            <a:gdLst>
              <a:gd name="T0" fmla="*/ 0 w 1620"/>
              <a:gd name="T1" fmla="*/ 997981964 h 396"/>
              <a:gd name="T2" fmla="*/ 2147483647 w 1620"/>
              <a:gd name="T3" fmla="*/ 997981964 h 396"/>
              <a:gd name="T4" fmla="*/ 2147483647 w 1620"/>
              <a:gd name="T5" fmla="*/ 0 h 396"/>
              <a:gd name="T6" fmla="*/ 2147483647 w 1620"/>
              <a:gd name="T7" fmla="*/ 0 h 396"/>
              <a:gd name="T8" fmla="*/ 0 w 1620"/>
              <a:gd name="T9" fmla="*/ 997981964 h 3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20"/>
              <a:gd name="T16" fmla="*/ 0 h 396"/>
              <a:gd name="T17" fmla="*/ 1620 w 1620"/>
              <a:gd name="T18" fmla="*/ 396 h 3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20" h="396">
                <a:moveTo>
                  <a:pt x="0" y="396"/>
                </a:moveTo>
                <a:lnTo>
                  <a:pt x="1229" y="396"/>
                </a:lnTo>
                <a:lnTo>
                  <a:pt x="1620" y="0"/>
                </a:lnTo>
                <a:lnTo>
                  <a:pt x="1016" y="0"/>
                </a:lnTo>
                <a:lnTo>
                  <a:pt x="0" y="396"/>
                </a:lnTo>
                <a:close/>
              </a:path>
            </a:pathLst>
          </a:custGeom>
          <a:solidFill>
            <a:srgbClr val="A4B195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9269" name="Freeform 9"/>
          <p:cNvSpPr>
            <a:spLocks/>
          </p:cNvSpPr>
          <p:nvPr/>
        </p:nvSpPr>
        <p:spPr bwMode="auto">
          <a:xfrm>
            <a:off x="4008438" y="3952875"/>
            <a:ext cx="620712" cy="2000250"/>
          </a:xfrm>
          <a:custGeom>
            <a:avLst/>
            <a:gdLst>
              <a:gd name="T0" fmla="*/ 0 w 391"/>
              <a:gd name="T1" fmla="*/ 997981885 h 1260"/>
              <a:gd name="T2" fmla="*/ 2519360 w 391"/>
              <a:gd name="T3" fmla="*/ 2147483647 h 1260"/>
              <a:gd name="T4" fmla="*/ 985379595 w 391"/>
              <a:gd name="T5" fmla="*/ 1103828407 h 1260"/>
              <a:gd name="T6" fmla="*/ 985379595 w 391"/>
              <a:gd name="T7" fmla="*/ 0 h 1260"/>
              <a:gd name="T8" fmla="*/ 0 w 391"/>
              <a:gd name="T9" fmla="*/ 997981885 h 12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91"/>
              <a:gd name="T16" fmla="*/ 0 h 1260"/>
              <a:gd name="T17" fmla="*/ 391 w 391"/>
              <a:gd name="T18" fmla="*/ 1260 h 12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91" h="1260">
                <a:moveTo>
                  <a:pt x="0" y="396"/>
                </a:moveTo>
                <a:lnTo>
                  <a:pt x="1" y="1260"/>
                </a:lnTo>
                <a:lnTo>
                  <a:pt x="391" y="438"/>
                </a:lnTo>
                <a:lnTo>
                  <a:pt x="391" y="0"/>
                </a:lnTo>
                <a:lnTo>
                  <a:pt x="0" y="396"/>
                </a:lnTo>
                <a:close/>
              </a:path>
            </a:pathLst>
          </a:custGeom>
          <a:solidFill>
            <a:srgbClr val="535E4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48842" name="Line 10"/>
          <p:cNvSpPr>
            <a:spLocks noChangeShapeType="1"/>
          </p:cNvSpPr>
          <p:nvPr/>
        </p:nvSpPr>
        <p:spPr bwMode="auto">
          <a:xfrm flipV="1">
            <a:off x="2063751" y="3322639"/>
            <a:ext cx="3197225" cy="12588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8843" name="Line 11"/>
          <p:cNvSpPr>
            <a:spLocks noChangeShapeType="1"/>
          </p:cNvSpPr>
          <p:nvPr/>
        </p:nvSpPr>
        <p:spPr bwMode="auto">
          <a:xfrm flipV="1">
            <a:off x="4008439" y="3327401"/>
            <a:ext cx="1247775" cy="12541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8844" name="Line 12"/>
          <p:cNvSpPr>
            <a:spLocks noChangeShapeType="1"/>
          </p:cNvSpPr>
          <p:nvPr/>
        </p:nvSpPr>
        <p:spPr bwMode="auto">
          <a:xfrm flipV="1">
            <a:off x="4008438" y="3327400"/>
            <a:ext cx="1249362" cy="26225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48845" name="Line 13"/>
          <p:cNvSpPr>
            <a:spLocks noChangeShapeType="1"/>
          </p:cNvSpPr>
          <p:nvPr/>
        </p:nvSpPr>
        <p:spPr bwMode="auto">
          <a:xfrm flipV="1">
            <a:off x="1992314" y="4052888"/>
            <a:ext cx="1031875" cy="336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48846" name="Line 14"/>
          <p:cNvSpPr>
            <a:spLocks noChangeShapeType="1"/>
          </p:cNvSpPr>
          <p:nvPr/>
        </p:nvSpPr>
        <p:spPr bwMode="auto">
          <a:xfrm flipV="1">
            <a:off x="4367213" y="5195888"/>
            <a:ext cx="266700" cy="806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48847" name="Text Box 15"/>
          <p:cNvSpPr txBox="1">
            <a:spLocks noChangeArrowheads="1"/>
          </p:cNvSpPr>
          <p:nvPr/>
        </p:nvSpPr>
        <p:spPr bwMode="auto">
          <a:xfrm>
            <a:off x="2187576" y="3878263"/>
            <a:ext cx="3286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d</a:t>
            </a:r>
            <a:endParaRPr lang="ru-RU" b="1"/>
          </a:p>
        </p:txBody>
      </p:sp>
      <p:sp>
        <p:nvSpPr>
          <p:cNvPr id="248848" name="Text Box 16"/>
          <p:cNvSpPr txBox="1">
            <a:spLocks noChangeArrowheads="1"/>
          </p:cNvSpPr>
          <p:nvPr/>
        </p:nvSpPr>
        <p:spPr bwMode="auto">
          <a:xfrm>
            <a:off x="4583113" y="5516563"/>
            <a:ext cx="3286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d</a:t>
            </a:r>
            <a:endParaRPr lang="ru-RU" b="1"/>
          </a:p>
        </p:txBody>
      </p:sp>
      <p:sp>
        <p:nvSpPr>
          <p:cNvPr id="248849" name="Oval 17"/>
          <p:cNvSpPr>
            <a:spLocks noChangeArrowheads="1"/>
          </p:cNvSpPr>
          <p:nvPr/>
        </p:nvSpPr>
        <p:spPr bwMode="auto">
          <a:xfrm>
            <a:off x="5232400" y="3284539"/>
            <a:ext cx="71438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48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000"/>
                                        <p:tgtEl>
                                          <p:spTgt spid="248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000"/>
                                        <p:tgtEl>
                                          <p:spTgt spid="248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48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000"/>
                                        <p:tgtEl>
                                          <p:spTgt spid="248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8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48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48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42" grpId="0" animBg="1"/>
      <p:bldP spid="248843" grpId="0" animBg="1"/>
      <p:bldP spid="248844" grpId="0" animBg="1"/>
      <p:bldP spid="248845" grpId="0" animBg="1"/>
      <p:bldP spid="248846" grpId="0" animBg="1"/>
      <p:bldP spid="248847" grpId="0"/>
      <p:bldP spid="248848" grpId="0"/>
      <p:bldP spid="248849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Прямые, проходящие за «глазом»</a:t>
            </a:r>
          </a:p>
        </p:txBody>
      </p:sp>
      <p:sp>
        <p:nvSpPr>
          <p:cNvPr id="140291" name="Line 4"/>
          <p:cNvSpPr>
            <a:spLocks noChangeShapeType="1"/>
          </p:cNvSpPr>
          <p:nvPr/>
        </p:nvSpPr>
        <p:spPr bwMode="auto">
          <a:xfrm flipH="1">
            <a:off x="3000376" y="3933825"/>
            <a:ext cx="43910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40292" name="Line 12"/>
          <p:cNvSpPr>
            <a:spLocks noChangeShapeType="1"/>
          </p:cNvSpPr>
          <p:nvPr/>
        </p:nvSpPr>
        <p:spPr bwMode="auto">
          <a:xfrm flipV="1">
            <a:off x="4079875" y="2349501"/>
            <a:ext cx="0" cy="1584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grpSp>
        <p:nvGrpSpPr>
          <p:cNvPr id="140293" name="Group 11"/>
          <p:cNvGrpSpPr>
            <a:grpSpLocks/>
          </p:cNvGrpSpPr>
          <p:nvPr/>
        </p:nvGrpSpPr>
        <p:grpSpPr bwMode="auto">
          <a:xfrm>
            <a:off x="3984625" y="3767138"/>
            <a:ext cx="203200" cy="323850"/>
            <a:chOff x="2789" y="1570"/>
            <a:chExt cx="1111" cy="1769"/>
          </a:xfrm>
        </p:grpSpPr>
        <p:sp>
          <p:nvSpPr>
            <p:cNvPr id="140309" name="Arc 6"/>
            <p:cNvSpPr>
              <a:spLocks/>
            </p:cNvSpPr>
            <p:nvPr/>
          </p:nvSpPr>
          <p:spPr bwMode="auto">
            <a:xfrm>
              <a:off x="2789" y="1751"/>
              <a:ext cx="1095" cy="1407"/>
            </a:xfrm>
            <a:custGeom>
              <a:avLst/>
              <a:gdLst>
                <a:gd name="T0" fmla="*/ 1 w 21600"/>
                <a:gd name="T1" fmla="*/ 0 h 36352"/>
                <a:gd name="T2" fmla="*/ 2 w 21600"/>
                <a:gd name="T3" fmla="*/ 2 h 36352"/>
                <a:gd name="T4" fmla="*/ 0 w 21600"/>
                <a:gd name="T5" fmla="*/ 1 h 36352"/>
                <a:gd name="T6" fmla="*/ 0 60000 65536"/>
                <a:gd name="T7" fmla="*/ 0 60000 65536"/>
                <a:gd name="T8" fmla="*/ 0 60000 65536"/>
                <a:gd name="T9" fmla="*/ 0 w 21600"/>
                <a:gd name="T10" fmla="*/ 0 h 36352"/>
                <a:gd name="T11" fmla="*/ 21600 w 21600"/>
                <a:gd name="T12" fmla="*/ 36352 h 363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6352" fill="none" extrusionOk="0">
                  <a:moveTo>
                    <a:pt x="11449" y="0"/>
                  </a:moveTo>
                  <a:cubicBezTo>
                    <a:pt x="17764" y="3947"/>
                    <a:pt x="21600" y="10869"/>
                    <a:pt x="21600" y="18316"/>
                  </a:cubicBezTo>
                  <a:cubicBezTo>
                    <a:pt x="21600" y="25579"/>
                    <a:pt x="17949" y="32355"/>
                    <a:pt x="11885" y="36352"/>
                  </a:cubicBezTo>
                </a:path>
                <a:path w="21600" h="36352" stroke="0" extrusionOk="0">
                  <a:moveTo>
                    <a:pt x="11449" y="0"/>
                  </a:moveTo>
                  <a:cubicBezTo>
                    <a:pt x="17764" y="3947"/>
                    <a:pt x="21600" y="10869"/>
                    <a:pt x="21600" y="18316"/>
                  </a:cubicBezTo>
                  <a:cubicBezTo>
                    <a:pt x="21600" y="25579"/>
                    <a:pt x="17949" y="32355"/>
                    <a:pt x="11885" y="36352"/>
                  </a:cubicBezTo>
                  <a:lnTo>
                    <a:pt x="0" y="1831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40310" name="Oval 7"/>
            <p:cNvSpPr>
              <a:spLocks noChangeArrowheads="1"/>
            </p:cNvSpPr>
            <p:nvPr/>
          </p:nvSpPr>
          <p:spPr bwMode="auto">
            <a:xfrm>
              <a:off x="3606" y="2095"/>
              <a:ext cx="294" cy="708"/>
            </a:xfrm>
            <a:prstGeom prst="ellipse">
              <a:avLst/>
            </a:prstGeom>
            <a:solidFill>
              <a:srgbClr val="3333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40311" name="Line 9"/>
            <p:cNvSpPr>
              <a:spLocks noChangeShapeType="1"/>
            </p:cNvSpPr>
            <p:nvPr/>
          </p:nvSpPr>
          <p:spPr bwMode="auto">
            <a:xfrm flipH="1">
              <a:off x="2789" y="1570"/>
              <a:ext cx="726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40312" name="Line 10"/>
            <p:cNvSpPr>
              <a:spLocks noChangeShapeType="1"/>
            </p:cNvSpPr>
            <p:nvPr/>
          </p:nvSpPr>
          <p:spPr bwMode="auto">
            <a:xfrm flipH="1" flipV="1">
              <a:off x="2789" y="2387"/>
              <a:ext cx="726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40294" name="Rectangle 15"/>
          <p:cNvSpPr>
            <a:spLocks noChangeArrowheads="1"/>
          </p:cNvSpPr>
          <p:nvPr/>
        </p:nvSpPr>
        <p:spPr bwMode="auto">
          <a:xfrm>
            <a:off x="5159376" y="1557339"/>
            <a:ext cx="73025" cy="49672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40295" name="Line 16"/>
          <p:cNvSpPr>
            <a:spLocks noChangeShapeType="1"/>
          </p:cNvSpPr>
          <p:nvPr/>
        </p:nvSpPr>
        <p:spPr bwMode="auto">
          <a:xfrm flipV="1">
            <a:off x="4079876" y="3213101"/>
            <a:ext cx="1655763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40296" name="Line 17"/>
          <p:cNvSpPr>
            <a:spLocks noChangeShapeType="1"/>
          </p:cNvSpPr>
          <p:nvPr/>
        </p:nvSpPr>
        <p:spPr bwMode="auto">
          <a:xfrm flipV="1">
            <a:off x="4079876" y="3500439"/>
            <a:ext cx="2663825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1922" name="Line 18"/>
          <p:cNvSpPr>
            <a:spLocks noChangeShapeType="1"/>
          </p:cNvSpPr>
          <p:nvPr/>
        </p:nvSpPr>
        <p:spPr bwMode="auto">
          <a:xfrm>
            <a:off x="3287714" y="2595564"/>
            <a:ext cx="1893887" cy="3214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1923" name="Line 19"/>
          <p:cNvSpPr>
            <a:spLocks noChangeShapeType="1"/>
          </p:cNvSpPr>
          <p:nvPr/>
        </p:nvSpPr>
        <p:spPr bwMode="auto">
          <a:xfrm>
            <a:off x="2566988" y="2420939"/>
            <a:ext cx="2622550" cy="261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40299" name="Text Box 20"/>
          <p:cNvSpPr txBox="1">
            <a:spLocks noChangeArrowheads="1"/>
          </p:cNvSpPr>
          <p:nvPr/>
        </p:nvSpPr>
        <p:spPr bwMode="auto">
          <a:xfrm>
            <a:off x="3000375" y="3933826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z</a:t>
            </a:r>
            <a:endParaRPr lang="ru-RU" b="1"/>
          </a:p>
        </p:txBody>
      </p:sp>
      <p:sp>
        <p:nvSpPr>
          <p:cNvPr id="140300" name="Text Box 21"/>
          <p:cNvSpPr txBox="1">
            <a:spLocks noChangeArrowheads="1"/>
          </p:cNvSpPr>
          <p:nvPr/>
        </p:nvSpPr>
        <p:spPr bwMode="auto">
          <a:xfrm>
            <a:off x="4151313" y="2420938"/>
            <a:ext cx="3159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</a:t>
            </a:r>
            <a:endParaRPr lang="ru-RU" b="1"/>
          </a:p>
        </p:txBody>
      </p:sp>
      <p:sp>
        <p:nvSpPr>
          <p:cNvPr id="140301" name="Text Box 22"/>
          <p:cNvSpPr txBox="1">
            <a:spLocks noChangeArrowheads="1"/>
          </p:cNvSpPr>
          <p:nvPr/>
        </p:nvSpPr>
        <p:spPr bwMode="auto">
          <a:xfrm>
            <a:off x="6527801" y="2060576"/>
            <a:ext cx="38893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При попытке построить проекцию прямой, проходящей «за глазом» происходит «оборачивание проекции вокруг бесконечности»</a:t>
            </a:r>
          </a:p>
        </p:txBody>
      </p:sp>
      <p:sp>
        <p:nvSpPr>
          <p:cNvPr id="251918" name="Line 14"/>
          <p:cNvSpPr>
            <a:spLocks noChangeShapeType="1"/>
          </p:cNvSpPr>
          <p:nvPr/>
        </p:nvSpPr>
        <p:spPr bwMode="auto">
          <a:xfrm>
            <a:off x="2351088" y="2363788"/>
            <a:ext cx="5040312" cy="1281112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40303" name="Text Box 23"/>
          <p:cNvSpPr txBox="1">
            <a:spLocks noChangeArrowheads="1"/>
          </p:cNvSpPr>
          <p:nvPr/>
        </p:nvSpPr>
        <p:spPr bwMode="auto">
          <a:xfrm>
            <a:off x="6311900" y="6308726"/>
            <a:ext cx="2495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Плоскость просмотра</a:t>
            </a:r>
          </a:p>
        </p:txBody>
      </p:sp>
      <p:sp>
        <p:nvSpPr>
          <p:cNvPr id="140304" name="Arc 24"/>
          <p:cNvSpPr>
            <a:spLocks/>
          </p:cNvSpPr>
          <p:nvPr/>
        </p:nvSpPr>
        <p:spPr bwMode="auto">
          <a:xfrm>
            <a:off x="5375275" y="6021389"/>
            <a:ext cx="935038" cy="574675"/>
          </a:xfrm>
          <a:custGeom>
            <a:avLst/>
            <a:gdLst>
              <a:gd name="T0" fmla="*/ 0 w 19191"/>
              <a:gd name="T1" fmla="*/ 0 h 21600"/>
              <a:gd name="T2" fmla="*/ 2147483647 w 19191"/>
              <a:gd name="T3" fmla="*/ 220093900 h 21600"/>
              <a:gd name="T4" fmla="*/ 0 w 19191"/>
              <a:gd name="T5" fmla="*/ 406779827 h 21600"/>
              <a:gd name="T6" fmla="*/ 0 60000 65536"/>
              <a:gd name="T7" fmla="*/ 0 60000 65536"/>
              <a:gd name="T8" fmla="*/ 0 60000 65536"/>
              <a:gd name="T9" fmla="*/ 0 w 19191"/>
              <a:gd name="T10" fmla="*/ 0 h 21600"/>
              <a:gd name="T11" fmla="*/ 19191 w 1919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91" h="21600" fill="none" extrusionOk="0">
                <a:moveTo>
                  <a:pt x="-1" y="0"/>
                </a:moveTo>
                <a:cubicBezTo>
                  <a:pt x="8079" y="0"/>
                  <a:pt x="15483" y="4508"/>
                  <a:pt x="19190" y="11687"/>
                </a:cubicBezTo>
              </a:path>
              <a:path w="19191" h="21600" stroke="0" extrusionOk="0">
                <a:moveTo>
                  <a:pt x="-1" y="0"/>
                </a:moveTo>
                <a:cubicBezTo>
                  <a:pt x="8079" y="0"/>
                  <a:pt x="15483" y="4508"/>
                  <a:pt x="19190" y="11687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51929" name="Line 25"/>
          <p:cNvSpPr>
            <a:spLocks noChangeShapeType="1"/>
          </p:cNvSpPr>
          <p:nvPr/>
        </p:nvSpPr>
        <p:spPr bwMode="auto">
          <a:xfrm>
            <a:off x="4440238" y="2881313"/>
            <a:ext cx="2951162" cy="7493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 type="oval" w="lg" len="lg"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1930" name="Text Box 26"/>
          <p:cNvSpPr txBox="1">
            <a:spLocks noChangeArrowheads="1"/>
          </p:cNvSpPr>
          <p:nvPr/>
        </p:nvSpPr>
        <p:spPr bwMode="auto">
          <a:xfrm>
            <a:off x="6600826" y="4076701"/>
            <a:ext cx="4067175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Поэтому перед проецированием необходимо произвести отсечение части прямой, находящейся ближе к глазу, нежели ближняя плоскость отсечения</a:t>
            </a:r>
          </a:p>
        </p:txBody>
      </p:sp>
      <p:sp>
        <p:nvSpPr>
          <p:cNvPr id="251931" name="Line 27"/>
          <p:cNvSpPr>
            <a:spLocks noChangeShapeType="1"/>
          </p:cNvSpPr>
          <p:nvPr/>
        </p:nvSpPr>
        <p:spPr bwMode="auto">
          <a:xfrm>
            <a:off x="4440238" y="1989138"/>
            <a:ext cx="0" cy="338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40308" name="Line 28"/>
          <p:cNvSpPr>
            <a:spLocks noChangeShapeType="1"/>
          </p:cNvSpPr>
          <p:nvPr/>
        </p:nvSpPr>
        <p:spPr bwMode="auto">
          <a:xfrm flipV="1">
            <a:off x="4079875" y="2276475"/>
            <a:ext cx="1130300" cy="1657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5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5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5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5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2000"/>
                                        <p:tgtEl>
                                          <p:spTgt spid="2519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22" grpId="0" animBg="1"/>
      <p:bldP spid="251923" grpId="0" animBg="1"/>
      <p:bldP spid="251918" grpId="0" animBg="1"/>
      <p:bldP spid="251929" grpId="0" animBg="1"/>
      <p:bldP spid="251930" grpId="0"/>
      <p:bldP spid="251931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Добавление псевдоглубины</a:t>
            </a: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F673B667-03C4-42CD-9EA5-73446EA04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Особенности проецирования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/>
              <a:t>При проецировании отбрасывается информация о глубине – расстоянии до глаза</a:t>
            </a:r>
          </a:p>
          <a:p>
            <a:pPr lvl="1" eaLnBrk="1" hangingPunct="1">
              <a:lnSpc>
                <a:spcPct val="90000"/>
              </a:lnSpc>
            </a:pPr>
            <a:r>
              <a:rPr lang="ru-RU"/>
              <a:t>Различные точки могут проецироваться в в одну и ту же точку</a:t>
            </a:r>
          </a:p>
          <a:p>
            <a:pPr eaLnBrk="1" hangingPunct="1">
              <a:lnSpc>
                <a:spcPct val="90000"/>
              </a:lnSpc>
            </a:pPr>
            <a:r>
              <a:rPr lang="ru-RU"/>
              <a:t>Некоторые алгоритмы удаления невидимых поверхностей требуют знания глубины точек после проецирования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Line 40"/>
          <p:cNvSpPr>
            <a:spLocks noChangeShapeType="1"/>
          </p:cNvSpPr>
          <p:nvPr/>
        </p:nvSpPr>
        <p:spPr bwMode="auto">
          <a:xfrm>
            <a:off x="2206625" y="3644900"/>
            <a:ext cx="6769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6868" name="Rectangle 4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Расстояние от точки до глаза</a:t>
            </a:r>
          </a:p>
        </p:txBody>
      </p:sp>
      <p:graphicFrame>
        <p:nvGraphicFramePr>
          <p:cNvPr id="36866" name="Object 48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0676531"/>
              </p:ext>
            </p:extLst>
          </p:nvPr>
        </p:nvGraphicFramePr>
        <p:xfrm>
          <a:off x="6248401" y="4302126"/>
          <a:ext cx="1800200" cy="583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939392" imgH="304668" progId="Equation.3">
                  <p:embed/>
                </p:oleObj>
              </mc:Choice>
              <mc:Fallback>
                <p:oleObj name="Формула" r:id="rId3" imgW="939392" imgH="304668" progId="Equation.3">
                  <p:embed/>
                  <p:pic>
                    <p:nvPicPr>
                      <p:cNvPr id="0" name="Picture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1" y="4302126"/>
                        <a:ext cx="1800200" cy="5838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Line 19"/>
          <p:cNvSpPr>
            <a:spLocks noChangeShapeType="1"/>
          </p:cNvSpPr>
          <p:nvPr/>
        </p:nvSpPr>
        <p:spPr bwMode="auto">
          <a:xfrm flipH="1">
            <a:off x="1703389" y="3644900"/>
            <a:ext cx="1449387" cy="0"/>
          </a:xfrm>
          <a:prstGeom prst="line">
            <a:avLst/>
          </a:prstGeom>
          <a:noFill/>
          <a:ln w="38100">
            <a:solidFill>
              <a:srgbClr val="66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6870" name="Line 20"/>
          <p:cNvSpPr>
            <a:spLocks noChangeShapeType="1"/>
          </p:cNvSpPr>
          <p:nvPr/>
        </p:nvSpPr>
        <p:spPr bwMode="auto">
          <a:xfrm flipV="1">
            <a:off x="3168650" y="2516189"/>
            <a:ext cx="1588" cy="1127125"/>
          </a:xfrm>
          <a:prstGeom prst="line">
            <a:avLst/>
          </a:prstGeom>
          <a:noFill/>
          <a:ln w="38100">
            <a:solidFill>
              <a:srgbClr val="3366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6871" name="Line 21"/>
          <p:cNvSpPr>
            <a:spLocks noChangeShapeType="1"/>
          </p:cNvSpPr>
          <p:nvPr/>
        </p:nvSpPr>
        <p:spPr bwMode="auto">
          <a:xfrm flipH="1">
            <a:off x="2211388" y="3643314"/>
            <a:ext cx="957262" cy="674687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6872" name="Text Box 22"/>
          <p:cNvSpPr txBox="1">
            <a:spLocks noChangeArrowheads="1"/>
          </p:cNvSpPr>
          <p:nvPr/>
        </p:nvSpPr>
        <p:spPr bwMode="auto">
          <a:xfrm>
            <a:off x="1743075" y="3203576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669900"/>
                </a:solidFill>
              </a:rPr>
              <a:t>z</a:t>
            </a:r>
            <a:endParaRPr lang="ru-RU" b="1">
              <a:solidFill>
                <a:srgbClr val="669900"/>
              </a:solidFill>
            </a:endParaRPr>
          </a:p>
        </p:txBody>
      </p:sp>
      <p:sp>
        <p:nvSpPr>
          <p:cNvPr id="36873" name="Text Box 23"/>
          <p:cNvSpPr txBox="1">
            <a:spLocks noChangeArrowheads="1"/>
          </p:cNvSpPr>
          <p:nvPr/>
        </p:nvSpPr>
        <p:spPr bwMode="auto">
          <a:xfrm>
            <a:off x="2435226" y="4205288"/>
            <a:ext cx="3222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6600"/>
                </a:solidFill>
              </a:rPr>
              <a:t>x</a:t>
            </a:r>
            <a:endParaRPr lang="ru-RU" b="1">
              <a:solidFill>
                <a:srgbClr val="FF6600"/>
              </a:solidFill>
            </a:endParaRPr>
          </a:p>
        </p:txBody>
      </p:sp>
      <p:sp>
        <p:nvSpPr>
          <p:cNvPr id="36874" name="Text Box 24"/>
          <p:cNvSpPr txBox="1">
            <a:spLocks noChangeArrowheads="1"/>
          </p:cNvSpPr>
          <p:nvPr/>
        </p:nvSpPr>
        <p:spPr bwMode="auto">
          <a:xfrm>
            <a:off x="3224213" y="2403476"/>
            <a:ext cx="3159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3366FF"/>
                </a:solidFill>
              </a:rPr>
              <a:t>y</a:t>
            </a:r>
            <a:endParaRPr lang="ru-RU" b="1">
              <a:solidFill>
                <a:srgbClr val="3366FF"/>
              </a:solidFill>
            </a:endParaRPr>
          </a:p>
        </p:txBody>
      </p:sp>
      <p:sp>
        <p:nvSpPr>
          <p:cNvPr id="36875" name="Oval 25"/>
          <p:cNvSpPr>
            <a:spLocks noChangeArrowheads="1"/>
          </p:cNvSpPr>
          <p:nvPr/>
        </p:nvSpPr>
        <p:spPr bwMode="auto">
          <a:xfrm>
            <a:off x="3113089" y="3586164"/>
            <a:ext cx="111125" cy="11112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36876" name="Line 26"/>
          <p:cNvSpPr>
            <a:spLocks noChangeShapeType="1"/>
          </p:cNvSpPr>
          <p:nvPr/>
        </p:nvSpPr>
        <p:spPr bwMode="auto">
          <a:xfrm flipV="1">
            <a:off x="3105151" y="3522663"/>
            <a:ext cx="244475" cy="120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6877" name="Line 27"/>
          <p:cNvSpPr>
            <a:spLocks noChangeShapeType="1"/>
          </p:cNvSpPr>
          <p:nvPr/>
        </p:nvSpPr>
        <p:spPr bwMode="auto">
          <a:xfrm>
            <a:off x="3105150" y="3643313"/>
            <a:ext cx="21590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6878" name="Arc 28"/>
          <p:cNvSpPr>
            <a:spLocks/>
          </p:cNvSpPr>
          <p:nvPr/>
        </p:nvSpPr>
        <p:spPr bwMode="auto">
          <a:xfrm>
            <a:off x="3209926" y="3540125"/>
            <a:ext cx="149225" cy="228600"/>
          </a:xfrm>
          <a:custGeom>
            <a:avLst/>
            <a:gdLst>
              <a:gd name="T0" fmla="*/ 4023065 w 21600"/>
              <a:gd name="T1" fmla="*/ 0 h 35662"/>
              <a:gd name="T2" fmla="*/ 4016142 w 21600"/>
              <a:gd name="T3" fmla="*/ 9393278 h 35662"/>
              <a:gd name="T4" fmla="*/ 0 w 21600"/>
              <a:gd name="T5" fmla="*/ 4694793 h 35662"/>
              <a:gd name="T6" fmla="*/ 0 60000 65536"/>
              <a:gd name="T7" fmla="*/ 0 60000 65536"/>
              <a:gd name="T8" fmla="*/ 0 60000 65536"/>
              <a:gd name="T9" fmla="*/ 0 w 21600"/>
              <a:gd name="T10" fmla="*/ 0 h 35662"/>
              <a:gd name="T11" fmla="*/ 21600 w 21600"/>
              <a:gd name="T12" fmla="*/ 35662 h 356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5662" fill="none" extrusionOk="0">
                <a:moveTo>
                  <a:pt x="12201" y="-1"/>
                </a:moveTo>
                <a:cubicBezTo>
                  <a:pt x="18083" y="4026"/>
                  <a:pt x="21600" y="10695"/>
                  <a:pt x="21600" y="17824"/>
                </a:cubicBezTo>
                <a:cubicBezTo>
                  <a:pt x="21600" y="24961"/>
                  <a:pt x="18074" y="31637"/>
                  <a:pt x="12180" y="35662"/>
                </a:cubicBezTo>
              </a:path>
              <a:path w="21600" h="35662" stroke="0" extrusionOk="0">
                <a:moveTo>
                  <a:pt x="12201" y="-1"/>
                </a:moveTo>
                <a:cubicBezTo>
                  <a:pt x="18083" y="4026"/>
                  <a:pt x="21600" y="10695"/>
                  <a:pt x="21600" y="17824"/>
                </a:cubicBezTo>
                <a:cubicBezTo>
                  <a:pt x="21600" y="24961"/>
                  <a:pt x="18074" y="31637"/>
                  <a:pt x="12180" y="35662"/>
                </a:cubicBezTo>
                <a:lnTo>
                  <a:pt x="0" y="17824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36879" name="Oval 29"/>
          <p:cNvSpPr>
            <a:spLocks noChangeArrowheads="1"/>
          </p:cNvSpPr>
          <p:nvPr/>
        </p:nvSpPr>
        <p:spPr bwMode="auto">
          <a:xfrm>
            <a:off x="3287714" y="3571876"/>
            <a:ext cx="7302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36880" name="AutoShape 30"/>
          <p:cNvSpPr>
            <a:spLocks noChangeArrowheads="1"/>
          </p:cNvSpPr>
          <p:nvPr/>
        </p:nvSpPr>
        <p:spPr bwMode="auto">
          <a:xfrm rot="16200000" flipV="1">
            <a:off x="3178970" y="2745582"/>
            <a:ext cx="3240087" cy="1727200"/>
          </a:xfrm>
          <a:prstGeom prst="parallelogram">
            <a:avLst>
              <a:gd name="adj" fmla="val 83148"/>
            </a:avLst>
          </a:prstGeom>
          <a:solidFill>
            <a:srgbClr val="CCFF66">
              <a:alpha val="47842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58083" name="Text Box 35"/>
          <p:cNvSpPr txBox="1">
            <a:spLocks noChangeArrowheads="1"/>
          </p:cNvSpPr>
          <p:nvPr/>
        </p:nvSpPr>
        <p:spPr bwMode="auto">
          <a:xfrm>
            <a:off x="4465638" y="3094039"/>
            <a:ext cx="2159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US"/>
              <a:t>P’</a:t>
            </a:r>
            <a:endParaRPr lang="ru-RU"/>
          </a:p>
        </p:txBody>
      </p:sp>
      <p:sp>
        <p:nvSpPr>
          <p:cNvPr id="258086" name="Text Box 38"/>
          <p:cNvSpPr txBox="1">
            <a:spLocks noChangeArrowheads="1"/>
          </p:cNvSpPr>
          <p:nvPr/>
        </p:nvSpPr>
        <p:spPr bwMode="auto">
          <a:xfrm>
            <a:off x="4224339" y="1989138"/>
            <a:ext cx="62196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(x*, y*)</a:t>
            </a:r>
            <a:endParaRPr lang="ru-RU" sz="1400"/>
          </a:p>
        </p:txBody>
      </p:sp>
      <p:sp>
        <p:nvSpPr>
          <p:cNvPr id="258089" name="Line 41"/>
          <p:cNvSpPr>
            <a:spLocks noChangeShapeType="1"/>
          </p:cNvSpPr>
          <p:nvPr/>
        </p:nvSpPr>
        <p:spPr bwMode="auto">
          <a:xfrm flipV="1">
            <a:off x="3143251" y="2708276"/>
            <a:ext cx="5040313" cy="9366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8090" name="Oval 42"/>
          <p:cNvSpPr>
            <a:spLocks noChangeArrowheads="1"/>
          </p:cNvSpPr>
          <p:nvPr/>
        </p:nvSpPr>
        <p:spPr bwMode="auto">
          <a:xfrm>
            <a:off x="5808663" y="3090863"/>
            <a:ext cx="95250" cy="9525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58091" name="Oval 43"/>
          <p:cNvSpPr>
            <a:spLocks noChangeArrowheads="1"/>
          </p:cNvSpPr>
          <p:nvPr/>
        </p:nvSpPr>
        <p:spPr bwMode="auto">
          <a:xfrm>
            <a:off x="7104063" y="2852738"/>
            <a:ext cx="95250" cy="952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58092" name="Text Box 44"/>
          <p:cNvSpPr txBox="1">
            <a:spLocks noChangeArrowheads="1"/>
          </p:cNvSpPr>
          <p:nvPr/>
        </p:nvSpPr>
        <p:spPr bwMode="auto">
          <a:xfrm>
            <a:off x="5859463" y="3084513"/>
            <a:ext cx="3921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1</a:t>
            </a:r>
            <a:endParaRPr lang="ru-RU" baseline="-25000"/>
          </a:p>
        </p:txBody>
      </p:sp>
      <p:sp>
        <p:nvSpPr>
          <p:cNvPr id="36888" name="Text Box 45"/>
          <p:cNvSpPr txBox="1">
            <a:spLocks noChangeArrowheads="1"/>
          </p:cNvSpPr>
          <p:nvPr/>
        </p:nvSpPr>
        <p:spPr bwMode="auto">
          <a:xfrm>
            <a:off x="7175501" y="2924176"/>
            <a:ext cx="3921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2</a:t>
            </a:r>
            <a:endParaRPr lang="ru-RU" baseline="-25000"/>
          </a:p>
        </p:txBody>
      </p:sp>
      <p:sp>
        <p:nvSpPr>
          <p:cNvPr id="258094" name="Arc 46"/>
          <p:cNvSpPr>
            <a:spLocks/>
          </p:cNvSpPr>
          <p:nvPr/>
        </p:nvSpPr>
        <p:spPr bwMode="auto">
          <a:xfrm>
            <a:off x="4440238" y="2212976"/>
            <a:ext cx="431800" cy="1096963"/>
          </a:xfrm>
          <a:custGeom>
            <a:avLst/>
            <a:gdLst>
              <a:gd name="T0" fmla="*/ 82165853 w 21600"/>
              <a:gd name="T1" fmla="*/ 0 h 36212"/>
              <a:gd name="T2" fmla="*/ 104199020 w 21600"/>
              <a:gd name="T3" fmla="*/ 1006632091 h 36212"/>
              <a:gd name="T4" fmla="*/ 0 w 21600"/>
              <a:gd name="T5" fmla="*/ 528000671 h 36212"/>
              <a:gd name="T6" fmla="*/ 0 60000 65536"/>
              <a:gd name="T7" fmla="*/ 0 60000 65536"/>
              <a:gd name="T8" fmla="*/ 0 60000 65536"/>
              <a:gd name="T9" fmla="*/ 0 w 21600"/>
              <a:gd name="T10" fmla="*/ 0 h 36212"/>
              <a:gd name="T11" fmla="*/ 21600 w 21600"/>
              <a:gd name="T12" fmla="*/ 36212 h 362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6212" fill="none" extrusionOk="0">
                <a:moveTo>
                  <a:pt x="10285" y="-1"/>
                </a:moveTo>
                <a:cubicBezTo>
                  <a:pt x="17256" y="3774"/>
                  <a:pt x="21600" y="11065"/>
                  <a:pt x="21600" y="18994"/>
                </a:cubicBezTo>
                <a:cubicBezTo>
                  <a:pt x="21600" y="25756"/>
                  <a:pt x="18433" y="32128"/>
                  <a:pt x="13042" y="36211"/>
                </a:cubicBezTo>
              </a:path>
              <a:path w="21600" h="36212" stroke="0" extrusionOk="0">
                <a:moveTo>
                  <a:pt x="10285" y="-1"/>
                </a:moveTo>
                <a:cubicBezTo>
                  <a:pt x="17256" y="3774"/>
                  <a:pt x="21600" y="11065"/>
                  <a:pt x="21600" y="18994"/>
                </a:cubicBezTo>
                <a:cubicBezTo>
                  <a:pt x="21600" y="25756"/>
                  <a:pt x="18433" y="32128"/>
                  <a:pt x="13042" y="36211"/>
                </a:cubicBezTo>
                <a:lnTo>
                  <a:pt x="0" y="18994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36890" name="Text Box 47"/>
          <p:cNvSpPr txBox="1">
            <a:spLocks noChangeArrowheads="1"/>
          </p:cNvSpPr>
          <p:nvPr/>
        </p:nvSpPr>
        <p:spPr bwMode="auto">
          <a:xfrm>
            <a:off x="5856288" y="3812749"/>
            <a:ext cx="43402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dirty="0"/>
              <a:t>Расстояние от точки </a:t>
            </a:r>
            <a:r>
              <a:rPr lang="en-US" dirty="0"/>
              <a:t>P </a:t>
            </a:r>
            <a:r>
              <a:rPr lang="ru-RU" dirty="0"/>
              <a:t>до глаза равно:</a:t>
            </a:r>
          </a:p>
        </p:txBody>
      </p:sp>
      <p:sp>
        <p:nvSpPr>
          <p:cNvPr id="36891" name="Text Box 51"/>
          <p:cNvSpPr txBox="1">
            <a:spLocks noChangeArrowheads="1"/>
          </p:cNvSpPr>
          <p:nvPr/>
        </p:nvSpPr>
        <p:spPr bwMode="auto">
          <a:xfrm>
            <a:off x="983432" y="5645665"/>
            <a:ext cx="993710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/>
              <a:t>Извлечение квадратных корней – дорогая операция, поэтому применяют </a:t>
            </a:r>
            <a:r>
              <a:rPr lang="ru-RU" dirty="0" err="1"/>
              <a:t>псевдоглубину</a:t>
            </a:r>
            <a:r>
              <a:rPr lang="ru-RU" dirty="0"/>
              <a:t> – оценку глубины точки </a:t>
            </a:r>
            <a:r>
              <a:rPr lang="en-US" dirty="0"/>
              <a:t>P</a:t>
            </a:r>
            <a:endParaRPr lang="ru-RU" dirty="0"/>
          </a:p>
        </p:txBody>
      </p:sp>
      <p:sp>
        <p:nvSpPr>
          <p:cNvPr id="258085" name="Oval 37"/>
          <p:cNvSpPr>
            <a:spLocks noChangeArrowheads="1"/>
          </p:cNvSpPr>
          <p:nvPr/>
        </p:nvSpPr>
        <p:spPr bwMode="auto">
          <a:xfrm>
            <a:off x="4481514" y="3338514"/>
            <a:ext cx="117475" cy="117475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5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5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58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5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58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5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58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83" grpId="0"/>
      <p:bldP spid="258086" grpId="0"/>
      <p:bldP spid="258089" grpId="0" animBg="1"/>
      <p:bldP spid="258090" grpId="0" animBg="1"/>
      <p:bldP spid="258091" grpId="0" animBg="1"/>
      <p:bldP spid="258092" grpId="0"/>
      <p:bldP spid="258094" grpId="0" animBg="1"/>
      <p:bldP spid="258085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Псевдоглубина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dirty="0"/>
              <a:t>Если две точки проецируются в одну и ту же точку, то дальше та, у которой величина -</a:t>
            </a:r>
            <a:r>
              <a:rPr lang="en-US" dirty="0" err="1"/>
              <a:t>P</a:t>
            </a:r>
            <a:r>
              <a:rPr lang="en-US" baseline="-25000" dirty="0" err="1"/>
              <a:t>z</a:t>
            </a:r>
            <a:r>
              <a:rPr lang="en-US" dirty="0"/>
              <a:t> </a:t>
            </a:r>
            <a:r>
              <a:rPr lang="ru-RU" dirty="0"/>
              <a:t>больше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/>
              <a:t>В качестве значения </a:t>
            </a:r>
            <a:r>
              <a:rPr lang="ru-RU" dirty="0" err="1"/>
              <a:t>псевдоглубины</a:t>
            </a:r>
            <a:r>
              <a:rPr lang="ru-RU" dirty="0"/>
              <a:t> может подойти значение </a:t>
            </a:r>
            <a:r>
              <a:rPr lang="en-US" dirty="0"/>
              <a:t>–</a:t>
            </a:r>
            <a:r>
              <a:rPr lang="en-US" dirty="0" err="1"/>
              <a:t>P</a:t>
            </a:r>
            <a:r>
              <a:rPr lang="en-US" baseline="-25000" dirty="0" err="1"/>
              <a:t>z</a:t>
            </a:r>
            <a:endParaRPr lang="en-US" baseline="-25000" dirty="0"/>
          </a:p>
          <a:p>
            <a:pPr eaLnBrk="1" hangingPunct="1">
              <a:lnSpc>
                <a:spcPct val="90000"/>
              </a:lnSpc>
            </a:pPr>
            <a:r>
              <a:rPr lang="ru-RU" dirty="0"/>
              <a:t>Однако лучше выразить значение </a:t>
            </a:r>
            <a:r>
              <a:rPr lang="ru-RU" dirty="0" err="1"/>
              <a:t>псевдоглубины</a:t>
            </a:r>
            <a:r>
              <a:rPr lang="ru-RU" dirty="0"/>
              <a:t> </a:t>
            </a:r>
            <a:r>
              <a:rPr lang="en-US" dirty="0"/>
              <a:t>z* </a:t>
            </a:r>
            <a:r>
              <a:rPr lang="ru-RU" dirty="0"/>
              <a:t>в тех же терминах, что и координаты </a:t>
            </a:r>
            <a:r>
              <a:rPr lang="en-US" dirty="0"/>
              <a:t>x* </a:t>
            </a:r>
            <a:r>
              <a:rPr lang="ru-RU" dirty="0"/>
              <a:t>и </a:t>
            </a:r>
            <a:r>
              <a:rPr lang="en-US" dirty="0"/>
              <a:t>y* - </a:t>
            </a:r>
            <a:r>
              <a:rPr lang="ru-RU" dirty="0"/>
              <a:t>через знаменатель </a:t>
            </a:r>
            <a:r>
              <a:rPr lang="en-US" dirty="0"/>
              <a:t>-</a:t>
            </a:r>
            <a:r>
              <a:rPr lang="en-US" dirty="0" err="1"/>
              <a:t>P</a:t>
            </a:r>
            <a:r>
              <a:rPr lang="en-US" baseline="-25000" dirty="0" err="1"/>
              <a:t>z</a:t>
            </a:r>
            <a:endParaRPr lang="ru-RU" baseline="-250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3600"/>
              <a:t>Проецирование точки с сохранением информации о ее псевдоглубине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2148" name="Object 4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2063552" y="2055713"/>
                <a:ext cx="6984776" cy="11812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den>
                          </m:f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den>
                          </m:f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62148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2063552" y="2055713"/>
                <a:ext cx="6984776" cy="1181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2149" name="Text Box 5"/>
          <p:cNvSpPr txBox="1">
            <a:spLocks noChangeArrowheads="1"/>
          </p:cNvSpPr>
          <p:nvPr/>
        </p:nvSpPr>
        <p:spPr bwMode="auto">
          <a:xfrm>
            <a:off x="911425" y="3284539"/>
            <a:ext cx="959624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/>
              <a:t>a </a:t>
            </a:r>
            <a:r>
              <a:rPr lang="ru-RU" sz="1600" dirty="0"/>
              <a:t>и </a:t>
            </a:r>
            <a:r>
              <a:rPr lang="en-US" sz="1600" dirty="0"/>
              <a:t>b – </a:t>
            </a:r>
            <a:r>
              <a:rPr lang="ru-RU" sz="1600" dirty="0"/>
              <a:t>некоторые константы</a:t>
            </a:r>
          </a:p>
          <a:p>
            <a:endParaRPr lang="ru-RU" sz="1600" dirty="0"/>
          </a:p>
          <a:p>
            <a:r>
              <a:rPr lang="ru-RU" sz="1600" dirty="0"/>
              <a:t>Удобно выбрать </a:t>
            </a:r>
            <a:r>
              <a:rPr lang="en-US" sz="1600" dirty="0"/>
              <a:t>a </a:t>
            </a:r>
            <a:r>
              <a:rPr lang="ru-RU" sz="1600" dirty="0"/>
              <a:t>и </a:t>
            </a:r>
            <a:r>
              <a:rPr lang="en-US" sz="1600" dirty="0"/>
              <a:t>b</a:t>
            </a:r>
            <a:r>
              <a:rPr lang="ru-RU" sz="1600" dirty="0"/>
              <a:t> так, чтобы </a:t>
            </a:r>
            <a:r>
              <a:rPr lang="ru-RU" sz="1600" dirty="0" err="1"/>
              <a:t>псевдоглубина</a:t>
            </a:r>
            <a:r>
              <a:rPr lang="ru-RU" sz="1600" dirty="0"/>
              <a:t> изменялось в пределах -1 до +1:</a:t>
            </a:r>
          </a:p>
          <a:p>
            <a:r>
              <a:rPr lang="en-US" sz="1600" dirty="0"/>
              <a:t>z* = -1 </a:t>
            </a:r>
            <a:r>
              <a:rPr lang="ru-RU" sz="1600" dirty="0"/>
              <a:t>при </a:t>
            </a:r>
            <a:r>
              <a:rPr lang="en-US" sz="1600" dirty="0" err="1"/>
              <a:t>P</a:t>
            </a:r>
            <a:r>
              <a:rPr lang="en-US" sz="1600" baseline="-25000" dirty="0" err="1"/>
              <a:t>z</a:t>
            </a:r>
            <a:r>
              <a:rPr lang="en-US" sz="1600" dirty="0"/>
              <a:t> = -N</a:t>
            </a:r>
          </a:p>
          <a:p>
            <a:r>
              <a:rPr lang="en-US" sz="1600" dirty="0"/>
              <a:t>z* = +1 </a:t>
            </a:r>
            <a:r>
              <a:rPr lang="ru-RU" sz="1600" dirty="0"/>
              <a:t>при </a:t>
            </a:r>
            <a:r>
              <a:rPr lang="en-US" sz="1600" dirty="0" err="1"/>
              <a:t>P</a:t>
            </a:r>
            <a:r>
              <a:rPr lang="en-US" sz="1600" baseline="-25000" dirty="0" err="1"/>
              <a:t>z</a:t>
            </a:r>
            <a:r>
              <a:rPr lang="en-US" sz="1600" dirty="0"/>
              <a:t> = -F</a:t>
            </a:r>
          </a:p>
          <a:p>
            <a:r>
              <a:rPr lang="en-US" sz="1600" dirty="0"/>
              <a:t>N – </a:t>
            </a:r>
            <a:r>
              <a:rPr lang="ru-RU" sz="1600" dirty="0"/>
              <a:t>расстояние до ближней плоскости проецирования</a:t>
            </a:r>
          </a:p>
          <a:p>
            <a:r>
              <a:rPr lang="en-US" sz="1600" dirty="0"/>
              <a:t>F – </a:t>
            </a:r>
            <a:r>
              <a:rPr lang="ru-RU" sz="1600" dirty="0"/>
              <a:t>расстояние до дальней плоскости проецирования</a:t>
            </a:r>
          </a:p>
          <a:p>
            <a:endParaRPr lang="ru-RU" sz="1600" dirty="0"/>
          </a:p>
          <a:p>
            <a:r>
              <a:rPr lang="ru-RU" sz="1600" dirty="0"/>
              <a:t>В этом случае: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2150" name="Object 6"/>
              <p:cNvSpPr txBox="1"/>
              <p:nvPr/>
            </p:nvSpPr>
            <p:spPr bwMode="auto">
              <a:xfrm>
                <a:off x="1343472" y="5592763"/>
                <a:ext cx="1872952" cy="900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62150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3472" y="5592763"/>
                <a:ext cx="1872952" cy="9001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2151" name="Object 7"/>
              <p:cNvSpPr txBox="1"/>
              <p:nvPr/>
            </p:nvSpPr>
            <p:spPr bwMode="auto">
              <a:xfrm>
                <a:off x="3287688" y="5592763"/>
                <a:ext cx="1597025" cy="900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num>
                        <m:den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6215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7688" y="5592763"/>
                <a:ext cx="1597025" cy="9001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2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62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62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62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62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62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62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621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2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8" grpId="0" build="p"/>
      <p:bldP spid="262150" grpId="0"/>
      <p:bldP spid="262151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Изменение псевдоглубины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2AC905B-1F22-421E-BE82-C9A1550D1E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27B64D5-D96B-4E69-8008-F53B8ED9D115}"/>
              </a:ext>
            </a:extLst>
          </p:cNvPr>
          <p:cNvSpPr/>
          <p:nvPr/>
        </p:nvSpPr>
        <p:spPr>
          <a:xfrm>
            <a:off x="3143673" y="3481754"/>
            <a:ext cx="6469249" cy="1171382"/>
          </a:xfrm>
          <a:prstGeom prst="rect">
            <a:avLst/>
          </a:prstGeom>
          <a:solidFill>
            <a:srgbClr val="FCF60C">
              <a:alpha val="32157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ACED81-DE95-4C7D-B796-7EB564FC5F67}"/>
              </a:ext>
            </a:extLst>
          </p:cNvPr>
          <p:cNvSpPr/>
          <p:nvPr/>
        </p:nvSpPr>
        <p:spPr>
          <a:xfrm>
            <a:off x="9912424" y="5646502"/>
            <a:ext cx="1944216" cy="10609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zNear</a:t>
            </a:r>
            <a:r>
              <a:rPr lang="en-US" dirty="0"/>
              <a:t> = 5</a:t>
            </a:r>
          </a:p>
          <a:p>
            <a:pPr algn="ctr"/>
            <a:r>
              <a:rPr lang="en-US" dirty="0" err="1"/>
              <a:t>zFar</a:t>
            </a:r>
            <a:r>
              <a:rPr lang="en-US" dirty="0"/>
              <a:t> = 30</a:t>
            </a:r>
            <a:endParaRPr lang="ru-RU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E9FC144-C407-C481-DFF6-089BC3BB43DA}"/>
              </a:ext>
            </a:extLst>
          </p:cNvPr>
          <p:cNvCxnSpPr/>
          <p:nvPr/>
        </p:nvCxnSpPr>
        <p:spPr>
          <a:xfrm>
            <a:off x="1919536" y="4365104"/>
            <a:ext cx="122413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8B817D1-604C-90BA-836D-79A1E76670CF}"/>
              </a:ext>
            </a:extLst>
          </p:cNvPr>
          <p:cNvCxnSpPr>
            <a:cxnSpLocks/>
          </p:cNvCxnSpPr>
          <p:nvPr/>
        </p:nvCxnSpPr>
        <p:spPr>
          <a:xfrm>
            <a:off x="1919536" y="3140968"/>
            <a:ext cx="769338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32A16DD-F799-8741-E83A-00D9D8FCA4FB}"/>
              </a:ext>
            </a:extLst>
          </p:cNvPr>
          <p:cNvSpPr txBox="1"/>
          <p:nvPr/>
        </p:nvSpPr>
        <p:spPr>
          <a:xfrm>
            <a:off x="5780317" y="2783804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zFar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68A0E3-6E05-7067-4A9B-64367C5E2324}"/>
              </a:ext>
            </a:extLst>
          </p:cNvPr>
          <p:cNvSpPr txBox="1"/>
          <p:nvPr/>
        </p:nvSpPr>
        <p:spPr>
          <a:xfrm>
            <a:off x="2135560" y="4312741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zNear</a:t>
            </a:r>
            <a:endParaRPr lang="en-US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F5209-C0E3-88FC-C12C-9A6B9085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Неравномерность изменения </a:t>
            </a:r>
            <a:r>
              <a:rPr lang="ru-RU" dirty="0" err="1"/>
              <a:t>псевдоглубины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C4702B-4814-8ED2-C5FC-70F25A7809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ru-RU" dirty="0"/>
                  <a:t>Пусть </a:t>
                </a:r>
                <a:r>
                  <a:rPr lang="en-US" dirty="0"/>
                  <a:t>N=1 </a:t>
                </a:r>
                <a:r>
                  <a:rPr lang="ru-RU" dirty="0"/>
                  <a:t>и </a:t>
                </a:r>
                <a:r>
                  <a:rPr lang="en-US" dirty="0"/>
                  <a:t>F=100</a:t>
                </a:r>
                <a:r>
                  <a:rPr lang="ru-RU" dirty="0"/>
                  <a:t>, тогда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𝐹𝑁</m:t>
                        </m:r>
                      </m:num>
                      <m:den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ru-RU" dirty="0"/>
                  <a:t>Тогда </a:t>
                </a:r>
                <a:r>
                  <a:rPr lang="ru-RU" dirty="0" err="1"/>
                  <a:t>псевдоглубина</a:t>
                </a:r>
                <a:r>
                  <a:rPr lang="ru-RU" dirty="0"/>
                  <a:t> равна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den>
                    </m:f>
                    <m:r>
                      <a:rPr lang="ru-RU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  <m:sSub>
                          <m:sSub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ru-RU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num>
                      <m:den>
                        <m:r>
                          <a:rPr lang="ru-RU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sSub>
                          <m:sSubPr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den>
                    </m:f>
                  </m:oMath>
                </a14:m>
                <a:endParaRPr lang="ru-RU" dirty="0"/>
              </a:p>
              <a:p>
                <a:pPr lvl="1"/>
                <a:r>
                  <a:rPr lang="ru-RU" dirty="0"/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 она обращается в -1</a:t>
                </a:r>
              </a:p>
              <a:p>
                <a:pPr lvl="1"/>
                <a:r>
                  <a:rPr lang="ru-RU" dirty="0"/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 она обращается в +1</a:t>
                </a:r>
              </a:p>
              <a:p>
                <a:r>
                  <a:rPr lang="ru-RU" dirty="0"/>
                  <a:t>По мере приближения к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 err="1"/>
                  <a:t>псевдоглубина</a:t>
                </a:r>
                <a:r>
                  <a:rPr lang="ru-RU" dirty="0"/>
                  <a:t> изменяется медленно:</a:t>
                </a:r>
                <a:endParaRPr lang="en-US" dirty="0"/>
              </a:p>
              <a:p>
                <a:pPr lvl="1"/>
                <a:r>
                  <a:rPr lang="ru-RU" b="0" dirty="0"/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ru-RU" dirty="0"/>
                  <a:t> она равна 0.</a:t>
                </a:r>
                <a:r>
                  <a:rPr lang="en-US" dirty="0"/>
                  <a:t>01010101</a:t>
                </a:r>
              </a:p>
              <a:p>
                <a:pPr lvl="1"/>
                <a:r>
                  <a:rPr lang="ru-RU" b="0" dirty="0"/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r>
                  <a:rPr lang="ru-RU" dirty="0"/>
                  <a:t> она равна </a:t>
                </a:r>
                <a:r>
                  <a:rPr lang="en-US" dirty="0"/>
                  <a:t>0,34680134</a:t>
                </a:r>
                <a:endParaRPr lang="ru-RU" b="0" dirty="0"/>
              </a:p>
              <a:p>
                <a:pPr lvl="1"/>
                <a:r>
                  <a:rPr lang="ru-RU" b="0" dirty="0"/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=−97</m:t>
                    </m:r>
                  </m:oMath>
                </a14:m>
                <a:r>
                  <a:rPr lang="ru-RU" dirty="0"/>
                  <a:t> она равна 0.999</a:t>
                </a:r>
                <a:r>
                  <a:rPr lang="ru-RU" dirty="0">
                    <a:solidFill>
                      <a:srgbClr val="FF0000"/>
                    </a:solidFill>
                  </a:rPr>
                  <a:t>3752</a:t>
                </a:r>
              </a:p>
              <a:p>
                <a:pPr lvl="1"/>
                <a:r>
                  <a:rPr lang="ru-RU" b="0" dirty="0"/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=−98</m:t>
                    </m:r>
                  </m:oMath>
                </a14:m>
                <a:r>
                  <a:rPr lang="ru-RU" dirty="0"/>
                  <a:t> она равна 0.999</a:t>
                </a:r>
                <a:r>
                  <a:rPr lang="ru-RU" dirty="0">
                    <a:solidFill>
                      <a:srgbClr val="FF0000"/>
                    </a:solidFill>
                  </a:rPr>
                  <a:t>5877</a:t>
                </a:r>
              </a:p>
              <a:p>
                <a:pPr lvl="1"/>
                <a:r>
                  <a:rPr lang="ru-RU" b="0" dirty="0"/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=−99</m:t>
                    </m:r>
                  </m:oMath>
                </a14:m>
                <a:r>
                  <a:rPr lang="ru-RU" dirty="0"/>
                  <a:t> она равна 0.999</a:t>
                </a:r>
                <a:r>
                  <a:rPr lang="ru-RU" dirty="0">
                    <a:solidFill>
                      <a:srgbClr val="FF0000"/>
                    </a:solidFill>
                  </a:rPr>
                  <a:t>7959</a:t>
                </a:r>
              </a:p>
              <a:p>
                <a:pPr lvl="1"/>
                <a:endParaRPr lang="ru-R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C4702B-4814-8ED2-C5FC-70F25A7809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1469500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Использование однородных координат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387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ru-RU" sz="2800" dirty="0"/>
                  <a:t>Точка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baseline="-25000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baseline="-25000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baseline="-25000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в однородных координатах выражается в виде: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1)</m:t>
                    </m:r>
                  </m:oMath>
                </a14:m>
                <a:endParaRPr lang="en-US" dirty="0"/>
              </a:p>
              <a:p>
                <a:pPr eaLnBrk="1" hangingPunct="1"/>
                <a:r>
                  <a:rPr lang="ru-RU" sz="2800" dirty="0"/>
                  <a:t>Вектор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 baseline="-25000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 baseline="-25000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 baseline="-25000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в однородных выражается в виде: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, 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/>
              </a:p>
              <a:p>
                <a:pPr eaLnBrk="1" hangingPunct="1"/>
                <a:r>
                  <a:rPr lang="ru-RU" dirty="0"/>
                  <a:t>Это позволяет </a:t>
                </a:r>
                <a:r>
                  <a:rPr lang="ru-RU" sz="2800" dirty="0"/>
                  <a:t>представлять векторы и точки внутри координатных фреймов и выражать аффинные преобразования с помощью матриц</a:t>
                </a:r>
              </a:p>
            </p:txBody>
          </p:sp>
        </mc:Choice>
        <mc:Fallback xmlns="">
          <p:sp>
            <p:nvSpPr>
              <p:cNvPr id="1443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build="p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Дальнейшее развитие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411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Точка </a:t>
                </a:r>
                <a:r>
                  <a:rPr lang="en-US" sz="2800" dirty="0"/>
                  <a:t>P </a:t>
                </a:r>
                <a:r>
                  <a:rPr lang="ru-RU" sz="2800" dirty="0"/>
                  <a:t>имеет целое семейство однородных представлений вида:</a:t>
                </a: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𝑤𝑃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𝑤𝑃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𝑤𝑃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для любого ненулевого </a:t>
                </a:r>
                <a:r>
                  <a:rPr lang="en-US" dirty="0"/>
                  <a:t>w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Преобразование точки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sz="2800" dirty="0"/>
                  <a:t>в однородные координаты: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ru-RU" dirty="0"/>
                  <a:t>Добавить четвёртую компоненту 1 (при необходимости умножить все компоненты на любую ненулевую величину)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800" dirty="0"/>
                  <a:t>Преобразование точки из однородных координат в обычные: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ru-RU" dirty="0"/>
                  <a:t>Разделить все компоненты на последний, а затем отбросить его</a:t>
                </a:r>
              </a:p>
            </p:txBody>
          </p:sp>
        </mc:Choice>
        <mc:Fallback xmlns="">
          <p:sp>
            <p:nvSpPr>
              <p:cNvPr id="1454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1" grpId="0" build="p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Матрица аффинного преобразования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6A946FF6-F43B-4DE7-A64A-7877D7BD53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Матрица аффинного преобразования имеет четвертой строкой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(0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0, 0, 1)</m:t>
                    </m:r>
                  </m:oMath>
                </a14:m>
                <a:endParaRPr lang="en-US" sz="24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При умножении такой матрицы на точку в однородных координатах, компонент </a:t>
                </a:r>
                <a:r>
                  <a:rPr lang="en-US" sz="2400" dirty="0"/>
                  <a:t>w </a:t>
                </a:r>
                <a:r>
                  <a:rPr lang="ru-RU" sz="2400" dirty="0"/>
                  <a:t>останется неизменным:</a:t>
                </a:r>
                <a:endParaRPr lang="en-US" sz="240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mr>
                        </m:m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Объект 5">
                <a:extLst>
                  <a:ext uri="{FF2B5EF4-FFF2-40B4-BE49-F238E27FC236}">
                    <a16:creationId xmlns:a16="http://schemas.microsoft.com/office/drawing/2014/main" id="{6A946FF6-F43B-4DE7-A64A-7877D7BD53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Эксперимент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48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ru-RU" sz="2400" dirty="0"/>
                  <a:t>Что, если четвертая строка матрицы будет отличной от </a:t>
                </a:r>
                <a:r>
                  <a:rPr lang="en-US" sz="2400" dirty="0"/>
                  <a:t>(0, 0, 0, 1)?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r>
                  <a:rPr lang="ru-RU" sz="2400" dirty="0"/>
                  <a:t>При умножении такой матрицы на точку в однородных координатах с любым значением </a:t>
                </a:r>
                <a:r>
                  <a:rPr lang="en-US" sz="2400" dirty="0"/>
                  <a:t>w</a:t>
                </a:r>
                <a:r>
                  <a:rPr lang="ru-RU" sz="2400" dirty="0"/>
                  <a:t> мы получим:</a:t>
                </a:r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mr>
                        </m:m>
                      </m:e>
                    </m:d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𝑤𝑁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𝑤𝑁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pPr lvl="1"/>
                <a:endParaRPr lang="ru-RU" sz="2000" dirty="0"/>
              </a:p>
              <a:p>
                <a:endParaRPr lang="en-US" sz="2400" dirty="0"/>
              </a:p>
              <a:p>
                <a:pPr lvl="1" eaLnBrk="1" hangingPunct="1">
                  <a:lnSpc>
                    <a:spcPct val="90000"/>
                  </a:lnSpc>
                </a:pPr>
                <a:endParaRPr lang="ru-RU" sz="2000" dirty="0"/>
              </a:p>
            </p:txBody>
          </p:sp>
        </mc:Choice>
        <mc:Fallback xmlns="">
          <p:sp>
            <p:nvSpPr>
              <p:cNvPr id="27648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Перспективное 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8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eaLnBrk="1" hangingPunct="1"/>
                <a:r>
                  <a:rPr lang="ru-RU" sz="2800" dirty="0"/>
                  <a:t>Для вычисления фактических координат этой точки разделим все координаты точки на четвертый компонент и отбросим его:</a:t>
                </a:r>
                <a:endParaRPr lang="en-US" sz="280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marL="342900" indent="-3429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</a:pPr>
                <a:r>
                  <a:rPr lang="ru-RU" sz="2800" dirty="0"/>
                  <a:t>А это есть ни что иное, как координаты точки после перспективного проецирования!</a:t>
                </a:r>
              </a:p>
              <a:p>
                <a:pPr marL="342900" indent="-3429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</a:pPr>
                <a:r>
                  <a:rPr lang="ru-RU" sz="2800" dirty="0"/>
                  <a:t>Этот этап называется </a:t>
                </a:r>
                <a:r>
                  <a:rPr lang="ru-RU" sz="2800" b="1" dirty="0">
                    <a:solidFill>
                      <a:schemeClr val="hlink"/>
                    </a:solidFill>
                  </a:rPr>
                  <a:t>перспективным делением</a:t>
                </a:r>
              </a:p>
              <a:p>
                <a:endParaRPr lang="en-US" dirty="0"/>
              </a:p>
              <a:p>
                <a:pPr eaLnBrk="1" hangingPunct="1"/>
                <a:endParaRPr lang="ru-RU" sz="2800" dirty="0"/>
              </a:p>
            </p:txBody>
          </p:sp>
        </mc:Choice>
        <mc:Fallback xmlns="">
          <p:sp>
            <p:nvSpPr>
              <p:cNvPr id="4198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build="p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Матрица перспективного преобразования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Матрица, четвертая строка которой не равна </a:t>
            </a:r>
            <a:r>
              <a:rPr lang="en-US" dirty="0"/>
              <a:t>(0, 0, 0, 1)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производит </a:t>
            </a:r>
            <a:r>
              <a:rPr lang="ru-RU" b="1" dirty="0">
                <a:solidFill>
                  <a:schemeClr val="hlink"/>
                </a:solidFill>
              </a:rPr>
              <a:t>перспективное преобразование</a:t>
            </a:r>
          </a:p>
          <a:p>
            <a:pPr eaLnBrk="1" hangingPunct="1"/>
            <a:r>
              <a:rPr lang="ru-RU" dirty="0"/>
              <a:t>Оно не является аффинным</a:t>
            </a:r>
          </a:p>
          <a:p>
            <a:pPr eaLnBrk="1" hangingPunct="1"/>
            <a:r>
              <a:rPr lang="ru-RU" dirty="0"/>
              <a:t>Это именно </a:t>
            </a:r>
            <a:r>
              <a:rPr lang="ru-RU" b="1" dirty="0"/>
              <a:t>преобразование</a:t>
            </a:r>
            <a:r>
              <a:rPr lang="ru-RU" dirty="0"/>
              <a:t>, а не проекция. Результатом перспективного преобразования является точка той же размерности, что и аргумент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10">
            <a:extLst>
              <a:ext uri="{FF2B5EF4-FFF2-40B4-BE49-F238E27FC236}">
                <a16:creationId xmlns:a16="http://schemas.microsoft.com/office/drawing/2014/main" id="{2E41DAB3-8FF7-4499-B31F-F1EA11890556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1424" y="476672"/>
            <a:ext cx="8136904" cy="625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3954139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Получение перспективной проекции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1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Перспективное преобразование переносит трехмерную точку </a:t>
                </a:r>
                <a:r>
                  <a:rPr lang="en-US" dirty="0"/>
                  <a:t>P </a:t>
                </a:r>
                <a:r>
                  <a:rPr lang="ru-RU" dirty="0"/>
                  <a:t>в другую трехмерную точку в соответствии с отображением: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  <m:r>
                      <a:rPr lang="ru-RU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𝑁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𝑁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num>
                          <m:den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ru-RU" dirty="0"/>
              </a:p>
              <a:p>
                <a:r>
                  <a:rPr lang="ru-RU" dirty="0"/>
                  <a:t>Для получения проекции точки мы можем просто проигнорировать третий компонент, заменив его на нуль: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𝑁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𝑁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num>
                          <m:den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ru-RU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𝑁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𝑁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num>
                          <m:den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  <m:r>
                          <a:rPr lang="ru-RU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</m:oMath>
                </a14:m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4301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4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14" name="Rectangle 6"/>
          <p:cNvSpPr>
            <a:spLocks noChangeArrowheads="1"/>
          </p:cNvSpPr>
          <p:nvPr/>
        </p:nvSpPr>
        <p:spPr bwMode="auto">
          <a:xfrm>
            <a:off x="915616" y="4221163"/>
            <a:ext cx="9639672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ru-RU" sz="2400" dirty="0"/>
          </a:p>
        </p:txBody>
      </p:sp>
      <p:sp>
        <p:nvSpPr>
          <p:cNvPr id="281607" name="Object 7"/>
          <p:cNvSpPr txBox="1"/>
          <p:nvPr/>
        </p:nvSpPr>
        <p:spPr bwMode="auto">
          <a:xfrm>
            <a:off x="3216275" y="5516563"/>
            <a:ext cx="5961063" cy="9588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/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3" grpId="0" build="p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Что такое перспективная проекция?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b="1" dirty="0">
                <a:solidFill>
                  <a:schemeClr val="hlink"/>
                </a:solidFill>
              </a:rPr>
              <a:t>Перспективная проекция</a:t>
            </a:r>
            <a:r>
              <a:rPr lang="ru-RU" dirty="0"/>
              <a:t> = </a:t>
            </a:r>
            <a:r>
              <a:rPr lang="ru-RU" b="1" dirty="0">
                <a:solidFill>
                  <a:schemeClr val="folHlink"/>
                </a:solidFill>
              </a:rPr>
              <a:t>Перспективное преобразование</a:t>
            </a:r>
            <a:r>
              <a:rPr lang="ru-RU" dirty="0"/>
              <a:t> + </a:t>
            </a:r>
            <a:r>
              <a:rPr lang="ru-RU" b="1" dirty="0">
                <a:solidFill>
                  <a:schemeClr val="accent1"/>
                </a:solidFill>
              </a:rPr>
              <a:t>Ортографическая проекция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/>
              <a:t>Геометрическая природа перспективного преобразования</a:t>
            </a: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BEBA5D30-64B7-473C-92C6-2B8120B47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8AF2FC-92AB-4454-9AE4-C1D277836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Перспективное преобразование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2800" dirty="0"/>
              <a:t>Перспективное преобразование превращает </a:t>
            </a:r>
            <a:r>
              <a:rPr lang="ru-RU" sz="2800" b="1" dirty="0"/>
              <a:t>трехмерную</a:t>
            </a:r>
            <a:r>
              <a:rPr lang="ru-RU" sz="2800" dirty="0"/>
              <a:t> точку </a:t>
            </a:r>
            <a:r>
              <a:rPr lang="en-US" sz="2800" dirty="0"/>
              <a:t>P</a:t>
            </a:r>
            <a:r>
              <a:rPr lang="ru-RU" sz="2800" dirty="0"/>
              <a:t> в другую </a:t>
            </a:r>
            <a:r>
              <a:rPr lang="ru-RU" sz="2800" b="1" dirty="0"/>
              <a:t>трехмерную</a:t>
            </a:r>
            <a:r>
              <a:rPr lang="ru-RU" sz="2800" dirty="0"/>
              <a:t> точку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/>
              <a:t>Трёхмерное пространство деформируется: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/>
              <a:t>Сохранение прямолинейности (прямые линии преобразуются в прямые линии)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/>
              <a:t>Сохранение плоскостности (плоскости – в плоскости)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/>
              <a:t>Сохранение «промежуточности» (точка </a:t>
            </a:r>
            <a:r>
              <a:rPr lang="ru-RU" b="1" dirty="0"/>
              <a:t>внутри</a:t>
            </a:r>
            <a:r>
              <a:rPr lang="ru-RU" dirty="0"/>
              <a:t> объекта преобразуется в другую точку внутри преобразованного объекта)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63" name="Rectangle 19"/>
          <p:cNvSpPr>
            <a:spLocks noChangeArrowheads="1"/>
          </p:cNvSpPr>
          <p:nvPr/>
        </p:nvSpPr>
        <p:spPr bwMode="auto">
          <a:xfrm>
            <a:off x="3935413" y="3213100"/>
            <a:ext cx="1223962" cy="1873250"/>
          </a:xfrm>
          <a:prstGeom prst="rect">
            <a:avLst/>
          </a:prstGeom>
          <a:solidFill>
            <a:srgbClr val="DDDDDD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87778" name="Rectangle 34"/>
          <p:cNvSpPr>
            <a:spLocks noChangeArrowheads="1"/>
          </p:cNvSpPr>
          <p:nvPr/>
        </p:nvSpPr>
        <p:spPr bwMode="auto">
          <a:xfrm>
            <a:off x="6667501" y="3213100"/>
            <a:ext cx="1876425" cy="1873250"/>
          </a:xfrm>
          <a:prstGeom prst="rect">
            <a:avLst/>
          </a:prstGeom>
          <a:solidFill>
            <a:schemeClr val="accent1">
              <a:alpha val="50195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48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/>
              <a:t>Деформирование отображаемого объема перспективным преобразованием</a:t>
            </a:r>
          </a:p>
        </p:txBody>
      </p:sp>
      <p:sp>
        <p:nvSpPr>
          <p:cNvPr id="287748" name="Line 4"/>
          <p:cNvSpPr>
            <a:spLocks noChangeShapeType="1"/>
          </p:cNvSpPr>
          <p:nvPr/>
        </p:nvSpPr>
        <p:spPr bwMode="auto">
          <a:xfrm flipH="1">
            <a:off x="1774825" y="4148138"/>
            <a:ext cx="3600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87749" name="Line 5"/>
          <p:cNvSpPr>
            <a:spLocks noChangeShapeType="1"/>
          </p:cNvSpPr>
          <p:nvPr/>
        </p:nvSpPr>
        <p:spPr bwMode="auto">
          <a:xfrm flipV="1">
            <a:off x="2854325" y="2563814"/>
            <a:ext cx="0" cy="1584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759075" y="3981450"/>
            <a:ext cx="203200" cy="323850"/>
            <a:chOff x="2789" y="1570"/>
            <a:chExt cx="1111" cy="1769"/>
          </a:xfrm>
        </p:grpSpPr>
        <p:sp>
          <p:nvSpPr>
            <p:cNvPr id="150559" name="Arc 7"/>
            <p:cNvSpPr>
              <a:spLocks/>
            </p:cNvSpPr>
            <p:nvPr/>
          </p:nvSpPr>
          <p:spPr bwMode="auto">
            <a:xfrm>
              <a:off x="2789" y="1751"/>
              <a:ext cx="1095" cy="1407"/>
            </a:xfrm>
            <a:custGeom>
              <a:avLst/>
              <a:gdLst>
                <a:gd name="T0" fmla="*/ 1 w 21600"/>
                <a:gd name="T1" fmla="*/ 0 h 36352"/>
                <a:gd name="T2" fmla="*/ 2 w 21600"/>
                <a:gd name="T3" fmla="*/ 2 h 36352"/>
                <a:gd name="T4" fmla="*/ 0 w 21600"/>
                <a:gd name="T5" fmla="*/ 1 h 36352"/>
                <a:gd name="T6" fmla="*/ 0 60000 65536"/>
                <a:gd name="T7" fmla="*/ 0 60000 65536"/>
                <a:gd name="T8" fmla="*/ 0 60000 65536"/>
                <a:gd name="T9" fmla="*/ 0 w 21600"/>
                <a:gd name="T10" fmla="*/ 0 h 36352"/>
                <a:gd name="T11" fmla="*/ 21600 w 21600"/>
                <a:gd name="T12" fmla="*/ 36352 h 363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6352" fill="none" extrusionOk="0">
                  <a:moveTo>
                    <a:pt x="11449" y="0"/>
                  </a:moveTo>
                  <a:cubicBezTo>
                    <a:pt x="17764" y="3947"/>
                    <a:pt x="21600" y="10869"/>
                    <a:pt x="21600" y="18316"/>
                  </a:cubicBezTo>
                  <a:cubicBezTo>
                    <a:pt x="21600" y="25579"/>
                    <a:pt x="17949" y="32355"/>
                    <a:pt x="11885" y="36352"/>
                  </a:cubicBezTo>
                </a:path>
                <a:path w="21600" h="36352" stroke="0" extrusionOk="0">
                  <a:moveTo>
                    <a:pt x="11449" y="0"/>
                  </a:moveTo>
                  <a:cubicBezTo>
                    <a:pt x="17764" y="3947"/>
                    <a:pt x="21600" y="10869"/>
                    <a:pt x="21600" y="18316"/>
                  </a:cubicBezTo>
                  <a:cubicBezTo>
                    <a:pt x="21600" y="25579"/>
                    <a:pt x="17949" y="32355"/>
                    <a:pt x="11885" y="36352"/>
                  </a:cubicBezTo>
                  <a:lnTo>
                    <a:pt x="0" y="1831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50560" name="Oval 8"/>
            <p:cNvSpPr>
              <a:spLocks noChangeArrowheads="1"/>
            </p:cNvSpPr>
            <p:nvPr/>
          </p:nvSpPr>
          <p:spPr bwMode="auto">
            <a:xfrm>
              <a:off x="3606" y="2095"/>
              <a:ext cx="294" cy="708"/>
            </a:xfrm>
            <a:prstGeom prst="ellipse">
              <a:avLst/>
            </a:prstGeom>
            <a:solidFill>
              <a:srgbClr val="3333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50561" name="Line 9"/>
            <p:cNvSpPr>
              <a:spLocks noChangeShapeType="1"/>
            </p:cNvSpPr>
            <p:nvPr/>
          </p:nvSpPr>
          <p:spPr bwMode="auto">
            <a:xfrm flipH="1">
              <a:off x="2789" y="1570"/>
              <a:ext cx="726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0562" name="Line 10"/>
            <p:cNvSpPr>
              <a:spLocks noChangeShapeType="1"/>
            </p:cNvSpPr>
            <p:nvPr/>
          </p:nvSpPr>
          <p:spPr bwMode="auto">
            <a:xfrm flipH="1" flipV="1">
              <a:off x="2789" y="2387"/>
              <a:ext cx="726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87755" name="Rectangle 11"/>
          <p:cNvSpPr>
            <a:spLocks noChangeArrowheads="1"/>
          </p:cNvSpPr>
          <p:nvPr/>
        </p:nvSpPr>
        <p:spPr bwMode="auto">
          <a:xfrm>
            <a:off x="3571875" y="3213101"/>
            <a:ext cx="76200" cy="1870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87758" name="Text Box 14"/>
          <p:cNvSpPr txBox="1">
            <a:spLocks noChangeArrowheads="1"/>
          </p:cNvSpPr>
          <p:nvPr/>
        </p:nvSpPr>
        <p:spPr bwMode="auto">
          <a:xfrm>
            <a:off x="1774825" y="414813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z</a:t>
            </a:r>
            <a:endParaRPr lang="ru-RU" b="1"/>
          </a:p>
        </p:txBody>
      </p:sp>
      <p:sp>
        <p:nvSpPr>
          <p:cNvPr id="287759" name="Text Box 15"/>
          <p:cNvSpPr txBox="1">
            <a:spLocks noChangeArrowheads="1"/>
          </p:cNvSpPr>
          <p:nvPr/>
        </p:nvSpPr>
        <p:spPr bwMode="auto">
          <a:xfrm>
            <a:off x="2925763" y="2635251"/>
            <a:ext cx="3159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</a:t>
            </a:r>
            <a:endParaRPr lang="ru-RU" b="1"/>
          </a:p>
        </p:txBody>
      </p:sp>
      <p:sp>
        <p:nvSpPr>
          <p:cNvPr id="287764" name="Line 20"/>
          <p:cNvSpPr>
            <a:spLocks noChangeShapeType="1"/>
          </p:cNvSpPr>
          <p:nvPr/>
        </p:nvSpPr>
        <p:spPr bwMode="auto">
          <a:xfrm flipV="1">
            <a:off x="2855913" y="3213101"/>
            <a:ext cx="1079500" cy="9366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7765" name="Line 21"/>
          <p:cNvSpPr>
            <a:spLocks noChangeShapeType="1"/>
          </p:cNvSpPr>
          <p:nvPr/>
        </p:nvSpPr>
        <p:spPr bwMode="auto">
          <a:xfrm flipV="1">
            <a:off x="2855913" y="3213101"/>
            <a:ext cx="2303462" cy="9366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7766" name="Line 22"/>
          <p:cNvSpPr>
            <a:spLocks noChangeShapeType="1"/>
          </p:cNvSpPr>
          <p:nvPr/>
        </p:nvSpPr>
        <p:spPr bwMode="auto">
          <a:xfrm>
            <a:off x="2855913" y="4149726"/>
            <a:ext cx="2303462" cy="9366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7767" name="Line 23"/>
          <p:cNvSpPr>
            <a:spLocks noChangeShapeType="1"/>
          </p:cNvSpPr>
          <p:nvPr/>
        </p:nvSpPr>
        <p:spPr bwMode="auto">
          <a:xfrm>
            <a:off x="2855913" y="4149726"/>
            <a:ext cx="1079500" cy="9366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7776" name="Text Box 32"/>
          <p:cNvSpPr txBox="1">
            <a:spLocks noChangeArrowheads="1"/>
          </p:cNvSpPr>
          <p:nvPr/>
        </p:nvSpPr>
        <p:spPr bwMode="auto">
          <a:xfrm>
            <a:off x="9048750" y="4149726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z</a:t>
            </a:r>
            <a:endParaRPr lang="ru-RU" b="1"/>
          </a:p>
        </p:txBody>
      </p:sp>
      <p:sp>
        <p:nvSpPr>
          <p:cNvPr id="287777" name="Text Box 33"/>
          <p:cNvSpPr txBox="1">
            <a:spLocks noChangeArrowheads="1"/>
          </p:cNvSpPr>
          <p:nvPr/>
        </p:nvSpPr>
        <p:spPr bwMode="auto">
          <a:xfrm>
            <a:off x="7327901" y="2635251"/>
            <a:ext cx="3159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</a:t>
            </a:r>
            <a:endParaRPr lang="ru-RU" b="1"/>
          </a:p>
        </p:txBody>
      </p:sp>
      <p:sp>
        <p:nvSpPr>
          <p:cNvPr id="287783" name="AutoShape 39"/>
          <p:cNvSpPr>
            <a:spLocks noChangeArrowheads="1"/>
          </p:cNvSpPr>
          <p:nvPr/>
        </p:nvSpPr>
        <p:spPr bwMode="auto">
          <a:xfrm rot="-5400000">
            <a:off x="6988175" y="3457575"/>
            <a:ext cx="1295400" cy="13843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642353844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778 w 21600"/>
              <a:gd name="T13" fmla="*/ 4778 h 21600"/>
              <a:gd name="T14" fmla="*/ 16822 w 21600"/>
              <a:gd name="T15" fmla="*/ 1682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955" y="21600"/>
                </a:lnTo>
                <a:lnTo>
                  <a:pt x="15645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87784" name="Line 40"/>
          <p:cNvSpPr>
            <a:spLocks noChangeShapeType="1"/>
          </p:cNvSpPr>
          <p:nvPr/>
        </p:nvSpPr>
        <p:spPr bwMode="auto">
          <a:xfrm>
            <a:off x="3432175" y="3502025"/>
            <a:ext cx="53276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7785" name="Line 41"/>
          <p:cNvSpPr>
            <a:spLocks noChangeShapeType="1"/>
          </p:cNvSpPr>
          <p:nvPr/>
        </p:nvSpPr>
        <p:spPr bwMode="auto">
          <a:xfrm>
            <a:off x="3432175" y="4797425"/>
            <a:ext cx="53276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7788" name="Line 44"/>
          <p:cNvSpPr>
            <a:spLocks noChangeShapeType="1"/>
          </p:cNvSpPr>
          <p:nvPr/>
        </p:nvSpPr>
        <p:spPr bwMode="auto">
          <a:xfrm>
            <a:off x="3432175" y="3862388"/>
            <a:ext cx="53276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7789" name="Line 45"/>
          <p:cNvSpPr>
            <a:spLocks noChangeShapeType="1"/>
          </p:cNvSpPr>
          <p:nvPr/>
        </p:nvSpPr>
        <p:spPr bwMode="auto">
          <a:xfrm>
            <a:off x="3432175" y="4437063"/>
            <a:ext cx="53276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7769" name="Line 25"/>
          <p:cNvSpPr>
            <a:spLocks noChangeShapeType="1"/>
          </p:cNvSpPr>
          <p:nvPr/>
        </p:nvSpPr>
        <p:spPr bwMode="auto">
          <a:xfrm flipV="1">
            <a:off x="7618413" y="2565400"/>
            <a:ext cx="0" cy="2952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87768" name="Line 24"/>
          <p:cNvSpPr>
            <a:spLocks noChangeShapeType="1"/>
          </p:cNvSpPr>
          <p:nvPr/>
        </p:nvSpPr>
        <p:spPr bwMode="auto">
          <a:xfrm>
            <a:off x="6296026" y="4148138"/>
            <a:ext cx="29686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87790" name="Text Box 46"/>
          <p:cNvSpPr txBox="1">
            <a:spLocks noChangeArrowheads="1"/>
          </p:cNvSpPr>
          <p:nvPr/>
        </p:nvSpPr>
        <p:spPr bwMode="auto">
          <a:xfrm>
            <a:off x="1992313" y="2133601"/>
            <a:ext cx="3117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Объект до преобразования</a:t>
            </a:r>
          </a:p>
        </p:txBody>
      </p:sp>
      <p:sp>
        <p:nvSpPr>
          <p:cNvPr id="287793" name="Text Box 49"/>
          <p:cNvSpPr txBox="1">
            <a:spLocks noChangeArrowheads="1"/>
          </p:cNvSpPr>
          <p:nvPr/>
        </p:nvSpPr>
        <p:spPr bwMode="auto">
          <a:xfrm>
            <a:off x="7608889" y="2636838"/>
            <a:ext cx="409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400"/>
              <a:t>+1</a:t>
            </a:r>
          </a:p>
        </p:txBody>
      </p:sp>
      <p:sp>
        <p:nvSpPr>
          <p:cNvPr id="287794" name="Text Box 50"/>
          <p:cNvSpPr txBox="1">
            <a:spLocks noChangeArrowheads="1"/>
          </p:cNvSpPr>
          <p:nvPr/>
        </p:nvSpPr>
        <p:spPr bwMode="auto">
          <a:xfrm>
            <a:off x="7608889" y="5302250"/>
            <a:ext cx="346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400"/>
              <a:t>-1</a:t>
            </a:r>
          </a:p>
        </p:txBody>
      </p:sp>
      <p:sp>
        <p:nvSpPr>
          <p:cNvPr id="287795" name="Text Box 51"/>
          <p:cNvSpPr txBox="1">
            <a:spLocks noChangeArrowheads="1"/>
          </p:cNvSpPr>
          <p:nvPr/>
        </p:nvSpPr>
        <p:spPr bwMode="auto">
          <a:xfrm>
            <a:off x="6311901" y="4171950"/>
            <a:ext cx="346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400"/>
              <a:t>-1</a:t>
            </a:r>
          </a:p>
        </p:txBody>
      </p:sp>
      <p:sp>
        <p:nvSpPr>
          <p:cNvPr id="287796" name="Text Box 52"/>
          <p:cNvSpPr txBox="1">
            <a:spLocks noChangeArrowheads="1"/>
          </p:cNvSpPr>
          <p:nvPr/>
        </p:nvSpPr>
        <p:spPr bwMode="auto">
          <a:xfrm>
            <a:off x="8543926" y="4129088"/>
            <a:ext cx="409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400"/>
              <a:t>+1</a:t>
            </a:r>
          </a:p>
        </p:txBody>
      </p:sp>
      <p:sp>
        <p:nvSpPr>
          <p:cNvPr id="287799" name="Text Box 55"/>
          <p:cNvSpPr txBox="1">
            <a:spLocks noChangeArrowheads="1"/>
          </p:cNvSpPr>
          <p:nvPr/>
        </p:nvSpPr>
        <p:spPr bwMode="auto">
          <a:xfrm>
            <a:off x="6096001" y="2133601"/>
            <a:ext cx="34829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Объект после преобразования</a:t>
            </a:r>
          </a:p>
        </p:txBody>
      </p:sp>
      <p:sp>
        <p:nvSpPr>
          <p:cNvPr id="287800" name="Text Box 56"/>
          <p:cNvSpPr txBox="1">
            <a:spLocks noChangeArrowheads="1"/>
          </p:cNvSpPr>
          <p:nvPr/>
        </p:nvSpPr>
        <p:spPr bwMode="auto">
          <a:xfrm>
            <a:off x="1524000" y="5734050"/>
            <a:ext cx="91440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Перспективное преобразование деформирует объекты так, что при их просмотре в ортографической проекции они выглядят такими же, как выглядели бы исходные объекты в перспективной проекции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7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87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87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87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87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8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87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2000"/>
                                        <p:tgtEl>
                                          <p:spTgt spid="28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2000"/>
                                        <p:tgtEl>
                                          <p:spTgt spid="28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2000"/>
                                        <p:tgtEl>
                                          <p:spTgt spid="28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2000"/>
                                        <p:tgtEl>
                                          <p:spTgt spid="28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287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287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287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287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287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28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287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28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28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287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287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28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000"/>
                                        <p:tgtEl>
                                          <p:spTgt spid="287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2000"/>
                                        <p:tgtEl>
                                          <p:spTgt spid="287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600"/>
                                        <p:tgtEl>
                                          <p:spTgt spid="287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0"/>
                                        <p:tgtEl>
                                          <p:spTgt spid="287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63" grpId="0" animBg="1"/>
      <p:bldP spid="287778" grpId="0" animBg="1"/>
      <p:bldP spid="287748" grpId="0" animBg="1"/>
      <p:bldP spid="287749" grpId="0" animBg="1"/>
      <p:bldP spid="287755" grpId="0" animBg="1"/>
      <p:bldP spid="287758" grpId="0"/>
      <p:bldP spid="287759" grpId="0"/>
      <p:bldP spid="287764" grpId="0" animBg="1"/>
      <p:bldP spid="287765" grpId="0" animBg="1"/>
      <p:bldP spid="287766" grpId="0" animBg="1"/>
      <p:bldP spid="287767" grpId="0" animBg="1"/>
      <p:bldP spid="287776" grpId="0"/>
      <p:bldP spid="287777" grpId="0"/>
      <p:bldP spid="287783" grpId="0" animBg="1"/>
      <p:bldP spid="287784" grpId="0" animBg="1"/>
      <p:bldP spid="287785" grpId="0" animBg="1"/>
      <p:bldP spid="287788" grpId="0" animBg="1"/>
      <p:bldP spid="287789" grpId="0" animBg="1"/>
      <p:bldP spid="287769" grpId="0" animBg="1"/>
      <p:bldP spid="287768" grpId="0" animBg="1"/>
      <p:bldP spid="287790" grpId="0"/>
      <p:bldP spid="287793" grpId="0"/>
      <p:bldP spid="287794" grpId="0"/>
      <p:bldP spid="287795" grpId="0"/>
      <p:bldP spid="287796" grpId="0"/>
      <p:bldP spid="287799" grpId="0"/>
      <p:bldP spid="287800" grpId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sz="3600"/>
              <a:t>Преобразование в канонический отображаемый объем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9857" name="Object 65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623394" y="5270888"/>
                <a:ext cx="4609008" cy="15220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num>
                                  <m:den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𝑟𝑖𝑔h𝑡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𝑙𝑒𝑓𝑡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𝑟𝑖𝑔h𝑡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𝑙𝑒𝑓𝑡</m:t>
                                    </m:r>
                                  </m:num>
                                  <m:den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𝑟𝑖𝑔h𝑡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𝑙𝑒𝑓𝑡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num>
                                  <m:den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𝑡𝑜𝑝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𝑏𝑜𝑡𝑡𝑜𝑚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𝑡𝑜𝑝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𝑏𝑜𝑡𝑡𝑜𝑚</m:t>
                                    </m:r>
                                  </m:num>
                                  <m:den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𝑡𝑜𝑝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𝑏𝑜𝑡𝑡𝑜𝑚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−(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num>
                                  <m:den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9857" name="Object 6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23394" y="5270888"/>
                <a:ext cx="4609008" cy="1522026"/>
              </a:xfrm>
              <a:prstGeom prst="rect">
                <a:avLst/>
              </a:prstGeom>
              <a:blipFill>
                <a:blip r:embed="rId3"/>
                <a:stretch>
                  <a:fillRect t="-32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37" name="AutoShape 4"/>
          <p:cNvSpPr>
            <a:spLocks noChangeArrowheads="1"/>
          </p:cNvSpPr>
          <p:nvPr/>
        </p:nvSpPr>
        <p:spPr bwMode="auto">
          <a:xfrm rot="5400000">
            <a:off x="2708751" y="2222694"/>
            <a:ext cx="2339975" cy="1939925"/>
          </a:xfrm>
          <a:prstGeom prst="parallelogram">
            <a:avLst>
              <a:gd name="adj" fmla="val 30155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44038" name="AutoShape 5"/>
          <p:cNvSpPr>
            <a:spLocks noChangeArrowheads="1"/>
          </p:cNvSpPr>
          <p:nvPr/>
        </p:nvSpPr>
        <p:spPr bwMode="auto">
          <a:xfrm rot="5400000">
            <a:off x="2333307" y="2921988"/>
            <a:ext cx="1331913" cy="1044575"/>
          </a:xfrm>
          <a:prstGeom prst="parallelogram">
            <a:avLst>
              <a:gd name="adj" fmla="val 31877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44039" name="Line 6"/>
          <p:cNvSpPr>
            <a:spLocks noChangeShapeType="1"/>
          </p:cNvSpPr>
          <p:nvPr/>
        </p:nvSpPr>
        <p:spPr bwMode="auto">
          <a:xfrm flipV="1">
            <a:off x="1900712" y="2383032"/>
            <a:ext cx="0" cy="2376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4040" name="Line 7"/>
          <p:cNvSpPr>
            <a:spLocks noChangeShapeType="1"/>
          </p:cNvSpPr>
          <p:nvPr/>
        </p:nvSpPr>
        <p:spPr bwMode="auto">
          <a:xfrm flipH="1">
            <a:off x="892650" y="3751457"/>
            <a:ext cx="1008062" cy="2873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4041" name="Line 8"/>
          <p:cNvSpPr>
            <a:spLocks noChangeShapeType="1"/>
          </p:cNvSpPr>
          <p:nvPr/>
        </p:nvSpPr>
        <p:spPr bwMode="auto">
          <a:xfrm>
            <a:off x="1900712" y="3751456"/>
            <a:ext cx="1296988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44042" name="Text Box 9"/>
          <p:cNvSpPr txBox="1">
            <a:spLocks noChangeArrowheads="1"/>
          </p:cNvSpPr>
          <p:nvPr/>
        </p:nvSpPr>
        <p:spPr bwMode="auto">
          <a:xfrm>
            <a:off x="873600" y="3983231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z</a:t>
            </a:r>
            <a:endParaRPr lang="ru-RU" b="1"/>
          </a:p>
        </p:txBody>
      </p:sp>
      <p:sp>
        <p:nvSpPr>
          <p:cNvPr id="44043" name="Text Box 10"/>
          <p:cNvSpPr txBox="1">
            <a:spLocks noChangeArrowheads="1"/>
          </p:cNvSpPr>
          <p:nvPr/>
        </p:nvSpPr>
        <p:spPr bwMode="auto">
          <a:xfrm>
            <a:off x="1540350" y="2310006"/>
            <a:ext cx="3159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</a:t>
            </a:r>
            <a:endParaRPr lang="ru-RU" b="1"/>
          </a:p>
        </p:txBody>
      </p:sp>
      <p:sp>
        <p:nvSpPr>
          <p:cNvPr id="44044" name="Text Box 11"/>
          <p:cNvSpPr txBox="1">
            <a:spLocks noChangeArrowheads="1"/>
          </p:cNvSpPr>
          <p:nvPr/>
        </p:nvSpPr>
        <p:spPr bwMode="auto">
          <a:xfrm>
            <a:off x="2692875" y="4470594"/>
            <a:ext cx="3222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x</a:t>
            </a:r>
            <a:endParaRPr lang="ru-RU" b="1"/>
          </a:p>
        </p:txBody>
      </p:sp>
      <p:sp>
        <p:nvSpPr>
          <p:cNvPr id="44045" name="Line 12"/>
          <p:cNvSpPr>
            <a:spLocks noChangeShapeType="1"/>
          </p:cNvSpPr>
          <p:nvPr/>
        </p:nvSpPr>
        <p:spPr bwMode="auto">
          <a:xfrm flipV="1">
            <a:off x="1900713" y="2022668"/>
            <a:ext cx="1008063" cy="1728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44046" name="Line 13"/>
          <p:cNvSpPr>
            <a:spLocks noChangeShapeType="1"/>
          </p:cNvSpPr>
          <p:nvPr/>
        </p:nvSpPr>
        <p:spPr bwMode="auto">
          <a:xfrm flipV="1">
            <a:off x="1900712" y="2598932"/>
            <a:ext cx="2952750" cy="1152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44047" name="Line 14"/>
          <p:cNvSpPr>
            <a:spLocks noChangeShapeType="1"/>
          </p:cNvSpPr>
          <p:nvPr/>
        </p:nvSpPr>
        <p:spPr bwMode="auto">
          <a:xfrm>
            <a:off x="1900712" y="3751457"/>
            <a:ext cx="2952750" cy="6254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44048" name="Line 15"/>
          <p:cNvSpPr>
            <a:spLocks noChangeShapeType="1"/>
          </p:cNvSpPr>
          <p:nvPr/>
        </p:nvSpPr>
        <p:spPr bwMode="auto">
          <a:xfrm>
            <a:off x="1900713" y="3751456"/>
            <a:ext cx="1006475" cy="23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9808" name="AutoShape 16"/>
          <p:cNvSpPr>
            <a:spLocks noChangeArrowheads="1"/>
          </p:cNvSpPr>
          <p:nvPr/>
        </p:nvSpPr>
        <p:spPr bwMode="auto">
          <a:xfrm flipH="1">
            <a:off x="6946467" y="2383032"/>
            <a:ext cx="1584325" cy="1368425"/>
          </a:xfrm>
          <a:prstGeom prst="cube">
            <a:avLst>
              <a:gd name="adj" fmla="val 34338"/>
            </a:avLst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289809" name="Line 17"/>
          <p:cNvSpPr>
            <a:spLocks noChangeShapeType="1"/>
          </p:cNvSpPr>
          <p:nvPr/>
        </p:nvSpPr>
        <p:spPr bwMode="auto">
          <a:xfrm>
            <a:off x="8530791" y="3175194"/>
            <a:ext cx="792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89810" name="Line 18"/>
          <p:cNvSpPr>
            <a:spLocks noChangeShapeType="1"/>
          </p:cNvSpPr>
          <p:nvPr/>
        </p:nvSpPr>
        <p:spPr bwMode="auto">
          <a:xfrm flipH="1">
            <a:off x="6587691" y="3103756"/>
            <a:ext cx="5762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9811" name="Line 19"/>
          <p:cNvSpPr>
            <a:spLocks noChangeShapeType="1"/>
          </p:cNvSpPr>
          <p:nvPr/>
        </p:nvSpPr>
        <p:spPr bwMode="auto">
          <a:xfrm flipV="1">
            <a:off x="7738628" y="1951231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89812" name="Line 20"/>
          <p:cNvSpPr>
            <a:spLocks noChangeShapeType="1"/>
          </p:cNvSpPr>
          <p:nvPr/>
        </p:nvSpPr>
        <p:spPr bwMode="auto">
          <a:xfrm>
            <a:off x="7956117" y="3319656"/>
            <a:ext cx="503237" cy="4905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89814" name="Text Box 22"/>
          <p:cNvSpPr txBox="1">
            <a:spLocks noChangeArrowheads="1"/>
          </p:cNvSpPr>
          <p:nvPr/>
        </p:nvSpPr>
        <p:spPr bwMode="auto">
          <a:xfrm>
            <a:off x="7667191" y="3030732"/>
            <a:ext cx="3095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</a:t>
            </a:r>
            <a:endParaRPr lang="ru-RU"/>
          </a:p>
        </p:txBody>
      </p:sp>
      <p:sp>
        <p:nvSpPr>
          <p:cNvPr id="289815" name="Text Box 23"/>
          <p:cNvSpPr txBox="1">
            <a:spLocks noChangeArrowheads="1"/>
          </p:cNvSpPr>
          <p:nvPr/>
        </p:nvSpPr>
        <p:spPr bwMode="auto">
          <a:xfrm>
            <a:off x="7738629" y="2383032"/>
            <a:ext cx="3095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</a:t>
            </a:r>
            <a:endParaRPr lang="ru-RU"/>
          </a:p>
        </p:txBody>
      </p:sp>
      <p:sp>
        <p:nvSpPr>
          <p:cNvPr id="289818" name="Text Box 26"/>
          <p:cNvSpPr txBox="1">
            <a:spLocks noChangeArrowheads="1"/>
          </p:cNvSpPr>
          <p:nvPr/>
        </p:nvSpPr>
        <p:spPr bwMode="auto">
          <a:xfrm>
            <a:off x="6875029" y="3103757"/>
            <a:ext cx="3921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-1</a:t>
            </a:r>
            <a:endParaRPr lang="ru-RU"/>
          </a:p>
        </p:txBody>
      </p:sp>
      <p:sp>
        <p:nvSpPr>
          <p:cNvPr id="289819" name="Text Box 27"/>
          <p:cNvSpPr txBox="1">
            <a:spLocks noChangeArrowheads="1"/>
          </p:cNvSpPr>
          <p:nvPr/>
        </p:nvSpPr>
        <p:spPr bwMode="auto">
          <a:xfrm>
            <a:off x="9303903" y="3191069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z</a:t>
            </a:r>
            <a:endParaRPr lang="ru-RU" b="1"/>
          </a:p>
        </p:txBody>
      </p:sp>
      <p:sp>
        <p:nvSpPr>
          <p:cNvPr id="289848" name="Text Box 56"/>
          <p:cNvSpPr txBox="1">
            <a:spLocks noChangeArrowheads="1"/>
          </p:cNvSpPr>
          <p:nvPr/>
        </p:nvSpPr>
        <p:spPr bwMode="auto">
          <a:xfrm>
            <a:off x="8172016" y="3822894"/>
            <a:ext cx="3222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x</a:t>
            </a:r>
            <a:endParaRPr lang="ru-RU" b="1"/>
          </a:p>
        </p:txBody>
      </p:sp>
      <p:sp>
        <p:nvSpPr>
          <p:cNvPr id="289849" name="Text Box 57"/>
          <p:cNvSpPr txBox="1">
            <a:spLocks noChangeArrowheads="1"/>
          </p:cNvSpPr>
          <p:nvPr/>
        </p:nvSpPr>
        <p:spPr bwMode="auto">
          <a:xfrm>
            <a:off x="7811654" y="1735332"/>
            <a:ext cx="3159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</a:t>
            </a:r>
            <a:endParaRPr lang="ru-RU" b="1"/>
          </a:p>
        </p:txBody>
      </p:sp>
      <p:sp>
        <p:nvSpPr>
          <p:cNvPr id="289850" name="Line 58"/>
          <p:cNvSpPr>
            <a:spLocks noChangeShapeType="1"/>
          </p:cNvSpPr>
          <p:nvPr/>
        </p:nvSpPr>
        <p:spPr bwMode="auto">
          <a:xfrm>
            <a:off x="5146241" y="3030731"/>
            <a:ext cx="1223962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89851" name="Text Box 59"/>
          <p:cNvSpPr txBox="1">
            <a:spLocks noChangeArrowheads="1"/>
          </p:cNvSpPr>
          <p:nvPr/>
        </p:nvSpPr>
        <p:spPr bwMode="auto">
          <a:xfrm>
            <a:off x="4930341" y="3175194"/>
            <a:ext cx="19351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Перспективное</a:t>
            </a:r>
            <a:br>
              <a:rPr lang="ru-RU"/>
            </a:br>
            <a:r>
              <a:rPr lang="ru-RU"/>
              <a:t>преобразование</a:t>
            </a:r>
          </a:p>
        </p:txBody>
      </p:sp>
      <p:sp>
        <p:nvSpPr>
          <p:cNvPr id="44062" name="Text Box 61"/>
          <p:cNvSpPr txBox="1">
            <a:spLocks noChangeArrowheads="1"/>
          </p:cNvSpPr>
          <p:nvPr/>
        </p:nvSpPr>
        <p:spPr bwMode="auto">
          <a:xfrm>
            <a:off x="1037113" y="1857568"/>
            <a:ext cx="12287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(left, top, -N)</a:t>
            </a:r>
            <a:endParaRPr lang="ru-RU" sz="1400"/>
          </a:p>
        </p:txBody>
      </p:sp>
      <p:sp>
        <p:nvSpPr>
          <p:cNvPr id="44063" name="Text Box 62"/>
          <p:cNvSpPr txBox="1">
            <a:spLocks noChangeArrowheads="1"/>
          </p:cNvSpPr>
          <p:nvPr/>
        </p:nvSpPr>
        <p:spPr bwMode="auto">
          <a:xfrm>
            <a:off x="4205762" y="4615056"/>
            <a:ext cx="17287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(right, bottom, -N)</a:t>
            </a:r>
            <a:endParaRPr lang="ru-RU" sz="1400"/>
          </a:p>
        </p:txBody>
      </p:sp>
      <p:sp>
        <p:nvSpPr>
          <p:cNvPr id="44064" name="Arc 63"/>
          <p:cNvSpPr>
            <a:spLocks/>
          </p:cNvSpPr>
          <p:nvPr/>
        </p:nvSpPr>
        <p:spPr bwMode="auto">
          <a:xfrm>
            <a:off x="3269137" y="4183257"/>
            <a:ext cx="863600" cy="936625"/>
          </a:xfrm>
          <a:custGeom>
            <a:avLst/>
            <a:gdLst>
              <a:gd name="T0" fmla="*/ 629003835 w 20742"/>
              <a:gd name="T1" fmla="*/ 0 h 19764"/>
              <a:gd name="T2" fmla="*/ 1497050661 w 20742"/>
              <a:gd name="T3" fmla="*/ 1462058346 h 19764"/>
              <a:gd name="T4" fmla="*/ 0 w 20742"/>
              <a:gd name="T5" fmla="*/ 2103523571 h 19764"/>
              <a:gd name="T6" fmla="*/ 0 60000 65536"/>
              <a:gd name="T7" fmla="*/ 0 60000 65536"/>
              <a:gd name="T8" fmla="*/ 0 60000 65536"/>
              <a:gd name="T9" fmla="*/ 0 w 20742"/>
              <a:gd name="T10" fmla="*/ 0 h 19764"/>
              <a:gd name="T11" fmla="*/ 20742 w 20742"/>
              <a:gd name="T12" fmla="*/ 19764 h 197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742" h="19764" fill="none" extrusionOk="0">
                <a:moveTo>
                  <a:pt x="8714" y="0"/>
                </a:moveTo>
                <a:cubicBezTo>
                  <a:pt x="14557" y="2576"/>
                  <a:pt x="18960" y="7605"/>
                  <a:pt x="20742" y="13736"/>
                </a:cubicBezTo>
              </a:path>
              <a:path w="20742" h="19764" stroke="0" extrusionOk="0">
                <a:moveTo>
                  <a:pt x="8714" y="0"/>
                </a:moveTo>
                <a:cubicBezTo>
                  <a:pt x="14557" y="2576"/>
                  <a:pt x="18960" y="7605"/>
                  <a:pt x="20742" y="13736"/>
                </a:cubicBezTo>
                <a:lnTo>
                  <a:pt x="0" y="19764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44065" name="Arc 64"/>
          <p:cNvSpPr>
            <a:spLocks/>
          </p:cNvSpPr>
          <p:nvPr/>
        </p:nvSpPr>
        <p:spPr bwMode="auto">
          <a:xfrm>
            <a:off x="1613375" y="2167131"/>
            <a:ext cx="792162" cy="647700"/>
          </a:xfrm>
          <a:custGeom>
            <a:avLst/>
            <a:gdLst>
              <a:gd name="T0" fmla="*/ 502063700 w 20742"/>
              <a:gd name="T1" fmla="*/ 0 h 19630"/>
              <a:gd name="T2" fmla="*/ 1155421959 w 20742"/>
              <a:gd name="T3" fmla="*/ 488647518 h 19630"/>
              <a:gd name="T4" fmla="*/ 0 w 20742"/>
              <a:gd name="T5" fmla="*/ 705148961 h 19630"/>
              <a:gd name="T6" fmla="*/ 0 60000 65536"/>
              <a:gd name="T7" fmla="*/ 0 60000 65536"/>
              <a:gd name="T8" fmla="*/ 0 60000 65536"/>
              <a:gd name="T9" fmla="*/ 0 w 20742"/>
              <a:gd name="T10" fmla="*/ 0 h 19630"/>
              <a:gd name="T11" fmla="*/ 20742 w 20742"/>
              <a:gd name="T12" fmla="*/ 19630 h 1963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742" h="19630" fill="none" extrusionOk="0">
                <a:moveTo>
                  <a:pt x="9012" y="0"/>
                </a:moveTo>
                <a:cubicBezTo>
                  <a:pt x="14711" y="2616"/>
                  <a:pt x="18992" y="7581"/>
                  <a:pt x="20742" y="13602"/>
                </a:cubicBezTo>
              </a:path>
              <a:path w="20742" h="19630" stroke="0" extrusionOk="0">
                <a:moveTo>
                  <a:pt x="9012" y="0"/>
                </a:moveTo>
                <a:cubicBezTo>
                  <a:pt x="14711" y="2616"/>
                  <a:pt x="18992" y="7581"/>
                  <a:pt x="20742" y="13602"/>
                </a:cubicBezTo>
                <a:lnTo>
                  <a:pt x="0" y="1963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9860" name="Object 68"/>
              <p:cNvSpPr txBox="1"/>
              <p:nvPr/>
            </p:nvSpPr>
            <p:spPr bwMode="auto">
              <a:xfrm>
                <a:off x="7464424" y="5670550"/>
                <a:ext cx="2159967" cy="11874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𝑡𝑜𝑝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𝑁𝑡𝑔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180</m:t>
                              </m:r>
                            </m:den>
                          </m:f>
                          <m:f>
                            <m:fPr>
                              <m:type m:val="skw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𝑏𝑜𝑡𝑡𝑜𝑚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𝑡𝑜𝑝</m:t>
                      </m:r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𝑟𝑖𝑔h𝑡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𝑡𝑜𝑝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𝑎𝑠𝑝𝑒𝑐𝑡</m:t>
                      </m:r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𝑙𝑒𝑓𝑡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𝑟𝑖𝑔h𝑡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9860" name="Object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64424" y="5670550"/>
                <a:ext cx="2159967" cy="1187450"/>
              </a:xfrm>
              <a:prstGeom prst="rect">
                <a:avLst/>
              </a:prstGeom>
              <a:blipFill>
                <a:blip r:embed="rId4"/>
                <a:stretch>
                  <a:fillRect t="-30769" r="-9296" b="-15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9861" name="Text Box 69"/>
          <p:cNvSpPr txBox="1">
            <a:spLocks noChangeArrowheads="1"/>
          </p:cNvSpPr>
          <p:nvPr/>
        </p:nvSpPr>
        <p:spPr bwMode="auto">
          <a:xfrm>
            <a:off x="5303044" y="5173663"/>
            <a:ext cx="626556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1400" dirty="0"/>
              <a:t>Коэффициенты </a:t>
            </a:r>
            <a:r>
              <a:rPr lang="en-US" sz="1400" dirty="0"/>
              <a:t>left, top, right, bottom </a:t>
            </a:r>
            <a:r>
              <a:rPr lang="ru-RU" sz="1400" dirty="0"/>
              <a:t>можно вычислить, зная угол обзора камеры и соотношение ее сторон (</a:t>
            </a:r>
            <a:r>
              <a:rPr lang="en-US" sz="1400" dirty="0"/>
              <a:t>w/h)</a:t>
            </a:r>
            <a:r>
              <a:rPr lang="ru-RU" sz="1400" dirty="0"/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9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89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89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89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89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8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8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8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8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89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8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89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289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9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28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857" grpId="0" build="p"/>
      <p:bldP spid="289808" grpId="0" animBg="1"/>
      <p:bldP spid="289809" grpId="0" animBg="1"/>
      <p:bldP spid="289810" grpId="0" animBg="1"/>
      <p:bldP spid="289811" grpId="0" animBg="1"/>
      <p:bldP spid="289812" grpId="0" animBg="1"/>
      <p:bldP spid="289814" grpId="0"/>
      <p:bldP spid="289815" grpId="0"/>
      <p:bldP spid="289818" grpId="0"/>
      <p:bldP spid="289819" grpId="0"/>
      <p:bldP spid="289848" grpId="0"/>
      <p:bldP spid="289849" grpId="0"/>
      <p:bldP spid="289850" grpId="0" animBg="1"/>
      <p:bldP spid="289851" grpId="0"/>
      <p:bldP spid="289860" grpId="0"/>
      <p:bldP spid="289861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3FAD5-4D43-4CE5-BB0D-09B107EA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Матрица ортографического преобразования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99D4DAD-3284-4342-BC7B-E5A684998005}"/>
                  </a:ext>
                </a:extLst>
              </p:cNvPr>
              <p:cNvSpPr/>
              <p:nvPr/>
            </p:nvSpPr>
            <p:spPr>
              <a:xfrm>
                <a:off x="479376" y="4437112"/>
                <a:ext cx="9145016" cy="21997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𝑟𝑖𝑔h𝑡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𝑙𝑒𝑓𝑡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𝑟𝑖𝑔h𝑡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𝑙𝑒𝑓𝑡</m:t>
                                    </m:r>
                                  </m:num>
                                  <m:den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𝑟𝑖𝑔h𝑡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𝑙𝑒𝑓𝑡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𝑡𝑜𝑝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𝑏𝑜𝑡𝑡𝑜𝑚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𝑡𝑜𝑝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𝑏𝑜𝑡𝑡𝑜𝑚</m:t>
                                    </m:r>
                                  </m:num>
                                  <m:den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𝑡𝑜𝑝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𝑏𝑜𝑡𝑡𝑜𝑚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𝑓𝑎𝑟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𝑛𝑒𝑎𝑟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𝑓𝑎𝑟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𝑛𝑒𝑎𝑟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99D4DAD-3284-4342-BC7B-E5A6849980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6" y="4437112"/>
                <a:ext cx="9145016" cy="21997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5E12D33-92A9-4788-9E93-D051C69250A6}"/>
                  </a:ext>
                </a:extLst>
              </p:cNvPr>
              <p:cNvSpPr/>
              <p:nvPr/>
            </p:nvSpPr>
            <p:spPr>
              <a:xfrm>
                <a:off x="695400" y="1916832"/>
                <a:ext cx="7632848" cy="19002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𝑟𝑖𝑔h𝑡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𝑙𝑒𝑓𝑡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𝑟𝑖𝑔h𝑡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𝑙𝑒𝑓𝑡</m:t>
                                    </m:r>
                                  </m:num>
                                  <m:den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𝑟𝑖𝑔h𝑡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𝑙𝑒𝑓𝑡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𝑡𝑜𝑝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𝑏𝑜𝑡𝑡𝑜𝑚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𝑡𝑜𝑝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𝑏𝑜𝑡𝑡𝑜𝑚</m:t>
                                    </m:r>
                                  </m:num>
                                  <m:den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𝑡𝑜𝑝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𝑏𝑜𝑡𝑡𝑜𝑚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𝑓𝑎𝑟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𝑛𝑒𝑎𝑟</m:t>
                                    </m:r>
                                  </m:num>
                                  <m:den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𝑓𝑎𝑟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  <m:t>𝑛𝑒𝑎𝑟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sz="16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5E12D33-92A9-4788-9E93-D051C69250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1916832"/>
                <a:ext cx="7632848" cy="1900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11">
            <a:extLst>
              <a:ext uri="{FF2B5EF4-FFF2-40B4-BE49-F238E27FC236}">
                <a16:creationId xmlns:a16="http://schemas.microsoft.com/office/drawing/2014/main" id="{4B45A4DA-6285-43D0-B49D-8FAC4852AEF7}"/>
              </a:ext>
            </a:extLst>
          </p:cNvPr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08168" y="692697"/>
            <a:ext cx="4176464" cy="343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35108833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Порт просмотра</a:t>
            </a: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B80C4A7F-0823-49B2-B613-F1DF88817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93D8CE-1D97-45B1-9A2A-5E95F567C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Преобразование в порт просмотра</a:t>
            </a:r>
            <a:endParaRPr lang="ru-RU" dirty="0"/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После преобразования отображаемого объема в канонический возникают искажения</a:t>
            </a:r>
          </a:p>
          <a:p>
            <a:pPr lvl="1"/>
            <a:r>
              <a:rPr lang="ru-RU" dirty="0"/>
              <a:t>соотношение сторон отображаемого объема, как правило не равно 1:1</a:t>
            </a:r>
          </a:p>
          <a:p>
            <a:r>
              <a:rPr lang="ru-RU" dirty="0"/>
              <a:t>Отображение в порт просмотра решает эту задачу</a:t>
            </a:r>
          </a:p>
          <a:p>
            <a:pPr lvl="1"/>
            <a:r>
              <a:rPr lang="ru-RU" dirty="0"/>
              <a:t>Порт просмотра – прямоугольная область экрана, в которую происходит отображение двумерной проекции трехмерной сцены</a:t>
            </a:r>
          </a:p>
          <a:p>
            <a:pPr lvl="1"/>
            <a:r>
              <a:rPr lang="ru-RU" dirty="0"/>
              <a:t>Имеет заданные координаты и размер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9" grpId="0" build="p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в порт просмотра</a:t>
            </a:r>
          </a:p>
        </p:txBody>
      </p:sp>
      <p:sp>
        <p:nvSpPr>
          <p:cNvPr id="153603" name="AutoShape 7"/>
          <p:cNvSpPr>
            <a:spLocks noChangeArrowheads="1"/>
          </p:cNvSpPr>
          <p:nvPr/>
        </p:nvSpPr>
        <p:spPr bwMode="auto">
          <a:xfrm>
            <a:off x="3071813" y="2636838"/>
            <a:ext cx="1198562" cy="1198562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53604" name="Rectangle 6"/>
          <p:cNvSpPr>
            <a:spLocks noChangeArrowheads="1"/>
          </p:cNvSpPr>
          <p:nvPr/>
        </p:nvSpPr>
        <p:spPr bwMode="auto">
          <a:xfrm>
            <a:off x="2063750" y="2781301"/>
            <a:ext cx="2520950" cy="1890713"/>
          </a:xfrm>
          <a:prstGeom prst="rect">
            <a:avLst/>
          </a:prstGeom>
          <a:solidFill>
            <a:srgbClr val="E1DD37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53605" name="AutoShape 9"/>
          <p:cNvSpPr>
            <a:spLocks noChangeArrowheads="1"/>
          </p:cNvSpPr>
          <p:nvPr/>
        </p:nvSpPr>
        <p:spPr bwMode="auto">
          <a:xfrm>
            <a:off x="5591176" y="3455989"/>
            <a:ext cx="682625" cy="835025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53606" name="AutoShape 8"/>
          <p:cNvSpPr>
            <a:spLocks noChangeArrowheads="1"/>
          </p:cNvSpPr>
          <p:nvPr/>
        </p:nvSpPr>
        <p:spPr bwMode="auto">
          <a:xfrm>
            <a:off x="5087939" y="2852739"/>
            <a:ext cx="1800225" cy="1800225"/>
          </a:xfrm>
          <a:prstGeom prst="cube">
            <a:avLst>
              <a:gd name="adj" fmla="val 25000"/>
            </a:avLst>
          </a:prstGeom>
          <a:solidFill>
            <a:srgbClr val="E1DD37">
              <a:alpha val="45097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53607" name="AutoShape 11"/>
          <p:cNvSpPr>
            <a:spLocks noChangeArrowheads="1"/>
          </p:cNvSpPr>
          <p:nvPr/>
        </p:nvSpPr>
        <p:spPr bwMode="auto">
          <a:xfrm>
            <a:off x="8183563" y="3357563"/>
            <a:ext cx="1198562" cy="1198562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53608" name="Rectangle 10"/>
          <p:cNvSpPr>
            <a:spLocks noChangeArrowheads="1"/>
          </p:cNvSpPr>
          <p:nvPr/>
        </p:nvSpPr>
        <p:spPr bwMode="auto">
          <a:xfrm>
            <a:off x="7535864" y="2852738"/>
            <a:ext cx="2879725" cy="2159000"/>
          </a:xfrm>
          <a:prstGeom prst="rect">
            <a:avLst/>
          </a:prstGeom>
          <a:solidFill>
            <a:srgbClr val="E1DD37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 rot="-4314993">
            <a:off x="2411413" y="5456238"/>
            <a:ext cx="203200" cy="323850"/>
            <a:chOff x="2789" y="1570"/>
            <a:chExt cx="1111" cy="1769"/>
          </a:xfrm>
        </p:grpSpPr>
        <p:sp>
          <p:nvSpPr>
            <p:cNvPr id="153619" name="Arc 13"/>
            <p:cNvSpPr>
              <a:spLocks/>
            </p:cNvSpPr>
            <p:nvPr/>
          </p:nvSpPr>
          <p:spPr bwMode="auto">
            <a:xfrm>
              <a:off x="2789" y="1751"/>
              <a:ext cx="1095" cy="1407"/>
            </a:xfrm>
            <a:custGeom>
              <a:avLst/>
              <a:gdLst>
                <a:gd name="T0" fmla="*/ 1 w 21600"/>
                <a:gd name="T1" fmla="*/ 0 h 36352"/>
                <a:gd name="T2" fmla="*/ 2 w 21600"/>
                <a:gd name="T3" fmla="*/ 2 h 36352"/>
                <a:gd name="T4" fmla="*/ 0 w 21600"/>
                <a:gd name="T5" fmla="*/ 1 h 36352"/>
                <a:gd name="T6" fmla="*/ 0 60000 65536"/>
                <a:gd name="T7" fmla="*/ 0 60000 65536"/>
                <a:gd name="T8" fmla="*/ 0 60000 65536"/>
                <a:gd name="T9" fmla="*/ 0 w 21600"/>
                <a:gd name="T10" fmla="*/ 0 h 36352"/>
                <a:gd name="T11" fmla="*/ 21600 w 21600"/>
                <a:gd name="T12" fmla="*/ 36352 h 363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6352" fill="none" extrusionOk="0">
                  <a:moveTo>
                    <a:pt x="11449" y="0"/>
                  </a:moveTo>
                  <a:cubicBezTo>
                    <a:pt x="17764" y="3947"/>
                    <a:pt x="21600" y="10869"/>
                    <a:pt x="21600" y="18316"/>
                  </a:cubicBezTo>
                  <a:cubicBezTo>
                    <a:pt x="21600" y="25579"/>
                    <a:pt x="17949" y="32355"/>
                    <a:pt x="11885" y="36352"/>
                  </a:cubicBezTo>
                </a:path>
                <a:path w="21600" h="36352" stroke="0" extrusionOk="0">
                  <a:moveTo>
                    <a:pt x="11449" y="0"/>
                  </a:moveTo>
                  <a:cubicBezTo>
                    <a:pt x="17764" y="3947"/>
                    <a:pt x="21600" y="10869"/>
                    <a:pt x="21600" y="18316"/>
                  </a:cubicBezTo>
                  <a:cubicBezTo>
                    <a:pt x="21600" y="25579"/>
                    <a:pt x="17949" y="32355"/>
                    <a:pt x="11885" y="36352"/>
                  </a:cubicBezTo>
                  <a:lnTo>
                    <a:pt x="0" y="1831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53620" name="Oval 14"/>
            <p:cNvSpPr>
              <a:spLocks noChangeArrowheads="1"/>
            </p:cNvSpPr>
            <p:nvPr/>
          </p:nvSpPr>
          <p:spPr bwMode="auto">
            <a:xfrm>
              <a:off x="3606" y="2095"/>
              <a:ext cx="294" cy="708"/>
            </a:xfrm>
            <a:prstGeom prst="ellipse">
              <a:avLst/>
            </a:prstGeom>
            <a:solidFill>
              <a:srgbClr val="3333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53621" name="Line 15"/>
            <p:cNvSpPr>
              <a:spLocks noChangeShapeType="1"/>
            </p:cNvSpPr>
            <p:nvPr/>
          </p:nvSpPr>
          <p:spPr bwMode="auto">
            <a:xfrm flipH="1">
              <a:off x="2789" y="1570"/>
              <a:ext cx="726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3622" name="Line 16"/>
            <p:cNvSpPr>
              <a:spLocks noChangeShapeType="1"/>
            </p:cNvSpPr>
            <p:nvPr/>
          </p:nvSpPr>
          <p:spPr bwMode="auto">
            <a:xfrm flipH="1" flipV="1">
              <a:off x="2789" y="2387"/>
              <a:ext cx="726" cy="9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53610" name="Line 17"/>
          <p:cNvSpPr>
            <a:spLocks noChangeShapeType="1"/>
          </p:cNvSpPr>
          <p:nvPr/>
        </p:nvSpPr>
        <p:spPr bwMode="auto">
          <a:xfrm flipV="1">
            <a:off x="2495551" y="2936876"/>
            <a:ext cx="576263" cy="26527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53611" name="Line 18"/>
          <p:cNvSpPr>
            <a:spLocks noChangeShapeType="1"/>
          </p:cNvSpPr>
          <p:nvPr/>
        </p:nvSpPr>
        <p:spPr bwMode="auto">
          <a:xfrm flipV="1">
            <a:off x="2495550" y="2927350"/>
            <a:ext cx="1479550" cy="26622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53612" name="Line 19"/>
          <p:cNvSpPr>
            <a:spLocks noChangeShapeType="1"/>
          </p:cNvSpPr>
          <p:nvPr/>
        </p:nvSpPr>
        <p:spPr bwMode="auto">
          <a:xfrm flipV="1">
            <a:off x="2495551" y="3789364"/>
            <a:ext cx="576263" cy="18002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53613" name="Line 20"/>
          <p:cNvSpPr>
            <a:spLocks noChangeShapeType="1"/>
          </p:cNvSpPr>
          <p:nvPr/>
        </p:nvSpPr>
        <p:spPr bwMode="auto">
          <a:xfrm flipV="1">
            <a:off x="2495551" y="3827464"/>
            <a:ext cx="1484313" cy="17621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53614" name="Line 21"/>
          <p:cNvSpPr>
            <a:spLocks noChangeShapeType="1"/>
          </p:cNvSpPr>
          <p:nvPr/>
        </p:nvSpPr>
        <p:spPr bwMode="auto">
          <a:xfrm flipV="1">
            <a:off x="2495551" y="3538538"/>
            <a:ext cx="1774825" cy="20510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53615" name="Line 22"/>
          <p:cNvSpPr>
            <a:spLocks noChangeShapeType="1"/>
          </p:cNvSpPr>
          <p:nvPr/>
        </p:nvSpPr>
        <p:spPr bwMode="auto">
          <a:xfrm flipV="1">
            <a:off x="2495551" y="2649538"/>
            <a:ext cx="1768475" cy="29400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53616" name="Line 23"/>
          <p:cNvSpPr>
            <a:spLocks noChangeShapeType="1"/>
          </p:cNvSpPr>
          <p:nvPr/>
        </p:nvSpPr>
        <p:spPr bwMode="auto">
          <a:xfrm flipV="1">
            <a:off x="2495550" y="2636838"/>
            <a:ext cx="882650" cy="29527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53617" name="Text Box 24"/>
          <p:cNvSpPr txBox="1">
            <a:spLocks noChangeArrowheads="1"/>
          </p:cNvSpPr>
          <p:nvPr/>
        </p:nvSpPr>
        <p:spPr bwMode="auto">
          <a:xfrm>
            <a:off x="4224338" y="4941888"/>
            <a:ext cx="3213100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/>
              <a:t>Преобразование в канонический объем</a:t>
            </a:r>
          </a:p>
          <a:p>
            <a:r>
              <a:rPr lang="ru-RU"/>
              <a:t>(возникают искажения из-за «втискивания» сцены внутрь канонического куба)</a:t>
            </a:r>
          </a:p>
        </p:txBody>
      </p:sp>
      <p:sp>
        <p:nvSpPr>
          <p:cNvPr id="153618" name="Text Box 25"/>
          <p:cNvSpPr txBox="1">
            <a:spLocks noChangeArrowheads="1"/>
          </p:cNvSpPr>
          <p:nvPr/>
        </p:nvSpPr>
        <p:spPr bwMode="auto">
          <a:xfrm>
            <a:off x="7680326" y="5157789"/>
            <a:ext cx="29876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/>
              <a:t>Преобразование в порт просмотра</a:t>
            </a:r>
          </a:p>
          <a:p>
            <a:r>
              <a:rPr lang="ru-RU"/>
              <a:t>(исправление форматных искажений объекта)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Преобразование в порт просмотра</a:t>
            </a:r>
            <a:endParaRPr lang="ru-RU" dirty="0"/>
          </a:p>
        </p:txBody>
      </p:sp>
      <p:sp>
        <p:nvSpPr>
          <p:cNvPr id="45060" name="Rectangle 4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2467471"/>
          </a:xfrm>
        </p:spPr>
        <p:txBody>
          <a:bodyPr/>
          <a:lstStyle/>
          <a:p>
            <a:r>
              <a:rPr lang="ru-RU" dirty="0"/>
              <a:t>Преобразование в порт просмотра отображает точку внутри канонического объема в точку на устройстве отображения</a:t>
            </a:r>
          </a:p>
          <a:p>
            <a:pPr lvl="1"/>
            <a:r>
              <a:rPr lang="ru-RU" dirty="0"/>
              <a:t>Матрица преобразования в порт просмотра:</a:t>
            </a:r>
          </a:p>
        </p:txBody>
      </p:sp>
      <p:sp>
        <p:nvSpPr>
          <p:cNvPr id="45061" name="Text Box 6"/>
          <p:cNvSpPr txBox="1">
            <a:spLocks noChangeArrowheads="1"/>
          </p:cNvSpPr>
          <p:nvPr/>
        </p:nvSpPr>
        <p:spPr bwMode="auto">
          <a:xfrm>
            <a:off x="1524000" y="5734051"/>
            <a:ext cx="91440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/>
              <a:t>(left, top) – </a:t>
            </a:r>
            <a:r>
              <a:rPr lang="ru-RU" sz="1600" dirty="0"/>
              <a:t>координаты верхнего левого угла порта просмотра в экранных координатах</a:t>
            </a:r>
          </a:p>
          <a:p>
            <a:r>
              <a:rPr lang="en-US" sz="1600" dirty="0"/>
              <a:t>(width, height</a:t>
            </a:r>
            <a:r>
              <a:rPr lang="ru-RU" sz="1600" dirty="0"/>
              <a:t>) – размеры порта просмотра в экранных координатах</a:t>
            </a:r>
          </a:p>
          <a:p>
            <a:r>
              <a:rPr lang="en-US" sz="1600" dirty="0"/>
              <a:t>(</a:t>
            </a:r>
            <a:r>
              <a:rPr lang="en-US" sz="1600" dirty="0" err="1"/>
              <a:t>sx</a:t>
            </a:r>
            <a:r>
              <a:rPr lang="en-US" sz="1600" dirty="0"/>
              <a:t>, </a:t>
            </a:r>
            <a:r>
              <a:rPr lang="en-US" sz="1600" dirty="0" err="1"/>
              <a:t>sy</a:t>
            </a:r>
            <a:r>
              <a:rPr lang="en-US" sz="1600" dirty="0"/>
              <a:t>) </a:t>
            </a:r>
            <a:r>
              <a:rPr lang="ru-RU" sz="1600" dirty="0"/>
              <a:t>– координаты точки в экране</a:t>
            </a:r>
          </a:p>
          <a:p>
            <a:r>
              <a:rPr lang="en-US" sz="1600" dirty="0" err="1"/>
              <a:t>dz</a:t>
            </a:r>
            <a:r>
              <a:rPr lang="en-US" sz="1600" dirty="0"/>
              <a:t> – </a:t>
            </a:r>
            <a:r>
              <a:rPr lang="ru-RU" sz="1600" dirty="0"/>
              <a:t>мера расстояния до точки (от 0 до 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5">
                <a:extLst>
                  <a:ext uri="{FF2B5EF4-FFF2-40B4-BE49-F238E27FC236}">
                    <a16:creationId xmlns:a16="http://schemas.microsoft.com/office/drawing/2014/main" id="{91197B2E-9BFC-494A-8E20-84573B98EC84}"/>
                  </a:ext>
                </a:extLst>
              </p:cNvPr>
              <p:cNvSpPr txBox="1"/>
              <p:nvPr/>
            </p:nvSpPr>
            <p:spPr bwMode="auto">
              <a:xfrm>
                <a:off x="1703388" y="3321050"/>
                <a:ext cx="5688756" cy="2052166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𝑤𝑖𝑑𝑡h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𝑙𝑒𝑓𝑡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𝑤𝑖𝑑𝑡h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h𝑒𝑖𝑔h𝑡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𝑡𝑜𝑝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h𝑒𝑖𝑔h𝑡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Object 5">
                <a:extLst>
                  <a:ext uri="{FF2B5EF4-FFF2-40B4-BE49-F238E27FC236}">
                    <a16:creationId xmlns:a16="http://schemas.microsoft.com/office/drawing/2014/main" id="{91197B2E-9BFC-494A-8E20-84573B98E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3388" y="3321050"/>
                <a:ext cx="5688756" cy="20521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937AD7-A9EB-58D7-753B-20849044D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Визуализация </a:t>
            </a:r>
            <a:r>
              <a:rPr lang="en-US" dirty="0"/>
              <a:t>3D</a:t>
            </a:r>
            <a:r>
              <a:rPr lang="ru-RU" dirty="0"/>
              <a:t> объекта с нуля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EBCDD5-E7AA-EE1A-F611-9C054F591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35778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3103CF-9A71-21E5-8CEE-B9EE43EDB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Практическое применение: простой 3</a:t>
            </a:r>
            <a:r>
              <a:rPr lang="en-US" dirty="0"/>
              <a:t>D-</a:t>
            </a:r>
            <a:r>
              <a:rPr lang="ru-RU" dirty="0"/>
              <a:t>рендерер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4D54D7-C09C-32A9-6450-FFFEC4DC2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Цель: написать минимальный программный 3D-рендерер, который сможет:</a:t>
            </a:r>
          </a:p>
          <a:p>
            <a:pPr lvl="1"/>
            <a:r>
              <a:rPr lang="ru-RU" dirty="0"/>
              <a:t>отображать каркасную модель 3D-объекта</a:t>
            </a:r>
          </a:p>
          <a:p>
            <a:pPr lvl="1"/>
            <a:r>
              <a:rPr lang="ru-RU" dirty="0"/>
              <a:t>применять перспективную проекцию</a:t>
            </a:r>
          </a:p>
          <a:p>
            <a:pPr lvl="1"/>
            <a:r>
              <a:rPr lang="ru-RU" dirty="0"/>
              <a:t>использовать матрицы преобразований</a:t>
            </a:r>
          </a:p>
          <a:p>
            <a:r>
              <a:rPr lang="ru-RU" dirty="0"/>
              <a:t>Что мы будем использовать</a:t>
            </a:r>
          </a:p>
          <a:p>
            <a:pPr lvl="1"/>
            <a:r>
              <a:rPr lang="ru-RU" dirty="0"/>
              <a:t>GDI-контекст — для рисования линий на экране</a:t>
            </a:r>
          </a:p>
          <a:p>
            <a:pPr lvl="1"/>
            <a:r>
              <a:rPr lang="ru-RU" dirty="0"/>
              <a:t>GLM — для работы с векторами и матрицами</a:t>
            </a:r>
          </a:p>
          <a:p>
            <a:r>
              <a:rPr lang="ru-RU" dirty="0"/>
              <a:t>Что важно понять</a:t>
            </a:r>
          </a:p>
          <a:p>
            <a:pPr lvl="1"/>
            <a:r>
              <a:rPr lang="ru-RU" dirty="0"/>
              <a:t>как 3D-координаты превращаются в экранные координаты</a:t>
            </a:r>
          </a:p>
          <a:p>
            <a:pPr lvl="1"/>
            <a:r>
              <a:rPr lang="ru-RU" dirty="0"/>
              <a:t>как применяются матрицы преобразований</a:t>
            </a:r>
          </a:p>
          <a:p>
            <a:pPr lvl="1"/>
            <a:r>
              <a:rPr lang="ru-RU" dirty="0"/>
              <a:t>что за современным 3D-API нет никакой магии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963231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BCA361-1B0F-3528-0B52-431C98FD3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Вершины, примитивы, порт просмотра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8C9B39-7851-3525-49A0-923072C1D20B}"/>
              </a:ext>
            </a:extLst>
          </p:cNvPr>
          <p:cNvSpPr txBox="1"/>
          <p:nvPr/>
        </p:nvSpPr>
        <p:spPr>
          <a:xfrm>
            <a:off x="838200" y="1622394"/>
            <a:ext cx="10370368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position;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color;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PrimitiveType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Points,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Lines,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Triangles,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Quads,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Координаты и размеры видового порта относительно верхнего левого угла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ViewPort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left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top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width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height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GetBottom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top + height;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726707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AE6BD-B74F-7654-379F-63713AF2B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портом просмотра и матрицами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C78B31-6FD1-A2A5-8D0E-31E133D1D46E}"/>
              </a:ext>
            </a:extLst>
          </p:cNvPr>
          <p:cNvSpPr txBox="1"/>
          <p:nvPr/>
        </p:nvSpPr>
        <p:spPr>
          <a:xfrm>
            <a:off x="838200" y="1841242"/>
            <a:ext cx="10515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SetViewPort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ViewPort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viewPort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m_viewPort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viewPort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SetModelViewMatrix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m_modelViewMatrix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m_modelViewProjMatrix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m_projMatrix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m_modelViewMatrix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SetProjectionMatrix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m_projMatrix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m_modelViewProjMatrix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m_projMatrix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m_modelViewMatrix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ViewPort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m_viewPort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m_projMatrix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m_modelViewMatrix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m_modelViewProjMatrix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mat4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639299714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F186-ED0B-E662-EA0E-CFAA1A8A4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способа рисования примитивов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A89B0C-D07A-F394-AC04-F5E0B56AD1B2}"/>
              </a:ext>
            </a:extLst>
          </p:cNvPr>
          <p:cNvSpPr txBox="1"/>
          <p:nvPr/>
        </p:nvSpPr>
        <p:spPr>
          <a:xfrm>
            <a:off x="263352" y="1690688"/>
            <a:ext cx="132494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&lt;std::ranges::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input_range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requires std::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is_same_v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&lt;std::ranges::</a:t>
            </a:r>
            <a:r>
              <a:rPr lang="en-US" sz="14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range_value_t</a:t>
            </a:r>
            <a:r>
              <a:rPr lang="en-US" sz="14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&lt;Vertices&gt;, Vertex&gt;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DrawPrimitives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(WTL::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CDCHandle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PrimitiveType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(type)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PrimitiveType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::Points: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PointRenderer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(dc, *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DrawPrimitivesImpl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(renderer, vertices);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PrimitiveType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::Lines: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LinesRenderer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(dc, *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DrawPrimitivesImpl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(renderer, vertices);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PrimitiveType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::Triangles: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TrianglesRenderer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(dc, *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DrawPrimitivesImpl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(renderer, vertices);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PrimitiveType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::Quads: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QuadsRenderer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(dc, *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DrawPrimitivesImpl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(renderer, vertices);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56038659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2B9DF-AEFB-AE7D-667E-C9B5950C7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Рисование группы примитивов с помощью рендерера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FCDBE0-0C4A-23F4-9F9C-B1522492C5E6}"/>
              </a:ext>
            </a:extLst>
          </p:cNvPr>
          <p:cNvSpPr txBox="1"/>
          <p:nvPr/>
        </p:nvSpPr>
        <p:spPr>
          <a:xfrm>
            <a:off x="838200" y="1988839"/>
            <a:ext cx="11353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&lt;std::ranges::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input_range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PrimitiveRenderer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requires std::</a:t>
            </a:r>
            <a:r>
              <a:rPr lang="en-US" sz="16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is_same_v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&lt;std::ranges::</a:t>
            </a:r>
            <a:r>
              <a:rPr lang="en-US" sz="16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range_value_t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&lt;Vertices&gt;, Vertex&gt;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DrawPrimitivesImpl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PrimitiveRenderer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primitiveRenderer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Vertex&amp; vertex : vertices)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primitiveRenderer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AddVertex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TransformVertex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(vertex));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primitiveRenderer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EndDraw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TransformedVertex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TransformVertex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165171393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39524-F3E9-400F-C6AC-88D68B554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Трансформация вершин в экранные координаты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7D961-6177-1B96-DD04-C9D7094DAF90}"/>
              </a:ext>
            </a:extLst>
          </p:cNvPr>
          <p:cNvSpPr txBox="1"/>
          <p:nvPr/>
        </p:nvSpPr>
        <p:spPr>
          <a:xfrm>
            <a:off x="838200" y="1916831"/>
            <a:ext cx="105156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TransformedVertex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screenPos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color;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TransformedVertex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TransformVertex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noexcept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glm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vec4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pos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m_modelViewProjMatrix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vertex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.position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        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Перспективное деление.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pos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*=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1.0f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/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pos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        // pos -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координаты внутри видового объёма находятся в диапазоне от - до 1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pos2D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glm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vec2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pos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*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0.5f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0.5f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pos2D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.x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pos2D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.x *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m_viewPort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.width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m_viewPort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pos2D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.y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m_viewPort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GetBottom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-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pos2D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.y *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m_viewPort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.height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 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screenPos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pos2D, .color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vertex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.color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42134227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E1F58-A980-9D6E-7573-6AFAC4E89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Рисование точек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9D0370-EE91-D782-D077-3E9383E3476C}"/>
              </a:ext>
            </a:extLst>
          </p:cNvPr>
          <p:cNvSpPr txBox="1"/>
          <p:nvPr/>
        </p:nvSpPr>
        <p:spPr>
          <a:xfrm>
            <a:off x="838200" y="1690687"/>
            <a:ext cx="10515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BaseRenderer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BaseRenderer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(WTL::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CDCHandle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: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WTL::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CDCHandle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BaseRenderer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BaseRenderer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BaseRenderer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AddVertex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TransformedVertex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m_dc.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SetPixel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Vec2ToPoint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.screenPos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ColorToGDIColor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.color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EndDraw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60674308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6B6B4-D148-FE0D-742A-6574C89D2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Рисование линий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A4D226-3E59-8734-1EC0-F8D128199242}"/>
              </a:ext>
            </a:extLst>
          </p:cNvPr>
          <p:cNvSpPr txBox="1"/>
          <p:nvPr/>
        </p:nvSpPr>
        <p:spPr>
          <a:xfrm>
            <a:off x="838200" y="1595021"/>
            <a:ext cx="10515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LinesRenderer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BaseLineRenderer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BaseLineRenderer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BaseLineRenderer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AddVertex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TransformedVertex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m_isFirstVertex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m_prevVertex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m_isFirstVertex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}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SetColor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m_prevVertex.color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m_dc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MoveTo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Vec2ToPoint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m_prevVertex.screenPos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m_dc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LineTo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Vec2ToPoint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vertex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.screenPos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m_isFirstVertex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TransformedVertex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m_prevVertex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m_isFirstVertex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153657930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4DF26-55EF-4D12-A0BE-846CB19FC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Рисование треугольников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0A78CB-113C-2209-C1B6-4EA886C6AE3C}"/>
              </a:ext>
            </a:extLst>
          </p:cNvPr>
          <p:cNvSpPr txBox="1"/>
          <p:nvPr/>
        </p:nvSpPr>
        <p:spPr>
          <a:xfrm>
            <a:off x="838200" y="1607873"/>
            <a:ext cx="106584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TrianglesRenderer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BaseLineRenderer</a:t>
            </a:r>
            <a:r>
              <a:rPr lang="ru-RU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BaseLineRenderer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BaseLineRenderer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TransformedVertex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m_vertexIndex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m_vertexIndex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++] =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front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.color);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Vec2ToPoint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.screenPos));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LineTo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Vec2ToPoint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.screenPos));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LineTo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Vec2ToPoint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.screenPos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LineTo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Vec2ToPoint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.screenPos));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m_vertexIndex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TransformedVertex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m_vertexIndex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82252430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6444-5E82-BD38-CB81-77E7AA3E8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Рисование четырехугольников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80B192-AEDF-4614-80AD-7D7CF12DE1D6}"/>
              </a:ext>
            </a:extLst>
          </p:cNvPr>
          <p:cNvSpPr txBox="1"/>
          <p:nvPr/>
        </p:nvSpPr>
        <p:spPr>
          <a:xfrm>
            <a:off x="838200" y="1690688"/>
            <a:ext cx="10515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QuadsRenderer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BaseLineRenderer</a:t>
            </a:r>
            <a:r>
              <a:rPr lang="ru-RU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BaseLineRenderer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BaseLineRenderer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TransformedVertex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m_vertexIndex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m_vertexIndex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++] =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].color);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Vec2ToPoint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screenPos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LineTo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Vec2ToPoint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screenPos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LineTo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Vec2ToPoint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screenPos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LineTo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Vec2ToPoint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.screenPos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LineTo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Vec2ToPoint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screenPos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m_vertexIndex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TransformedVertex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m_vertexIndex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92974361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4645C-0A36-C7C9-6BB3-C0BEFBA61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Рисование элементов (индексов вершин)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09D9EE-CCF5-C102-3FA2-675B3A3B4FFF}"/>
              </a:ext>
            </a:extLst>
          </p:cNvPr>
          <p:cNvSpPr txBox="1"/>
          <p:nvPr/>
        </p:nvSpPr>
        <p:spPr>
          <a:xfrm>
            <a:off x="335360" y="2060848"/>
            <a:ext cx="118566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&lt;std::ranges::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random_access_range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std::ranges::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input_range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requires(std::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is_same_v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&lt;std::ranges::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range_value_t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&lt;Vertices&gt;, Vertex&gt;</a:t>
            </a:r>
          </a:p>
          <a:p>
            <a:pPr>
              <a:buNone/>
            </a:pP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      &amp;&amp; std::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is_integral_v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&lt;std::ranges::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range_value_t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&lt;Indices&gt;&gt;)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DrawElements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(WTL::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CDCHandle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PrimitiveType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DrawPrimitives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(dc, type,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indices | std::views::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([&amp;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Vertex&amp;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[index];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    }));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98714197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DBB63-33EB-24C3-DFA3-7B122024E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Связываем </a:t>
            </a:r>
            <a:r>
              <a:rPr lang="en-US" dirty="0"/>
              <a:t>Renderer </a:t>
            </a:r>
            <a:r>
              <a:rPr lang="ru-RU" dirty="0"/>
              <a:t>с контекстом рисования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4E0732-2BE4-EB88-BD37-D930870D523E}"/>
              </a:ext>
            </a:extLst>
          </p:cNvPr>
          <p:cNvSpPr txBox="1"/>
          <p:nvPr/>
        </p:nvSpPr>
        <p:spPr>
          <a:xfrm>
            <a:off x="838200" y="1690688"/>
            <a:ext cx="10515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RendererContext</a:t>
            </a:r>
            <a:r>
              <a:rPr lang="ru-RU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RendererContext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(WTL::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CDCHandle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(dc)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&lt;std::ranges::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input_range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requires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is_same_v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&lt;std::ranges::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range_value_t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&lt;Vertices&gt;, Vertex&gt;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DrawPrimitives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PrimitiveType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m_renderer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DrawPrimitives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type, vertices);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&lt;std::ranges::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random_access_range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std::ranges::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input_range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requires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is_same_v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&lt;std::ranges::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range_value_t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&gt;,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&amp;&amp;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is_integral_v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&lt;std::ranges::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range_value_t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DrawElements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PrimitiveType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m_renderer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DrawElements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type, vertices, indices);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WTL::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CDCHandle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138432259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DF28-28D1-0576-6D2A-B2CE009A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Описываем куб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04AD8-D723-EF45-2009-13A8E6872863}"/>
              </a:ext>
            </a:extLst>
          </p:cNvPr>
          <p:cNvSpPr txBox="1"/>
          <p:nvPr/>
        </p:nvSpPr>
        <p:spPr>
          <a:xfrm>
            <a:off x="838200" y="1690688"/>
            <a:ext cx="10515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4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Vertex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MakeVertex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glm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vec3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pos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glm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vec4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color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Vertex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 .position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glm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::vec4{ pos * size,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1.0f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}, .color = color };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Cube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Cube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972834482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ABD47-B40B-81B7-7BB0-00987A448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Рисуем куб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9FEEE-AF1C-4997-9BB4-5E56650D02E3}"/>
              </a:ext>
            </a:extLst>
          </p:cNvPr>
          <p:cNvSpPr txBox="1"/>
          <p:nvPr/>
        </p:nvSpPr>
        <p:spPr>
          <a:xfrm>
            <a:off x="838200" y="1690688"/>
            <a:ext cx="109464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Cube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RendererContext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грань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x&lt;0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грань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x&gt;0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грань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y&lt;0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грань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y&gt;0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грань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z&lt;0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грань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z&gt;0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DrawElements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PrimitiveType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::Quads,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…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A30517-CFFD-26C3-279B-97B91F0D1B36}"/>
              </a:ext>
            </a:extLst>
          </p:cNvPr>
          <p:cNvSpPr txBox="1"/>
          <p:nvPr/>
        </p:nvSpPr>
        <p:spPr>
          <a:xfrm>
            <a:off x="9115902" y="1844824"/>
            <a:ext cx="2642069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/*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Y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|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|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|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+---X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Z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3----2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/    /|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/    / |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7----6  |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|  0 |  1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|    | 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|    |/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4----5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</p:txBody>
      </p:sp>
    </p:spTree>
    <p:extLst>
      <p:ext uri="{BB962C8B-B14F-4D97-AF65-F5344CB8AC3E}">
        <p14:creationId xmlns:p14="http://schemas.microsoft.com/office/powerpoint/2010/main" val="3299731347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89BCEF-5BEB-E582-E58E-904E71093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нашего простого рендерера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DEA58-685B-B854-C4FB-2EC44879A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в нём отсутствует</a:t>
            </a:r>
          </a:p>
          <a:p>
            <a:pPr lvl="1"/>
            <a:r>
              <a:rPr lang="ru-RU" dirty="0"/>
              <a:t>Обрезка примитивов (</a:t>
            </a:r>
            <a:r>
              <a:rPr lang="ru-RU" dirty="0" err="1"/>
              <a:t>clipping</a:t>
            </a:r>
            <a:r>
              <a:rPr lang="ru-RU" dirty="0"/>
              <a:t>) по границам </a:t>
            </a:r>
            <a:r>
              <a:rPr lang="ru-RU" dirty="0" err="1"/>
              <a:t>clip</a:t>
            </a:r>
            <a:r>
              <a:rPr lang="ru-RU" dirty="0"/>
              <a:t> </a:t>
            </a:r>
            <a:r>
              <a:rPr lang="ru-RU" dirty="0" err="1"/>
              <a:t>space</a:t>
            </a:r>
            <a:endParaRPr lang="ru-RU" dirty="0"/>
          </a:p>
          <a:p>
            <a:pPr lvl="1"/>
            <a:r>
              <a:rPr lang="ru-RU" dirty="0"/>
              <a:t>Заливка треугольников — рисуется только каркас</a:t>
            </a:r>
          </a:p>
          <a:p>
            <a:pPr lvl="1"/>
            <a:r>
              <a:rPr lang="ru-RU" dirty="0"/>
              <a:t>Z-</a:t>
            </a:r>
            <a:r>
              <a:rPr lang="ru-RU" dirty="0" err="1"/>
              <a:t>buffer</a:t>
            </a:r>
            <a:r>
              <a:rPr lang="ru-RU" dirty="0"/>
              <a:t> и определение видимости поверхностей</a:t>
            </a:r>
          </a:p>
          <a:p>
            <a:pPr lvl="1"/>
            <a:r>
              <a:rPr lang="ru-RU" dirty="0"/>
              <a:t>Интерполяция атрибутов (цвета, нормали, текстурные координаты)</a:t>
            </a:r>
          </a:p>
          <a:p>
            <a:r>
              <a:rPr lang="ru-RU" dirty="0"/>
              <a:t>Зачем он тогда нужен?</a:t>
            </a:r>
          </a:p>
          <a:p>
            <a:pPr lvl="1"/>
            <a:r>
              <a:rPr lang="ru-RU" dirty="0"/>
              <a:t>Понять как работает графический конвейер</a:t>
            </a:r>
          </a:p>
          <a:p>
            <a:pPr lvl="1"/>
            <a:r>
              <a:rPr lang="ru-RU" dirty="0"/>
              <a:t>Увидеть, как 3D-координаты превращаются в пиксели</a:t>
            </a:r>
          </a:p>
          <a:p>
            <a:pPr lvl="1"/>
            <a:r>
              <a:rPr lang="ru-RU" dirty="0"/>
              <a:t>Убедиться, что за 3D-графикой нет никакой магии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678953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Вопросы?</a:t>
            </a: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8536F9B-5F34-45DF-9DBC-2240E42C0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LASHSPRING_PRESENTATION_TITLE" val="Лекция 05"/>
  <p:tag name="ISPRING_ULTRA_SCORM_SLIDE_COUNT" val="147"/>
  <p:tag name="ISPRING_ULTRA_SCORM_DURATION" val="3600"/>
  <p:tag name="ISPRING_ULTRA_SCORM_QUIZ_NUMBER" val="0"/>
  <p:tag name="ISPRING_RESOURCE_PATHS_HASH_2" val="26cfde62a33ed6b70f917befc5e3c58e98c19"/>
  <p:tag name="ISPRING_RESOURCE_PATHS_HASH_PRESENTER" val="a4f382b94999eeac35a8106e7105655272b334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8762</TotalTime>
  <Words>11127</Words>
  <Application>Microsoft Office PowerPoint</Application>
  <PresentationFormat>Widescreen</PresentationFormat>
  <Paragraphs>1615</Paragraphs>
  <Slides>182</Slides>
  <Notes>180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182</vt:i4>
      </vt:variant>
    </vt:vector>
  </HeadingPairs>
  <TitlesOfParts>
    <vt:vector size="195" baseType="lpstr">
      <vt:lpstr>Arial</vt:lpstr>
      <vt:lpstr>Calibri</vt:lpstr>
      <vt:lpstr>Calibri Light</vt:lpstr>
      <vt:lpstr>Cambria Math</vt:lpstr>
      <vt:lpstr>Consolas</vt:lpstr>
      <vt:lpstr>Courier New</vt:lpstr>
      <vt:lpstr>Symbol</vt:lpstr>
      <vt:lpstr>Tahoma</vt:lpstr>
      <vt:lpstr>Times New Roman</vt:lpstr>
      <vt:lpstr>Verdana</vt:lpstr>
      <vt:lpstr>Wingdings</vt:lpstr>
      <vt:lpstr>Office Theme</vt:lpstr>
      <vt:lpstr>Формула</vt:lpstr>
      <vt:lpstr>Математические основы компьютерной графики</vt:lpstr>
      <vt:lpstr>PowerPoint Presentation</vt:lpstr>
      <vt:lpstr>Задачи визуализации трехмерных объектов</vt:lpstr>
      <vt:lpstr>PowerPoint Presentation</vt:lpstr>
      <vt:lpstr>Векторный анализ</vt:lpstr>
      <vt:lpstr>Система координат</vt:lpstr>
      <vt:lpstr>Двухмерная прямоугольная система координат</vt:lpstr>
      <vt:lpstr>Трехмерная прямоугольная система координат</vt:lpstr>
      <vt:lpstr>Правосторонняя система координат</vt:lpstr>
      <vt:lpstr>Левосторонняя система координат</vt:lpstr>
      <vt:lpstr>Важность системы координат</vt:lpstr>
      <vt:lpstr>Векторы и точки</vt:lpstr>
      <vt:lpstr>Вектор</vt:lpstr>
      <vt:lpstr>Точки и векторы</vt:lpstr>
      <vt:lpstr>Запись векторов</vt:lpstr>
      <vt:lpstr>Операции с векторами</vt:lpstr>
      <vt:lpstr>Сложение векторов</vt:lpstr>
      <vt:lpstr>Вычитание векторов</vt:lpstr>
      <vt:lpstr>Масштабирование векторов</vt:lpstr>
      <vt:lpstr>Линейная комбинация векторов</vt:lpstr>
      <vt:lpstr>Упражнения</vt:lpstr>
      <vt:lpstr>Аффинная комбинация векторов (affine combination)</vt:lpstr>
      <vt:lpstr>Аффинная комбинация трёх векторов</vt:lpstr>
      <vt:lpstr>Выпуклая комбинация векторов (convex combination)</vt:lpstr>
      <vt:lpstr>Множество всех выпуклых комбинаций</vt:lpstr>
      <vt:lpstr>Пример</vt:lpstr>
      <vt:lpstr>Выпуклая комбинация трёх векторов</vt:lpstr>
      <vt:lpstr>Модуль (длина, величина) вектора</vt:lpstr>
      <vt:lpstr>Единичный вектор (орт), нормирование</vt:lpstr>
      <vt:lpstr>Скалярное произведение векторов (dot product)</vt:lpstr>
      <vt:lpstr>Свойства скалярного произведения</vt:lpstr>
      <vt:lpstr>Угол между двумя векторами</vt:lpstr>
      <vt:lpstr>Знак скалярного произведения</vt:lpstr>
      <vt:lpstr>Перпендикулярность (ортогональность)</vt:lpstr>
      <vt:lpstr>Двумерный «перп» вектор</vt:lpstr>
      <vt:lpstr>Пример</vt:lpstr>
      <vt:lpstr>Упражнения на дом</vt:lpstr>
      <vt:lpstr>Перп-скалярное произведение</vt:lpstr>
      <vt:lpstr>Ортогональные проекции и расстояние от точки до прямой</vt:lpstr>
      <vt:lpstr>Пример</vt:lpstr>
      <vt:lpstr>Решение</vt:lpstr>
      <vt:lpstr>Отражение</vt:lpstr>
      <vt:lpstr>Отражение</vt:lpstr>
      <vt:lpstr>Векторное произведение двух векторов</vt:lpstr>
      <vt:lpstr>Свойства векторного произведения</vt:lpstr>
      <vt:lpstr>Геометрический смысл векторного произведения</vt:lpstr>
      <vt:lpstr>Нахождение нормали к плоскости</vt:lpstr>
      <vt:lpstr>Задание</vt:lpstr>
      <vt:lpstr>Отображение ключевых геометрических объектов</vt:lpstr>
      <vt:lpstr>Векторы и точки</vt:lpstr>
      <vt:lpstr>Системы координат и координатные фреймы</vt:lpstr>
      <vt:lpstr>Координатный фрейм</vt:lpstr>
      <vt:lpstr>Координатный фрейм</vt:lpstr>
      <vt:lpstr>Однородное представление точки и вектора</vt:lpstr>
      <vt:lpstr>Умножение матриц</vt:lpstr>
      <vt:lpstr>Представление точек и векторов при помощи умножения матриц</vt:lpstr>
      <vt:lpstr>Линейные комбинации векторов в однородных координатах</vt:lpstr>
      <vt:lpstr>Аффинные комбинации точек</vt:lpstr>
      <vt:lpstr>Произвольная линейная комбинация точек</vt:lpstr>
      <vt:lpstr>Точка плюс вектор – аффинная комбинация точек</vt:lpstr>
      <vt:lpstr>Линейная интерполяция двух точек</vt:lpstr>
      <vt:lpstr>Пример функции lerp</vt:lpstr>
      <vt:lpstr>Твининг (tweening)</vt:lpstr>
      <vt:lpstr>Пример Tweening-а двух изображений</vt:lpstr>
      <vt:lpstr>Введение в преобразования</vt:lpstr>
      <vt:lpstr>Пример преобразования двухмерной фигуры</vt:lpstr>
      <vt:lpstr>Составление трехмерной сцены из примитивов</vt:lpstr>
      <vt:lpstr>Просмотр сцены с различных точек наблюдения</vt:lpstr>
      <vt:lpstr>Преобразование точек</vt:lpstr>
      <vt:lpstr>Преобразование объекта и преобразование координат</vt:lpstr>
      <vt:lpstr>Преобразование точек</vt:lpstr>
      <vt:lpstr>Отображение точек в новые точки</vt:lpstr>
      <vt:lpstr>Как это выглядит формально?</vt:lpstr>
      <vt:lpstr>Аффинное преобразование</vt:lpstr>
      <vt:lpstr>PowerPoint Presentation</vt:lpstr>
      <vt:lpstr>PowerPoint Presentation</vt:lpstr>
      <vt:lpstr>Виды аффинных преобразований</vt:lpstr>
      <vt:lpstr>Аффинные преобразования на плоскости</vt:lpstr>
      <vt:lpstr>Общий вид аффинных преобразований</vt:lpstr>
      <vt:lpstr>Матричное представление аффинных преобразований</vt:lpstr>
      <vt:lpstr>Геометрические эффекты элементарных аффинных преобразований </vt:lpstr>
      <vt:lpstr>Перемещение</vt:lpstr>
      <vt:lpstr>Перемещение объекта</vt:lpstr>
      <vt:lpstr>Задача</vt:lpstr>
      <vt:lpstr>Задача</vt:lpstr>
      <vt:lpstr>Масштабирование</vt:lpstr>
      <vt:lpstr>Масштабирование</vt:lpstr>
      <vt:lpstr>Поворот</vt:lpstr>
      <vt:lpstr>Поворот</vt:lpstr>
      <vt:lpstr>Сдвиг</vt:lpstr>
      <vt:lpstr>Сдвиг</vt:lpstr>
      <vt:lpstr>Инвертирование аффинного преобразования</vt:lpstr>
      <vt:lpstr>Определитель матрицы</vt:lpstr>
      <vt:lpstr>Обратная матрица</vt:lpstr>
      <vt:lpstr>Задача</vt:lpstr>
      <vt:lpstr>Решение системы линейных уравнений c помощью матриц</vt:lpstr>
      <vt:lpstr>Сложные преобразования</vt:lpstr>
      <vt:lpstr>Композиция преобразований</vt:lpstr>
      <vt:lpstr>Пример</vt:lpstr>
      <vt:lpstr>Композиция аффинных преобразований</vt:lpstr>
      <vt:lpstr>Полезные свойства аффинных преобразований</vt:lpstr>
      <vt:lpstr>Задачи</vt:lpstr>
      <vt:lpstr>Трехмерные аффинные преобразования</vt:lpstr>
      <vt:lpstr>Однородное представление точек и векторов в 3D</vt:lpstr>
      <vt:lpstr>Матрица аффинного преобразования в 3D</vt:lpstr>
      <vt:lpstr>Элементарные трехмерные преобразования</vt:lpstr>
      <vt:lpstr>Перемещение</vt:lpstr>
      <vt:lpstr>Масштабирование</vt:lpstr>
      <vt:lpstr>Сдвиг</vt:lpstr>
      <vt:lpstr>Вращение</vt:lpstr>
      <vt:lpstr>Элементарные повороты вокруг координатных осей</vt:lpstr>
      <vt:lpstr>Матрицы элементарных поворотов</vt:lpstr>
      <vt:lpstr>Комбинирование поворотов</vt:lpstr>
      <vt:lpstr>Вращение вокруг произвольной оси</vt:lpstr>
      <vt:lpstr>PowerPoint Presentation</vt:lpstr>
      <vt:lpstr>Матрица поворота вокруг произвольной оси</vt:lpstr>
      <vt:lpstr>Определение оси и угла поворота по матрице поворота</vt:lpstr>
      <vt:lpstr>Преобразование систем координат</vt:lpstr>
      <vt:lpstr>Преобразование системы координат</vt:lpstr>
      <vt:lpstr>Преобразование координатного фрейма</vt:lpstr>
      <vt:lpstr>Последовательные преобразования координатного фрейма</vt:lpstr>
      <vt:lpstr>Двукратное преобразование координатного фрейма</vt:lpstr>
      <vt:lpstr>Рисование трехмерных сцен</vt:lpstr>
      <vt:lpstr>Составляющие элементы трехмерной сцены</vt:lpstr>
      <vt:lpstr>Процесс визуализации трехмерной сцены</vt:lpstr>
      <vt:lpstr>Процесс визуализации трехмерной сцены (продолжение)</vt:lpstr>
      <vt:lpstr>Позиционирование и ориентирование камеры</vt:lpstr>
      <vt:lpstr>Позиционирование и ориентирование камеры</vt:lpstr>
      <vt:lpstr>Система координат, связанная с камерой</vt:lpstr>
      <vt:lpstr>Свободное ориентирование камеры в пространстве</vt:lpstr>
      <vt:lpstr>Построение векторов  u, v и n</vt:lpstr>
      <vt:lpstr>Построение матрицы камеры</vt:lpstr>
      <vt:lpstr>Построение матрицы камеры</vt:lpstr>
      <vt:lpstr>Куда матрица камеры трансформирует точку Eye?</vt:lpstr>
      <vt:lpstr>Перспективная проекция точки</vt:lpstr>
      <vt:lpstr>Задача</vt:lpstr>
      <vt:lpstr>Перспективная проекция прямых линий</vt:lpstr>
      <vt:lpstr>Проецирование параллельных прямых</vt:lpstr>
      <vt:lpstr>Точка схода параллельных прямых</vt:lpstr>
      <vt:lpstr>Прямые, проходящие за «глазом»</vt:lpstr>
      <vt:lpstr>Добавление псевдоглубины</vt:lpstr>
      <vt:lpstr>Особенности проецирования</vt:lpstr>
      <vt:lpstr>Расстояние от точки до глаза</vt:lpstr>
      <vt:lpstr>Псевдоглубина</vt:lpstr>
      <vt:lpstr>Проецирование точки с сохранением информации о ее псевдоглубине</vt:lpstr>
      <vt:lpstr>Изменение псевдоглубины</vt:lpstr>
      <vt:lpstr>Неравномерность изменения псевдоглубины</vt:lpstr>
      <vt:lpstr>Использование однородных координат</vt:lpstr>
      <vt:lpstr>Дальнейшее развитие</vt:lpstr>
      <vt:lpstr>Матрица аффинного преобразования</vt:lpstr>
      <vt:lpstr>Эксперимент</vt:lpstr>
      <vt:lpstr>Перспективное деление</vt:lpstr>
      <vt:lpstr>Матрица перспективного преобразования</vt:lpstr>
      <vt:lpstr>PowerPoint Presentation</vt:lpstr>
      <vt:lpstr>Получение перспективной проекции</vt:lpstr>
      <vt:lpstr>Что такое перспективная проекция?</vt:lpstr>
      <vt:lpstr>Геометрическая природа перспективного преобразования</vt:lpstr>
      <vt:lpstr>Перспективное преобразование</vt:lpstr>
      <vt:lpstr>Деформирование отображаемого объема перспективным преобразованием</vt:lpstr>
      <vt:lpstr>Преобразование в канонический отображаемый объем</vt:lpstr>
      <vt:lpstr>Матрица ортографического преобразования</vt:lpstr>
      <vt:lpstr>Порт просмотра</vt:lpstr>
      <vt:lpstr>Преобразование в порт просмотра</vt:lpstr>
      <vt:lpstr>Преобразование в порт просмотра</vt:lpstr>
      <vt:lpstr>Преобразование в порт просмотра</vt:lpstr>
      <vt:lpstr>Визуализация 3D объекта с нуля</vt:lpstr>
      <vt:lpstr>Практическое применение: простой 3D-рендерер</vt:lpstr>
      <vt:lpstr>Вершины, примитивы, порт просмотра</vt:lpstr>
      <vt:lpstr>Управление портом просмотра и матрицами</vt:lpstr>
      <vt:lpstr>Выбор способа рисования примитивов</vt:lpstr>
      <vt:lpstr>Рисование группы примитивов с помощью рендерера</vt:lpstr>
      <vt:lpstr>Трансформация вершин в экранные координаты</vt:lpstr>
      <vt:lpstr>Рисование точек</vt:lpstr>
      <vt:lpstr>Рисование линий</vt:lpstr>
      <vt:lpstr>Рисование треугольников</vt:lpstr>
      <vt:lpstr>Рисование четырехугольников</vt:lpstr>
      <vt:lpstr>Рисование элементов (индексов вершин)</vt:lpstr>
      <vt:lpstr>Связываем Renderer с контекстом рисования</vt:lpstr>
      <vt:lpstr>Описываем куб</vt:lpstr>
      <vt:lpstr>Рисуем куб</vt:lpstr>
      <vt:lpstr>Ограничения нашего простого рендерера</vt:lpstr>
      <vt:lpstr>Вопросы?</vt:lpstr>
    </vt:vector>
  </TitlesOfParts>
  <Company>Brainwave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Векторная графика</dc:title>
  <dc:creator>Aleksey Malov</dc:creator>
  <cp:lastModifiedBy>Алексей Малов</cp:lastModifiedBy>
  <cp:revision>399</cp:revision>
  <dcterms:created xsi:type="dcterms:W3CDTF">2006-10-11T18:13:04Z</dcterms:created>
  <dcterms:modified xsi:type="dcterms:W3CDTF">2026-03-10T17:51:07Z</dcterms:modified>
</cp:coreProperties>
</file>