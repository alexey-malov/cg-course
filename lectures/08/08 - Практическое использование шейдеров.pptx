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tags/tag12.xml" ContentType="application/vnd.openxmlformats-officedocument.presentationml.tags+xml"/>
  <Override PartName="/ppt/notesSlides/notesSlide19.xml" ContentType="application/vnd.openxmlformats-officedocument.presentationml.notesSlide+xml"/>
  <Override PartName="/ppt/tags/tag1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notesSlides/notesSlide22.xml" ContentType="application/vnd.openxmlformats-officedocument.presentationml.notesSlide+xml"/>
  <Override PartName="/ppt/tags/tag15.xml" ContentType="application/vnd.openxmlformats-officedocument.presentationml.tags+xml"/>
  <Override PartName="/ppt/notesSlides/notesSlide23.xml" ContentType="application/vnd.openxmlformats-officedocument.presentationml.notesSlide+xml"/>
  <Override PartName="/ppt/tags/tag16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7.xml" ContentType="application/vnd.openxmlformats-officedocument.presentationml.tags+xml"/>
  <Override PartName="/ppt/notesSlides/notesSlide26.xml" ContentType="application/vnd.openxmlformats-officedocument.presentationml.notesSlide+xml"/>
  <Override PartName="/ppt/tags/tag18.xml" ContentType="application/vnd.openxmlformats-officedocument.presentationml.tags+xml"/>
  <Override PartName="/ppt/notesSlides/notesSlide27.xml" ContentType="application/vnd.openxmlformats-officedocument.presentationml.notesSlide+xml"/>
  <Override PartName="/ppt/tags/tag19.xml" ContentType="application/vnd.openxmlformats-officedocument.presentationml.tags+xml"/>
  <Override PartName="/ppt/notesSlides/notesSlide28.xml" ContentType="application/vnd.openxmlformats-officedocument.presentationml.notesSlide+xml"/>
  <Override PartName="/ppt/tags/tag20.xml" ContentType="application/vnd.openxmlformats-officedocument.presentationml.tags+xml"/>
  <Override PartName="/ppt/notesSlides/notesSlide29.xml" ContentType="application/vnd.openxmlformats-officedocument.presentationml.notesSlide+xml"/>
  <Override PartName="/ppt/tags/tag21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22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51"/>
  </p:notesMasterIdLst>
  <p:sldIdLst>
    <p:sldId id="288" r:id="rId2"/>
    <p:sldId id="305" r:id="rId3"/>
    <p:sldId id="306" r:id="rId4"/>
    <p:sldId id="257" r:id="rId5"/>
    <p:sldId id="258" r:id="rId6"/>
    <p:sldId id="283" r:id="rId7"/>
    <p:sldId id="259" r:id="rId8"/>
    <p:sldId id="263" r:id="rId9"/>
    <p:sldId id="261" r:id="rId10"/>
    <p:sldId id="284" r:id="rId11"/>
    <p:sldId id="264" r:id="rId12"/>
    <p:sldId id="265" r:id="rId13"/>
    <p:sldId id="285" r:id="rId14"/>
    <p:sldId id="286" r:id="rId15"/>
    <p:sldId id="287" r:id="rId16"/>
    <p:sldId id="268" r:id="rId17"/>
    <p:sldId id="269" r:id="rId18"/>
    <p:sldId id="270" r:id="rId19"/>
    <p:sldId id="271" r:id="rId20"/>
    <p:sldId id="272" r:id="rId21"/>
    <p:sldId id="289" r:id="rId22"/>
    <p:sldId id="273" r:id="rId23"/>
    <p:sldId id="276" r:id="rId24"/>
    <p:sldId id="307" r:id="rId25"/>
    <p:sldId id="290" r:id="rId26"/>
    <p:sldId id="274" r:id="rId27"/>
    <p:sldId id="277" r:id="rId28"/>
    <p:sldId id="278" r:id="rId29"/>
    <p:sldId id="279" r:id="rId30"/>
    <p:sldId id="280" r:id="rId31"/>
    <p:sldId id="282" r:id="rId32"/>
    <p:sldId id="281" r:id="rId33"/>
    <p:sldId id="291" r:id="rId34"/>
    <p:sldId id="308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9" r:id="rId49"/>
    <p:sldId id="275" r:id="rId50"/>
  </p:sldIdLst>
  <p:sldSz cx="12192000" cy="6858000"/>
  <p:notesSz cx="6858000" cy="9144000"/>
  <p:custDataLst>
    <p:tags r:id="rId5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203" autoAdjust="0"/>
  </p:normalViewPr>
  <p:slideViewPr>
    <p:cSldViewPr>
      <p:cViewPr varScale="1">
        <p:scale>
          <a:sx n="79" d="100"/>
          <a:sy n="79" d="100"/>
        </p:scale>
        <p:origin x="1716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3819874-28A2-46DE-BF76-F34B292A9E61}" type="datetimeFigureOut">
              <a:rPr lang="ru-RU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B86B00-C1BB-4528-A816-F0ADC00088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650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Образ слайда 1">
            <a:extLst>
              <a:ext uri="{FF2B5EF4-FFF2-40B4-BE49-F238E27FC236}">
                <a16:creationId xmlns:a16="http://schemas.microsoft.com/office/drawing/2014/main" id="{A779B27D-9217-4218-9478-1373E4E1E2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Заметки 2">
            <a:extLst>
              <a:ext uri="{FF2B5EF4-FFF2-40B4-BE49-F238E27FC236}">
                <a16:creationId xmlns:a16="http://schemas.microsoft.com/office/drawing/2014/main" id="{74CCE929-B9CA-4446-823D-E269C6D64A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94212" name="Номер слайда 3">
            <a:extLst>
              <a:ext uri="{FF2B5EF4-FFF2-40B4-BE49-F238E27FC236}">
                <a16:creationId xmlns:a16="http://schemas.microsoft.com/office/drawing/2014/main" id="{44DBC8C0-2749-4D5D-B20D-10BA16D21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CE03EC-959C-4530-8A5D-5CEFC6DF12B6}" type="slidenum">
              <a:rPr lang="ru-RU" altLang="ru-RU">
                <a:latin typeface="Calibri" panose="020F0502020204030204" pitchFamily="34" charset="0"/>
              </a:rPr>
              <a:pPr eaLnBrk="1" hangingPunct="1"/>
              <a:t>1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этой лекции мы перейдём от теории к реальному применению шейдеров.</a:t>
            </a:r>
          </a:p>
          <a:p>
            <a:r>
              <a:rPr lang="ru-RU" dirty="0"/>
              <a:t>Вы увидите, как на практике устроены вершинные и фрагментные шейдеры, и как они вместе формируют итоговое изображение на экране.</a:t>
            </a:r>
          </a:p>
          <a:p>
            <a:r>
              <a:rPr lang="ru-RU" dirty="0"/>
              <a:t>Мы начнём с самого простого примера — выведем объект с базовым цветом, затем постепенно добавим освещение: сначала диффузное по модели Ламберта, а затем зеркальную составляющую по Фонгу.</a:t>
            </a:r>
          </a:p>
          <a:p>
            <a:r>
              <a:rPr lang="ru-RU" dirty="0"/>
              <a:t>После этого разберём более продвинутую технику —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, которая позволяет создавать иллюзию сложной поверхности без увеличения количества полигонов.</a:t>
            </a:r>
          </a:p>
          <a:p>
            <a:r>
              <a:rPr lang="ru-RU" dirty="0"/>
              <a:t>И в конце посмотрим, как реализуются отражения с помощью кубических текстур.</a:t>
            </a:r>
          </a:p>
          <a:p>
            <a:r>
              <a:rPr lang="ru-RU" dirty="0"/>
              <a:t>В итоге у вас сложится цельное понимание того, как шейдеры используются для создания визуальных эффектов в реальных графических приложениях.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87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началом важно сделать одно уточнение.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этой лекции мы будем использовать упрощённый стиль OpenGL, который относится к так называемому устаревшему или </a:t>
            </a:r>
            <a:r>
              <a:rPr lang="ru-RU" dirty="0" err="1"/>
              <a:t>fixed-function</a:t>
            </a:r>
            <a:r>
              <a:rPr lang="ru-RU" dirty="0"/>
              <a:t> </a:t>
            </a:r>
            <a:r>
              <a:rPr lang="ru-RU" dirty="0" err="1"/>
              <a:t>pipeline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Вы увидите такие конструкции, как </a:t>
            </a:r>
            <a:r>
              <a:rPr lang="ru-RU" dirty="0" err="1"/>
              <a:t>gl_Vertex</a:t>
            </a:r>
            <a:r>
              <a:rPr lang="ru-RU" dirty="0"/>
              <a:t>, </a:t>
            </a:r>
            <a:r>
              <a:rPr lang="ru-RU" dirty="0" err="1"/>
              <a:t>gl_FragColor</a:t>
            </a:r>
            <a:r>
              <a:rPr lang="ru-RU" dirty="0"/>
              <a:t> и другие встроенные переменные. В современном OpenGL они уже не используются.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делаем это сознательно — чтобы не перегружать вас лишними деталями и сосредоточиться именно на том, как работают шейдеры: какие данные они получают, как они их обрабатывают и как формируется итоговый цвет.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этом, где это будет уместно, я буду показывать, как те же вещи делаются в современном стиле OpenGL.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сначала мы разберём суть, а затем посмотрим, как это применяется в реальных современных приложениях.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292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самого простого — с базового шейдера.</a:t>
            </a:r>
          </a:p>
          <a:p>
            <a:r>
              <a:rPr lang="ru-RU" dirty="0"/>
              <a:t>Наша цель здесь — не сделать красивую картинку, а понять сам принцип работы. Поэтому мы реализуем минимальный набор: вершинный и фрагментный шейдеры.</a:t>
            </a:r>
          </a:p>
          <a:p>
            <a:endParaRPr lang="ru-RU" dirty="0"/>
          </a:p>
          <a:p>
            <a:r>
              <a:rPr lang="ru-RU" dirty="0"/>
              <a:t>Вершинный шейдер будет выполнять только одну задачу — преобразовывать координаты вершин в так называемое </a:t>
            </a:r>
            <a:r>
              <a:rPr lang="ru-RU" dirty="0" err="1"/>
              <a:t>clip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, то есть в пространство, в котором OpenGL уже может выполнять растеризацию. Для этого мы воспользуемся встроенной функцией </a:t>
            </a:r>
            <a:r>
              <a:rPr lang="ru-RU" dirty="0" err="1"/>
              <a:t>ftransform</a:t>
            </a:r>
            <a:r>
              <a:rPr lang="ru-RU" dirty="0"/>
              <a:t>, которая делает всё необходимое преобразование автоматически.</a:t>
            </a:r>
          </a:p>
          <a:p>
            <a:endParaRPr lang="ru-RU" dirty="0"/>
          </a:p>
          <a:p>
            <a:r>
              <a:rPr lang="ru-RU" dirty="0"/>
              <a:t>Фрагментный шейдер будет ещё проще — он просто задаст один и тот же цвет для всех фрагментов. То есть весь объект будет окрашен равномерно, без освещения и без каких-либо эффектов.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самый базовый пример, но он очень важен — потому что именно от него мы дальше будем постепенно усложнять шейдеры и добавлять визуальные эффекты.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501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приведён минимальный пример двух шейдеров.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Вершинный шейдер использует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ftransform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которая выполняет стандартное преобразование вершины — по сути, это сокращённая запись умножения на матрицу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ModelViewProjection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Фрагментный шейдер ещё проще: он задаёт фиксированный цвет для каждого пикселя. В результате весь объект будет окрашен в один и тот же цвет.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важен как отправная точка — дальше мы будем постепенно добавлять в него логику и получать более сложные визуальные эффекты.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651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сделаем небольшой шаг вперёд — добавим цвет для каждой вершины.</a:t>
            </a:r>
          </a:p>
          <a:p>
            <a:r>
              <a:rPr lang="ru-RU" dirty="0"/>
              <a:t>Вершинный шейдер просто передаёт цвет вершины дальше, используя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gl_FrontColor</a:t>
            </a:r>
            <a:r>
              <a:rPr lang="ru-RU" dirty="0"/>
              <a:t>. Затем этот цвет автоматически интерполируется между вершинами при растеризации.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Фрагментный шейдер получает уже интерполированное значение и использует его как итоговый цвет пикселя.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вместо одного цвета мы получаем плавные цветовые переходы по поверхности объекта.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427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добавим освещение — начнём с самой простой модели, модели Ламберта.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Её идея очень интуитивна: чем ближе направление света к нормали поверхности, тем ярче эта поверхность выглядит. Если свет падает под острым углом — поверхность становится темнее.</a:t>
            </a:r>
          </a:p>
          <a:p>
            <a:r>
              <a:rPr lang="ru-RU" dirty="0"/>
              <a:t>Это описывается через скалярное произведение векторов направления света и нормали. Функция </a:t>
            </a:r>
            <a:r>
              <a:rPr lang="ru-RU" dirty="0" err="1"/>
              <a:t>max</a:t>
            </a:r>
            <a:r>
              <a:rPr lang="ru-RU" dirty="0"/>
              <a:t> нужна для того, чтобы отсечь отрицательные значения — то есть ситуации, когда свет находится “за” поверхностью.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 различие в реализации. В старом </a:t>
            </a:r>
            <a:r>
              <a:rPr lang="ru-RU" dirty="0" err="1"/>
              <a:t>fixed-function</a:t>
            </a:r>
            <a:r>
              <a:rPr lang="ru-RU" dirty="0"/>
              <a:t> </a:t>
            </a:r>
            <a:r>
              <a:rPr lang="ru-RU" dirty="0" err="1"/>
              <a:t>pipeline</a:t>
            </a:r>
            <a:r>
              <a:rPr lang="ru-RU" dirty="0"/>
              <a:t> OpenGL освещение вычислялось только в вершинах, а затем результат просто интерполировался по поверхности.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Шейдеры GLSL дают нам гораздо больше контроля — мы можем вычислять освещение для каждого фрагмента, то есть для каждого пикселя. Это даёт более точный и реалистичный результат.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653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ключевой принцип работы шейдеров при расчёте освещения.</a:t>
            </a:r>
          </a:p>
          <a:p>
            <a:r>
              <a:rPr lang="ru-RU" dirty="0"/>
              <a:t>Сначала, на этапе вершинного шейдера, мы вычисляем необходимые векторы — нормаль к поверхности и направление на источник света — но только в вершинах треугольника.</a:t>
            </a:r>
          </a:p>
          <a:p>
            <a:r>
              <a:rPr lang="ru-RU" dirty="0"/>
              <a:t>Дальше происходит растеризация. Обратите внимание на картинку: значения векторов в вершинах не просто копируются, а плавно интерполируются по всей поверхности треугольника. В результате для каждого пикселя мы получаем своё значение нормали и направления света.</a:t>
            </a:r>
          </a:p>
          <a:p>
            <a:r>
              <a:rPr lang="ru-RU" dirty="0"/>
              <a:t>Затем уже во фрагментном шейдере мы берём эти интерполированные векторы, нормализуем их и вычисляем освещение по формуле Ламберта через скалярное произведение.</a:t>
            </a:r>
          </a:p>
          <a:p>
            <a:r>
              <a:rPr lang="ru-RU" dirty="0"/>
              <a:t>Именно это и даёт более гладкое и реалистичное освещение по сравнению с вычислением только в вершинах.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976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Теперь давайте зафиксируем, какую роль играет вершинный шейдер в задаче освещения.</a:t>
            </a:r>
          </a:p>
          <a:p>
            <a:endParaRPr lang="ru-RU" dirty="0"/>
          </a:p>
          <a:p>
            <a:r>
              <a:rPr lang="ru-RU" dirty="0"/>
              <a:t>Во-первых, он выполняет стандартные преобразования — переводит вершины и нормали в пространство наблюдателя. Это необходимо, чтобы все дальнейшие вычисления происходили в одной системе координат.</a:t>
            </a:r>
          </a:p>
          <a:p>
            <a:endParaRPr lang="ru-RU" dirty="0"/>
          </a:p>
          <a:p>
            <a:r>
              <a:rPr lang="ru-RU" dirty="0"/>
              <a:t>Далее он подготавливает данные для освещения. В частности, вычисляет нормаль поверхности и направление на источник света для каждой вершины.</a:t>
            </a:r>
          </a:p>
          <a:p>
            <a:endParaRPr lang="ru-RU" dirty="0"/>
          </a:p>
          <a:p>
            <a:r>
              <a:rPr lang="ru-RU" dirty="0"/>
              <a:t>Но важно понимать: сам вершинный шейдер не считает итоговый цвет. Его задача — передать необходимые данные дальше. Для этого используются </a:t>
            </a:r>
            <a:r>
              <a:rPr lang="ru-RU" dirty="0" err="1"/>
              <a:t>varying</a:t>
            </a:r>
            <a:r>
              <a:rPr lang="ru-RU" dirty="0"/>
              <a:t>-переменные, через которые значения интерполируются и попадают во фрагментный шейдер.</a:t>
            </a:r>
          </a:p>
          <a:p>
            <a:endParaRPr lang="ru-RU" dirty="0"/>
          </a:p>
          <a:p>
            <a:r>
              <a:rPr lang="ru-RU" dirty="0"/>
              <a:t>Также здесь появляются новые встроенные переменные OpenGL,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gl_ModelViewMatrix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gl_NormalMatrix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gl_LightSource</a:t>
            </a:r>
            <a:r>
              <a:rPr lang="ru-RU" dirty="0"/>
              <a:t>. Они позволяют получить доступ к матрицам преобразования и параметрам источника света без дополнительной передачи из приложения.</a:t>
            </a:r>
          </a:p>
          <a:p>
            <a:endParaRPr lang="ru-RU" dirty="0"/>
          </a:p>
          <a:p>
            <a:r>
              <a:rPr lang="ru-RU" dirty="0"/>
              <a:t>Таким образом, вершинный шейдер — это этап подготовки данных, а основная работа по вычислению освещения происходит уже на уровне фрагментов.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294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Здесь показан пример вершинного шейдера, который подготавливает данные для расчёта освещения.</a:t>
            </a:r>
          </a:p>
          <a:p>
            <a:r>
              <a:rPr lang="ru-RU" dirty="0"/>
              <a:t>Сначала выполняется стандартное преобразование вершины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ftransform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мы вычисляем позицию вершины в системе координат наблюдателя — она понадобится для расчёта направления на источник света.</a:t>
            </a:r>
          </a:p>
          <a:p>
            <a:endParaRPr lang="ru-RU" dirty="0"/>
          </a:p>
          <a:p>
            <a:r>
              <a:rPr lang="ru-RU" dirty="0"/>
              <a:t>Обратите внимание на условие: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 = 0</a:t>
            </a:r>
            <a:r>
              <a:rPr lang="ru-RU" dirty="0"/>
              <a:t>, источник света считается направленным, и тогда его направление одинаково для всех вершин.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 ≠ 0</a:t>
            </a:r>
            <a:r>
              <a:rPr lang="ru-RU" dirty="0"/>
              <a:t>, источник точечный, и мы вычисляем вектор от вершины к источнику света.</a:t>
            </a:r>
          </a:p>
          <a:p>
            <a:endParaRPr lang="ru-RU" dirty="0"/>
          </a:p>
          <a:p>
            <a:r>
              <a:rPr lang="ru-RU" dirty="0"/>
              <a:t>Также мы передаём цвет вершины дальше во фрагментный шейдер.</a:t>
            </a:r>
          </a:p>
          <a:p>
            <a:r>
              <a:rPr lang="ru-RU" dirty="0"/>
              <a:t>И наконец, очень важный момент — мы преобразуем нормаль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gl_NormalMatrix</a:t>
            </a:r>
            <a:r>
              <a:rPr lang="ru-RU" dirty="0"/>
              <a:t> и нормализуем её. Это необходимо, чтобы она корректно участвовала в расчётах освещения.</a:t>
            </a:r>
          </a:p>
          <a:p>
            <a:endParaRPr lang="ru-RU" dirty="0"/>
          </a:p>
          <a:p>
            <a:r>
              <a:rPr lang="ru-RU" dirty="0"/>
              <a:t>В результате вершинный шейдер подготавливает все необходимые данные, которые затем будут интерполированы и использованы во фрагментном шейдере.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196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основная работа переходит во фрагментный шейдер.</a:t>
            </a:r>
          </a:p>
          <a:p>
            <a:endParaRPr lang="ru-RU" dirty="0"/>
          </a:p>
          <a:p>
            <a:r>
              <a:rPr lang="ru-RU" dirty="0"/>
              <a:t>Сюда приходят уже интерполированные значения нормали и направления на источник света. Но важно понимать: после интерполяции эти векторы перестают быть единичными, поэтому первым шагом мы должны их нормализовать.</a:t>
            </a:r>
          </a:p>
          <a:p>
            <a:endParaRPr lang="ru-RU" dirty="0"/>
          </a:p>
          <a:p>
            <a:r>
              <a:rPr lang="ru-RU" dirty="0"/>
              <a:t>Далее мы применяем формулу Ламберта.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</a:t>
            </a:r>
            <a:r>
              <a:rPr lang="ru-RU" dirty="0"/>
              <a:t> вычисляется скалярное произведение нормали и направления света — это фактически косинус угла между ними.</a:t>
            </a:r>
          </a:p>
          <a:p>
            <a:endParaRPr lang="ru-RU" dirty="0"/>
          </a:p>
          <a:p>
            <a:r>
              <a:rPr lang="ru-RU" dirty="0"/>
              <a:t>Затем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</a:t>
            </a:r>
            <a:r>
              <a:rPr lang="ru-RU" dirty="0"/>
              <a:t> мы отбрасываем отрицательные значения, чтобы не учитывать свет, который падает с обратной стороны поверхности.</a:t>
            </a:r>
          </a:p>
          <a:p>
            <a:endParaRPr lang="ru-RU" dirty="0"/>
          </a:p>
          <a:p>
            <a:r>
              <a:rPr lang="ru-RU" dirty="0"/>
              <a:t>В результате мы получаем коэффициент освещённости и используем его для вычисления итогового цвета каждого фрагмента. Именно здесь формируется финальное изображение на уровне пикселей.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558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фрагментный шейдер, который реализует диффузное освещение по модели Ламберта.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мы нормализуем векторы нормали и направления на источник света, потому что после интерполяции они уже не являются единичными.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вычисляем скалярное произведение этих векторов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</a:t>
            </a:r>
            <a:r>
              <a:rPr lang="ru-RU" dirty="0"/>
              <a:t>. Это даёт нам косинус угла между нормалью и направлением света.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</a:t>
            </a:r>
            <a:r>
              <a:rPr lang="ru-RU" dirty="0"/>
              <a:t> мы отсекаем отрицательные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Полученный коэффициент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diffFactor</a:t>
            </a:r>
            <a:r>
              <a:rPr lang="ru-RU" dirty="0"/>
              <a:t> показывает, насколько сильно освещён данный фрагмент.</a:t>
            </a:r>
          </a:p>
          <a:p>
            <a:r>
              <a:rPr lang="ru-RU" dirty="0"/>
              <a:t>Затем мы берём диффузную компоненту источника света и умножаем её на цвет материала и на вычисленный коэффициент освещённости.</a:t>
            </a:r>
          </a:p>
          <a:p>
            <a:r>
              <a:rPr lang="ru-RU" dirty="0"/>
              <a:t>В итоге формируется цвет каждого пикселя с учётом диффузного освещения.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25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учитывали только диффузное освещение, которое делает поверхность матовой.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добавим зеркальную составляющую — именно она отвечает за появление бликов.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во вершинном шейдере мы вычисляем вектор, направленный от точки поверхности к наблюдателю.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Затем во фрагментном шейдере рассчитываем отражённый вектор света. После этого берём скалярное произведение отражённого вектора и направления на наблюдателя — это показывает, насколько сильно луч «попадает» в камеру.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Полученное значение возводится в степень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shininess</a:t>
            </a:r>
            <a:r>
              <a:rPr lang="ru-RU" dirty="0"/>
              <a:t>. Чем больше это значение, тем уже и ярче будет блик.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итоге мы складываем диффузную и зеркальную составляющие и получаем более реалистичное освещение поверхности.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130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вершинном шейдере мы расширяем предыдущую версию, чтобы подготовить данные для расчёта зеркальной составляющей.</a:t>
            </a:r>
          </a:p>
          <a:p>
            <a:endParaRPr lang="ru-RU" dirty="0"/>
          </a:p>
          <a:p>
            <a:r>
              <a:rPr lang="ru-RU" dirty="0"/>
              <a:t>Как и раньше, мы выполняем преобразование вершины и вычисляем направление на источник света, а также нормаль поверхности.</a:t>
            </a:r>
          </a:p>
          <a:p>
            <a:endParaRPr lang="ru-RU" dirty="0"/>
          </a:p>
          <a:p>
            <a:r>
              <a:rPr lang="ru-RU" dirty="0"/>
              <a:t>Новое здесь — это вектор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EyeDir</a:t>
            </a:r>
            <a:r>
              <a:rPr lang="ru-RU" dirty="0"/>
              <a:t>. Он направлен от точки поверхности к наблюдателю. Поскольку мы работаем в системе координат наблюдателя, положение камеры находится в начале координат, поэтому этот вектор можно получить просто как отрицание позиции вершины.</a:t>
            </a:r>
          </a:p>
          <a:p>
            <a:endParaRPr lang="ru-RU" dirty="0"/>
          </a:p>
          <a:p>
            <a:r>
              <a:rPr lang="ru-RU" dirty="0"/>
              <a:t>В результате вершинный шейдер теперь передаёт во фрагментный не только нормаль и направление на свет, но и направление на наблюдателя. Это позволит на следующем этапе вычислить зеркальную составляющую освещения.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917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фрагментный шейдер, в котором мы объединяем диффузное и зеркальное освещение.</a:t>
            </a:r>
          </a:p>
          <a:p>
            <a:r>
              <a:rPr lang="ru-RU" dirty="0"/>
              <a:t>Сначала всё происходит так же, как и раньше: мы нормализуем нормаль и направление на источник света, затем считаем диффузную составляющую по модели Ламберта.</a:t>
            </a:r>
          </a:p>
          <a:p>
            <a:endParaRPr lang="ru-RU" dirty="0"/>
          </a:p>
          <a:p>
            <a:r>
              <a:rPr lang="ru-RU" dirty="0"/>
              <a:t>Далее добавляется новая часть — расчёт зеркального отражения. Мы нормализуем вектор на наблюдателя, затем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reflect</a:t>
            </a:r>
            <a:r>
              <a:rPr lang="ru-RU" dirty="0"/>
              <a:t> вычисляем отражённый луч света.</a:t>
            </a:r>
          </a:p>
          <a:p>
            <a:endParaRPr lang="ru-RU" dirty="0"/>
          </a:p>
          <a:p>
            <a:r>
              <a:rPr lang="ru-RU" dirty="0"/>
              <a:t>После этого находим, насколько этот отражённый луч совпадает с направлением на камеру — для этого снова используется скалярное произведение. Результат возводится в степень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shininess</a:t>
            </a:r>
            <a:r>
              <a:rPr lang="ru-RU" dirty="0"/>
              <a:t>, которая отвечает за размер и резкость блика.</a:t>
            </a:r>
          </a:p>
          <a:p>
            <a:endParaRPr lang="ru-RU" dirty="0"/>
          </a:p>
          <a:p>
            <a:r>
              <a:rPr lang="ru-RU" dirty="0"/>
              <a:t>Затем мы вычисляем цвет зеркальной составляющей и складываем его с диффузной.</a:t>
            </a:r>
          </a:p>
          <a:p>
            <a:r>
              <a:rPr lang="ru-RU" dirty="0"/>
              <a:t>В результате получается более реалистичное освещение — на изображении вы можете видеть характерный блик на поверхности, который зависит от положения камеры и источника света.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639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738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405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перейдём к более продвинутой технике — </a:t>
            </a:r>
            <a:r>
              <a:rPr lang="ru-RU" dirty="0" err="1"/>
              <a:t>bump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Проблема в том, что если мы хотим сделать поверхность детализированной — например, с неровностями, трещинами или шероховатостью — нам нужно сильно увеличивать количество полигонов. Это дорого с точки зрения производительности.</a:t>
            </a:r>
          </a:p>
          <a:p>
            <a:endParaRPr lang="ru-RU" dirty="0"/>
          </a:p>
          <a:p>
            <a:r>
              <a:rPr lang="ru-RU" dirty="0" err="1"/>
              <a:t>Bump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предлагает более эффективное решение. Вместо того чтобы изменять геометрию, мы изменяем только нормали поверхности.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сама поверхность остаётся гладкой, но освещение рассчитывается так, как будто на ней есть мелкие неровности.</a:t>
            </a:r>
          </a:p>
          <a:p>
            <a:endParaRPr lang="en-US" dirty="0"/>
          </a:p>
          <a:p>
            <a:r>
              <a:rPr lang="ru-RU" dirty="0"/>
              <a:t>Для этого используется специальная текстура — карта нормалей.</a:t>
            </a:r>
            <a:endParaRPr lang="en-US" dirty="0"/>
          </a:p>
          <a:p>
            <a:r>
              <a:rPr lang="ru-RU" dirty="0"/>
              <a:t> Она хранит информацию о том, как должна быть наклонена нормаль в каждой точке.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мы получаем визуально детализированную поверхность без увеличения сложности модели — и это активно используется в реальной графике, например, для камня, кожи, металла и других материалов.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787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На этом слайде показана ключевая идея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Слева вы видите карту нормалей — это специальная текстура, где каждый пиксель кодирует направление нормали. Цвет здесь — это не просто цвет, а вектор. Компоненты RGB соответствуют координатам нормали.</a:t>
            </a:r>
          </a:p>
          <a:p>
            <a:endParaRPr lang="ru-RU" dirty="0"/>
          </a:p>
          <a:p>
            <a:r>
              <a:rPr lang="ru-RU" dirty="0"/>
              <a:t>В центре — базовая текстура материала, то есть обычный цвет поверхности.</a:t>
            </a:r>
          </a:p>
          <a:p>
            <a:endParaRPr lang="ru-RU" dirty="0"/>
          </a:p>
          <a:p>
            <a:r>
              <a:rPr lang="ru-RU" dirty="0"/>
              <a:t>А справа — результат. Обратите внимание: геометрия остаётся плоской, но за счёт изменённых нормалей освещение создаёт иллюзию объёма и мелких деталей.</a:t>
            </a:r>
          </a:p>
          <a:p>
            <a:endParaRPr lang="ru-RU" dirty="0"/>
          </a:p>
          <a:p>
            <a:r>
              <a:rPr lang="ru-RU" dirty="0"/>
              <a:t>Важно, что значения в текстуре лежат в диапазоне от нуля до единицы, поэтому перед использованием их нужно преобразовать в диапазон от минус единицы до единицы.</a:t>
            </a:r>
          </a:p>
          <a:p>
            <a:endParaRPr lang="ru-RU" dirty="0"/>
          </a:p>
          <a:p>
            <a:r>
              <a:rPr lang="ru-RU" dirty="0"/>
              <a:t>Также такие нормали обычно задаются в касательном пространстве, которое “привязано” к поверхности объекта. Именно поэтому нам нужны корректные текстурные координаты.</a:t>
            </a:r>
          </a:p>
          <a:p>
            <a:endParaRPr lang="ru-RU" dirty="0"/>
          </a:p>
          <a:p>
            <a:r>
              <a:rPr lang="ru-RU" dirty="0"/>
              <a:t>В итоге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позволяет получить визуально сложную поверхность практически бесплатно с точки зрения геометрии.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48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Касательное пространство — это ключевая идея, без которой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не работает.</a:t>
            </a:r>
          </a:p>
          <a:p>
            <a:endParaRPr lang="ru-RU" dirty="0"/>
          </a:p>
          <a:p>
            <a:r>
              <a:rPr lang="ru-RU" dirty="0"/>
              <a:t>Можно думать о нём как о локальной системе координат, которая создаётся в каждой точке поверхности. В этой системе координат начало совпадает с текущей точкой, а оси задаются тремя векторами: касательной, бинормалью и нормалью.</a:t>
            </a:r>
          </a:p>
          <a:p>
            <a:endParaRPr lang="ru-RU" dirty="0"/>
          </a:p>
          <a:p>
            <a:r>
              <a:rPr lang="ru-RU" dirty="0"/>
              <a:t>Нормаль направлена “наружу” поверхности, касательная лежит в плоскости поверхности, а бинормаль получается как векторное произведение касательной и нормали.</a:t>
            </a:r>
          </a:p>
          <a:p>
            <a:endParaRPr lang="ru-RU" dirty="0"/>
          </a:p>
          <a:p>
            <a:r>
              <a:rPr lang="ru-RU" dirty="0"/>
              <a:t>Очень важный момент: в касательном пространстве нормаль всегда направлена вдоль оси Z, то есть имеет вид (0, 0, 1).</a:t>
            </a:r>
          </a:p>
          <a:p>
            <a:endParaRPr lang="ru-RU" dirty="0"/>
          </a:p>
          <a:p>
            <a:r>
              <a:rPr lang="ru-RU" dirty="0"/>
              <a:t>Это позволяет хранить нормали в текстуре в одном и том же виде, независимо от того, как ориентирован объект в мире.</a:t>
            </a:r>
          </a:p>
          <a:p>
            <a:endParaRPr lang="ru-RU" dirty="0"/>
          </a:p>
          <a:p>
            <a:r>
              <a:rPr lang="ru-RU" dirty="0"/>
              <a:t>А уже в шейдере мы преобразуем направления света и взгляда в это пространство и можем корректно применять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.</a:t>
            </a:r>
          </a:p>
          <a:p>
            <a:r>
              <a:rPr lang="ru-RU" dirty="0"/>
              <a:t>Именно это делает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универсальным и удобным для любых поверхностей.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563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На этом рисунке показано касательное пространство в конкретной точке поверхности.</a:t>
                </a:r>
              </a:p>
              <a:p>
                <a:endParaRPr lang="ru-RU" dirty="0"/>
              </a:p>
              <a:p>
                <a:r>
                  <a:rPr lang="ru-RU" dirty="0"/>
                  <a:t>Вектор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𝐧</m:t>
                    </m:r>
                  </m:oMath>
                </a14:m>
                <a:r>
                  <a:rPr lang="ru-RU" dirty="0"/>
                  <a:t>— это нормаль, она направлена перпендикулярно поверхности.</a:t>
                </a:r>
              </a:p>
              <a:p>
                <a:r>
                  <a:rPr lang="ru-RU" dirty="0"/>
                  <a:t>Вектор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𝐭</m:t>
                    </m:r>
                  </m:oMath>
                </a14:m>
                <a:r>
                  <a:rPr lang="ru-RU" dirty="0"/>
                  <a:t>— касательная, лежит в плоскости поверхности и обычно направлена вдоль оси U текстурных координат.</a:t>
                </a:r>
              </a:p>
              <a:p>
                <a:r>
                  <a:rPr lang="ru-RU" dirty="0"/>
                  <a:t>И третий вектор — бинормаль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𝐛</m:t>
                    </m:r>
                  </m:oMath>
                </a14:m>
                <a:r>
                  <a:rPr lang="ru-RU" dirty="0"/>
                  <a:t>, который тоже лежит в плоскости и получается как векторное произведение касательной и нормали.</a:t>
                </a:r>
              </a:p>
              <a:p>
                <a:endParaRPr lang="ru-RU" dirty="0"/>
              </a:p>
              <a:p>
                <a:r>
                  <a:rPr lang="ru-RU" dirty="0"/>
                  <a:t>Эти три вектора образуют локальный базис в данной точке поверхности.</a:t>
                </a:r>
              </a:p>
              <a:p>
                <a:endParaRPr lang="ru-RU" dirty="0"/>
              </a:p>
              <a:p>
                <a:r>
                  <a:rPr lang="ru-RU" dirty="0"/>
                  <a:t>Важно понимать, что этот базис “движется” вместе с поверхностью — в каждой точке он свой, но устроен одинаково.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Именно в этом базисе мы интерпретируем нормали из </a:t>
                </a:r>
                <a:r>
                  <a:rPr lang="ru-RU" dirty="0" err="1"/>
                  <a:t>normal</a:t>
                </a:r>
                <a:r>
                  <a:rPr lang="ru-RU" dirty="0"/>
                  <a:t> </a:t>
                </a:r>
                <a:r>
                  <a:rPr lang="ru-RU" dirty="0" err="1"/>
                  <a:t>map</a:t>
                </a:r>
                <a:r>
                  <a:rPr lang="ru-RU" dirty="0"/>
                  <a:t>, а также переводим туда направление света и взгляда, чтобы корректно вычислить освещение.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На этом рисунке показано касательное пространство в конкретной точке поверхности.</a:t>
                </a:r>
              </a:p>
              <a:p>
                <a:endParaRPr lang="ru-RU" dirty="0"/>
              </a:p>
              <a:p>
                <a:r>
                  <a:rPr lang="ru-RU" dirty="0"/>
                  <a:t>Вектор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𝐧</a:t>
                </a:r>
                <a:r>
                  <a:rPr lang="ru-RU" dirty="0"/>
                  <a:t>— это нормаль, она направлена перпендикулярно поверхности.</a:t>
                </a:r>
              </a:p>
              <a:p>
                <a:r>
                  <a:rPr lang="ru-RU" dirty="0"/>
                  <a:t>Вектор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</a:t>
                </a:r>
                <a:r>
                  <a:rPr lang="ru-RU" dirty="0"/>
                  <a:t>— касательная, лежит в плоскости поверхности и обычно направлена вдоль оси U текстурных координат.</a:t>
                </a:r>
              </a:p>
              <a:p>
                <a:r>
                  <a:rPr lang="ru-RU" dirty="0"/>
                  <a:t>И третий вектор — бинормаль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𝐛</a:t>
                </a:r>
                <a:r>
                  <a:rPr lang="ru-RU" dirty="0"/>
                  <a:t>, который тоже лежит в плоскости и получается как векторное произведение касательной и нормали.</a:t>
                </a:r>
              </a:p>
              <a:p>
                <a:endParaRPr lang="ru-RU" dirty="0"/>
              </a:p>
              <a:p>
                <a:r>
                  <a:rPr lang="ru-RU" dirty="0"/>
                  <a:t>Эти три вектора образуют локальный базис в данной точке поверхности.</a:t>
                </a:r>
              </a:p>
              <a:p>
                <a:endParaRPr lang="ru-RU" dirty="0"/>
              </a:p>
              <a:p>
                <a:r>
                  <a:rPr lang="ru-RU" dirty="0"/>
                  <a:t>Важно понимать, что этот базис “движется” вместе с поверхностью — в каждой точке он свой, но устроен одинаково.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Именно в этом базисе мы интерпретируем нормали из </a:t>
                </a:r>
                <a:r>
                  <a:rPr lang="ru-RU" dirty="0" err="1"/>
                  <a:t>normal</a:t>
                </a:r>
                <a:r>
                  <a:rPr lang="ru-RU" dirty="0"/>
                  <a:t> </a:t>
                </a:r>
                <a:r>
                  <a:rPr lang="ru-RU" dirty="0" err="1"/>
                  <a:t>map</a:t>
                </a:r>
                <a:r>
                  <a:rPr lang="ru-RU" dirty="0"/>
                  <a:t>, а также переводим туда направление света и взгляда, чтобы корректно вычислить освещение.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944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возникает вопрос — откуда вообще берётся касательная?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 определению, она должна лежать в плоскости поверхности и быть перпендикулярной нормали. Но этого недостаточно — таких векторов бесконечно много.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мы используем текстурные координаты. Они задают направление на поверхности: ось U и ось V.</a:t>
            </a:r>
          </a:p>
          <a:p>
            <a:r>
              <a:rPr lang="ru-RU" dirty="0"/>
              <a:t>Обычно касательная направляется вдоль оси U. Это позволяет связать геометрию объекта с текстурой.</a:t>
            </a:r>
          </a:p>
          <a:p>
            <a:r>
              <a:rPr lang="ru-RU" dirty="0"/>
              <a:t>Очень важный момент — касательные должны быть согласованы для всей модели. Если они вычислены неправильно или несогласованно,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будет давать заметные артефакты.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130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выглядит </a:t>
            </a:r>
            <a:r>
              <a:rPr lang="ru-RU" dirty="0" err="1"/>
              <a:t>формульно</a:t>
            </a:r>
            <a:r>
              <a:rPr lang="ru-RU" dirty="0"/>
              <a:t>, но на самом деле идея здесь довольно простая.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есть треугольник в 3D-пространстве и соответствующий ему треугольник в текстурных координатах.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мы вычисляем два вектора на поверхности — это рёбра треугольника. Затем смотрим, как этим рёбрам соответствуют изменения в UV-пространстве.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мы решаем задачу: если в текстуре мы двигаемся вдоль оси U или вдоль оси V, в каком направлении это движение происходит в 3D?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Ответ на этот вопрос и даёт нам касательную и бинормаль.</a:t>
            </a:r>
          </a:p>
          <a:p>
            <a:r>
              <a:rPr lang="ru-RU" dirty="0"/>
              <a:t>После этого нормаль можно получить как векторное произведение этих двух векторов.</a:t>
            </a:r>
          </a:p>
          <a:p>
            <a:r>
              <a:rPr lang="ru-RU" dirty="0"/>
              <a:t>Формулы, которые были на предыдущем слайде, — это просто компактная запись этих вычислений. Но важно запомнить именно смысл: мы сопоставляем направление в текстуре с направлением на поверхности.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9372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483A-3FD4-F715-CCE4-19CAAA91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3076A-0454-E5DC-0C97-6B1A2AF9A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9DD3B-F251-DC2C-1868-19DA22CB2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AD8F8-748C-9A50-0BC4-700A59AAA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589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практической реализации вычисления касательного вектора на стороне CPU.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вход функция получает три вершины треугольника и их текстурные координаты.</a:t>
            </a:r>
          </a:p>
          <a:p>
            <a:r>
              <a:rPr lang="ru-RU" dirty="0"/>
              <a:t>Сначала вычисляется знаменатель — он отражает, насколько “растянута” текстура на данном треугольнике. Важно, чтобы он не был равен нулю, иначе вычисление станет некорректным.</a:t>
            </a:r>
          </a:p>
          <a:p>
            <a:r>
              <a:rPr lang="ru-RU" dirty="0"/>
              <a:t>Далее считается числитель — это комбинация рёбер треугольника с учётом изменений по координате V.</a:t>
            </a:r>
          </a:p>
          <a:p>
            <a:r>
              <a:rPr lang="ru-RU" dirty="0"/>
              <a:t>Затем мы делим числитель на знаменатель и получаем касательный вектор, соответствующий направлению оси U в текстурном пространстве.</a:t>
            </a:r>
          </a:p>
          <a:p>
            <a:r>
              <a:rPr lang="ru-RU" dirty="0"/>
              <a:t>И в конце обязательно нормализуем результат, чтобы получить единичный вектор.</a:t>
            </a:r>
          </a:p>
          <a:p>
            <a:r>
              <a:rPr lang="ru-RU" dirty="0"/>
              <a:t>Такая функция обычно применяется при загрузке модели, чтобы заранее вычислить касательные для всех вершин и затем передать их в шейдер.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9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разберёмся, как мы вообще попадаем в касательное пространство.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До этого все вычисления — например, направление на источник света или на камеру — мы делали в мировой или в системе координат наблюдателя.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задана в касательном пространстве. Это значит, что нам нужно привести все векторы к одной системе координат.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используется так называемая TBN-матрица. Она составляется из трёх векторов: касательной, бинормали и нормали. По сути, это базис, который задаёт локальную систему координат поверхности.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всё просто: мы берём любой вектор — например, направление на источник света — и умножаем его на эту матрицу. В результате получаем этот же вектор, но уже в касательном пространстве.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после этого мы можем корректно использовать нормали из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и выполнять освещение.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1939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вершинный шейдер уже выполняет довольно серьёзную подготовительную работу для </a:t>
            </a:r>
            <a:r>
              <a:rPr lang="ru-RU" dirty="0" err="1"/>
              <a:t>bump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.</a:t>
            </a:r>
          </a:p>
          <a:p>
            <a:r>
              <a:rPr lang="ru-RU" dirty="0"/>
              <a:t>Сначала всё стандартно: мы преобразуем вершину и передаём текстурные координаты во фрагментный шейдер.</a:t>
            </a:r>
          </a:p>
          <a:p>
            <a:endParaRPr lang="ru-RU" dirty="0"/>
          </a:p>
          <a:p>
            <a:r>
              <a:rPr lang="ru-RU" dirty="0"/>
              <a:t>Далее начинается ключевая часть — подготовка базиса касательного пространства. Мы преобразуем нормаль и касательную в систему координат наблюдателя, а затем вычисляем бинормаль как их векторное произведение.</a:t>
            </a:r>
          </a:p>
          <a:p>
            <a:endParaRPr lang="ru-RU" dirty="0"/>
          </a:p>
          <a:p>
            <a:r>
              <a:rPr lang="ru-RU" dirty="0"/>
              <a:t>Таким образом, в каждой вершине мы получаем локальный базис из трёх векторов: T, B и N.</a:t>
            </a:r>
          </a:p>
          <a:p>
            <a:endParaRPr lang="ru-RU" dirty="0"/>
          </a:p>
          <a:p>
            <a:r>
              <a:rPr lang="ru-RU" dirty="0"/>
              <a:t>После этого мы вычисляем направления на источник света и на наблюдателя и переводим их в касательное пространство с помощью этого базиса.</a:t>
            </a:r>
          </a:p>
          <a:p>
            <a:endParaRPr lang="ru-RU" dirty="0"/>
          </a:p>
          <a:p>
            <a:r>
              <a:rPr lang="ru-RU" dirty="0"/>
              <a:t>В итоге во фрагментный шейдер передаются уже подготовленные данные, и он может напрямую использовать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для расчёта освещения.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3418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приведён полный пример вершинного шейдера для реализации </a:t>
            </a:r>
            <a:r>
              <a:rPr lang="ru-RU" dirty="0" err="1"/>
              <a:t>bump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выполняются стандартные операции — преобразование вершины и передача текстурных координат во фрагментный шейдер.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мы формируем базис касательного пространства. Для этого нормаль и касательная преобразуются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gl_NormalMatrix</a:t>
            </a:r>
            <a:r>
              <a:rPr lang="ru-RU" dirty="0"/>
              <a:t> и нормализуются. Затем вычисляется бинормаль как векторное произведение этих двух векторов.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этого мы переходим к вычислению направлений на источник света и на наблюдателя, но пока ещё в системе координат наблюдателя.</a:t>
            </a:r>
          </a:p>
          <a:p>
            <a:r>
              <a:rPr lang="ru-RU" dirty="0"/>
              <a:t>И ключевой момент — мы переводим эти направления в касательное пространство. Это делается с помощью скалярных произведений с векторами T, B и N. По сути, это умножение на TBN-матрицу, только записанное в явном виде.</a:t>
            </a:r>
          </a:p>
          <a:p>
            <a:r>
              <a:rPr lang="ru-RU" dirty="0"/>
              <a:t>В результате мы получаем направления света и взгляда уже в касательном пространстве и передаём их во фрагментный шейдер. Именно там они будут использоваться вместе с нормалью из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для вычисления освещения.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2819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вся основная магия происходит во фрагментном шейдере.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мы извлекаем нормаль из карты нормалей. Но важно помнить, что в текстуре значения лежат в диапазоне от нуля до единицы, а нам нужны значения от минус единицы до единицы. Поэтому мы выполняем преобразование — сдвигаем и масштабируем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этого у нас есть нормаль в касательном пространстве, и мы можем использовать её для расчёта освещения.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всё знакомо: считаем диффузную составляющую по модели Ламберта и зеркальную — по модели Фонга.</a:t>
            </a:r>
          </a:p>
          <a:p>
            <a:r>
              <a:rPr lang="ru-RU" dirty="0"/>
              <a:t>И в конце складываем эти компоненты, получая итоговый цвет пикселя.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Ключевая идея здесь в том, что мы используем нормаль не из геометрии, а из текстуры — именно это и создаёт иллюзию сложной поверхности.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9780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выносим расчёты освещения в отдельные функции, чтобы сделать код более понятным и переиспользуемым.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есть две основные функции: одна отвечает за диффузную составляющую по модели Ламберта, вторая — за зеркальную по модели Фонга.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обе функции передаются нормаль, направления света и взгляда, а также параметры материала и источника света.</a:t>
            </a:r>
          </a:p>
          <a:p>
            <a:r>
              <a:rPr lang="ru-RU" dirty="0"/>
              <a:t>Обратите внимание, что в расчётах также учитывается коэффициент ослабления света — он позволяет сделать освещение более реалистичным, уменьшая интенсивность с расстоянием.</a:t>
            </a:r>
          </a:p>
          <a:p>
            <a:r>
              <a:rPr lang="ru-RU" dirty="0"/>
              <a:t>Такое разбиение кода — это хороший стиль: мы отделяем математическую модель освещения от основной логики шейдера.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6976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всё это используется в основном коде шейдера.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мы получаем текстурные координаты и извлекаем нормаль из карты нормалей, преобразуя её из диапазона текстуры в нужный диапазон значений.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Затем нормализуем направления на свет и на наблюдателя. Также вычисляем расстояние до источника света и коэффициент затухания — это делает освещение более физически правдоподобным.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мы получаем цвет материала, комбинируя его с текстурой.</a:t>
            </a:r>
          </a:p>
          <a:p>
            <a:r>
              <a:rPr lang="ru-RU" dirty="0"/>
              <a:t>После этого последовательно вычисляем диффузную и зеркальную составляющие, используя функции с предыдущего слайда.</a:t>
            </a:r>
          </a:p>
          <a:p>
            <a:r>
              <a:rPr lang="ru-RU" dirty="0"/>
              <a:t>И в конце складываем их, получая итоговый цвет фрагмента.</a:t>
            </a:r>
          </a:p>
          <a:p>
            <a:r>
              <a:rPr lang="ru-RU" dirty="0"/>
              <a:t>Таким образом, здесь объединяются все ключевые элементы: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, освещение и текстурирование, что даёт уже достаточно реалистичный результат.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812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5442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6074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можно реализовать отражения.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Идея здесь достаточно элегантная: вместо того чтобы реально трассировать лучи и искать, что отражается в поверхности, мы используем заранее подготовленную текстуру окружающей среды.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мы вычисляем отражённый вектор — направление, в котором “уходит” отражённый луч света относительно поверхности. Это делается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reflect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Затем этот вектор используется как координата для выборки из специальной текстуры — </a:t>
            </a:r>
            <a:r>
              <a:rPr lang="ru-RU" dirty="0" err="1"/>
              <a:t>cubemap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Cubemap</a:t>
            </a:r>
            <a:r>
              <a:rPr lang="ru-RU" dirty="0"/>
              <a:t> — это набор из шести текстур, которые образуют куб вокруг сцены и содержат изображение окружающей среды.</a:t>
            </a:r>
          </a:p>
          <a:p>
            <a:r>
              <a:rPr lang="ru-RU" dirty="0"/>
              <a:t>В результате, в зависимости от направления отражения, мы берём соответствующий цвет из этой текстуры — и создаётся иллюзия зеркальной поверхности.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не физически точное отражение, но очень быстрый и широко используемый метод в реальной графике.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3279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изображении показано, как формируется </a:t>
            </a:r>
            <a:r>
              <a:rPr lang="ru-RU" dirty="0" err="1"/>
              <a:t>cubemap</a:t>
            </a:r>
            <a:r>
              <a:rPr lang="ru-RU" dirty="0"/>
              <a:t> и как он используется для отражений.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Сверху вы видите шесть изображений — это грани куба, каждая из которых хранит вид сцены в определённом направлении: вперёд, назад, влево, вправо, вверх и вниз. Вместе они образуют полное окружение вокруг точки.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Снизу слева показана сама сцена, а справа — результат применения </a:t>
            </a:r>
            <a:r>
              <a:rPr lang="ru-RU" dirty="0" err="1"/>
              <a:t>cubemap</a:t>
            </a:r>
            <a:r>
              <a:rPr lang="ru-RU" dirty="0"/>
              <a:t>. Обратите внимание на белый куб: на его поверхности видны отражения окружающих объектов.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эти отражения берутся не из реального рендеринга сцены в данный момент, а из заранее подготовленной кубической текстуры.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мы вычисляем отражённый вектор, он указывает направление, откуда “приходит” отражённый свет. И именно по этому направлению мы делаем выборку из </a:t>
            </a:r>
            <a:r>
              <a:rPr lang="ru-RU" dirty="0" err="1"/>
              <a:t>cubemap</a:t>
            </a:r>
            <a:r>
              <a:rPr lang="ru-RU" dirty="0"/>
              <a:t>.</a:t>
            </a:r>
          </a:p>
          <a:p>
            <a:r>
              <a:rPr lang="ru-RU" dirty="0"/>
              <a:t>В результате создаётся убедительная иллюзия отражающей поверхности, при этом вычисления остаются очень быстрыми.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0163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Здесь показано, как именно происходит выборка данных из кубической текстуры.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В отличие от обычной 2</a:t>
                </a:r>
                <a:r>
                  <a:rPr lang="en-US" dirty="0"/>
                  <a:t>D-</a:t>
                </a:r>
                <a:r>
                  <a:rPr lang="ru-RU" dirty="0"/>
                  <a:t>текстуры, где используются координаты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ru-RU" dirty="0"/>
                  <a:t>в </a:t>
                </a:r>
                <a:r>
                  <a:rPr lang="en-US" dirty="0" err="1"/>
                  <a:t>cubemap</a:t>
                </a:r>
                <a:r>
                  <a:rPr lang="en-US" dirty="0"/>
                  <a:t> </a:t>
                </a:r>
                <a:r>
                  <a:rPr lang="ru-RU" dirty="0"/>
                  <a:t>мы используем трёхмерный вектор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ru-RU" dirty="0"/>
                  <a:t>Этот вектор задаёт не точку на поверхности, а направление в пространстве. Именно по этому направлению система определяет, к какой грани куба обратиться и какую точку на ней выбрать.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На практике это выглядит так: мы передаём в функцию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textureCube</a:t>
                </a:r>
                <a:r>
                  <a:rPr lang="en-US" dirty="0"/>
                  <a:t> </a:t>
                </a:r>
                <a:r>
                  <a:rPr lang="ru-RU" dirty="0"/>
                  <a:t>некоторый вектор — например, отражённый вектор — и получаем цвет из окружающей среды в этом направлении.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Таким образом, </a:t>
                </a:r>
                <a:r>
                  <a:rPr lang="en-US" dirty="0" err="1"/>
                  <a:t>cubemap</a:t>
                </a:r>
                <a:r>
                  <a:rPr lang="en-US" dirty="0"/>
                  <a:t> </a:t>
                </a:r>
                <a:r>
                  <a:rPr lang="ru-RU" dirty="0"/>
                  <a:t>работает как функция “цвет по направлению”, что идеально подходит для реализации отражений.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Здесь показано, как именно происходит выборка данных из кубической текстуры.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В отличие от обычной 2</a:t>
                </a:r>
                <a:r>
                  <a:rPr lang="en-US" dirty="0"/>
                  <a:t>D-</a:t>
                </a:r>
                <a:r>
                  <a:rPr lang="ru-RU" dirty="0"/>
                  <a:t>текстуры, где используются координаты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(𝑢ⓜ,𝑣)</a:t>
                </a:r>
                <a:r>
                  <a:rPr lang="ar-AE" dirty="0"/>
                  <a:t>, </a:t>
                </a:r>
                <a:r>
                  <a:rPr lang="ru-RU" dirty="0"/>
                  <a:t>в </a:t>
                </a:r>
                <a:r>
                  <a:rPr lang="en-US" dirty="0" err="1"/>
                  <a:t>cubemap</a:t>
                </a:r>
                <a:r>
                  <a:rPr lang="en-US" dirty="0"/>
                  <a:t> </a:t>
                </a:r>
                <a:r>
                  <a:rPr lang="ru-RU" dirty="0"/>
                  <a:t>мы используем трёхмерный вектор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(𝑠ⓜ,𝑡ⓜ,𝑝)</a:t>
                </a:r>
                <a:r>
                  <a:rPr lang="ar-AE" dirty="0"/>
                  <a:t>.</a:t>
                </a:r>
              </a:p>
              <a:p>
                <a:r>
                  <a:rPr lang="ru-RU" dirty="0"/>
                  <a:t>Этот вектор задаёт не точку на поверхности, а направление в пространстве. Именно по этому направлению система определяет, к какой грани куба обратиться и какую точку на ней выбрать.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На практике это выглядит так: мы передаём в функцию </a:t>
                </a:r>
                <a:r>
                  <a:rPr lang="en-US" sz="1200" kern="120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textureCube</a:t>
                </a:r>
                <a:r>
                  <a:rPr lang="en-US" dirty="0"/>
                  <a:t> </a:t>
                </a:r>
                <a:r>
                  <a:rPr lang="ru-RU" dirty="0"/>
                  <a:t>некоторый вектор — например, отражённый вектор — и получаем цвет из окружающей среды в этом направлении.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Таким образом, </a:t>
                </a:r>
                <a:r>
                  <a:rPr lang="en-US" dirty="0" err="1"/>
                  <a:t>cubemap</a:t>
                </a:r>
                <a:r>
                  <a:rPr lang="en-US" dirty="0"/>
                  <a:t> </a:t>
                </a:r>
                <a:r>
                  <a:rPr lang="ru-RU" dirty="0"/>
                  <a:t>работает как функция “цвет по направлению”, что идеально подходит для реализации отражений.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8494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На этом слайде показана геометрическая идея отражения.</a:t>
                </a:r>
              </a:p>
              <a:p>
                <a:r>
                  <a:rPr lang="ru-RU" dirty="0"/>
                  <a:t>У нас есть вектор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𝐯</m:t>
                    </m:r>
                  </m:oMath>
                </a14:m>
                <a:r>
                  <a:rPr lang="ru-RU" dirty="0"/>
                  <a:t>— это направление от точки поверхности к камере, и нормаль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𝐧</m:t>
                    </m:r>
                  </m:oMath>
                </a14:m>
                <a:r>
                  <a:rPr lang="ru-RU" dirty="0"/>
                  <a:t>— перпендикуляр к поверхности.</a:t>
                </a:r>
              </a:p>
              <a:p>
                <a:r>
                  <a:rPr lang="ru-RU" dirty="0"/>
                  <a:t>По этим двум векторам мы можем вычислить отражённый вектор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𝐫</m:t>
                    </m:r>
                  </m:oMath>
                </a14:m>
                <a:r>
                  <a:rPr lang="ru-RU" dirty="0"/>
                  <a:t>. Он симметричен вектору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𝐯</m:t>
                    </m:r>
                  </m:oMath>
                </a14:m>
                <a:r>
                  <a:rPr lang="ru-RU" dirty="0"/>
                  <a:t>относительно нормали.</a:t>
                </a:r>
              </a:p>
              <a:p>
                <a:r>
                  <a:rPr lang="ru-RU" dirty="0"/>
                  <a:t>Интуитивно это соответствует закону отражения: угол падения равен углу отражения.</a:t>
                </a:r>
              </a:p>
              <a:p>
                <a:r>
                  <a:rPr lang="ru-RU" dirty="0"/>
                  <a:t>Именно этот вектор </a:t>
                </a:r>
                <a14:m>
                  <m:oMath xmlns:m="http://schemas.openxmlformats.org/officeDocument/2006/math">
                    <m:r>
                      <a:rPr lang="ru-RU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𝐫</m:t>
                    </m:r>
                  </m:oMath>
                </a14:m>
                <a:r>
                  <a:rPr lang="ru-RU" dirty="0"/>
                  <a:t>мы затем используем для выборки из </a:t>
                </a:r>
                <a:r>
                  <a:rPr lang="ru-RU" dirty="0" err="1"/>
                  <a:t>cubemap</a:t>
                </a:r>
                <a:r>
                  <a:rPr lang="ru-RU" dirty="0"/>
                  <a:t>. Он указывает направление, в котором “смотрит” отражение.</a:t>
                </a:r>
              </a:p>
              <a:p>
                <a:r>
                  <a:rPr lang="ru-RU" dirty="0"/>
                  <a:t>Таким образом, мы не ищем реальные объекты в сцене, а просто берём цвет из окружающей среды в нужном направлении — и получаем эффект зеркальной поверхности.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На этом слайде показана геометрическая идея отражения.</a:t>
                </a:r>
              </a:p>
              <a:p>
                <a:r>
                  <a:rPr lang="ru-RU" dirty="0"/>
                  <a:t>У нас есть вектор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𝐯</a:t>
                </a:r>
                <a:r>
                  <a:rPr lang="ru-RU" dirty="0"/>
                  <a:t>— это направление от точки поверхности к камере, и нормаль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𝐧</a:t>
                </a:r>
                <a:r>
                  <a:rPr lang="ru-RU" dirty="0"/>
                  <a:t>— перпендикуляр к поверхности.</a:t>
                </a:r>
              </a:p>
              <a:p>
                <a:r>
                  <a:rPr lang="ru-RU" dirty="0"/>
                  <a:t>По этим двум векторам мы можем вычислить отражённый вектор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ru-RU" dirty="0"/>
                  <a:t>. Он симметричен вектору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𝐯</a:t>
                </a:r>
                <a:r>
                  <a:rPr lang="ru-RU" dirty="0"/>
                  <a:t>относительно нормали.</a:t>
                </a:r>
              </a:p>
              <a:p>
                <a:r>
                  <a:rPr lang="ru-RU" dirty="0"/>
                  <a:t>Интуитивно это соответствует закону отражения: угол падения равен углу отражения.</a:t>
                </a:r>
              </a:p>
              <a:p>
                <a:r>
                  <a:rPr lang="ru-RU" dirty="0"/>
                  <a:t>Именно этот вектор </a:t>
                </a:r>
                <a:r>
                  <a:rPr lang="ru-R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ru-RU" dirty="0"/>
                  <a:t>мы затем используем для выборки из </a:t>
                </a:r>
                <a:r>
                  <a:rPr lang="ru-RU" dirty="0" err="1"/>
                  <a:t>cubemap</a:t>
                </a:r>
                <a:r>
                  <a:rPr lang="ru-RU" dirty="0"/>
                  <a:t>. Он указывает направление, в котором “смотрит” отражение.</a:t>
                </a:r>
              </a:p>
              <a:p>
                <a:r>
                  <a:rPr lang="ru-RU" dirty="0"/>
                  <a:t>Таким образом, мы не ищем реальные объекты в сцене, а просто берём цвет из окружающей среды в нужном направлении — и получаем эффект зеркальной поверхности.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6210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реализации отражений возникает важный вопрос — в какой системе координат выполнять вычисления.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есть несколько вариантов: можно считать в объектном пространстве, в системе координат камеры или в мировой системе координат.</a:t>
            </a:r>
          </a:p>
          <a:p>
            <a:endParaRPr lang="ru-RU" dirty="0"/>
          </a:p>
          <a:p>
            <a:r>
              <a:rPr lang="ru-RU" dirty="0"/>
              <a:t>На практике чаще всего используется мировая система координат.</a:t>
            </a:r>
          </a:p>
          <a:p>
            <a:r>
              <a:rPr lang="ru-RU" dirty="0"/>
              <a:t>Почему? Потому что и камера, и окружающая среда, представленная в </a:t>
            </a:r>
            <a:r>
              <a:rPr lang="ru-RU" dirty="0" err="1"/>
              <a:t>cubemap</a:t>
            </a:r>
            <a:r>
              <a:rPr lang="ru-RU" dirty="0"/>
              <a:t>, заданы именно в мировом пространстве.</a:t>
            </a:r>
          </a:p>
          <a:p>
            <a:endParaRPr lang="ru-RU" dirty="0"/>
          </a:p>
          <a:p>
            <a:r>
              <a:rPr lang="ru-RU" dirty="0"/>
              <a:t>Это позволяет напрямую вычислять отражённый вектор и использовать его для выборки из </a:t>
            </a:r>
            <a:r>
              <a:rPr lang="ru-RU" dirty="0" err="1"/>
              <a:t>cubemap</a:t>
            </a:r>
            <a:r>
              <a:rPr lang="ru-RU" dirty="0"/>
              <a:t> без дополнительных преобразований.</a:t>
            </a:r>
          </a:p>
          <a:p>
            <a:endParaRPr lang="ru-RU" dirty="0"/>
          </a:p>
          <a:p>
            <a:r>
              <a:rPr lang="ru-RU" dirty="0"/>
              <a:t>Если бы мы использовали, например, объектное пространство, нам пришлось бы дополнительно преобразовывать направления, что усложнило бы код и увеличило вероятность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мировая система координат — это наиболее удобный и интуитивный выбор для расчёта отражений.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6125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вершинный шейдер в современном стиле OpenGL, который подготавливает данные для расчёта отражений.</a:t>
            </a:r>
          </a:p>
          <a:p>
            <a:endParaRPr lang="ru-RU" dirty="0"/>
          </a:p>
          <a:p>
            <a:r>
              <a:rPr lang="ru-RU" dirty="0"/>
              <a:t>Сначала мы получаем позицию вершины и её нормаль как входные атрибуты.</a:t>
            </a:r>
          </a:p>
          <a:p>
            <a:endParaRPr lang="ru-RU" dirty="0"/>
          </a:p>
          <a:p>
            <a:r>
              <a:rPr lang="ru-RU" dirty="0"/>
              <a:t>Далее вычисляем позицию вершины в мировой системе координат, умножая её на матрицу модели. Это значение мы сохраняем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v_worldPos</a:t>
            </a:r>
            <a:r>
              <a:rPr lang="ru-RU" dirty="0"/>
              <a:t> и передаём во фрагментный шейдер.</a:t>
            </a:r>
          </a:p>
          <a:p>
            <a:r>
              <a:rPr lang="ru-RU" dirty="0"/>
              <a:t>Аналогично преобразуем нормаль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u_normalMatrix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важно, потому что нормали нельзя просто умножать на матрицу модели — нужно использовать специальную матрицу, чтобы сохранить корректное направление.</a:t>
            </a:r>
          </a:p>
          <a:p>
            <a:endParaRPr lang="ru-RU" dirty="0"/>
          </a:p>
          <a:p>
            <a:r>
              <a:rPr lang="ru-RU" dirty="0"/>
              <a:t>И в конце вычисляем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gl_Position</a:t>
            </a:r>
            <a:r>
              <a:rPr lang="ru-RU" dirty="0"/>
              <a:t>, чтобы отобразить вершину на экране.</a:t>
            </a:r>
          </a:p>
          <a:p>
            <a:endParaRPr lang="ru-RU" dirty="0"/>
          </a:p>
          <a:p>
            <a:r>
              <a:rPr lang="ru-RU" dirty="0"/>
              <a:t>В результате во фрагментный шейдер передаются мировая позиция и нормаль — именно они будут использоваться для вычисления отражённого вектора и выборки из </a:t>
            </a:r>
            <a:r>
              <a:rPr lang="ru-RU" dirty="0" err="1"/>
              <a:t>cubemap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5310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фрагментный шейдер, который реализует отражения с использованием </a:t>
            </a:r>
            <a:r>
              <a:rPr lang="ru-RU" dirty="0" err="1"/>
              <a:t>cubemap</a:t>
            </a:r>
            <a:r>
              <a:rPr lang="ru-RU" dirty="0"/>
              <a:t>.</a:t>
            </a:r>
          </a:p>
          <a:p>
            <a:r>
              <a:rPr lang="ru-RU" dirty="0"/>
              <a:t>Сначала мы восстанавливаем необходимые векторы в мировой системе координат — направление на источник света и нормаль поверхности. Оба вектора нормализуются, чтобы корректно участвовать в вычислениях.</a:t>
            </a:r>
          </a:p>
          <a:p>
            <a:endParaRPr lang="ru-RU" dirty="0"/>
          </a:p>
          <a:p>
            <a:r>
              <a:rPr lang="ru-RU" dirty="0"/>
              <a:t>Далее ключевой шаг — вычисление отражённого вектора. Мы берём направление от камеры к текущей точке поверхности и отражаем его относительно нормали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reflect</a:t>
            </a:r>
            <a:r>
              <a:rPr lang="ru-RU" dirty="0"/>
              <a:t>.</a:t>
            </a:r>
          </a:p>
          <a:p>
            <a:r>
              <a:rPr lang="ru-RU" dirty="0"/>
              <a:t>Этот отражённый вектор используется как координата для выборки из кубической текстуры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u_envMap</a:t>
            </a:r>
            <a:r>
              <a:rPr lang="ru-RU" dirty="0"/>
              <a:t>. Таким образом, мы получаем цвет окружающей среды в направлении отражения.</a:t>
            </a:r>
          </a:p>
          <a:p>
            <a:r>
              <a:rPr lang="ru-RU" dirty="0"/>
              <a:t>После этого добавляем простую модель освещения — считаем диффузную составляющую и добавляем небольшую константную фоновую компоненту.</a:t>
            </a:r>
          </a:p>
          <a:p>
            <a:r>
              <a:rPr lang="ru-RU" dirty="0"/>
              <a:t>В итоге цвет поверхности формируется как комбинация отражения и освещения, что даёт эффект зеркального материала с учётом освещения сцены.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133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кода на стороне приложения, который подготавливает и передаёт данные в шейдер.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Activate</a:t>
            </a:r>
            <a:r>
              <a:rPr lang="ru-RU" dirty="0"/>
              <a:t> активирует </a:t>
            </a:r>
            <a:r>
              <a:rPr lang="ru-RU" dirty="0" err="1"/>
              <a:t>шейдерную</a:t>
            </a:r>
            <a:r>
              <a:rPr lang="ru-RU" dirty="0"/>
              <a:t> программу и затем устанавливает все необходимые </a:t>
            </a:r>
            <a:r>
              <a:rPr lang="ru-RU" dirty="0" err="1"/>
              <a:t>uniform</a:t>
            </a:r>
            <a:r>
              <a:rPr lang="ru-RU" dirty="0"/>
              <a:t>-переменные.</a:t>
            </a:r>
          </a:p>
          <a:p>
            <a:endParaRPr lang="ru-RU" dirty="0"/>
          </a:p>
          <a:p>
            <a:r>
              <a:rPr lang="ru-RU" dirty="0"/>
              <a:t>Сначала вычисляется матрица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ModelViewProjection</a:t>
            </a:r>
            <a:r>
              <a:rPr lang="ru-RU" dirty="0"/>
              <a:t>, которая объединяет преобразования модели, камеры и проекции, и передаётся в шейдер.</a:t>
            </a:r>
          </a:p>
          <a:p>
            <a:endParaRPr lang="ru-RU" dirty="0"/>
          </a:p>
          <a:p>
            <a:r>
              <a:rPr lang="ru-RU" dirty="0"/>
              <a:t>Затем отдельно передаётся матрица модели — она нужна, например, для вычислений в мировой системе координат.</a:t>
            </a:r>
          </a:p>
          <a:p>
            <a:r>
              <a:rPr lang="ru-RU" dirty="0"/>
              <a:t>Также вычисляется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normalMatrix</a:t>
            </a:r>
            <a:r>
              <a:rPr lang="ru-RU" dirty="0"/>
              <a:t> — это обратная транспонированная матрица, используемая для корректного преобразования нормалей.</a:t>
            </a:r>
          </a:p>
          <a:p>
            <a:endParaRPr lang="ru-RU" dirty="0"/>
          </a:p>
          <a:p>
            <a:r>
              <a:rPr lang="ru-RU" dirty="0"/>
              <a:t>Далее мы извлекаем позицию камеры из матрицы вида и передаём её в шейдер. Это необходимо для вычисления отражённого вектора.</a:t>
            </a:r>
          </a:p>
          <a:p>
            <a:endParaRPr lang="ru-RU" dirty="0"/>
          </a:p>
          <a:p>
            <a:r>
              <a:rPr lang="ru-RU" dirty="0"/>
              <a:t>И наконец, передаём индекс текстурного юнита, в котором находится </a:t>
            </a:r>
            <a:r>
              <a:rPr lang="ru-RU" dirty="0" err="1"/>
              <a:t>cubemap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этот код связывает CPU и GPU: он подготавливает все данные, которые шейдер будет использовать для расчёта освещения и отражений.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3846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загрузки кубической текстуры на стороне приложения.</a:t>
            </a:r>
          </a:p>
          <a:p>
            <a:endParaRPr lang="ru-RU" dirty="0"/>
          </a:p>
          <a:p>
            <a:r>
              <a:rPr lang="ru-RU" dirty="0" err="1"/>
              <a:t>Cubemap</a:t>
            </a:r>
            <a:r>
              <a:rPr lang="ru-RU" dirty="0"/>
              <a:t> состоит из шести изображений — по одному для каждой грани куба: положительные и отрицательные направления по осям X, Y и Z.</a:t>
            </a:r>
          </a:p>
          <a:p>
            <a:endParaRPr lang="ru-RU" dirty="0"/>
          </a:p>
          <a:p>
            <a:r>
              <a:rPr lang="ru-RU" dirty="0"/>
              <a:t>Сначала создаётся и привязывается текстура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GL_TEXTURE_CUBE_MAP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в цикле загружаются шесть изображений. Обратите внимание, что каждая текстура привязывается к своей грани куба с помощью констант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GL_TEXTURE_CUBE_MAP_POSITIVE_X + i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загрузки всех граней генерируются </a:t>
            </a:r>
            <a:r>
              <a:rPr lang="ru-RU" dirty="0" err="1"/>
              <a:t>mipmap’ы</a:t>
            </a:r>
            <a:r>
              <a:rPr lang="ru-RU" dirty="0"/>
              <a:t> — это важно для корректной фильтрации текстуры на разных расстояниях.</a:t>
            </a:r>
          </a:p>
          <a:p>
            <a:endParaRPr lang="ru-RU" dirty="0"/>
          </a:p>
          <a:p>
            <a:r>
              <a:rPr lang="ru-RU" dirty="0"/>
              <a:t>В конце выполняется проверка на ошибки.</a:t>
            </a:r>
          </a:p>
          <a:p>
            <a:r>
              <a:rPr lang="ru-RU" dirty="0"/>
              <a:t>Таким образом, мы собираем </a:t>
            </a:r>
            <a:r>
              <a:rPr lang="ru-RU" dirty="0" err="1"/>
              <a:t>cubemap</a:t>
            </a:r>
            <a:r>
              <a:rPr lang="ru-RU" dirty="0"/>
              <a:t> из шести отдельных изображений, которая затем может использоваться в шейдере для реализации отражений.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9551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2073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основной цикл отрисовки сцены.</a:t>
            </a:r>
          </a:p>
          <a:p>
            <a:r>
              <a:rPr lang="ru-RU" dirty="0"/>
              <a:t>Сначала мы очищаем экран и буфер глубины, затем настраиваем область вывода и включаем тест глубины, чтобы корректно отображать объекты по расстоянию.</a:t>
            </a:r>
          </a:p>
          <a:p>
            <a:r>
              <a:rPr lang="ru-RU" dirty="0"/>
              <a:t>Далее задаётся матрица проекции — она определяет, как трёхмерная сцена будет отображаться на экране с учётом перспективы. Также передаётся матрица вида, которая задаёт положение и ориентацию камеры.</a:t>
            </a:r>
          </a:p>
          <a:p>
            <a:r>
              <a:rPr lang="ru-RU" dirty="0"/>
              <a:t>После этого мы активируем </a:t>
            </a:r>
            <a:r>
              <a:rPr lang="ru-RU" dirty="0" err="1"/>
              <a:t>cubemap</a:t>
            </a:r>
            <a:r>
              <a:rPr lang="ru-RU" dirty="0"/>
              <a:t>: выбираем текстурный юнит, привязываем кубическую текстуру и передаём её в шейдер.</a:t>
            </a:r>
          </a:p>
          <a:p>
            <a:r>
              <a:rPr lang="ru-RU" dirty="0"/>
              <a:t>Затем активируем </a:t>
            </a:r>
            <a:r>
              <a:rPr lang="ru-RU" dirty="0" err="1"/>
              <a:t>шейдерную</a:t>
            </a:r>
            <a:r>
              <a:rPr lang="ru-RU" dirty="0"/>
              <a:t> программу, в которую уже переданы все необходимые параметры.</a:t>
            </a:r>
          </a:p>
          <a:p>
            <a:r>
              <a:rPr lang="ru-RU" dirty="0"/>
              <a:t>И в конце вызываем рендеринг сцены.</a:t>
            </a:r>
          </a:p>
          <a:p>
            <a:r>
              <a:rPr lang="ru-RU" dirty="0"/>
              <a:t>Таким образом, здесь собирается весь </a:t>
            </a:r>
            <a:r>
              <a:rPr lang="ru-RU" dirty="0" err="1"/>
              <a:t>pipeline</a:t>
            </a:r>
            <a:r>
              <a:rPr lang="ru-RU" dirty="0"/>
              <a:t>: настройка камеры, передача текстур и запуск шейдера, который уже выполняет освещение и отражения на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897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простой пример рендеринга сцены, загруженной с помощью библиотеки </a:t>
            </a:r>
            <a:r>
              <a:rPr lang="ru-RU" dirty="0" err="1"/>
              <a:t>Assimp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Assimp</a:t>
            </a:r>
            <a:r>
              <a:rPr lang="ru-RU" dirty="0"/>
              <a:t> позволяет загружать модели из различных форматов и предоставляет удобную структуру данных — сцену, состоящую из узлов и мешей.</a:t>
            </a:r>
          </a:p>
          <a:p>
            <a:endParaRPr lang="ru-RU" dirty="0"/>
          </a:p>
          <a:p>
            <a:r>
              <a:rPr lang="ru-RU" dirty="0"/>
              <a:t>В этом классе мы задаём </a:t>
            </a:r>
            <a:r>
              <a:rPr lang="ru-RU" dirty="0" err="1"/>
              <a:t>layout</a:t>
            </a:r>
            <a:r>
              <a:rPr lang="ru-RU" dirty="0"/>
              <a:t> вершин — то есть, какие атрибуты используются, в данном случае позиция и нормаль.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RenderScene</a:t>
            </a:r>
            <a:r>
              <a:rPr lang="ru-RU" dirty="0"/>
              <a:t> — это точка входа, он начинает обход сцены с корневого узла.</a:t>
            </a:r>
          </a:p>
          <a:p>
            <a:r>
              <a:rPr lang="ru-RU" dirty="0"/>
              <a:t>Таким образом, мы не рендерим модель напрямую, а работаем с иерархией узлов, которую предоставляет </a:t>
            </a:r>
            <a:r>
              <a:rPr lang="ru-RU" dirty="0" err="1"/>
              <a:t>Assimp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3465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именно происходит обход сцены и отрисовка геометрии.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RenderNode</a:t>
            </a:r>
            <a:r>
              <a:rPr lang="ru-RU" dirty="0"/>
              <a:t> обрабатывает один узел: сначала рендерит все меши, которые к нему привязаны, а затем рекурсивно вызывает себя для всех дочерних узлов.</a:t>
            </a:r>
          </a:p>
          <a:p>
            <a:r>
              <a:rPr lang="ru-RU" dirty="0"/>
              <a:t>Таким образом, мы обходим всё дерево сцены.</a:t>
            </a:r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RenderMesh</a:t>
            </a:r>
            <a:r>
              <a:rPr lang="ru-RU" dirty="0"/>
              <a:t> происходит непосредственная отрисовка. Мы проходим по всем треугольникам меша, извлекаем вершины и нормали и передаём их в OpenGL.</a:t>
            </a:r>
          </a:p>
          <a:p>
            <a:r>
              <a:rPr lang="ru-RU" dirty="0"/>
              <a:t>Обратите внимание, что здесь используется упрощённый стиль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glEnd</a:t>
            </a:r>
            <a:r>
              <a:rPr lang="ru-RU" dirty="0"/>
              <a:t> — это сделано для наглядности, чтобы сосредоточиться на идее, а не на деталях современного OpenGL.</a:t>
            </a:r>
          </a:p>
          <a:p>
            <a:r>
              <a:rPr lang="ru-RU" dirty="0"/>
              <a:t>В результате этот код позволяет отрисовать загруженную модель и использовать её вместе с нашими шейдерами для освещения и отражений.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0639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7181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итог.</a:t>
            </a:r>
          </a:p>
          <a:p>
            <a:r>
              <a:rPr lang="ru-RU" dirty="0"/>
              <a:t>В этой лекции мы прошли полный путь от простейшего шейдера до достаточно продвинутых техник, которые используются в реальной графике.</a:t>
            </a:r>
          </a:p>
          <a:p>
            <a:endParaRPr lang="ru-RU" dirty="0"/>
          </a:p>
          <a:p>
            <a:r>
              <a:rPr lang="ru-RU" dirty="0"/>
              <a:t>Вы увидели, как работают вершинные и фрагментные шейдеры, как между ними передаются данные, и как на их основе строится освещение.</a:t>
            </a:r>
          </a:p>
          <a:p>
            <a:endParaRPr lang="ru-RU" dirty="0"/>
          </a:p>
          <a:p>
            <a:r>
              <a:rPr lang="ru-RU" dirty="0"/>
              <a:t>Мы реализовали диффузную и зеркальную составляющие, а затем добавили более сложные эффекты — такие как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, который позволяет создавать иллюзию геометрии, и отражения с помощью </a:t>
            </a:r>
            <a:r>
              <a:rPr lang="ru-RU" dirty="0" err="1"/>
              <a:t>cubemap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Самое важное, что стоит вынести из этой лекции — шейдеры дают вам полный контроль над тем, как выглядит изображение.</a:t>
            </a:r>
          </a:p>
          <a:p>
            <a:endParaRPr lang="ru-RU" dirty="0"/>
          </a:p>
          <a:p>
            <a:r>
              <a:rPr lang="ru-RU" dirty="0"/>
              <a:t>И это только начало. Дальше в компьютерной графике используются ещё более продвинутые техники — физически корректное освещение, тени, отложенный рендеринг.</a:t>
            </a:r>
          </a:p>
          <a:p>
            <a:endParaRPr lang="ru-RU" dirty="0"/>
          </a:p>
          <a:p>
            <a:r>
              <a:rPr lang="ru-RU" dirty="0"/>
              <a:t>Но база, которую вы сегодня получили, — это фундамент для понимания всех этих методов.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B86B00-C1BB-4528-A816-F0ADC000884B}" type="slidenum">
              <a:rPr lang="ru-RU" smtClean="0"/>
              <a:pPr>
                <a:defRPr/>
              </a:pPr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878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198A-AFCF-4ECA-8F33-D458E0663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DF044-A52C-4BE8-A55F-9B80371B6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5319A-564C-4C2D-B4F3-EE103536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7DFD7-BD8E-4307-96A1-266DF276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1A95D-103D-4C90-BF51-63A1E4CE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8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BE0-FB50-4AD3-B07D-B433424D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FC38-3ABD-42F8-BDEB-FD788F882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DB8FB-8720-4655-9539-E13A7311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36229-75CD-420C-91C0-E28D6468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0367-789C-4E9E-9180-E91D084C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9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3228-1F27-444E-8D6C-563BD6B3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EE3C2-0288-4679-941C-A1A7A3E55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2977-15D9-4145-9ACC-3E2527A2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BE04E-A890-4D75-A39D-2AE45285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33288-A348-46DC-9D99-DB2F7390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13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FD5B-22A6-4C60-8201-9FD9CB6E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EC2FB-182B-45D3-BA9C-358384E2E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F08D1-FA9C-4339-9C50-785851CDF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5AF2A-AC22-4F17-842F-DCB49896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2025B-9BCE-419C-B830-C83D830D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88ADD-0842-4F20-910B-EF51F472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54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39C8-E2B4-400E-AEB7-9A09D2E3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A9172-90C0-432B-8B5D-32465752C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ADA3E-B9CB-43E2-B705-BCCBA08C8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DA7D6-2AC3-46EA-90B5-60F99DC85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E1660-4060-430B-87AF-C8B9AC875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72687-D47F-4F1F-ADE8-4F25DD80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81F00-1A40-4100-A8B5-E6B6E5D1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8CDED-DD6C-4459-8D56-6D4D0C03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09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351E-5774-4433-9BC0-40DDEF35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2B176-006D-4E6E-8123-7CCCBB5A2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86B2D-C2A6-408B-9F81-04E1941F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89D02-08E7-4D10-B7E7-3965F37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113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CF50B-BC9F-465E-B2A6-03FBE07D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9CDDA-4A76-452B-ADE9-847CD764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AAC87-C181-4EEF-BF58-30CE4890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3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6109-4B19-4234-9810-16E5C334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8F53F-22FC-4406-A2F4-DA8411895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C0A8A-187E-4364-8A1E-62ACF25CA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82E68-CD40-4C8E-9494-D7AE5C48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7A5D4-1744-4C44-A64E-EDFF97B8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1BAB9-D06A-4729-8BDB-B1959E4C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72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898E-778B-4813-92E3-41FA47FA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1F414-DDC6-40DD-82D7-4019ADC4F9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A398B-7B6C-4BE5-9D33-CAD8BA175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BD0A7-479E-4FB6-B175-C10015CB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3270A-4AC4-4A7F-8F6B-A6B2425A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15AC3-0B57-4A1F-85A7-6F307C90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94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8DCC-E48A-4FA0-8D31-BC914824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03638-F97D-48AF-A36C-0A2BBEEE6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91015-602A-4EC1-8C36-1FF64CD0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23A2D-0DB7-4C2D-96D4-E2DCE5FE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C3FBC-A550-4DC2-97AD-CA4C52EB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94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5B296-929E-46D7-A3B5-69A0EBEBC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D7ED0-903B-4958-8B90-08D7D9B0A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978CC-D782-45BB-827E-40CEEB4E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9C42-CAE5-49B9-BCB3-312BDFAA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2299A-D1F3-4BA0-9090-23027701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59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46D77-F923-49BD-A034-9570CAD5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58CAE-DF3F-4A62-AD2D-C80629674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5407-38A5-4DF5-A735-F7FFA590F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ABE3CD1-D157-4188-94EE-AEA5C8D1C554}" type="datetimeFigureOut">
              <a:rPr lang="ru-RU" smtClean="0"/>
              <a:pPr>
                <a:defRPr/>
              </a:pPr>
              <a:t>14.04.2026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36F21-CAA1-4606-ADBD-A3D738B63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BEFB0-30B2-4DE3-9E97-149353B62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C870160-03D6-4BC6-AB74-BB216D46E36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77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6.jpe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jerome.jouvie.free.fr/OpenGl/Lessons/Lesson8.php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73B57-9951-46E8-AA54-4385CFAF4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ru-RU" dirty="0"/>
              <a:t>Практическое применение шейдеров в </a:t>
            </a:r>
            <a:r>
              <a:rPr lang="en-US" dirty="0"/>
              <a:t>OpenGL</a:t>
            </a:r>
            <a:endParaRPr lang="ru-R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742D32B-5A24-C4F2-60CE-79C211831D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D046-9600-9825-A643-3AB34B03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 узнаете в этой лекции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FEA89-A5BC-9202-E679-23D06C0D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работают вершинные и фрагментные шейдеры на практике </a:t>
            </a:r>
          </a:p>
          <a:p>
            <a:r>
              <a:rPr lang="ru-RU" dirty="0"/>
              <a:t>Как реализовать базовое освещение (</a:t>
            </a:r>
            <a:r>
              <a:rPr lang="ru-RU" dirty="0" err="1"/>
              <a:t>Lambert</a:t>
            </a:r>
            <a:r>
              <a:rPr lang="ru-RU" dirty="0"/>
              <a:t> и </a:t>
            </a:r>
            <a:r>
              <a:rPr lang="ru-RU" dirty="0" err="1"/>
              <a:t>Phong</a:t>
            </a:r>
            <a:r>
              <a:rPr lang="ru-RU" dirty="0"/>
              <a:t>) </a:t>
            </a:r>
          </a:p>
          <a:p>
            <a:r>
              <a:rPr lang="ru-RU" dirty="0"/>
              <a:t>Как передавать данные между шейдерами </a:t>
            </a:r>
          </a:p>
          <a:p>
            <a:r>
              <a:rPr lang="ru-RU" dirty="0"/>
              <a:t>Как добавить реализм с помощью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</a:t>
            </a:r>
          </a:p>
          <a:p>
            <a:r>
              <a:rPr lang="ru-RU" dirty="0"/>
              <a:t>Как реализовать отражения с помощью </a:t>
            </a:r>
            <a:r>
              <a:rPr lang="ru-RU" dirty="0" err="1"/>
              <a:t>cubemap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21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0709-8AF8-08AB-1F77-CB497C43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Важно: используемый стиль </a:t>
            </a:r>
            <a:r>
              <a:rPr lang="en-US" dirty="0"/>
              <a:t>OpenGL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5B62-48FE-31DB-4DBB-1D2E8AA47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лекции используется упрощённый (устаревший) стиль OpenGL:</a:t>
            </a:r>
          </a:p>
          <a:p>
            <a:pPr lvl="1"/>
            <a:r>
              <a:rPr lang="ru-RU" dirty="0" err="1"/>
              <a:t>fixed-function</a:t>
            </a:r>
            <a:r>
              <a:rPr lang="ru-RU" dirty="0"/>
              <a:t> </a:t>
            </a:r>
            <a:r>
              <a:rPr lang="ru-RU" dirty="0" err="1"/>
              <a:t>pipeline</a:t>
            </a:r>
            <a:r>
              <a:rPr lang="ru-RU" dirty="0"/>
              <a:t> и встроенные переменные (</a:t>
            </a:r>
            <a:r>
              <a:rPr lang="ru-RU" dirty="0" err="1"/>
              <a:t>gl_Vertex</a:t>
            </a:r>
            <a:r>
              <a:rPr lang="ru-RU" dirty="0"/>
              <a:t>, </a:t>
            </a:r>
            <a:r>
              <a:rPr lang="ru-RU" dirty="0" err="1"/>
              <a:t>gl_FragColor</a:t>
            </a:r>
            <a:r>
              <a:rPr lang="ru-RU" dirty="0"/>
              <a:t> и др.) </a:t>
            </a:r>
          </a:p>
          <a:p>
            <a:pPr lvl="1"/>
            <a:r>
              <a:rPr lang="ru-RU" dirty="0"/>
              <a:t>минимальный объём кода для фокусировки на логике шейдеров </a:t>
            </a:r>
          </a:p>
          <a:p>
            <a:r>
              <a:rPr lang="ru-RU" dirty="0"/>
              <a:t>Почему так:</a:t>
            </a:r>
          </a:p>
          <a:p>
            <a:pPr lvl="1"/>
            <a:r>
              <a:rPr lang="ru-RU" dirty="0"/>
              <a:t>проще понять базовые принципы работы шейдеров </a:t>
            </a:r>
          </a:p>
          <a:p>
            <a:pPr lvl="1"/>
            <a:r>
              <a:rPr lang="ru-RU" dirty="0"/>
              <a:t>меньше отвлекающих деталей </a:t>
            </a:r>
          </a:p>
          <a:p>
            <a:r>
              <a:rPr lang="ru-RU" dirty="0"/>
              <a:t>Дополнительно:</a:t>
            </a:r>
          </a:p>
          <a:p>
            <a:pPr lvl="1"/>
            <a:r>
              <a:rPr lang="ru-RU" dirty="0"/>
              <a:t>где это возможно, будет показан современный подход (</a:t>
            </a:r>
            <a:r>
              <a:rPr lang="ru-RU" dirty="0" err="1"/>
              <a:t>modern</a:t>
            </a:r>
            <a:r>
              <a:rPr lang="ru-RU" dirty="0"/>
              <a:t> OpenGL)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363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Первый шаг: базовый шейдер</a:t>
            </a:r>
          </a:p>
        </p:txBody>
      </p:sp>
      <p:sp>
        <p:nvSpPr>
          <p:cNvPr id="6147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мы сделаем:</a:t>
            </a:r>
          </a:p>
          <a:p>
            <a:pPr lvl="1"/>
            <a:r>
              <a:rPr lang="ru-RU" dirty="0"/>
              <a:t>Напишем простейший вершинный и фрагментный шейдеры </a:t>
            </a:r>
          </a:p>
          <a:p>
            <a:r>
              <a:rPr lang="ru-RU" dirty="0"/>
              <a:t>Вершинный шейдер:</a:t>
            </a:r>
          </a:p>
          <a:p>
            <a:pPr lvl="1"/>
            <a:r>
              <a:rPr lang="ru-RU" dirty="0"/>
              <a:t>Преобразует вершины в </a:t>
            </a:r>
            <a:r>
              <a:rPr lang="ru-RU" dirty="0" err="1"/>
              <a:t>clip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Использует функцию </a:t>
            </a:r>
            <a:r>
              <a:rPr lang="ru-RU" dirty="0" err="1"/>
              <a:t>ftransform</a:t>
            </a:r>
            <a:r>
              <a:rPr lang="ru-RU" dirty="0"/>
              <a:t>() </a:t>
            </a:r>
          </a:p>
          <a:p>
            <a:r>
              <a:rPr lang="ru-RU" dirty="0"/>
              <a:t>Фрагментный шейдер:</a:t>
            </a:r>
          </a:p>
          <a:p>
            <a:pPr lvl="1"/>
            <a:r>
              <a:rPr lang="ru-RU" dirty="0"/>
              <a:t>Задаёт постоянный цвет для всех пикселей </a:t>
            </a:r>
          </a:p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Объект отображается с одним цветом без освещения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Пример</a:t>
            </a:r>
          </a:p>
        </p:txBody>
      </p:sp>
      <p:sp>
        <p:nvSpPr>
          <p:cNvPr id="7171" name="TextBox 3"/>
          <p:cNvSpPr txBox="1">
            <a:spLocks noChangeArrowheads="1"/>
          </p:cNvSpPr>
          <p:nvPr/>
        </p:nvSpPr>
        <p:spPr bwMode="auto">
          <a:xfrm>
            <a:off x="851529" y="1662323"/>
            <a:ext cx="9615489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sz="1400" i="1" dirty="0">
                <a:latin typeface="Courier New" pitchFamily="49" charset="0"/>
                <a:cs typeface="Courier New" pitchFamily="49" charset="0"/>
              </a:rPr>
              <a:t>// Вершинный шейдер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аналогично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gl_Position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gl_ModelViewProjectionMatrix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gl_Vertex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gl_Position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ftransform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172" name="TextBox 4"/>
          <p:cNvSpPr txBox="1">
            <a:spLocks noChangeArrowheads="1"/>
          </p:cNvSpPr>
          <p:nvPr/>
        </p:nvSpPr>
        <p:spPr bwMode="auto">
          <a:xfrm>
            <a:off x="851529" y="3573016"/>
            <a:ext cx="5976664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sz="1400" i="1" dirty="0">
                <a:latin typeface="Courier New" pitchFamily="49" charset="0"/>
                <a:cs typeface="Courier New" pitchFamily="49" charset="0"/>
              </a:rPr>
              <a:t>// Фрагментный шейдер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ru-RU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gl_FragColor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vec4(0.5, 0.2, 0.5, 1.0);</a:t>
            </a:r>
          </a:p>
          <a:p>
            <a:pPr eaLnBrk="1" hangingPunct="1"/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2868126"/>
            <a:ext cx="3614564" cy="374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33E4-DCBB-4E80-A08E-2D08B9AD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 разный цвет вершин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258159-B736-494D-823D-CFDF6ACC852E}"/>
              </a:ext>
            </a:extLst>
          </p:cNvPr>
          <p:cNvSpPr/>
          <p:nvPr/>
        </p:nvSpPr>
        <p:spPr>
          <a:xfrm>
            <a:off x="829480" y="2636912"/>
            <a:ext cx="4186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gl_Position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ftransform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gl_FrontColor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57986-0951-4948-A5FF-B41193A4BFF6}"/>
              </a:ext>
            </a:extLst>
          </p:cNvPr>
          <p:cNvSpPr/>
          <p:nvPr/>
        </p:nvSpPr>
        <p:spPr>
          <a:xfrm>
            <a:off x="6672064" y="2642624"/>
            <a:ext cx="38164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gl_FragColor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F6551-4E88-4863-9040-77A716BE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88" y="3842953"/>
            <a:ext cx="4567545" cy="288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3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Диффузное освещение (модель Ламберта)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ru-RU" dirty="0"/>
                  <a:t>Идея:</a:t>
                </a:r>
              </a:p>
              <a:p>
                <a:r>
                  <a:rPr lang="ru-RU" dirty="0"/>
                  <a:t>Яркость зависит от угла между нормалью и направлением на источник света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endParaRPr lang="ru-RU" dirty="0"/>
              </a:p>
              <a:p>
                <a:pPr lvl="1"/>
                <a:r>
                  <a:rPr lang="en-US" dirty="0"/>
                  <a:t>I</a:t>
                </a:r>
                <a:r>
                  <a:rPr lang="en-US" baseline="-25000" dirty="0"/>
                  <a:t>d</a:t>
                </a:r>
                <a:r>
                  <a:rPr lang="en-US" dirty="0"/>
                  <a:t> – </a:t>
                </a:r>
                <a:r>
                  <a:rPr lang="ru-RU" dirty="0"/>
                  <a:t>диффузная составляющая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en-US" dirty="0"/>
                  <a:t>-</a:t>
                </a:r>
                <a:r>
                  <a:rPr lang="ru-RU" dirty="0"/>
                  <a:t> коэффициент отражения материала</a:t>
                </a:r>
              </a:p>
              <a:p>
                <a:pPr lvl="1"/>
                <a:r>
                  <a:rPr lang="en-US" dirty="0"/>
                  <a:t>I</a:t>
                </a:r>
                <a:r>
                  <a:rPr lang="en-US" baseline="-25000" dirty="0"/>
                  <a:t>s</a:t>
                </a:r>
                <a:r>
                  <a:rPr lang="en-US" dirty="0"/>
                  <a:t> – </a:t>
                </a:r>
                <a:r>
                  <a:rPr lang="ru-RU" dirty="0"/>
                  <a:t>интенсивность падающего света</a:t>
                </a:r>
              </a:p>
              <a:p>
                <a:pPr lvl="1"/>
                <a:r>
                  <a:rPr lang="en-US" dirty="0"/>
                  <a:t>s –</a:t>
                </a:r>
                <a:r>
                  <a:rPr lang="ru-RU" dirty="0"/>
                  <a:t> направление на источник света (вектор должен быть нормализован)</a:t>
                </a:r>
              </a:p>
              <a:p>
                <a:pPr lvl="1"/>
                <a:r>
                  <a:rPr lang="en-US" dirty="0"/>
                  <a:t>m – </a:t>
                </a:r>
                <a:r>
                  <a:rPr lang="ru-RU" dirty="0"/>
                  <a:t>направление нормали в точке поверхности (вектор должен быть нормализован)</a:t>
                </a:r>
              </a:p>
              <a:p>
                <a:r>
                  <a:rPr lang="ru-RU" dirty="0"/>
                  <a:t>Реализация в GLSL:</a:t>
                </a:r>
              </a:p>
              <a:p>
                <a:pPr lvl="1"/>
                <a:r>
                  <a:rPr lang="ru-RU" dirty="0"/>
                  <a:t>В фиксированном </a:t>
                </a:r>
                <a:r>
                  <a:rPr lang="ru-RU" dirty="0" err="1"/>
                  <a:t>pipeline</a:t>
                </a:r>
                <a:r>
                  <a:rPr lang="ru-RU" dirty="0"/>
                  <a:t> освещение считается в вершинах </a:t>
                </a:r>
              </a:p>
              <a:p>
                <a:pPr lvl="1"/>
                <a:r>
                  <a:rPr lang="ru-RU" dirty="0"/>
                  <a:t>Цвет интерполируется по поверхности </a:t>
                </a:r>
              </a:p>
              <a:p>
                <a:pPr lvl="1"/>
                <a:r>
                  <a:rPr lang="ru-RU" dirty="0"/>
                  <a:t>В GLSL можно считать освещение для каждого фрагмента (пикселя)</a:t>
                </a:r>
              </a:p>
              <a:p>
                <a:pPr eaLnBrk="1" hangingPunct="1"/>
                <a:endParaRPr lang="en-US" dirty="0"/>
              </a:p>
            </p:txBody>
          </p:sp>
        </mc:Choice>
        <mc:Fallback xmlns="">
          <p:sp>
            <p:nvSpPr>
              <p:cNvPr id="8195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Принцип работы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D9C09D-FEC0-4C66-C914-5275A7907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61484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Этап 1 — Вершинный шейдер:</a:t>
                </a:r>
              </a:p>
              <a:p>
                <a:pPr lvl="1"/>
                <a:r>
                  <a:rPr lang="ru-RU" dirty="0"/>
                  <a:t>Вычисляет нормаль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ru-RU" dirty="0"/>
                  <a:t> и направление на свет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ru-RU" dirty="0"/>
                  <a:t> в вершинах </a:t>
                </a:r>
              </a:p>
              <a:p>
                <a:r>
                  <a:rPr lang="ru-RU" dirty="0"/>
                  <a:t>Этап 2 — Растеризация:</a:t>
                </a:r>
              </a:p>
              <a:p>
                <a:pPr lvl="1"/>
                <a:r>
                  <a:rPr lang="ru-RU" dirty="0"/>
                  <a:t>Значения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ru-RU" dirty="0"/>
                  <a:t> интерполируются по поверхности </a:t>
                </a:r>
              </a:p>
              <a:p>
                <a:pPr lvl="1"/>
                <a:r>
                  <a:rPr lang="ru-RU" dirty="0"/>
                  <a:t>Передаются во фрагментный шейдер </a:t>
                </a:r>
              </a:p>
              <a:p>
                <a:r>
                  <a:rPr lang="ru-RU" dirty="0"/>
                  <a:t>Этап 3 — Фрагментный шейдер:</a:t>
                </a:r>
              </a:p>
              <a:p>
                <a:pPr lvl="1"/>
                <a:r>
                  <a:rPr lang="ru-RU" dirty="0"/>
                  <a:t>Нормализует интерполированные векторы </a:t>
                </a:r>
              </a:p>
              <a:p>
                <a:pPr lvl="1"/>
                <a:r>
                  <a:rPr lang="ru-RU" dirty="0"/>
                  <a:t>Вычисляет освещение по формуле Ламберта</a:t>
                </a:r>
                <a:endParaRPr lang="ar-AE" b="0" dirty="0"/>
              </a:p>
              <a:p>
                <a:r>
                  <a:rPr lang="ru-RU" dirty="0"/>
                  <a:t>Результат:</a:t>
                </a:r>
              </a:p>
              <a:p>
                <a:pPr lvl="1"/>
                <a:r>
                  <a:rPr lang="ru-RU" dirty="0"/>
                  <a:t>Освещение вычисляется для каждого пикселя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D9C09D-FEC0-4C66-C914-5275A7907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6148400" cy="4351338"/>
              </a:xfrm>
              <a:blipFill>
                <a:blip r:embed="rId4"/>
                <a:stretch>
                  <a:fillRect l="-1587" t="-3501" r="-99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4BE970B-1B4E-ABA3-04CD-94868117DD56}"/>
              </a:ext>
            </a:extLst>
          </p:cNvPr>
          <p:cNvGrpSpPr/>
          <p:nvPr/>
        </p:nvGrpSpPr>
        <p:grpSpPr>
          <a:xfrm>
            <a:off x="7464152" y="2318543"/>
            <a:ext cx="4484689" cy="3365501"/>
            <a:chOff x="6067685" y="1417390"/>
            <a:chExt cx="4484689" cy="3365501"/>
          </a:xfrm>
        </p:grpSpPr>
        <p:sp>
          <p:nvSpPr>
            <p:cNvPr id="6" name="Полилиния 5"/>
            <p:cNvSpPr/>
            <p:nvPr/>
          </p:nvSpPr>
          <p:spPr>
            <a:xfrm>
              <a:off x="7409114" y="2996952"/>
              <a:ext cx="2786058" cy="1716542"/>
            </a:xfrm>
            <a:custGeom>
              <a:avLst/>
              <a:gdLst>
                <a:gd name="connsiteX0" fmla="*/ 0 w 3429000"/>
                <a:gd name="connsiteY0" fmla="*/ 391886 h 1502228"/>
                <a:gd name="connsiteX1" fmla="*/ 1850571 w 3429000"/>
                <a:gd name="connsiteY1" fmla="*/ 1502228 h 1502228"/>
                <a:gd name="connsiteX2" fmla="*/ 3429000 w 3429000"/>
                <a:gd name="connsiteY2" fmla="*/ 0 h 1502228"/>
                <a:gd name="connsiteX3" fmla="*/ 0 w 3429000"/>
                <a:gd name="connsiteY3" fmla="*/ 391886 h 1502228"/>
                <a:gd name="connsiteX0" fmla="*/ 0 w 3071778"/>
                <a:gd name="connsiteY0" fmla="*/ 963414 h 2073756"/>
                <a:gd name="connsiteX1" fmla="*/ 1850571 w 3071778"/>
                <a:gd name="connsiteY1" fmla="*/ 2073756 h 2073756"/>
                <a:gd name="connsiteX2" fmla="*/ 3071778 w 3071778"/>
                <a:gd name="connsiteY2" fmla="*/ 0 h 2073756"/>
                <a:gd name="connsiteX3" fmla="*/ 0 w 3071778"/>
                <a:gd name="connsiteY3" fmla="*/ 963414 h 2073756"/>
                <a:gd name="connsiteX0" fmla="*/ 0 w 2786058"/>
                <a:gd name="connsiteY0" fmla="*/ 820514 h 2073756"/>
                <a:gd name="connsiteX1" fmla="*/ 1564851 w 2786058"/>
                <a:gd name="connsiteY1" fmla="*/ 2073756 h 2073756"/>
                <a:gd name="connsiteX2" fmla="*/ 2786058 w 2786058"/>
                <a:gd name="connsiteY2" fmla="*/ 0 h 2073756"/>
                <a:gd name="connsiteX3" fmla="*/ 0 w 2786058"/>
                <a:gd name="connsiteY3" fmla="*/ 820514 h 2073756"/>
                <a:gd name="connsiteX0" fmla="*/ 0 w 2786058"/>
                <a:gd name="connsiteY0" fmla="*/ 820514 h 1716542"/>
                <a:gd name="connsiteX1" fmla="*/ 2064885 w 2786058"/>
                <a:gd name="connsiteY1" fmla="*/ 1716542 h 1716542"/>
                <a:gd name="connsiteX2" fmla="*/ 2786058 w 2786058"/>
                <a:gd name="connsiteY2" fmla="*/ 0 h 1716542"/>
                <a:gd name="connsiteX3" fmla="*/ 0 w 2786058"/>
                <a:gd name="connsiteY3" fmla="*/ 820514 h 1716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6058" h="1716542">
                  <a:moveTo>
                    <a:pt x="0" y="820514"/>
                  </a:moveTo>
                  <a:lnTo>
                    <a:pt x="2064885" y="1716542"/>
                  </a:lnTo>
                  <a:lnTo>
                    <a:pt x="2786058" y="0"/>
                  </a:lnTo>
                  <a:lnTo>
                    <a:pt x="0" y="82051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246" name="AutoShape 7"/>
            <p:cNvSpPr>
              <a:spLocks noChangeArrowheads="1"/>
            </p:cNvSpPr>
            <p:nvPr/>
          </p:nvSpPr>
          <p:spPr bwMode="auto">
            <a:xfrm>
              <a:off x="6067685" y="1417390"/>
              <a:ext cx="484188" cy="508000"/>
            </a:xfrm>
            <a:prstGeom prst="star16">
              <a:avLst>
                <a:gd name="adj" fmla="val 375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onstantia" pitchFamily="18" charset="0"/>
              </a:endParaRPr>
            </a:p>
          </p:txBody>
        </p:sp>
        <p:cxnSp>
          <p:nvCxnSpPr>
            <p:cNvPr id="13" name="Прямая со стрелкой 12"/>
            <p:cNvCxnSpPr/>
            <p:nvPr/>
          </p:nvCxnSpPr>
          <p:spPr>
            <a:xfrm flipH="1" flipV="1">
              <a:off x="6480435" y="3139828"/>
              <a:ext cx="928688" cy="677863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 flipH="1" flipV="1">
              <a:off x="9980873" y="1853952"/>
              <a:ext cx="214312" cy="11430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 flipH="1" flipV="1">
              <a:off x="9337936" y="3497016"/>
              <a:ext cx="136525" cy="121602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0" name="TextBox 23"/>
            <p:cNvSpPr txBox="1">
              <a:spLocks noChangeArrowheads="1"/>
            </p:cNvSpPr>
            <p:nvPr/>
          </p:nvSpPr>
          <p:spPr bwMode="auto">
            <a:xfrm>
              <a:off x="10052311" y="1925391"/>
              <a:ext cx="5000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m</a:t>
              </a:r>
              <a:r>
                <a:rPr lang="en-US" baseline="-25000">
                  <a:latin typeface="Constantia" pitchFamily="18" charset="0"/>
                </a:rPr>
                <a:t>1</a:t>
              </a:r>
              <a:endParaRPr lang="ru-RU" baseline="-25000">
                <a:latin typeface="Constantia" pitchFamily="18" charset="0"/>
              </a:endParaRPr>
            </a:p>
          </p:txBody>
        </p:sp>
        <p:sp>
          <p:nvSpPr>
            <p:cNvPr id="10251" name="TextBox 24"/>
            <p:cNvSpPr txBox="1">
              <a:spLocks noChangeArrowheads="1"/>
            </p:cNvSpPr>
            <p:nvPr/>
          </p:nvSpPr>
          <p:spPr bwMode="auto">
            <a:xfrm>
              <a:off x="6266123" y="3211266"/>
              <a:ext cx="5000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m</a:t>
              </a:r>
              <a:r>
                <a:rPr lang="en-US" baseline="-25000">
                  <a:latin typeface="Constantia" pitchFamily="18" charset="0"/>
                </a:rPr>
                <a:t>2</a:t>
              </a:r>
              <a:endParaRPr lang="ru-RU" baseline="-25000">
                <a:latin typeface="Constantia" pitchFamily="18" charset="0"/>
              </a:endParaRPr>
            </a:p>
          </p:txBody>
        </p:sp>
        <p:sp>
          <p:nvSpPr>
            <p:cNvPr id="10252" name="TextBox 25"/>
            <p:cNvSpPr txBox="1">
              <a:spLocks noChangeArrowheads="1"/>
            </p:cNvSpPr>
            <p:nvPr/>
          </p:nvSpPr>
          <p:spPr bwMode="auto">
            <a:xfrm>
              <a:off x="9409373" y="3639891"/>
              <a:ext cx="5000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m</a:t>
              </a:r>
              <a:r>
                <a:rPr lang="en-US" baseline="-25000">
                  <a:latin typeface="Constantia" pitchFamily="18" charset="0"/>
                </a:rPr>
                <a:t>3</a:t>
              </a:r>
              <a:endParaRPr lang="ru-RU" baseline="-25000">
                <a:latin typeface="Constantia" pitchFamily="18" charset="0"/>
              </a:endParaRPr>
            </a:p>
          </p:txBody>
        </p:sp>
        <p:cxnSp>
          <p:nvCxnSpPr>
            <p:cNvPr id="29" name="Прямая со стрелкой 28"/>
            <p:cNvCxnSpPr/>
            <p:nvPr/>
          </p:nvCxnSpPr>
          <p:spPr>
            <a:xfrm flipH="1" flipV="1">
              <a:off x="6837623" y="2925516"/>
              <a:ext cx="571500" cy="892175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/>
            <p:cNvCxnSpPr/>
            <p:nvPr/>
          </p:nvCxnSpPr>
          <p:spPr>
            <a:xfrm flipH="1" flipV="1">
              <a:off x="9123623" y="2639766"/>
              <a:ext cx="1071562" cy="35718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/>
            <p:nvPr/>
          </p:nvCxnSpPr>
          <p:spPr>
            <a:xfrm flipH="1" flipV="1">
              <a:off x="8837874" y="3997078"/>
              <a:ext cx="636587" cy="715963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6" name="TextBox 41"/>
            <p:cNvSpPr txBox="1">
              <a:spLocks noChangeArrowheads="1"/>
            </p:cNvSpPr>
            <p:nvPr/>
          </p:nvSpPr>
          <p:spPr bwMode="auto">
            <a:xfrm>
              <a:off x="7051936" y="2854077"/>
              <a:ext cx="5000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s</a:t>
              </a:r>
              <a:r>
                <a:rPr lang="en-US" baseline="-25000">
                  <a:latin typeface="Constantia" pitchFamily="18" charset="0"/>
                </a:rPr>
                <a:t>2</a:t>
              </a:r>
              <a:endParaRPr lang="ru-RU" baseline="-25000">
                <a:latin typeface="Constantia" pitchFamily="18" charset="0"/>
              </a:endParaRPr>
            </a:p>
          </p:txBody>
        </p:sp>
        <p:sp>
          <p:nvSpPr>
            <p:cNvPr id="10257" name="TextBox 42"/>
            <p:cNvSpPr txBox="1">
              <a:spLocks noChangeArrowheads="1"/>
            </p:cNvSpPr>
            <p:nvPr/>
          </p:nvSpPr>
          <p:spPr bwMode="auto">
            <a:xfrm>
              <a:off x="9195061" y="2354016"/>
              <a:ext cx="5000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s</a:t>
              </a:r>
              <a:r>
                <a:rPr lang="en-US" baseline="-25000">
                  <a:latin typeface="Constantia" pitchFamily="18" charset="0"/>
                </a:rPr>
                <a:t>1</a:t>
              </a:r>
              <a:endParaRPr lang="ru-RU" baseline="-25000">
                <a:latin typeface="Constantia" pitchFamily="18" charset="0"/>
              </a:endParaRPr>
            </a:p>
          </p:txBody>
        </p:sp>
        <p:sp>
          <p:nvSpPr>
            <p:cNvPr id="10258" name="TextBox 43"/>
            <p:cNvSpPr txBox="1">
              <a:spLocks noChangeArrowheads="1"/>
            </p:cNvSpPr>
            <p:nvPr/>
          </p:nvSpPr>
          <p:spPr bwMode="auto">
            <a:xfrm>
              <a:off x="8552123" y="3854202"/>
              <a:ext cx="5000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s</a:t>
              </a:r>
              <a:r>
                <a:rPr lang="en-US" baseline="-25000">
                  <a:latin typeface="Constantia" pitchFamily="18" charset="0"/>
                </a:rPr>
                <a:t>3</a:t>
              </a:r>
              <a:endParaRPr lang="ru-RU" baseline="-25000">
                <a:latin typeface="Constantia" pitchFamily="18" charset="0"/>
              </a:endParaRPr>
            </a:p>
          </p:txBody>
        </p:sp>
        <p:cxnSp>
          <p:nvCxnSpPr>
            <p:cNvPr id="52" name="Прямая со стрелкой 51"/>
            <p:cNvCxnSpPr/>
            <p:nvPr/>
          </p:nvCxnSpPr>
          <p:spPr>
            <a:xfrm rot="10800000">
              <a:off x="8194935" y="3068391"/>
              <a:ext cx="857250" cy="606425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 стрелкой 53"/>
            <p:cNvCxnSpPr/>
            <p:nvPr/>
          </p:nvCxnSpPr>
          <p:spPr>
            <a:xfrm rot="16200000" flipV="1">
              <a:off x="8480686" y="3068391"/>
              <a:ext cx="785813" cy="357187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Овал 58"/>
            <p:cNvSpPr/>
            <p:nvPr/>
          </p:nvSpPr>
          <p:spPr>
            <a:xfrm>
              <a:off x="8980748" y="3568453"/>
              <a:ext cx="214312" cy="21431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7337686" y="3711328"/>
              <a:ext cx="214313" cy="21431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10123748" y="2854078"/>
              <a:ext cx="214312" cy="21431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9337936" y="4568578"/>
              <a:ext cx="214313" cy="21431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266" name="TextBox 23"/>
            <p:cNvSpPr txBox="1">
              <a:spLocks noChangeArrowheads="1"/>
            </p:cNvSpPr>
            <p:nvPr/>
          </p:nvSpPr>
          <p:spPr bwMode="auto">
            <a:xfrm>
              <a:off x="8444173" y="2509591"/>
              <a:ext cx="5016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m</a:t>
              </a:r>
              <a:endParaRPr lang="ru-RU" baseline="-25000">
                <a:latin typeface="Constantia" pitchFamily="18" charset="0"/>
              </a:endParaRPr>
            </a:p>
          </p:txBody>
        </p:sp>
        <p:sp>
          <p:nvSpPr>
            <p:cNvPr id="10267" name="TextBox 24"/>
            <p:cNvSpPr txBox="1">
              <a:spLocks noChangeArrowheads="1"/>
            </p:cNvSpPr>
            <p:nvPr/>
          </p:nvSpPr>
          <p:spPr bwMode="auto">
            <a:xfrm>
              <a:off x="7759961" y="2776291"/>
              <a:ext cx="5000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onstantia" pitchFamily="18" charset="0"/>
                </a:rPr>
                <a:t>s</a:t>
              </a:r>
              <a:endParaRPr lang="ru-RU" baseline="-25000">
                <a:latin typeface="Constantia" pitchFamily="18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вершинный шейдер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Основные задачи:</a:t>
                </a:r>
              </a:p>
              <a:p>
                <a:pPr lvl="1"/>
                <a:r>
                  <a:rPr lang="ru-RU" dirty="0"/>
                  <a:t>Преобразование вершины в пространство наблюдателя </a:t>
                </a:r>
              </a:p>
              <a:p>
                <a:pPr lvl="1"/>
                <a:r>
                  <a:rPr lang="ru-RU" dirty="0"/>
                  <a:t>Преобразование нормали </a:t>
                </a:r>
              </a:p>
              <a:p>
                <a:r>
                  <a:rPr lang="ru-RU" dirty="0"/>
                  <a:t>Подготовка данных для освещения:</a:t>
                </a:r>
              </a:p>
              <a:p>
                <a:pPr lvl="1"/>
                <a:r>
                  <a:rPr lang="ru-RU" dirty="0"/>
                  <a:t>Вычисление нормали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Вычисление направления на источник света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Передача данных:</a:t>
                </a:r>
              </a:p>
              <a:p>
                <a:pPr lvl="1"/>
                <a:r>
                  <a:rPr lang="ru-RU" dirty="0"/>
                  <a:t>Передача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ru-RU" dirty="0"/>
                  <a:t> во фрагментный шейдер (</a:t>
                </a:r>
                <a:r>
                  <a:rPr lang="ru-RU" dirty="0" err="1"/>
                  <a:t>varying</a:t>
                </a:r>
                <a:r>
                  <a:rPr lang="ru-RU" dirty="0"/>
                  <a:t>) </a:t>
                </a:r>
              </a:p>
              <a:p>
                <a:r>
                  <a:rPr lang="ru-RU" dirty="0"/>
                  <a:t>Используемые переменные:</a:t>
                </a:r>
              </a:p>
              <a:p>
                <a:pPr lvl="1"/>
                <a:r>
                  <a:rPr lang="ru-RU" dirty="0" err="1"/>
                  <a:t>gl_ModelViewMatrix</a:t>
                </a:r>
                <a:r>
                  <a:rPr lang="ru-RU" dirty="0"/>
                  <a:t> — матрица преобразования </a:t>
                </a:r>
              </a:p>
              <a:p>
                <a:pPr lvl="1"/>
                <a:r>
                  <a:rPr lang="ru-RU" dirty="0" err="1"/>
                  <a:t>gl_NormalMatrix</a:t>
                </a:r>
                <a:r>
                  <a:rPr lang="ru-RU" dirty="0"/>
                  <a:t> — матрица для нормалей </a:t>
                </a:r>
              </a:p>
              <a:p>
                <a:pPr lvl="1"/>
                <a:r>
                  <a:rPr lang="ru-RU" dirty="0" err="1"/>
                  <a:t>gl_LightSource</a:t>
                </a:r>
                <a:r>
                  <a:rPr lang="ru-RU" dirty="0"/>
                  <a:t> — параметры источника света </a:t>
                </a:r>
              </a:p>
              <a:p>
                <a:pPr lvl="1"/>
                <a:r>
                  <a:rPr lang="ru-RU" dirty="0" err="1"/>
                  <a:t>gl_Normal</a:t>
                </a:r>
                <a:r>
                  <a:rPr lang="ru-RU" dirty="0"/>
                  <a:t> — нормаль вершины</a:t>
                </a:r>
              </a:p>
            </p:txBody>
          </p:sp>
        </mc:Choice>
        <mc:Fallback xmlns="">
          <p:sp>
            <p:nvSpPr>
              <p:cNvPr id="3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B2A837-9E05-49F9-8744-7AD7EDAA2F25}"/>
              </a:ext>
            </a:extLst>
          </p:cNvPr>
          <p:cNvSpPr/>
          <p:nvPr/>
        </p:nvSpPr>
        <p:spPr>
          <a:xfrm>
            <a:off x="479376" y="197346"/>
            <a:ext cx="108012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110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Normal;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gl_Position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ftransform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vertexPos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gl_ModelViewMatrix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gl_Vertex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position.w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position.xyz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position.xyz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vertexPos.xyz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Normal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gl_NormalMatrix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gl_Normal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272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фрагментный шейдер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Подготовка данных:</a:t>
                </a:r>
              </a:p>
              <a:p>
                <a:pPr lvl="1"/>
                <a:r>
                  <a:rPr lang="ru-RU" dirty="0"/>
                  <a:t>Нормализация векторов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После интерполяции векторы перестают быть единичными </a:t>
                </a:r>
              </a:p>
              <a:p>
                <a:r>
                  <a:rPr lang="ru-RU" dirty="0"/>
                  <a:t>Вычисление освещения:</a:t>
                </a:r>
              </a:p>
              <a:p>
                <a:pPr lvl="1"/>
                <a:r>
                  <a:rPr lang="ru-RU" dirty="0"/>
                  <a:t>Формула Ламберта: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dot() — </a:t>
                </a:r>
                <a:r>
                  <a:rPr lang="ru-RU" dirty="0"/>
                  <a:t>скалярное произведение </a:t>
                </a:r>
              </a:p>
              <a:p>
                <a:pPr lvl="1"/>
                <a:r>
                  <a:rPr lang="en-US" dirty="0"/>
                  <a:t>max() — </a:t>
                </a:r>
                <a:r>
                  <a:rPr lang="ru-RU" dirty="0"/>
                  <a:t>отсечение отрицательных значений </a:t>
                </a:r>
              </a:p>
              <a:p>
                <a:r>
                  <a:rPr lang="ru-RU" dirty="0"/>
                  <a:t>Результат:</a:t>
                </a:r>
              </a:p>
              <a:p>
                <a:pPr lvl="1"/>
                <a:r>
                  <a:rPr lang="ru-RU" dirty="0"/>
                  <a:t>Вычисление цвета каждого фрагмента (пикселя)</a:t>
                </a:r>
              </a:p>
            </p:txBody>
          </p:sp>
        </mc:Choice>
        <mc:Fallback xmlns="">
          <p:sp>
            <p:nvSpPr>
              <p:cNvPr id="3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236E9A-0DEF-43DB-8446-9745F0BD9407}"/>
              </a:ext>
            </a:extLst>
          </p:cNvPr>
          <p:cNvSpPr/>
          <p:nvPr/>
        </p:nvSpPr>
        <p:spPr>
          <a:xfrm>
            <a:off x="335360" y="1484784"/>
            <a:ext cx="115212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110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Normal;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(Normal);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diffFactor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l),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lightDiffuse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].diffuse;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gl_FragColor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diffFactor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lightDiffuse.rgb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DiffuseColor.rgb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lightDiffuse.a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DiffuseColor.a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C0AC9-B8F3-466E-89C3-99E1EDB28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048" y="692696"/>
            <a:ext cx="4946472" cy="3945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495770-85D5-41E5-9AC4-331A82894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48" y="692696"/>
            <a:ext cx="4946472" cy="394599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5B27-E190-4DB5-BAC5-09C49FF2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</a:t>
            </a:r>
            <a:r>
              <a:rPr lang="en-US" dirty="0"/>
              <a:t> specular-</a:t>
            </a:r>
            <a:r>
              <a:rPr lang="ru-RU" dirty="0"/>
              <a:t>составляющую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362D9-AED5-4BBC-BCA5-94BD6219E4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Идея:</a:t>
                </a:r>
              </a:p>
              <a:p>
                <a:pPr lvl="1"/>
                <a:r>
                  <a:rPr lang="ru-RU" dirty="0"/>
                  <a:t>Появляются блики на поверхности </a:t>
                </a:r>
              </a:p>
              <a:p>
                <a:r>
                  <a:rPr lang="ru-RU" dirty="0"/>
                  <a:t>Вершинный шейдер:</a:t>
                </a:r>
              </a:p>
              <a:p>
                <a:pPr lvl="1"/>
                <a:r>
                  <a:rPr lang="ru-RU" dirty="0"/>
                  <a:t>Вычисляет вектор на наблюдателя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endParaRPr lang="ru-RU" dirty="0"/>
              </a:p>
              <a:p>
                <a:r>
                  <a:rPr lang="ru-RU" dirty="0"/>
                  <a:t>Фрагментный шейдер:</a:t>
                </a:r>
              </a:p>
              <a:p>
                <a:pPr lvl="1"/>
                <a:r>
                  <a:rPr lang="ru-RU" dirty="0"/>
                  <a:t>Вычисляет отражённый вектор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endParaRPr lang="ru-RU" dirty="0"/>
              </a:p>
              <a:p>
                <a:r>
                  <a:rPr lang="ru-RU" dirty="0"/>
                  <a:t>Считает: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𝑖𝑛𝑖𝑛𝑒𝑠𝑠</m:t>
                        </m:r>
                      </m:sup>
                    </m:sSup>
                  </m:oMath>
                </a14:m>
                <a:endParaRPr lang="ar-AE" b="0" dirty="0"/>
              </a:p>
              <a:p>
                <a:r>
                  <a:rPr lang="ru-RU" dirty="0"/>
                  <a:t>Итог:</a:t>
                </a:r>
              </a:p>
              <a:p>
                <a:pPr lvl="1"/>
                <a:r>
                  <a:rPr lang="ru-RU" dirty="0"/>
                  <a:t>Цвет = диффузная + зеркальная составляющие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362D9-AED5-4BBC-BCA5-94BD6219E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64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B39067-E5F7-4FE1-BDB4-FA4F1BCF50C7}"/>
              </a:ext>
            </a:extLst>
          </p:cNvPr>
          <p:cNvSpPr/>
          <p:nvPr/>
        </p:nvSpPr>
        <p:spPr>
          <a:xfrm>
            <a:off x="0" y="-1"/>
            <a:ext cx="1192864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110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Normal;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gl_Position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ftransform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vertexPos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gl_ModelViewMatrix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gl_Vertex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position.w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position.xyz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position.xyz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vertexPos.xyz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gl_Color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Normal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gl_NormalMatrix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gl_Normal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vertexPos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220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4E9463-5018-4C9F-BC37-6F5BC858B273}"/>
              </a:ext>
            </a:extLst>
          </p:cNvPr>
          <p:cNvSpPr/>
          <p:nvPr/>
        </p:nvSpPr>
        <p:spPr>
          <a:xfrm>
            <a:off x="0" y="0"/>
            <a:ext cx="12072664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110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Normal;</a:t>
            </a: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(Normal);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diffFactor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l),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lightDiffuse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].diffuse;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diffFactor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lightDiffuse.rgb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DiffuseColor.rgb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lightDiffuse.a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DiffuseColor.a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eye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reflect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l, n);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specularFactor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(r,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eye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specularIntensity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specularFactor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gl_FrontMaterial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.shininess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specularColor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specularIntensity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specular.rgb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gl_FrontMaterial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.specular.rgb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gl_FragColor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specularColor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805F0-1845-4531-B335-C1EA9195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148471"/>
            <a:ext cx="5423216" cy="4433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BB848C-7461-42A7-BF44-0AFF7E92D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148471"/>
            <a:ext cx="5423216" cy="443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4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Примеры более сложных </a:t>
            </a:r>
            <a:r>
              <a:rPr lang="ru-RU" dirty="0" err="1"/>
              <a:t>шейдеров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814190-98DA-934F-F87A-8B9394661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800"/>
              <a:t>Наложение микрорельефа (</a:t>
            </a:r>
            <a:r>
              <a:rPr sz="4800"/>
              <a:t>bump mapping)</a:t>
            </a:r>
            <a:endParaRPr lang="ru-RU" sz="4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BE482-5DDD-7651-9A22-E125AEFB6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Bump Mapping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Детализация поверхности требует много полигонов </a:t>
            </a:r>
          </a:p>
          <a:p>
            <a:r>
              <a:rPr lang="ru-RU" dirty="0"/>
              <a:t>Решение:</a:t>
            </a:r>
          </a:p>
          <a:p>
            <a:pPr lvl="1"/>
            <a:r>
              <a:rPr lang="ru-RU" dirty="0"/>
              <a:t>Имитируем неровности без изменения геометрии </a:t>
            </a:r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/>
              <a:t>Изменяем нормаль в каждой точке поверхности </a:t>
            </a:r>
          </a:p>
          <a:p>
            <a:pPr lvl="1"/>
            <a:r>
              <a:rPr lang="ru-RU" dirty="0"/>
              <a:t>Используем карту нормалей (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) </a:t>
            </a:r>
          </a:p>
          <a:p>
            <a:r>
              <a:rPr lang="ru-RU" dirty="0"/>
              <a:t>Применение:</a:t>
            </a:r>
          </a:p>
          <a:p>
            <a:pPr lvl="1"/>
            <a:r>
              <a:rPr lang="ru-RU" dirty="0"/>
              <a:t>Камень, кирпич </a:t>
            </a:r>
          </a:p>
          <a:p>
            <a:pPr lvl="1"/>
            <a:r>
              <a:rPr lang="ru-RU" dirty="0"/>
              <a:t>Кожа, ткань </a:t>
            </a:r>
          </a:p>
          <a:p>
            <a:pPr lvl="1"/>
            <a:r>
              <a:rPr lang="ru-RU" dirty="0"/>
              <a:t>Металл, фольга </a:t>
            </a:r>
          </a:p>
          <a:p>
            <a:r>
              <a:rPr lang="ru-RU" dirty="0"/>
              <a:t>В результате поверхность выглядит детализированной при той же геометрии</a:t>
            </a:r>
          </a:p>
        </p:txBody>
      </p:sp>
      <p:pic>
        <p:nvPicPr>
          <p:cNvPr id="1946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5771" y="1825625"/>
            <a:ext cx="4194458" cy="4351338"/>
          </a:xfr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Карта нормалей (</a:t>
            </a:r>
            <a:r>
              <a:rPr lang="en-US" dirty="0"/>
              <a:t>Normal Map)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05872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Что это:</a:t>
            </a:r>
          </a:p>
          <a:p>
            <a:pPr lvl="1"/>
            <a:r>
              <a:rPr lang="ru-RU" dirty="0"/>
              <a:t>Текстура, задающая направление нормали в каждой точке </a:t>
            </a:r>
          </a:p>
          <a:p>
            <a:r>
              <a:rPr lang="ru-RU" dirty="0"/>
              <a:t>Как кодируется:</a:t>
            </a:r>
          </a:p>
          <a:p>
            <a:pPr lvl="1"/>
            <a:r>
              <a:rPr lang="ru-RU" dirty="0"/>
              <a:t>RGB = компоненты вектора нормали </a:t>
            </a:r>
          </a:p>
          <a:p>
            <a:pPr lvl="1"/>
            <a:r>
              <a:rPr lang="ru-RU" dirty="0"/>
              <a:t>Значения из диапазона [0;1] → преобразуются в [-1;1] </a:t>
            </a:r>
          </a:p>
          <a:p>
            <a:r>
              <a:rPr lang="ru-RU" dirty="0"/>
              <a:t>Как используется:</a:t>
            </a:r>
          </a:p>
          <a:p>
            <a:pPr lvl="1"/>
            <a:r>
              <a:rPr lang="ru-RU" dirty="0"/>
              <a:t>Требуются UV-координаты </a:t>
            </a:r>
          </a:p>
          <a:p>
            <a:pPr lvl="1"/>
            <a:r>
              <a:rPr lang="ru-RU" dirty="0"/>
              <a:t>Нормали задаются в касательном пространстве (</a:t>
            </a:r>
            <a:r>
              <a:rPr lang="ru-RU" dirty="0" err="1"/>
              <a:t>tangent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) </a:t>
            </a:r>
          </a:p>
          <a:p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+ освещение = иллюзия рельефа</a:t>
            </a:r>
          </a:p>
        </p:txBody>
      </p:sp>
      <p:pic>
        <p:nvPicPr>
          <p:cNvPr id="2048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2782094"/>
            <a:ext cx="4524375" cy="2438400"/>
          </a:xfr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Касательное пространство (</a:t>
            </a:r>
            <a:r>
              <a:rPr lang="en-US" dirty="0"/>
              <a:t>tangent space)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Содержимое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Локальная система координат в каждой точке поверхности </a:t>
                </a:r>
              </a:p>
              <a:p>
                <a:r>
                  <a:rPr lang="ru-RU" dirty="0"/>
                  <a:t>Базис: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ru-RU" dirty="0"/>
                  <a:t>— касательная (</a:t>
                </a:r>
                <a:r>
                  <a:rPr lang="en-US" dirty="0"/>
                  <a:t>tangent)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en-US" dirty="0"/>
                  <a:t>— </a:t>
                </a:r>
                <a:r>
                  <a:rPr lang="ru-RU" dirty="0"/>
                  <a:t>бинормаль (</a:t>
                </a:r>
                <a:r>
                  <a:rPr lang="en-US" dirty="0"/>
                  <a:t>bitangent)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r>
                  <a:rPr lang="en-US" dirty="0"/>
                  <a:t>— </a:t>
                </a:r>
                <a:r>
                  <a:rPr lang="ru-RU" dirty="0"/>
                  <a:t>нормаль </a:t>
                </a:r>
              </a:p>
              <a:p>
                <a:r>
                  <a:rPr lang="ru-RU" dirty="0"/>
                  <a:t>Свойства:</a:t>
                </a:r>
              </a:p>
              <a:p>
                <a:pPr lvl="1"/>
                <a:r>
                  <a:rPr lang="ru-RU" dirty="0"/>
                  <a:t>Начало координат — текущая точка поверхности </a:t>
                </a:r>
              </a:p>
              <a:p>
                <a:pPr lvl="1"/>
                <a:r>
                  <a:rPr lang="ru-RU" dirty="0"/>
                  <a:t>Нормаль всегда направлена вдоль оси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ru-RU" dirty="0"/>
                  <a:t>Бинормаль: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Зачем нужно:</a:t>
                </a:r>
              </a:p>
              <a:p>
                <a:pPr lvl="1"/>
                <a:r>
                  <a:rPr lang="ru-RU" dirty="0"/>
                  <a:t>Удобно использовать </a:t>
                </a:r>
                <a:r>
                  <a:rPr lang="en-US" dirty="0"/>
                  <a:t>normal map </a:t>
                </a:r>
              </a:p>
              <a:p>
                <a:pPr lvl="1"/>
                <a:r>
                  <a:rPr lang="ru-RU" dirty="0"/>
                  <a:t>Нормали из текстуры интерпретируются одинаково для любой поверхности</a:t>
                </a:r>
              </a:p>
            </p:txBody>
          </p:sp>
        </mc:Choice>
        <mc:Fallback xmlns="">
          <p:sp>
            <p:nvSpPr>
              <p:cNvPr id="23555" name="Содержимое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624F-0093-ACE4-E0EA-9A8DCDE0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Векторы касательного пространства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B68CD7-B475-75E2-79D1-23AF5B062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7688" y="2492896"/>
            <a:ext cx="5401236" cy="3895972"/>
          </a:xfrm>
        </p:spPr>
      </p:pic>
    </p:spTree>
    <p:extLst>
      <p:ext uri="{BB962C8B-B14F-4D97-AF65-F5344CB8AC3E}">
        <p14:creationId xmlns:p14="http://schemas.microsoft.com/office/powerpoint/2010/main" val="653077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Откуда берётся касательная (</a:t>
            </a:r>
            <a:r>
              <a:rPr lang="en-US" dirty="0"/>
              <a:t>Tangent)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Требования: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ru-RU" dirty="0"/>
                  <a:t> лежит в плоскости поверхности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⊥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Важно:</a:t>
                </a:r>
              </a:p>
              <a:p>
                <a:pPr lvl="1"/>
                <a:r>
                  <a:rPr lang="ru-RU" dirty="0"/>
                  <a:t>Касательные должны быть согласованы по всей модели </a:t>
                </a:r>
              </a:p>
              <a:p>
                <a:pPr lvl="1"/>
                <a:r>
                  <a:rPr lang="ru-RU" dirty="0"/>
                  <a:t>Иначе появятся артефакты освещения </a:t>
                </a:r>
              </a:p>
              <a:p>
                <a:r>
                  <a:rPr lang="ru-RU" dirty="0"/>
                  <a:t>Идея:</a:t>
                </a:r>
              </a:p>
              <a:p>
                <a:pPr lvl="1"/>
                <a:r>
                  <a:rPr lang="ru-RU" dirty="0"/>
                  <a:t>Используем UV-координаты </a:t>
                </a:r>
              </a:p>
              <a:p>
                <a:pPr lvl="1"/>
                <a:r>
                  <a:rPr lang="ru-RU" dirty="0"/>
                  <a:t>Направление U → задаёт касательную</a:t>
                </a:r>
              </a:p>
            </p:txBody>
          </p:sp>
        </mc:Choice>
        <mc:Fallback xmlns="">
          <p:sp>
            <p:nvSpPr>
              <p:cNvPr id="22531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Вычисление касательной, нормали и бинормали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ru-RU" dirty="0"/>
                  <a:t>Дано:</a:t>
                </a:r>
              </a:p>
              <a:p>
                <a:pPr lvl="1"/>
                <a:r>
                  <a:rPr lang="ru-RU" dirty="0"/>
                  <a:t>Вершины треугольника: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UV-</a:t>
                </a:r>
                <a:r>
                  <a:rPr lang="ru-RU" dirty="0"/>
                  <a:t>координаты: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r>
                  <a:rPr lang="ru-RU" dirty="0"/>
                  <a:t>Шаг 1 — направления: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r>
                  <a:rPr lang="ru-RU" dirty="0"/>
                  <a:t>Шаг 2 — вычисление: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ru-RU" dirty="0"/>
                  <a:t> — вдоль оси </a:t>
                </a:r>
                <a:r>
                  <a:rPr lang="en-US" dirty="0"/>
                  <a:t>U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— </a:t>
                </a:r>
                <a:r>
                  <a:rPr lang="ru-RU" dirty="0"/>
                  <a:t>вдоль оси </a:t>
                </a:r>
                <a:r>
                  <a:rPr lang="en-US" dirty="0"/>
                  <a:t>V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Идея:</a:t>
                </a:r>
              </a:p>
              <a:p>
                <a:pPr lvl="1"/>
                <a:r>
                  <a:rPr lang="ru-RU" dirty="0"/>
                  <a:t>Связываем изменения в текстуре с направлениями в 3</a:t>
                </a:r>
                <a:r>
                  <a:rPr lang="en-US" dirty="0"/>
                  <a:t>D</a:t>
                </a:r>
              </a:p>
            </p:txBody>
          </p:sp>
        </mc:Choice>
        <mc:Fallback xmlns="">
          <p:sp>
            <p:nvSpPr>
              <p:cNvPr id="23555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88E6C4-94D2-F1CA-D804-0B879250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C4A33-9B63-EEC0-47B9-5EFB5738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Вычисление касательной, нормали и бинормали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Содержимое 2">
                <a:extLst>
                  <a:ext uri="{FF2B5EF4-FFF2-40B4-BE49-F238E27FC236}">
                    <a16:creationId xmlns:a16="http://schemas.microsoft.com/office/drawing/2014/main" id="{46E0EB43-91E0-992B-FC11-E30BD58D0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ru-RU" dirty="0"/>
                  <a:t>Пусть известны координаты 3 вершин, задающих вершины треугольника </a:t>
                </a:r>
                <a:r>
                  <a:rPr lang="en-US" dirty="0"/>
                  <a:t>-</a:t>
                </a:r>
                <a:r>
                  <a:rPr lang="ru-RU" dirty="0"/>
                  <a:t> </a:t>
                </a:r>
                <a:r>
                  <a:rPr lang="en-US" dirty="0"/>
                  <a:t>p</a:t>
                </a:r>
                <a:r>
                  <a:rPr lang="en-US" baseline="-25000" dirty="0"/>
                  <a:t>1</a:t>
                </a:r>
                <a:r>
                  <a:rPr lang="en-US" dirty="0"/>
                  <a:t>, p</a:t>
                </a:r>
                <a:r>
                  <a:rPr lang="en-US" baseline="-25000" dirty="0"/>
                  <a:t>2</a:t>
                </a:r>
                <a:r>
                  <a:rPr lang="en-US" dirty="0"/>
                  <a:t>, p</a:t>
                </a:r>
                <a:r>
                  <a:rPr lang="en-US" baseline="-25000" dirty="0"/>
                  <a:t>3</a:t>
                </a:r>
                <a:endParaRPr lang="ru-RU" dirty="0"/>
              </a:p>
              <a:p>
                <a:pPr eaLnBrk="1" hangingPunct="1"/>
                <a:r>
                  <a:rPr lang="ru-RU" dirty="0"/>
                  <a:t>Пусть для вершин треугольника заданы текстурные координаты </a:t>
                </a:r>
                <a:r>
                  <a:rPr lang="en-US" dirty="0"/>
                  <a:t>(u</a:t>
                </a:r>
                <a:r>
                  <a:rPr lang="en-US" baseline="-25000" dirty="0"/>
                  <a:t>1</a:t>
                </a:r>
                <a:r>
                  <a:rPr lang="en-US" dirty="0"/>
                  <a:t>, v</a:t>
                </a:r>
                <a:r>
                  <a:rPr lang="en-US" baseline="-25000" dirty="0"/>
                  <a:t>1</a:t>
                </a:r>
                <a:r>
                  <a:rPr lang="en-US" dirty="0"/>
                  <a:t>), (u</a:t>
                </a:r>
                <a:r>
                  <a:rPr lang="en-US" baseline="-25000" dirty="0"/>
                  <a:t>2</a:t>
                </a:r>
                <a:r>
                  <a:rPr lang="en-US" dirty="0"/>
                  <a:t>, v</a:t>
                </a:r>
                <a:r>
                  <a:rPr lang="en-US" baseline="-25000" dirty="0"/>
                  <a:t>2</a:t>
                </a:r>
                <a:r>
                  <a:rPr lang="en-US" dirty="0"/>
                  <a:t>) </a:t>
                </a:r>
                <a:r>
                  <a:rPr lang="ru-RU" dirty="0"/>
                  <a:t>и</a:t>
                </a:r>
                <a:r>
                  <a:rPr lang="en-US" dirty="0"/>
                  <a:t> (u</a:t>
                </a:r>
                <a:r>
                  <a:rPr lang="en-US" baseline="-25000" dirty="0"/>
                  <a:t>3</a:t>
                </a:r>
                <a:r>
                  <a:rPr lang="en-US" dirty="0"/>
                  <a:t>, v</a:t>
                </a:r>
                <a:r>
                  <a:rPr lang="en-US" baseline="-25000" dirty="0"/>
                  <a:t>3</a:t>
                </a:r>
                <a:r>
                  <a:rPr lang="en-US" dirty="0"/>
                  <a:t>)</a:t>
                </a:r>
              </a:p>
              <a:p>
                <a:pPr eaLnBrk="1" hangingPunct="1"/>
                <a:r>
                  <a:rPr lang="ru-RU" dirty="0"/>
                  <a:t>Вычисление касательной, нормали и бинормали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23555" name="Содержимое 2">
                <a:extLst>
                  <a:ext uri="{FF2B5EF4-FFF2-40B4-BE49-F238E27FC236}">
                    <a16:creationId xmlns:a16="http://schemas.microsoft.com/office/drawing/2014/main" id="{46E0EB43-91E0-992B-FC11-E30BD58D0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5180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A560F7-B0B2-B864-FE93-B29CB543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касательного вектора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0699D-D30E-5D0D-25B5-10A1C6845176}"/>
              </a:ext>
            </a:extLst>
          </p:cNvPr>
          <p:cNvSpPr txBox="1"/>
          <p:nvPr/>
        </p:nvSpPr>
        <p:spPr>
          <a:xfrm>
            <a:off x="838200" y="2276871"/>
            <a:ext cx="11353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CalculateTangent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.x) *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 -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.x) *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 -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tangent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tangent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2490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Переход в касательное пространство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Содержимое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Идея:</a:t>
                </a:r>
              </a:p>
              <a:p>
                <a:pPr lvl="1"/>
                <a:r>
                  <a:rPr lang="ru-RU" dirty="0"/>
                  <a:t>Нужно перевести векторы в систему координат поверхности </a:t>
                </a:r>
              </a:p>
              <a:p>
                <a:r>
                  <a:rPr lang="ru-RU" dirty="0"/>
                  <a:t>Как это делается:</a:t>
                </a:r>
              </a:p>
              <a:p>
                <a:pPr lvl="1"/>
                <a:r>
                  <a:rPr lang="ru-RU" dirty="0"/>
                  <a:t>Используется </a:t>
                </a:r>
                <a:r>
                  <a:rPr lang="en-US" dirty="0"/>
                  <a:t>TBN-</a:t>
                </a:r>
                <a:r>
                  <a:rPr lang="ru-RU" dirty="0"/>
                  <a:t>матрица: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TBN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mr>
                          <m:m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</m:mr>
                          <m:mr>
                            <m:e>
                              <m:r>
                                <a:rPr lang="ar-AE" b="1">
                                  <a:latin typeface="Cambria Math" panose="02040503050406030204" pitchFamily="18" charset="0"/>
                                </a:rPr>
                                <m:t>𝐍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ru-RU" dirty="0"/>
                  <a:t>Преобразование: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𝑡𝑎𝑛𝑔𝑒𝑛𝑡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TBN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𝑤𝑜𝑟𝑙𝑑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ru-RU" dirty="0"/>
                  <a:t>Где: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r>
                  <a:rPr lang="ru-RU" dirty="0"/>
                  <a:t>— базис поверхности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ru-RU" dirty="0"/>
                  <a:t>— вектор (света, взгляда и т.д.) </a:t>
                </a:r>
              </a:p>
              <a:p>
                <a:r>
                  <a:rPr lang="ru-RU" dirty="0"/>
                  <a:t>Зачем:</a:t>
                </a:r>
              </a:p>
              <a:p>
                <a:pPr lvl="1"/>
                <a:r>
                  <a:rPr lang="ru-RU" dirty="0"/>
                  <a:t>Чтобы корректно использовать </a:t>
                </a:r>
                <a:r>
                  <a:rPr lang="en-US" dirty="0"/>
                  <a:t>normal map</a:t>
                </a:r>
              </a:p>
            </p:txBody>
          </p:sp>
        </mc:Choice>
        <mc:Fallback xmlns="">
          <p:sp>
            <p:nvSpPr>
              <p:cNvPr id="24579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4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Вершинный шейдер для </a:t>
            </a:r>
            <a:r>
              <a:rPr lang="ru-RU" dirty="0" err="1"/>
              <a:t>bump</a:t>
            </a:r>
            <a:r>
              <a:rPr lang="ru-RU" dirty="0"/>
              <a:t> </a:t>
            </a:r>
            <a:r>
              <a:rPr lang="ru-RU" dirty="0" err="1"/>
              <a:t>mapping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Стандартные операции:</a:t>
                </a:r>
              </a:p>
              <a:p>
                <a:pPr lvl="1"/>
                <a:r>
                  <a:rPr lang="ru-RU" dirty="0"/>
                  <a:t>Преобразование вершины </a:t>
                </a:r>
              </a:p>
              <a:p>
                <a:pPr lvl="1"/>
                <a:r>
                  <a:rPr lang="ru-RU" dirty="0"/>
                  <a:t>Передача UV-координат </a:t>
                </a:r>
              </a:p>
              <a:p>
                <a:r>
                  <a:rPr lang="ru-RU" dirty="0"/>
                  <a:t>Подготовка базиса:</a:t>
                </a:r>
              </a:p>
              <a:p>
                <a:pPr lvl="1"/>
                <a:r>
                  <a:rPr lang="ru-RU" dirty="0"/>
                  <a:t>Преобразование нормали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Преобразование касательной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Вычисление бинормали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b="1"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Переход в </a:t>
                </a:r>
                <a:r>
                  <a:rPr lang="ru-RU" dirty="0" err="1"/>
                  <a:t>tangent</a:t>
                </a:r>
                <a:r>
                  <a:rPr lang="ru-RU" dirty="0"/>
                  <a:t> </a:t>
                </a:r>
                <a:r>
                  <a:rPr lang="ru-RU" dirty="0" err="1"/>
                  <a:t>space</a:t>
                </a:r>
                <a:r>
                  <a:rPr lang="ru-RU" dirty="0"/>
                  <a:t>:</a:t>
                </a:r>
              </a:p>
              <a:p>
                <a:pPr lvl="1"/>
                <a:r>
                  <a:rPr lang="ru-RU" dirty="0"/>
                  <a:t>Вычисление направлений: </a:t>
                </a:r>
              </a:p>
              <a:p>
                <a:pPr lvl="2"/>
                <a:r>
                  <a:rPr lang="ru-RU" dirty="0"/>
                  <a:t>на источник света </a:t>
                </a:r>
              </a:p>
              <a:p>
                <a:pPr lvl="2"/>
                <a:r>
                  <a:rPr lang="ru-RU" dirty="0"/>
                  <a:t>на наблюдателя </a:t>
                </a:r>
              </a:p>
              <a:p>
                <a:pPr lvl="1"/>
                <a:r>
                  <a:rPr lang="ru-RU" dirty="0"/>
                  <a:t>Преобразование этих векторов в касательное пространство </a:t>
                </a:r>
              </a:p>
              <a:p>
                <a:r>
                  <a:rPr lang="ru-RU" dirty="0"/>
                  <a:t>Результат:</a:t>
                </a:r>
              </a:p>
              <a:p>
                <a:pPr lvl="1"/>
                <a:r>
                  <a:rPr lang="ru-RU" dirty="0"/>
                  <a:t>Все данные готовы для работы с </a:t>
                </a:r>
                <a:r>
                  <a:rPr lang="ru-RU" dirty="0" err="1"/>
                  <a:t>normal</a:t>
                </a:r>
                <a:r>
                  <a:rPr lang="ru-RU" dirty="0"/>
                  <a:t> </a:t>
                </a:r>
                <a:r>
                  <a:rPr lang="ru-RU" dirty="0" err="1"/>
                  <a:t>map</a:t>
                </a:r>
                <a:r>
                  <a:rPr lang="ru-RU" dirty="0"/>
                  <a:t> во фрагментном шейдере</a:t>
                </a:r>
              </a:p>
            </p:txBody>
          </p:sp>
        </mc:Choice>
        <mc:Fallback xmlns="">
          <p:sp>
            <p:nvSpPr>
              <p:cNvPr id="25603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6D0CA8-4E38-0FE5-059C-A814F5FC8175}"/>
              </a:ext>
            </a:extLst>
          </p:cNvPr>
          <p:cNvSpPr txBox="1"/>
          <p:nvPr/>
        </p:nvSpPr>
        <p:spPr>
          <a:xfrm>
            <a:off x="0" y="-14975"/>
            <a:ext cx="1236069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Tangent; 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Направление на источник света в касательном пространстве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Направление в сторону наблюдателя в касательном пространстве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Трансформация вершин и текстурных координат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ftransform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gl_TexCoord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gl_MultiTexCoord0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Compute the binormal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gl_NormalMatrix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gl_Normal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gl_NormalMatrix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Tangent);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cross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(n, t);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Вычисляем координаты вершины в системе координат наблюдателя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vertex =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gl_ModelViewMatrix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gl_Vertex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xyz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Направление из вершины на источник света и к наблюдателю в системе координат наблюдателя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position.xyz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– vertex;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eye = -vertex;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Направление из вершины на источник света и к наблюдателю в касательном пространстве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(t, l),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(b, l),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(n, l));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(t, eye),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(b, eye),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(n, eye));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EA5E2694-63A7-AB8E-9BCA-E578167C9727}"/>
                  </a:ext>
                </a:extLst>
              </p:cNvPr>
              <p:cNvSpPr txBox="1"/>
              <p:nvPr/>
            </p:nvSpPr>
            <p:spPr bwMode="auto">
              <a:xfrm>
                <a:off x="8616280" y="2538859"/>
                <a:ext cx="3456384" cy="108012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EA5E2694-63A7-AB8E-9BCA-E578167C9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6280" y="2538859"/>
                <a:ext cx="3456384" cy="108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5B26FD-8068-D049-FE94-7968E4A52F9D}"/>
              </a:ext>
            </a:extLst>
          </p:cNvPr>
          <p:cNvCxnSpPr>
            <a:cxnSpLocks/>
          </p:cNvCxnSpPr>
          <p:nvPr/>
        </p:nvCxnSpPr>
        <p:spPr>
          <a:xfrm flipV="1">
            <a:off x="8292244" y="3618979"/>
            <a:ext cx="1764196" cy="2154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Фрагментный шейдер для </a:t>
            </a:r>
            <a:r>
              <a:rPr lang="en-US" dirty="0"/>
              <a:t>Bump mapping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Содержимое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dirty="0"/>
                  <a:t>Шаг 1 — Получение нормали:</a:t>
                </a:r>
              </a:p>
              <a:p>
                <a:pPr lvl="1"/>
                <a:r>
                  <a:rPr lang="ru-RU" dirty="0"/>
                  <a:t>Чтение из </a:t>
                </a:r>
                <a:r>
                  <a:rPr lang="en-US" dirty="0"/>
                  <a:t>normal map </a:t>
                </a:r>
              </a:p>
              <a:p>
                <a:pPr lvl="1"/>
                <a:r>
                  <a:rPr lang="ru-RU" dirty="0"/>
                  <a:t>Преобразование из [0;1] → [-1;1]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𝐧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color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b="0" dirty="0"/>
              </a:p>
              <a:p>
                <a:r>
                  <a:rPr lang="ru-RU" dirty="0"/>
                  <a:t>Шаг 2 — Освещение:</a:t>
                </a:r>
              </a:p>
              <a:p>
                <a:pPr lvl="1"/>
                <a:r>
                  <a:rPr lang="ru-RU" dirty="0"/>
                  <a:t>Диффузная составляющая (Ламберт) </a:t>
                </a:r>
              </a:p>
              <a:p>
                <a:pPr lvl="1"/>
                <a:r>
                  <a:rPr lang="ru-RU" dirty="0"/>
                  <a:t>Зеркальная составляющая (Фонг) </a:t>
                </a:r>
              </a:p>
              <a:p>
                <a:r>
                  <a:rPr lang="ru-RU" dirty="0"/>
                  <a:t>Шаг 3 — Итоговый цвет:</a:t>
                </a:r>
              </a:p>
              <a:p>
                <a:pPr lvl="1"/>
                <a:r>
                  <a:rPr lang="ru-RU" dirty="0"/>
                  <a:t>Сумма диффузной и зеркальной компонент </a:t>
                </a:r>
              </a:p>
              <a:p>
                <a:r>
                  <a:rPr lang="ru-RU" dirty="0"/>
                  <a:t>Идея:</a:t>
                </a:r>
              </a:p>
              <a:p>
                <a:pPr lvl="1"/>
                <a:r>
                  <a:rPr lang="ru-RU" dirty="0"/>
                  <a:t>Используем нормаль из текстуры вместо геометрии</a:t>
                </a:r>
              </a:p>
            </p:txBody>
          </p:sp>
        </mc:Choice>
        <mc:Fallback xmlns="">
          <p:sp>
            <p:nvSpPr>
              <p:cNvPr id="27651" name="Содержимое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E0D3AE-4484-784D-7F6A-AE94591DDFFC}"/>
              </a:ext>
            </a:extLst>
          </p:cNvPr>
          <p:cNvSpPr txBox="1"/>
          <p:nvPr/>
        </p:nvSpPr>
        <p:spPr>
          <a:xfrm>
            <a:off x="-486" y="0"/>
            <a:ext cx="12192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sampler2D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карта цвета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sampler2D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normalMap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карта нормалей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направление на источник света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направление в сторону наблюдателя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Вычисление цвета диффузной составляющей отраженного света (формула Ламберта)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CalculateDiffuseColor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normal,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light,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diffuseLight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diffuseMaterial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attenuation)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diffuseFactor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(normal, light),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attenuation;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diffuseMaterial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diffuseFactor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diffuseLight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Вычисление цвета зеркальной составляющей отраженного света (формула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Фонга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CalculateSpecularColor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reflectedLight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eye,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specularLight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specularMaterial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shininess,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attenuation)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specularFactor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reflectedLight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eye),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specularIntensity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specularFactor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shininess) * attenuation;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specularLight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specularIntensity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specularMaterial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8FCE42-C063-4B5D-9B4A-EA27E2A5F267}"/>
              </a:ext>
            </a:extLst>
          </p:cNvPr>
          <p:cNvSpPr txBox="1"/>
          <p:nvPr/>
        </p:nvSpPr>
        <p:spPr>
          <a:xfrm>
            <a:off x="23664" y="0"/>
            <a:ext cx="12144672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координаты в текстуре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gl_TexCoord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Извлекаем и «распаковываем» вектор нормали из карты нормалей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normal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texture2D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normalMap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xyz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Нормализация вектора направления в сторону наблюдателя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Расстояние до источника света от текущего фрагмента до источника света и расчет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коэффициента ослабления света от расстояния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lightDistance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attenuation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0.005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lightDistance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lightDistance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Смешиваем цвет материала с цветом текстуры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diffuseMaterial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texture2D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gl_FrontMaterial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.diffuse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Вычисляем диффузную составляющую отраженного света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CalculateDiffuseColor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(normal,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].diffuse,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diffuseMaterial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attenuation);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Вычисляем направление отраженного луча света и зеркальную составляющую отраженного света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reflectedLight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reflect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normal);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CalculateSpecularColor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reflectedLight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gl_LightSource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].specular,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gl_FrontMaterial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.specular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 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gl_FrontMaterial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.shininess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attenuation);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Формируем цвет фрагмента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gl_FragColor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specularColor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Bump mapping </a:t>
            </a:r>
            <a:r>
              <a:rPr lang="ru-RU" dirty="0"/>
              <a:t>в действии</a:t>
            </a:r>
          </a:p>
        </p:txBody>
      </p:sp>
      <p:pic>
        <p:nvPicPr>
          <p:cNvPr id="30723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38" y="1844676"/>
            <a:ext cx="6411912" cy="501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4" name="Picture 7" descr="F:\Temp\Release\face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844675"/>
            <a:ext cx="2438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8" descr="F:\Temp\Release\face-normal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4395788"/>
            <a:ext cx="2438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2D5526-3BDE-CAF3-3AF6-7C8CE20F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Визуализация зеркальных поверхностей с помощью кубических текстур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22551-5507-B313-25C2-1B068E396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77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C3FB34-19E6-881A-2B66-F759A707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Отражения с помощью кубических текстур (</a:t>
            </a:r>
            <a:r>
              <a:rPr lang="ru-RU" dirty="0" err="1"/>
              <a:t>Cubemap</a:t>
            </a:r>
            <a:r>
              <a:rPr lang="ru-R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C97951E-F621-0AD0-2F37-7ED9D2039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Используем окружающую среду как источник отражения </a:t>
                </a:r>
              </a:p>
              <a:p>
                <a:r>
                  <a:rPr lang="ru-RU" dirty="0"/>
                  <a:t>Как это работает:</a:t>
                </a:r>
              </a:p>
              <a:p>
                <a:pPr lvl="1"/>
                <a:r>
                  <a:rPr lang="ru-RU" dirty="0"/>
                  <a:t>Вычисляем отражённый вектор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Используем его как координату для выборки из </a:t>
                </a:r>
                <a:r>
                  <a:rPr lang="ru-RU" dirty="0" err="1"/>
                  <a:t>cubemap</a:t>
                </a:r>
                <a:r>
                  <a:rPr lang="ru-RU" dirty="0"/>
                  <a:t> </a:t>
                </a:r>
              </a:p>
              <a:p>
                <a:r>
                  <a:rPr lang="ru-RU" dirty="0" err="1"/>
                  <a:t>Cubemap</a:t>
                </a:r>
                <a:r>
                  <a:rPr lang="ru-RU" dirty="0"/>
                  <a:t>:</a:t>
                </a:r>
              </a:p>
              <a:p>
                <a:pPr lvl="1"/>
                <a:r>
                  <a:rPr lang="ru-RU" dirty="0"/>
                  <a:t>Текстура из 6 граней (как куб вокруг сцены) </a:t>
                </a:r>
              </a:p>
              <a:p>
                <a:pPr lvl="1"/>
                <a:r>
                  <a:rPr lang="ru-RU" dirty="0"/>
                  <a:t>Хранит изображение окружающей среды </a:t>
                </a:r>
              </a:p>
              <a:p>
                <a:r>
                  <a:rPr lang="ru-RU" dirty="0"/>
                  <a:t>Результат:</a:t>
                </a:r>
              </a:p>
              <a:p>
                <a:pPr lvl="1"/>
                <a:r>
                  <a:rPr lang="ru-RU" dirty="0"/>
                  <a:t>Имитация зеркальной поверхности без трассировки лучей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C97951E-F621-0AD0-2F37-7ED9D2039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645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DB36D9E-0271-D296-7AA6-12B370C7A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107631"/>
            <a:ext cx="5904656" cy="664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589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CEFC-A13F-50B2-8B00-BFC0AF7E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Извлечение данных из кубической текстуры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B8DDC0-5D36-BC34-9CF6-AECF6B5D90CD}"/>
              </a:ext>
            </a:extLst>
          </p:cNvPr>
          <p:cNvSpPr/>
          <p:nvPr/>
        </p:nvSpPr>
        <p:spPr>
          <a:xfrm>
            <a:off x="3791744" y="2060848"/>
            <a:ext cx="4608512" cy="4608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05893C-6E4D-4A0F-15AF-7EA964473167}"/>
              </a:ext>
            </a:extLst>
          </p:cNvPr>
          <p:cNvCxnSpPr/>
          <p:nvPr/>
        </p:nvCxnSpPr>
        <p:spPr>
          <a:xfrm flipV="1">
            <a:off x="6096000" y="4077072"/>
            <a:ext cx="936104" cy="2880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F2DD29-383B-4C40-83F4-364751935EB0}"/>
              </a:ext>
            </a:extLst>
          </p:cNvPr>
          <p:cNvSpPr txBox="1"/>
          <p:nvPr/>
        </p:nvSpPr>
        <p:spPr>
          <a:xfrm>
            <a:off x="6744072" y="418043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(s, t, p)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7E51C0-8F99-BD19-8568-8DD9FB6AA9F1}"/>
              </a:ext>
            </a:extLst>
          </p:cNvPr>
          <p:cNvCxnSpPr/>
          <p:nvPr/>
        </p:nvCxnSpPr>
        <p:spPr>
          <a:xfrm flipV="1">
            <a:off x="6096000" y="3645024"/>
            <a:ext cx="2304256" cy="7200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1213A11-3B1C-5B1C-8491-2652115A14AC}"/>
              </a:ext>
            </a:extLst>
          </p:cNvPr>
          <p:cNvSpPr/>
          <p:nvPr/>
        </p:nvSpPr>
        <p:spPr>
          <a:xfrm>
            <a:off x="8328248" y="357301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4932EE-2412-0C30-62EF-1CA23875C487}"/>
              </a:ext>
            </a:extLst>
          </p:cNvPr>
          <p:cNvSpPr/>
          <p:nvPr/>
        </p:nvSpPr>
        <p:spPr>
          <a:xfrm>
            <a:off x="6023992" y="429480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98968-3D56-B1B3-98FF-7CA170A4A949}"/>
              </a:ext>
            </a:extLst>
          </p:cNvPr>
          <p:cNvSpPr txBox="1"/>
          <p:nvPr/>
        </p:nvSpPr>
        <p:spPr>
          <a:xfrm>
            <a:off x="8616280" y="3430582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Сэмпл из текстуры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258178-F7B5-4B75-0958-A31FC5550600}"/>
              </a:ext>
            </a:extLst>
          </p:cNvPr>
          <p:cNvSpPr txBox="1"/>
          <p:nvPr/>
        </p:nvSpPr>
        <p:spPr>
          <a:xfrm>
            <a:off x="1199456" y="1687508"/>
            <a:ext cx="465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vec4 color = </a:t>
            </a:r>
            <a:r>
              <a:rPr lang="en-US" dirty="0" err="1"/>
              <a:t>textureCube</a:t>
            </a:r>
            <a:r>
              <a:rPr lang="en-US" dirty="0"/>
              <a:t>(sampler, coord);</a:t>
            </a:r>
          </a:p>
        </p:txBody>
      </p:sp>
    </p:spTree>
    <p:extLst>
      <p:ext uri="{BB962C8B-B14F-4D97-AF65-F5344CB8AC3E}">
        <p14:creationId xmlns:p14="http://schemas.microsoft.com/office/powerpoint/2010/main" val="2911558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0E27CE-A8A6-CF1C-38BB-07BE7C787900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096000" y="2909888"/>
            <a:ext cx="2305050" cy="14552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5A6AA8A-9973-926F-D3D1-01F8D69C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отражения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DEE4DD8-9664-49B4-49E4-1CEB2E8A241B}"/>
              </a:ext>
            </a:extLst>
          </p:cNvPr>
          <p:cNvSpPr/>
          <p:nvPr/>
        </p:nvSpPr>
        <p:spPr>
          <a:xfrm>
            <a:off x="5519936" y="4365104"/>
            <a:ext cx="1152128" cy="79208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38EB4-2E8D-DA50-F28E-86717FCAB457}"/>
              </a:ext>
            </a:extLst>
          </p:cNvPr>
          <p:cNvSpPr/>
          <p:nvPr/>
        </p:nvSpPr>
        <p:spPr>
          <a:xfrm>
            <a:off x="3791744" y="2060848"/>
            <a:ext cx="4608512" cy="4608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606144-C1A2-4592-234C-528614933203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943872" y="3645024"/>
            <a:ext cx="1152128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Video camera with solid fill">
            <a:extLst>
              <a:ext uri="{FF2B5EF4-FFF2-40B4-BE49-F238E27FC236}">
                <a16:creationId xmlns:a16="http://schemas.microsoft.com/office/drawing/2014/main" id="{FD8968E6-FE1B-E404-EE48-380CC3989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08935">
            <a:off x="4198641" y="288688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43E02D-3305-06B1-06B7-9D8C9A7C10E2}"/>
              </a:ext>
            </a:extLst>
          </p:cNvPr>
          <p:cNvCxnSpPr>
            <a:stCxn id="3" idx="0"/>
          </p:cNvCxnSpPr>
          <p:nvPr/>
        </p:nvCxnSpPr>
        <p:spPr>
          <a:xfrm flipV="1">
            <a:off x="6096000" y="3573016"/>
            <a:ext cx="0" cy="7920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E711E3-8D53-FC8F-DFEA-E3D597284AD2}"/>
              </a:ext>
            </a:extLst>
          </p:cNvPr>
          <p:cNvCxnSpPr>
            <a:cxnSpLocks/>
          </p:cNvCxnSpPr>
          <p:nvPr/>
        </p:nvCxnSpPr>
        <p:spPr>
          <a:xfrm flipV="1">
            <a:off x="6096000" y="3634904"/>
            <a:ext cx="1152128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FBAA76-3392-27A8-5B83-710F0B0B111B}"/>
              </a:ext>
            </a:extLst>
          </p:cNvPr>
          <p:cNvSpPr txBox="1"/>
          <p:nvPr/>
        </p:nvSpPr>
        <p:spPr>
          <a:xfrm>
            <a:off x="5234769" y="357301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85CD4-486E-16D9-F836-1836F9C26DB0}"/>
              </a:ext>
            </a:extLst>
          </p:cNvPr>
          <p:cNvSpPr txBox="1"/>
          <p:nvPr/>
        </p:nvSpPr>
        <p:spPr>
          <a:xfrm>
            <a:off x="6110600" y="350100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CC69F-B8DC-F71B-234F-6E07F66AA346}"/>
              </a:ext>
            </a:extLst>
          </p:cNvPr>
          <p:cNvSpPr txBox="1"/>
          <p:nvPr/>
        </p:nvSpPr>
        <p:spPr>
          <a:xfrm>
            <a:off x="693986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898277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7C0572-AF94-7069-C6D6-898ABAE5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какой системе координат считать отражения?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95E69-66B6-D222-AE6F-9DB18182A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Объект и камера находятся в пространстве </a:t>
            </a:r>
          </a:p>
          <a:p>
            <a:pPr lvl="1"/>
            <a:r>
              <a:rPr lang="ru-RU" dirty="0"/>
              <a:t>Нужно согласованно вычислять отражения </a:t>
            </a:r>
          </a:p>
          <a:p>
            <a:r>
              <a:rPr lang="ru-RU" dirty="0"/>
              <a:t>Варианты:</a:t>
            </a:r>
          </a:p>
          <a:p>
            <a:pPr lvl="1"/>
            <a:r>
              <a:rPr lang="ru-RU" dirty="0"/>
              <a:t>Object </a:t>
            </a:r>
            <a:r>
              <a:rPr lang="ru-RU" dirty="0" err="1"/>
              <a:t>space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View </a:t>
            </a:r>
            <a:r>
              <a:rPr lang="ru-RU" dirty="0" err="1"/>
              <a:t>space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World </a:t>
            </a:r>
            <a:r>
              <a:rPr lang="ru-RU" dirty="0" err="1"/>
              <a:t>space</a:t>
            </a:r>
            <a:r>
              <a:rPr lang="ru-RU" dirty="0"/>
              <a:t> </a:t>
            </a:r>
          </a:p>
          <a:p>
            <a:r>
              <a:rPr lang="ru-RU" dirty="0"/>
              <a:t>Выбор:</a:t>
            </a:r>
          </a:p>
          <a:p>
            <a:pPr lvl="1"/>
            <a:r>
              <a:rPr lang="ru-RU" dirty="0"/>
              <a:t>Используем </a:t>
            </a:r>
            <a:r>
              <a:rPr lang="ru-RU" b="1" dirty="0"/>
              <a:t>мировую систему координат (</a:t>
            </a:r>
            <a:r>
              <a:rPr lang="ru-RU" b="1" dirty="0" err="1"/>
              <a:t>world</a:t>
            </a:r>
            <a:r>
              <a:rPr lang="ru-RU" b="1" dirty="0"/>
              <a:t> </a:t>
            </a:r>
            <a:r>
              <a:rPr lang="ru-RU" b="1" dirty="0" err="1"/>
              <a:t>space</a:t>
            </a:r>
            <a:r>
              <a:rPr lang="ru-RU" b="1" dirty="0"/>
              <a:t>)</a:t>
            </a:r>
            <a:r>
              <a:rPr lang="ru-RU" dirty="0"/>
              <a:t> </a:t>
            </a:r>
          </a:p>
          <a:p>
            <a:r>
              <a:rPr lang="ru-RU" dirty="0"/>
              <a:t>Почему:</a:t>
            </a:r>
          </a:p>
          <a:p>
            <a:pPr lvl="1"/>
            <a:r>
              <a:rPr lang="ru-RU" dirty="0"/>
              <a:t>Камера имеет положение в мире </a:t>
            </a:r>
          </a:p>
          <a:p>
            <a:pPr lvl="1"/>
            <a:r>
              <a:rPr lang="ru-RU" dirty="0" err="1"/>
              <a:t>Cubemap</a:t>
            </a:r>
            <a:r>
              <a:rPr lang="ru-RU" dirty="0"/>
              <a:t> задаёт окружающую среду в мире </a:t>
            </a:r>
          </a:p>
          <a:p>
            <a:pPr lvl="1"/>
            <a:r>
              <a:rPr lang="ru-RU" dirty="0"/>
              <a:t>Удобно вычислять отражённый вектор</a:t>
            </a:r>
          </a:p>
        </p:txBody>
      </p:sp>
    </p:spTree>
    <p:extLst>
      <p:ext uri="{BB962C8B-B14F-4D97-AF65-F5344CB8AC3E}">
        <p14:creationId xmlns:p14="http://schemas.microsoft.com/office/powerpoint/2010/main" val="32221352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94AF-9DDB-3C9E-C724-60897E94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Вершинный шейдер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36697-ABE6-4BD8-F5C7-B4D8EB253D0C}"/>
              </a:ext>
            </a:extLst>
          </p:cNvPr>
          <p:cNvSpPr txBox="1"/>
          <p:nvPr/>
        </p:nvSpPr>
        <p:spPr>
          <a:xfrm>
            <a:off x="838200" y="1694012"/>
            <a:ext cx="11353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#version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core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(location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u_modelViewProjectionMatrix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(location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u_modelMatrix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(location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u_normalMatrix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inverse transpose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u_modelMatrix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(location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(location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a_normal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v_worldNormal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u_modelMatrix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xyz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v_worldNormal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u_normalMatrix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a_normal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u_modelViewProjectionMatrix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a_pos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45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6EEC-1564-0D38-B239-9E9FC366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Фрагментный шейдер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7C7CE-7FBE-E873-1604-621C52F3A3E6}"/>
              </a:ext>
            </a:extLst>
          </p:cNvPr>
          <p:cNvSpPr txBox="1"/>
          <p:nvPr/>
        </p:nvSpPr>
        <p:spPr>
          <a:xfrm>
            <a:off x="838200" y="1690687"/>
            <a:ext cx="110904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#version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core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(location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u_worldCamera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(location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uniform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samplerCube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u_envMap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varying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WorldLightPos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Можно передать через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uniform-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переменную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ambientFactor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Можно передать через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uniform-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переменную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WorldLightPos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normalize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reflected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reflect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v_worldPos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u_worldCamera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textureCube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u_envMap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reflected);</a:t>
            </a:r>
          </a:p>
          <a:p>
            <a:pPr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diffuseFactor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worldLightDir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gl_FragColor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diffuseFactor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ambientFactor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color;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040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F409D-69D0-1456-251E-90F4A2204831}"/>
              </a:ext>
            </a:extLst>
          </p:cNvPr>
          <p:cNvSpPr txBox="1"/>
          <p:nvPr/>
        </p:nvSpPr>
        <p:spPr>
          <a:xfrm>
            <a:off x="263352" y="116632"/>
            <a:ext cx="1253060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Activate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glUseProgram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modelViewProj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m_projectionMatrix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glUniformMatrix4fv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modelViewProj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glUniformMatrix4fv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normalMatrix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inverseTranspose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dmat3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glUniformMatrix3fv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normalMatrix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cameraPos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inverse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glUniform3fv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cameraPos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m_envCubeTextureIndex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glUniform1i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m_envCubeTextureIndex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ShaderProgram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m_projectionMatrix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GLint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m_envCubeTextureIndex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03254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0FCB8-8B98-9DF1-8FCE-4C07B1487FAC}"/>
              </a:ext>
            </a:extLst>
          </p:cNvPr>
          <p:cNvSpPr txBox="1"/>
          <p:nvPr/>
        </p:nvSpPr>
        <p:spPr>
          <a:xfrm>
            <a:off x="838200" y="1690688"/>
            <a:ext cx="106944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LoadCubeMap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CubeTextureFiles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glBindTexture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GL_TEXTURE_CUBE_MAP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TextureLoader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loader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loader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LoadTexture2D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GL_TEXTURE_CUBE_MAP_POSITIVE_X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glGenerateTextureMipmap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errorCode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glGetError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errorCode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GL_NO_ERROR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CEDB23-C92C-80B7-F6D8-E723AF95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кубической текстуры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6E6BA-DD56-D104-6A32-26D08CA983FC}"/>
              </a:ext>
            </a:extLst>
          </p:cNvPr>
          <p:cNvSpPr txBox="1"/>
          <p:nvPr/>
        </p:nvSpPr>
        <p:spPr>
          <a:xfrm>
            <a:off x="6600056" y="4516388"/>
            <a:ext cx="5455214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m_cubeTexture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LoadCubeMap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res/brightday2_positive_x.png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res/brightday2_negative_x.png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res/brightday2_positive_y.png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res/brightday2_negative_y.png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res/brightday2_positive_z.png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res/brightday2_negative_z.png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6134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dy of water with mountains and blue sky&#10;&#10;AI-generated content may be incorrect.">
            <a:extLst>
              <a:ext uri="{FF2B5EF4-FFF2-40B4-BE49-F238E27FC236}">
                <a16:creationId xmlns:a16="http://schemas.microsoft.com/office/drawing/2014/main" id="{6513F8E3-0401-454B-7758-1136954DE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39" y="2558706"/>
            <a:ext cx="2040457" cy="2040457"/>
          </a:xfrm>
          <a:prstGeom prst="rect">
            <a:avLst/>
          </a:prstGeom>
        </p:spPr>
      </p:pic>
      <p:pic>
        <p:nvPicPr>
          <p:cNvPr id="6" name="Picture 5" descr="A light shining on the water&#10;&#10;AI-generated content may be incorrect.">
            <a:extLst>
              <a:ext uri="{FF2B5EF4-FFF2-40B4-BE49-F238E27FC236}">
                <a16:creationId xmlns:a16="http://schemas.microsoft.com/office/drawing/2014/main" id="{E867F55D-9574-358A-B9FB-4B016733DF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4653136"/>
            <a:ext cx="2040457" cy="2040457"/>
          </a:xfrm>
          <a:prstGeom prst="rect">
            <a:avLst/>
          </a:prstGeom>
        </p:spPr>
      </p:pic>
      <p:pic>
        <p:nvPicPr>
          <p:cNvPr id="8" name="Picture 7" descr="A green island surrounded by water&#10;&#10;AI-generated content may be incorrect.">
            <a:extLst>
              <a:ext uri="{FF2B5EF4-FFF2-40B4-BE49-F238E27FC236}">
                <a16:creationId xmlns:a16="http://schemas.microsoft.com/office/drawing/2014/main" id="{425FC783-2294-7AD0-9CF3-63663D0472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875" y="2558706"/>
            <a:ext cx="2040457" cy="2040457"/>
          </a:xfrm>
          <a:prstGeom prst="rect">
            <a:avLst/>
          </a:prstGeom>
        </p:spPr>
      </p:pic>
      <p:pic>
        <p:nvPicPr>
          <p:cNvPr id="10" name="Picture 9" descr="A body of water with mountains and blue sky&#10;&#10;AI-generated content may be incorrect.">
            <a:extLst>
              <a:ext uri="{FF2B5EF4-FFF2-40B4-BE49-F238E27FC236}">
                <a16:creationId xmlns:a16="http://schemas.microsoft.com/office/drawing/2014/main" id="{3CF1595B-53DB-0175-1C70-1D90902948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49" y="2558706"/>
            <a:ext cx="2040457" cy="2040457"/>
          </a:xfrm>
          <a:prstGeom prst="rect">
            <a:avLst/>
          </a:prstGeom>
        </p:spPr>
      </p:pic>
      <p:pic>
        <p:nvPicPr>
          <p:cNvPr id="12" name="Picture 11" descr="A blue sky with clouds&#10;&#10;AI-generated content may be incorrect.">
            <a:extLst>
              <a:ext uri="{FF2B5EF4-FFF2-40B4-BE49-F238E27FC236}">
                <a16:creationId xmlns:a16="http://schemas.microsoft.com/office/drawing/2014/main" id="{58EFC24A-2299-E104-6B65-F0C013E677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434526"/>
            <a:ext cx="2040457" cy="2040457"/>
          </a:xfrm>
          <a:prstGeom prst="rect">
            <a:avLst/>
          </a:prstGeom>
        </p:spPr>
      </p:pic>
      <p:pic>
        <p:nvPicPr>
          <p:cNvPr id="14" name="Picture 13" descr="A body of water with mountains and blue sky&#10;&#10;AI-generated content may be incorrect.">
            <a:extLst>
              <a:ext uri="{FF2B5EF4-FFF2-40B4-BE49-F238E27FC236}">
                <a16:creationId xmlns:a16="http://schemas.microsoft.com/office/drawing/2014/main" id="{948577D3-4CAB-1DCF-DC1D-C46D1B9406A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2543831"/>
            <a:ext cx="2040457" cy="204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1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F2B098-27B6-5A4A-D0E4-5395C55E21ED}"/>
              </a:ext>
            </a:extLst>
          </p:cNvPr>
          <p:cNvSpPr txBox="1"/>
          <p:nvPr/>
        </p:nvSpPr>
        <p:spPr>
          <a:xfrm>
            <a:off x="0" y="0"/>
            <a:ext cx="125047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glClearColor</a:t>
            </a: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(0.5f, 0.5f, 0.5f, 1.0f);</a:t>
            </a:r>
          </a:p>
          <a:p>
            <a:pPr>
              <a:buNone/>
            </a:pP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glClear</a:t>
            </a: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(GL_COLOR_BUFFER_BIT | GL_DEPTH_BUFFER_BIT);</a:t>
            </a:r>
          </a:p>
          <a:p>
            <a:pPr>
              <a:buNone/>
            </a:pP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glViewport</a:t>
            </a: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(0, 0, width, height);</a:t>
            </a:r>
          </a:p>
          <a:p>
            <a:pPr>
              <a:buNone/>
            </a:pP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glEnable</a:t>
            </a:r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(GL_DEPTH_TEST);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SetProjectionMatrix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perspective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std::numbers::pi /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m_cameraMatrix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glActiveTexture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GL_TEXTURE0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glBindTexture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GL_TEXTURE_CUBE_MAP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m_cubeTexture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SetEnvCubeTextureUnit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m_program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Activate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SceneRenderer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RenderScene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m_scene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14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4E4461-1937-CFB8-CC60-F0FB79102424}"/>
              </a:ext>
            </a:extLst>
          </p:cNvPr>
          <p:cNvSpPr txBox="1"/>
          <p:nvPr/>
        </p:nvSpPr>
        <p:spPr>
          <a:xfrm>
            <a:off x="838200" y="1779687"/>
            <a:ext cx="785008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SceneRenderer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VertexLayout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GLint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position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GLint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normal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SceneRenderer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RenderScene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aiScene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.mRootNode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7EE46B-26D5-24D7-7276-F50EF54F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Простейший рендеринг </a:t>
            </a:r>
            <a:r>
              <a:rPr lang="en-US" dirty="0" err="1"/>
              <a:t>assimp</a:t>
            </a:r>
            <a:r>
              <a:rPr lang="en-US" dirty="0"/>
              <a:t>-</a:t>
            </a:r>
            <a:r>
              <a:rPr lang="ru-RU" dirty="0"/>
              <a:t>сцены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192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94A420-7341-8061-4A4B-469F7FACF9F2}"/>
              </a:ext>
            </a:extLst>
          </p:cNvPr>
          <p:cNvSpPr txBox="1"/>
          <p:nvPr/>
        </p:nvSpPr>
        <p:spPr>
          <a:xfrm>
            <a:off x="0" y="116632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SceneRenderer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aiScene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.mNumMeshes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meshIndex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.mMeshes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.mMeshes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meshIndex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.mNumChildren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scene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.mChildren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GL_TRIANGLES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.mNumFaces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aiFace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.mFaces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.mNumIndices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face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.mIndices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aiVector3D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aiVector3D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.mNormals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glVertexAttrib3f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m_layout.normal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.z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glVertex4f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.z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202521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AD0EB-D708-CC70-A79E-A09F3FCE1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07" y="1556792"/>
            <a:ext cx="9377786" cy="50405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FD694A5-7636-8795-D6A1-94FB9BE9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849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C350-31A3-DDDD-2C09-FFC4B71E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16A9A-60FC-500D-1602-9CCF20F4C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Вы научились:</a:t>
            </a:r>
          </a:p>
          <a:p>
            <a:pPr lvl="1"/>
            <a:r>
              <a:rPr lang="ru-RU" dirty="0"/>
              <a:t>Писать вершинные и фрагментные шейдеры </a:t>
            </a:r>
          </a:p>
          <a:p>
            <a:pPr lvl="1"/>
            <a:r>
              <a:rPr lang="ru-RU" dirty="0"/>
              <a:t>Реализовывать освещение (Ламберт и Фонг) </a:t>
            </a:r>
          </a:p>
          <a:p>
            <a:pPr lvl="1"/>
            <a:r>
              <a:rPr lang="ru-RU" dirty="0"/>
              <a:t>Передавать данные между шейдерами </a:t>
            </a:r>
          </a:p>
          <a:p>
            <a:pPr lvl="1"/>
            <a:r>
              <a:rPr lang="ru-RU" dirty="0"/>
              <a:t>Использовать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для детализации </a:t>
            </a:r>
          </a:p>
          <a:p>
            <a:pPr lvl="1"/>
            <a:r>
              <a:rPr lang="ru-RU" dirty="0"/>
              <a:t>Реализовывать отражения с помощью </a:t>
            </a:r>
            <a:r>
              <a:rPr lang="ru-RU" dirty="0" err="1"/>
              <a:t>cubemap</a:t>
            </a:r>
            <a:r>
              <a:rPr lang="ru-RU" dirty="0"/>
              <a:t> </a:t>
            </a:r>
          </a:p>
          <a:p>
            <a:r>
              <a:rPr lang="ru-RU" dirty="0"/>
              <a:t>Ключевая идея:</a:t>
            </a:r>
          </a:p>
          <a:p>
            <a:pPr lvl="1"/>
            <a:r>
              <a:rPr lang="ru-RU" dirty="0"/>
              <a:t>Шейдеры = полный контроль над визуализацией </a:t>
            </a:r>
          </a:p>
          <a:p>
            <a:r>
              <a:rPr lang="ru-RU" dirty="0"/>
              <a:t>Куда двигаться дальше:</a:t>
            </a:r>
          </a:p>
          <a:p>
            <a:pPr lvl="1"/>
            <a:r>
              <a:rPr lang="ru-RU" dirty="0"/>
              <a:t>PBR (физически корректное освещение) </a:t>
            </a:r>
          </a:p>
          <a:p>
            <a:pPr lvl="1"/>
            <a:r>
              <a:rPr lang="ru-RU" dirty="0"/>
              <a:t>Тени (</a:t>
            </a:r>
            <a:r>
              <a:rPr lang="ru-RU" dirty="0" err="1"/>
              <a:t>shadow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Отложенный рендеринг (</a:t>
            </a:r>
            <a:r>
              <a:rPr lang="ru-RU" dirty="0" err="1"/>
              <a:t>deferred</a:t>
            </a:r>
            <a:r>
              <a:rPr lang="ru-RU" dirty="0"/>
              <a:t> </a:t>
            </a:r>
            <a:r>
              <a:rPr lang="ru-RU" dirty="0" err="1"/>
              <a:t>rendering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4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Ссылки</a:t>
            </a:r>
          </a:p>
        </p:txBody>
      </p:sp>
      <p:sp>
        <p:nvSpPr>
          <p:cNvPr id="3174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hlinkClick r:id="rId3"/>
              </a:rPr>
              <a:t>Tangent space</a:t>
            </a:r>
            <a:endParaRPr lang="ru-RU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SLIDE_COUNT" val="84"/>
  <p:tag name="ISPRING_ULTRA_SCORM_DURATION" val="3600"/>
  <p:tag name="ISPRINGONLINETITLE" val="История развития OpenGL"/>
  <p:tag name="ISPRINGONLINETAGS" val="компьютерная графика GLSL лекция шейдеры шейдер shader"/>
  <p:tag name="ISPRINGONLINETOPIC" val="Education"/>
  <p:tag name="ISPRINGONLINELANG" val="ru"/>
  <p:tag name="ISPRINGONLINEALLOWACCESS" val="1"/>
  <p:tag name="ISPRINGONLINEUPLOADPRESENTATION" val="0"/>
  <p:tag name="ISPRINGONLINEALLOWDOWNLOAD" val="0"/>
  <p:tag name="ARTICULATE_PROJECT_OPEN" val="0"/>
  <p:tag name="ISPRING_RESOURCE_PATHS_HASH_2" val="8dd69b6a18244f33af0c398bd4f91ec2c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6edb653-5d3d-4ed3-87a4-26f428b34bd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aa68ce0-982a-48b1-819a-a43bffd6da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75a57eb-c9f3-40b1-863a-6531da300b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c9fff8e-c4c6-43be-b1bd-02696778192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d38cbadd-44e5-4297-b46a-13aeab9ebf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5717a02-ff6d-415e-bbd3-f2ea92b6bd4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6aab6a5-c453-4349-8291-fb04f72ae9b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4fa7fb8f-46da-47ab-b179-11f495d44ec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788c7ec-c8b4-4793-b336-6ca791a2403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c4b9719-ec81-4df0-8fd5-5be2ba1331c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17eaa01-a556-45fd-b89a-4c677d1fc72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fa33693-c5c8-4722-b728-aad7e1d6556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e5294936-4dc8-47e9-b11f-bcb1842ea3f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ec334d7-afb1-4d57-91ce-ad264f8b4dd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ec334d7-afb1-4d57-91ce-ad264f8b4dd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4971c42d-2288-4d5c-a1cc-9129079afa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6aec4fa8-803d-4f7d-8619-41ade57366e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e9aa82f1-8560-4d6d-8c5d-5e4b3d3a174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fdbaf7a-94b2-4df7-9b77-db6b75fde8d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36c6920-8594-439c-84a1-f443aa419d7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7e3082e-2e1d-4874-a084-77245a4ab54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813a3dd-4bbd-44eb-b70d-a4d07f5427c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3648</TotalTime>
  <Words>8859</Words>
  <Application>Microsoft Office PowerPoint</Application>
  <PresentationFormat>Widescreen</PresentationFormat>
  <Paragraphs>1015</Paragraphs>
  <Slides>49</Slides>
  <Notes>48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Consolas</vt:lpstr>
      <vt:lpstr>Constantia</vt:lpstr>
      <vt:lpstr>Courier New</vt:lpstr>
      <vt:lpstr>Office Theme</vt:lpstr>
      <vt:lpstr>Практическое применение шейдеров в OpenGL</vt:lpstr>
      <vt:lpstr>Что вы узнаете в этой лекции</vt:lpstr>
      <vt:lpstr>Важно: используемый стиль OpenGL</vt:lpstr>
      <vt:lpstr>Первый шаг: базовый шейдер</vt:lpstr>
      <vt:lpstr>Пример</vt:lpstr>
      <vt:lpstr>Добавляем разный цвет вершин</vt:lpstr>
      <vt:lpstr>Диффузное освещение (модель Ламберта)</vt:lpstr>
      <vt:lpstr>Принцип работы</vt:lpstr>
      <vt:lpstr>Что делает вершинный шейдер</vt:lpstr>
      <vt:lpstr>PowerPoint Presentation</vt:lpstr>
      <vt:lpstr>Что делает фрагментный шейдер</vt:lpstr>
      <vt:lpstr>PowerPoint Presentation</vt:lpstr>
      <vt:lpstr>Добавляем specular-составляющую</vt:lpstr>
      <vt:lpstr>PowerPoint Presentation</vt:lpstr>
      <vt:lpstr>PowerPoint Presentation</vt:lpstr>
      <vt:lpstr>Примеры более сложных шейдеров</vt:lpstr>
      <vt:lpstr>Наложение микрорельефа (bump mapping)</vt:lpstr>
      <vt:lpstr>Идея Bump Mapping</vt:lpstr>
      <vt:lpstr>Карта нормалей (Normal Map)</vt:lpstr>
      <vt:lpstr>Касательное пространство (tangent space)</vt:lpstr>
      <vt:lpstr>Векторы касательного пространства</vt:lpstr>
      <vt:lpstr>Откуда берётся касательная (Tangent)</vt:lpstr>
      <vt:lpstr>Вычисление касательной, нормали и бинормали</vt:lpstr>
      <vt:lpstr>Вычисление касательной, нормали и бинормали</vt:lpstr>
      <vt:lpstr>Вычисление касательного вектора</vt:lpstr>
      <vt:lpstr>Переход в касательное пространство</vt:lpstr>
      <vt:lpstr>Вершинный шейдер для bump mapping</vt:lpstr>
      <vt:lpstr>PowerPoint Presentation</vt:lpstr>
      <vt:lpstr>Фрагментный шейдер для Bump mapping</vt:lpstr>
      <vt:lpstr>PowerPoint Presentation</vt:lpstr>
      <vt:lpstr>PowerPoint Presentation</vt:lpstr>
      <vt:lpstr>Bump mapping в действии</vt:lpstr>
      <vt:lpstr>Визуализация зеркальных поверхностей с помощью кубических текстур</vt:lpstr>
      <vt:lpstr>Отражения с помощью кубических текстур (Cubemap)</vt:lpstr>
      <vt:lpstr>PowerPoint Presentation</vt:lpstr>
      <vt:lpstr>Извлечение данных из кубической текстуры</vt:lpstr>
      <vt:lpstr>Идея отражения</vt:lpstr>
      <vt:lpstr>В какой системе координат считать отражения?</vt:lpstr>
      <vt:lpstr>Вершинный шейдер</vt:lpstr>
      <vt:lpstr>Фрагментный шейдер</vt:lpstr>
      <vt:lpstr>PowerPoint Presentation</vt:lpstr>
      <vt:lpstr>Загрузка кубической текстуры</vt:lpstr>
      <vt:lpstr>PowerPoint Presentation</vt:lpstr>
      <vt:lpstr>PowerPoint Presentation</vt:lpstr>
      <vt:lpstr>Простейший рендеринг assimp-сцены</vt:lpstr>
      <vt:lpstr>PowerPoint Presentation</vt:lpstr>
      <vt:lpstr>Результат</vt:lpstr>
      <vt:lpstr>Итоги</vt:lpstr>
      <vt:lpstr>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развития OpenGL</dc:title>
  <dc:creator>Aleksey Malov</dc:creator>
  <cp:lastModifiedBy>Алексей Малов</cp:lastModifiedBy>
  <cp:revision>274</cp:revision>
  <dcterms:created xsi:type="dcterms:W3CDTF">2008-11-30T13:41:23Z</dcterms:created>
  <dcterms:modified xsi:type="dcterms:W3CDTF">2026-04-14T07:53:07Z</dcterms:modified>
</cp:coreProperties>
</file>