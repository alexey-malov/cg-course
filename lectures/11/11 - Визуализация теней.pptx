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9"/>
  </p:notesMasterIdLst>
  <p:sldIdLst>
    <p:sldId id="256" r:id="rId2"/>
    <p:sldId id="310" r:id="rId3"/>
    <p:sldId id="315" r:id="rId4"/>
    <p:sldId id="316" r:id="rId5"/>
    <p:sldId id="261" r:id="rId6"/>
    <p:sldId id="262" r:id="rId7"/>
    <p:sldId id="277" r:id="rId8"/>
    <p:sldId id="278" r:id="rId9"/>
    <p:sldId id="281" r:id="rId10"/>
    <p:sldId id="282" r:id="rId11"/>
    <p:sldId id="263" r:id="rId12"/>
    <p:sldId id="283" r:id="rId13"/>
    <p:sldId id="265" r:id="rId14"/>
    <p:sldId id="264" r:id="rId15"/>
    <p:sldId id="271" r:id="rId16"/>
    <p:sldId id="284" r:id="rId17"/>
    <p:sldId id="266" r:id="rId18"/>
    <p:sldId id="269" r:id="rId19"/>
    <p:sldId id="272" r:id="rId20"/>
    <p:sldId id="274" r:id="rId21"/>
    <p:sldId id="293" r:id="rId22"/>
    <p:sldId id="294" r:id="rId23"/>
    <p:sldId id="295" r:id="rId24"/>
    <p:sldId id="296" r:id="rId25"/>
    <p:sldId id="297" r:id="rId26"/>
    <p:sldId id="311" r:id="rId27"/>
    <p:sldId id="287" r:id="rId28"/>
    <p:sldId id="288" r:id="rId29"/>
    <p:sldId id="285" r:id="rId30"/>
    <p:sldId id="286" r:id="rId31"/>
    <p:sldId id="290" r:id="rId32"/>
    <p:sldId id="291" r:id="rId33"/>
    <p:sldId id="292" r:id="rId34"/>
    <p:sldId id="303" r:id="rId35"/>
    <p:sldId id="314" r:id="rId36"/>
    <p:sldId id="298" r:id="rId37"/>
    <p:sldId id="317" r:id="rId38"/>
    <p:sldId id="304" r:id="rId39"/>
    <p:sldId id="302" r:id="rId40"/>
    <p:sldId id="305" r:id="rId41"/>
    <p:sldId id="309" r:id="rId42"/>
    <p:sldId id="306" r:id="rId43"/>
    <p:sldId id="307" r:id="rId44"/>
    <p:sldId id="312" r:id="rId45"/>
    <p:sldId id="313" r:id="rId46"/>
    <p:sldId id="318" r:id="rId47"/>
    <p:sldId id="31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893" autoAdjust="0"/>
  </p:normalViewPr>
  <p:slideViewPr>
    <p:cSldViewPr>
      <p:cViewPr>
        <p:scale>
          <a:sx n="100" d="100"/>
          <a:sy n="100" d="100"/>
        </p:scale>
        <p:origin x="-3114" y="-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BD475-CDA8-4E6D-B6E4-3975D3C44030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79EC9-B6FC-40A4-8759-C3882A1DC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7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3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мозг постоянно анализирует свет и тень, чтобы понять как устроен окружающий мир.</a:t>
            </a:r>
          </a:p>
          <a:p>
            <a:r>
              <a:rPr lang="ru-RU" dirty="0"/>
              <a:t>Без теней сцена выглядит плоской и искусственной.</a:t>
            </a:r>
          </a:p>
          <a:p>
            <a:endParaRPr lang="ru-RU" dirty="0"/>
          </a:p>
          <a:p>
            <a:r>
              <a:rPr lang="ru-RU" dirty="0"/>
              <a:t>Тени позволяют зрителю интуитивно определить, что находится ближе, а что дальше, каковы размеры объектов и как они взаимодействуют между собой и с поверхностями</a:t>
            </a:r>
          </a:p>
          <a:p>
            <a:endParaRPr lang="ru-RU" dirty="0"/>
          </a:p>
          <a:p>
            <a:r>
              <a:rPr lang="ru-RU" dirty="0"/>
              <a:t>Поэтому реалистичное освещение без теней невозможно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5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Тени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в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графике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свет</a:t>
            </a:r>
            <a:r>
              <a:rPr lang="en-US" dirty="0"/>
              <a:t> в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Современная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миллионы</a:t>
            </a:r>
            <a:r>
              <a:rPr lang="en-US" dirty="0"/>
              <a:t> </a:t>
            </a:r>
            <a:r>
              <a:rPr lang="en-US" dirty="0" err="1"/>
              <a:t>треугольников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движущиеся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с </a:t>
            </a:r>
            <a:r>
              <a:rPr lang="en-US" dirty="0" err="1"/>
              <a:t>частотой</a:t>
            </a:r>
            <a:r>
              <a:rPr lang="en-US" dirty="0"/>
              <a:t> 60 </a:t>
            </a:r>
            <a:r>
              <a:rPr lang="en-US" dirty="0" err="1"/>
              <a:t>кадров</a:t>
            </a:r>
            <a:r>
              <a:rPr lang="en-US" dirty="0"/>
              <a:t> в </a:t>
            </a:r>
            <a:r>
              <a:rPr lang="en-US" dirty="0" err="1"/>
              <a:t>секунду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и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ступенчатые</a:t>
            </a:r>
            <a:r>
              <a:rPr lang="en-US" dirty="0"/>
              <a:t> </a:t>
            </a:r>
            <a:r>
              <a:rPr lang="en-US" dirty="0" err="1"/>
              <a:t>края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самозатенения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отрыв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качеством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потреблением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производительность</a:t>
            </a:r>
            <a:r>
              <a:rPr lang="ru-RU" dirty="0"/>
              <a:t>ю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технологий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,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достоинства</a:t>
            </a:r>
            <a:r>
              <a:rPr lang="en-US" dirty="0"/>
              <a:t> и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40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 к </a:t>
            </a:r>
            <a:r>
              <a:rPr lang="en-US" dirty="0" err="1"/>
              <a:t>построению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в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Shadow Volumes.</a:t>
            </a:r>
          </a:p>
          <a:p>
            <a:br>
              <a:rPr lang="en-US" dirty="0"/>
            </a:b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объем</a:t>
            </a:r>
            <a:r>
              <a:rPr lang="en-US" dirty="0"/>
              <a:t>,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с </a:t>
            </a:r>
            <a:r>
              <a:rPr lang="en-US" dirty="0" err="1"/>
              <a:t>идеально</a:t>
            </a:r>
            <a:r>
              <a:rPr lang="en-US" dirty="0"/>
              <a:t> </a:t>
            </a:r>
            <a:r>
              <a:rPr lang="en-US" dirty="0" err="1"/>
              <a:t>четкими</a:t>
            </a:r>
            <a:r>
              <a:rPr lang="en-US" dirty="0"/>
              <a:t> </a:t>
            </a:r>
            <a:r>
              <a:rPr lang="en-US" dirty="0" err="1"/>
              <a:t>границами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и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сцен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Shadow Mapping.</a:t>
            </a:r>
            <a:br>
              <a:rPr lang="en-US" dirty="0"/>
            </a:b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распространенная</a:t>
            </a:r>
            <a:r>
              <a:rPr lang="en-US" dirty="0"/>
              <a:t> </a:t>
            </a:r>
            <a:r>
              <a:rPr lang="en-US" dirty="0" err="1"/>
              <a:t>технология</a:t>
            </a:r>
            <a:r>
              <a:rPr lang="en-US" dirty="0"/>
              <a:t> 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игровых</a:t>
            </a:r>
            <a:r>
              <a:rPr lang="en-US" dirty="0"/>
              <a:t> </a:t>
            </a:r>
            <a:r>
              <a:rPr lang="en-US" dirty="0" err="1"/>
              <a:t>движках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к </a:t>
            </a:r>
            <a:r>
              <a:rPr lang="en-US" dirty="0" err="1"/>
              <a:t>проверке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br>
              <a:rPr lang="en-US" dirty="0"/>
            </a:b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и </a:t>
            </a:r>
            <a:r>
              <a:rPr lang="en-US" dirty="0" err="1"/>
              <a:t>динамической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порождать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ступенчатые</a:t>
            </a:r>
            <a:r>
              <a:rPr lang="en-US" dirty="0"/>
              <a:t> </a:t>
            </a:r>
            <a:r>
              <a:rPr lang="en-US" dirty="0" err="1"/>
              <a:t>края</a:t>
            </a:r>
            <a:r>
              <a:rPr lang="en-US" dirty="0"/>
              <a:t>, </a:t>
            </a: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самозатенения</a:t>
            </a:r>
            <a:r>
              <a:rPr lang="en-US" dirty="0"/>
              <a:t> и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точности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Ray Tracing.</a:t>
            </a:r>
            <a:br>
              <a:rPr lang="en-US" dirty="0"/>
            </a:br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испускается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к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и </a:t>
            </a:r>
            <a:r>
              <a:rPr lang="en-US" dirty="0" err="1"/>
              <a:t>проверяется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реалистичные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мягкие</a:t>
            </a:r>
            <a:r>
              <a:rPr lang="en-US" dirty="0"/>
              <a:t> </a:t>
            </a:r>
            <a:r>
              <a:rPr lang="en-US" dirty="0" err="1"/>
              <a:t>полутени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вычислительная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трассировки</a:t>
            </a:r>
            <a:r>
              <a:rPr lang="en-US" dirty="0"/>
              <a:t> </a:t>
            </a:r>
            <a:r>
              <a:rPr lang="en-US" dirty="0" err="1"/>
              <a:t>лучей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данной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Shadow Volumes и Shadow Mapping.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31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8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Volume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видимую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, в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свет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лампу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«</a:t>
            </a:r>
            <a:r>
              <a:rPr lang="en-US" dirty="0" err="1"/>
              <a:t>вытягивает</a:t>
            </a:r>
            <a:r>
              <a:rPr lang="en-US" dirty="0"/>
              <a:t>»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и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теневым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к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проверке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рассматриваемая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затенена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—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 Shadow Volume — </a:t>
            </a:r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  <a:r>
              <a:rPr lang="en-US" dirty="0" err="1"/>
              <a:t>определяются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и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46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2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объема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с </a:t>
            </a:r>
            <a:r>
              <a:rPr lang="en-US" dirty="0" err="1"/>
              <a:t>поиска</a:t>
            </a:r>
            <a:r>
              <a:rPr lang="en-US" dirty="0"/>
              <a:t> </a:t>
            </a:r>
            <a:r>
              <a:rPr lang="en-US" dirty="0" err="1"/>
              <a:t>силуэта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глазами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обращена</a:t>
            </a:r>
            <a:r>
              <a:rPr lang="en-US" dirty="0"/>
              <a:t> к </a:t>
            </a:r>
            <a:r>
              <a:rPr lang="en-US" dirty="0" err="1"/>
              <a:t>источнику</a:t>
            </a:r>
            <a:r>
              <a:rPr lang="en-US" dirty="0"/>
              <a:t>, а </a:t>
            </a:r>
            <a:r>
              <a:rPr lang="en-US" dirty="0" err="1"/>
              <a:t>часть</a:t>
            </a:r>
            <a:r>
              <a:rPr lang="en-US" dirty="0"/>
              <a:t> — </a:t>
            </a:r>
            <a:r>
              <a:rPr lang="en-US" dirty="0" err="1"/>
              <a:t>отвернута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полигональной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скалярное</a:t>
            </a:r>
            <a:r>
              <a:rPr lang="en-US" dirty="0"/>
              <a:t> </a:t>
            </a:r>
            <a:r>
              <a:rPr lang="en-US" dirty="0" err="1"/>
              <a:t>произведение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нормалью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и </a:t>
            </a:r>
            <a:r>
              <a:rPr lang="en-US" dirty="0" err="1"/>
              <a:t>направлением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скалярное</a:t>
            </a:r>
            <a:r>
              <a:rPr lang="en-US" dirty="0"/>
              <a:t> </a:t>
            </a:r>
            <a:r>
              <a:rPr lang="en-US" dirty="0" err="1"/>
              <a:t>произведение</a:t>
            </a:r>
            <a:r>
              <a:rPr lang="en-US" dirty="0"/>
              <a:t> </a:t>
            </a:r>
            <a:r>
              <a:rPr lang="en-US" dirty="0" err="1"/>
              <a:t>положительно</a:t>
            </a:r>
            <a:r>
              <a:rPr lang="en-US" dirty="0"/>
              <a:t> — </a:t>
            </a:r>
            <a:r>
              <a:rPr lang="en-US" dirty="0" err="1"/>
              <a:t>грань</a:t>
            </a:r>
            <a:r>
              <a:rPr lang="en-US" dirty="0"/>
              <a:t>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отрицательно</a:t>
            </a:r>
            <a:r>
              <a:rPr lang="en-US" dirty="0"/>
              <a:t> — </a:t>
            </a:r>
            <a:r>
              <a:rPr lang="en-US" dirty="0" err="1"/>
              <a:t>грань</a:t>
            </a:r>
            <a:r>
              <a:rPr lang="en-US" dirty="0"/>
              <a:t> </a:t>
            </a:r>
            <a:r>
              <a:rPr lang="en-US" dirty="0" err="1"/>
              <a:t>отвернута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ищутся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соединяют</a:t>
            </a:r>
            <a:r>
              <a:rPr lang="en-US" dirty="0"/>
              <a:t>:</a:t>
            </a:r>
          </a:p>
          <a:p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освещённую</a:t>
            </a:r>
            <a:r>
              <a:rPr lang="en-US" dirty="0"/>
              <a:t> </a:t>
            </a:r>
            <a:r>
              <a:rPr lang="en-US" dirty="0" err="1"/>
              <a:t>грань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неосвещённую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силуэт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 «</a:t>
            </a:r>
            <a:r>
              <a:rPr lang="en-US" dirty="0" err="1"/>
              <a:t>вытягиваются</a:t>
            </a:r>
            <a:r>
              <a:rPr lang="en-US" dirty="0"/>
              <a:t>»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в </a:t>
            </a:r>
            <a:r>
              <a:rPr lang="en-US" dirty="0" err="1"/>
              <a:t>бесконечность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расстояние</a:t>
            </a:r>
            <a:r>
              <a:rPr lang="en-US" dirty="0"/>
              <a:t>.</a:t>
            </a:r>
            <a:endParaRPr lang="ru-RU" dirty="0"/>
          </a:p>
          <a:p>
            <a:br>
              <a:rPr lang="en-US" dirty="0"/>
            </a:br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замкнутый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и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r>
              <a:rPr lang="en-US" dirty="0" err="1"/>
              <a:t>Фактически</a:t>
            </a:r>
            <a:r>
              <a:rPr lang="en-US" dirty="0"/>
              <a:t> Shadow Volume </a:t>
            </a:r>
            <a:r>
              <a:rPr lang="en-US" dirty="0" err="1"/>
              <a:t>превращает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в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Shadow Volume </a:t>
            </a:r>
            <a:r>
              <a:rPr lang="en-US" dirty="0" err="1"/>
              <a:t>основана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интересном</a:t>
            </a:r>
            <a:r>
              <a:rPr lang="en-US" dirty="0"/>
              <a:t> </a:t>
            </a:r>
            <a:r>
              <a:rPr lang="en-US" dirty="0" err="1"/>
              <a:t>наблюдении</a:t>
            </a:r>
            <a:r>
              <a:rPr lang="en-US" dirty="0"/>
              <a:t>.</a:t>
            </a:r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соединяет</a:t>
            </a:r>
            <a:r>
              <a:rPr lang="en-US" dirty="0"/>
              <a:t> </a:t>
            </a:r>
            <a:r>
              <a:rPr lang="en-US" dirty="0" err="1"/>
              <a:t>камеру</a:t>
            </a:r>
            <a:r>
              <a:rPr lang="en-US" dirty="0"/>
              <a:t> и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  <a:br>
              <a:rPr lang="en-US" dirty="0"/>
            </a:br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пересекает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нечётное</a:t>
            </a:r>
            <a:r>
              <a:rPr lang="en-US" dirty="0"/>
              <a:t>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и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затенена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чётное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и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изображении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нижней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пересекает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верхней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пересекает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к </a:t>
            </a:r>
            <a:r>
              <a:rPr lang="en-US" dirty="0" err="1"/>
              <a:t>определению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и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идее</a:t>
            </a:r>
            <a:r>
              <a:rPr lang="en-US" dirty="0"/>
              <a:t> </a:t>
            </a:r>
            <a:r>
              <a:rPr lang="en-US" dirty="0" err="1"/>
              <a:t>основана</a:t>
            </a:r>
            <a:r>
              <a:rPr lang="en-US" dirty="0"/>
              <a:t> </a:t>
            </a:r>
            <a:r>
              <a:rPr lang="en-US" dirty="0" err="1"/>
              <a:t>дальнейшая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Shadow Volume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stencil buffer.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04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Volume </a:t>
            </a:r>
            <a:r>
              <a:rPr lang="en-US" dirty="0" err="1"/>
              <a:t>предъявляет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строгие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опирается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корректное</a:t>
            </a:r>
            <a:r>
              <a:rPr lang="en-US" dirty="0"/>
              <a:t> </a:t>
            </a:r>
            <a:r>
              <a:rPr lang="en-US" dirty="0" err="1"/>
              <a:t>определение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, а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,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неверно</a:t>
            </a:r>
            <a:r>
              <a:rPr lang="en-US" dirty="0"/>
              <a:t> </a:t>
            </a:r>
            <a:r>
              <a:rPr lang="en-US" dirty="0" err="1"/>
              <a:t>подсчитывать</a:t>
            </a:r>
            <a:r>
              <a:rPr lang="en-US" dirty="0"/>
              <a:t> </a:t>
            </a:r>
            <a:r>
              <a:rPr lang="en-US" dirty="0" err="1"/>
              <a:t>пересечения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замкнутой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отверстий</a:t>
            </a:r>
            <a:r>
              <a:rPr lang="en-US" dirty="0"/>
              <a:t> и </a:t>
            </a:r>
            <a:r>
              <a:rPr lang="en-US" dirty="0" err="1"/>
              <a:t>отсутствующих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ребро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граням</a:t>
            </a:r>
            <a:r>
              <a:rPr lang="en-US" dirty="0"/>
              <a:t>.</a:t>
            </a:r>
            <a:endParaRPr lang="ru-RU" dirty="0"/>
          </a:p>
          <a:p>
            <a:br>
              <a:rPr lang="en-US" dirty="0"/>
            </a:b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топологическое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ребро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невозможно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силуэта</a:t>
            </a:r>
            <a:r>
              <a:rPr lang="en-US" dirty="0"/>
              <a:t>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выпуклость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Shadow Volume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и с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невыпуклой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мерцание</a:t>
            </a:r>
            <a:r>
              <a:rPr lang="en-US" dirty="0"/>
              <a:t>, </a:t>
            </a:r>
            <a:r>
              <a:rPr lang="en-US" dirty="0" err="1"/>
              <a:t>разрывы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неправильная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stencil buffer.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31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Stencil Shadow Volume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практическая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Shadow Volume с </a:t>
            </a:r>
            <a:r>
              <a:rPr lang="en-US" dirty="0" err="1"/>
              <a:t>использованием</a:t>
            </a:r>
            <a:r>
              <a:rPr lang="en-US" dirty="0"/>
              <a:t> stencil buffer.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что</a:t>
            </a:r>
            <a:r>
              <a:rPr lang="en-US" dirty="0"/>
              <a:t> stencil buffer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маска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в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этапов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depth buffer —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дальнейших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рисовании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обновляется</a:t>
            </a:r>
            <a:r>
              <a:rPr lang="en-US" dirty="0"/>
              <a:t> stencil buffer.</a:t>
            </a:r>
            <a:br>
              <a:rPr lang="en-US" dirty="0"/>
            </a:b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значение</a:t>
            </a:r>
            <a:r>
              <a:rPr lang="en-US" dirty="0"/>
              <a:t> stencil </a:t>
            </a:r>
            <a:r>
              <a:rPr lang="en-US" dirty="0" err="1"/>
              <a:t>изменяется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—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stencil buffer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пиксели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освещение</a:t>
            </a:r>
            <a:r>
              <a:rPr lang="en-US" dirty="0"/>
              <a:t> </a:t>
            </a:r>
            <a:r>
              <a:rPr lang="en-US" dirty="0" err="1"/>
              <a:t>добавляется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местах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где</a:t>
            </a:r>
            <a:r>
              <a:rPr lang="en-US" dirty="0"/>
              <a:t> stencil buffer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:</a:t>
            </a:r>
          </a:p>
          <a:p>
            <a:r>
              <a:rPr lang="en-US" dirty="0"/>
              <a:t>stencil = 0 →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освещён</a:t>
            </a:r>
            <a:r>
              <a:rPr lang="en-US" dirty="0"/>
              <a:t> </a:t>
            </a:r>
          </a:p>
          <a:p>
            <a:r>
              <a:rPr lang="en-US" dirty="0"/>
              <a:t>stencil ≠ 0 →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освещение</a:t>
            </a:r>
            <a:r>
              <a:rPr lang="en-US" dirty="0"/>
              <a:t> </a:t>
            </a:r>
            <a:r>
              <a:rPr lang="en-US" dirty="0" err="1"/>
              <a:t>аккумулируется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аддитивного</a:t>
            </a:r>
            <a:r>
              <a:rPr lang="en-US" dirty="0"/>
              <a:t> blending.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артефактов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характерных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shadow maps.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растеризации</a:t>
            </a:r>
            <a:r>
              <a:rPr lang="en-US" dirty="0"/>
              <a:t> и </a:t>
            </a:r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нагрузка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33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45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Depth-Pass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Shadow Volume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stencil buffer.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подсчёте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луча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с </a:t>
            </a:r>
            <a:r>
              <a:rPr lang="en-US" dirty="0" err="1"/>
              <a:t>теневым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объём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, </a:t>
            </a:r>
            <a:r>
              <a:rPr lang="en-US" dirty="0" err="1"/>
              <a:t>изменения</a:t>
            </a:r>
            <a:r>
              <a:rPr lang="en-US" dirty="0"/>
              <a:t> stencil buffer </a:t>
            </a:r>
            <a:r>
              <a:rPr lang="en-US" dirty="0" err="1"/>
              <a:t>компенсируют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</a:t>
            </a:r>
            <a:r>
              <a:rPr lang="en-US" dirty="0" err="1"/>
              <a:t>итоговое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stencil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отличаться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с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depth buffer,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ближайших</a:t>
            </a:r>
            <a:r>
              <a:rPr lang="en-US" dirty="0"/>
              <a:t> к </a:t>
            </a:r>
            <a:r>
              <a:rPr lang="en-US" dirty="0" err="1"/>
              <a:t>наблюдателю</a:t>
            </a:r>
            <a:r>
              <a:rPr lang="en-US" dirty="0"/>
              <a:t> </a:t>
            </a:r>
            <a:r>
              <a:rPr lang="en-US" dirty="0" err="1"/>
              <a:t>поверхностях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color buffer и depth buffer </a:t>
            </a:r>
            <a:r>
              <a:rPr lang="en-US" dirty="0" err="1"/>
              <a:t>отключается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stencil buffer.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рисуются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лицевых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инкремент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stencil buffer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успешном</a:t>
            </a:r>
            <a:r>
              <a:rPr lang="en-US" dirty="0"/>
              <a:t> </a:t>
            </a:r>
            <a:r>
              <a:rPr lang="en-US" dirty="0" err="1"/>
              <a:t>прохождении</a:t>
            </a:r>
            <a:r>
              <a:rPr lang="en-US" dirty="0"/>
              <a:t> depth test.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говоря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грань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видимой</a:t>
            </a:r>
            <a:r>
              <a:rPr lang="en-US" dirty="0"/>
              <a:t> </a:t>
            </a:r>
            <a:r>
              <a:rPr lang="en-US" dirty="0" err="1"/>
              <a:t>поверхностью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нелицевых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декремент</a:t>
            </a:r>
            <a:r>
              <a:rPr lang="en-US" dirty="0"/>
              <a:t> stencil buffer,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прохождении</a:t>
            </a:r>
            <a:r>
              <a:rPr lang="en-US" dirty="0"/>
              <a:t> depth test.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stencil buffer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пересёк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этапа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color buffer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включается</a:t>
            </a:r>
            <a:r>
              <a:rPr lang="en-US" dirty="0"/>
              <a:t> и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с </a:t>
            </a:r>
            <a:r>
              <a:rPr lang="en-US" dirty="0" err="1"/>
              <a:t>освещением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освещение</a:t>
            </a:r>
            <a:r>
              <a:rPr lang="en-US" dirty="0"/>
              <a:t> </a:t>
            </a:r>
            <a:r>
              <a:rPr lang="en-US" dirty="0" err="1"/>
              <a:t>добавляется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пикселях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stencil buffer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и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stencil </a:t>
            </a:r>
            <a:r>
              <a:rPr lang="en-US" dirty="0" err="1"/>
              <a:t>отлично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,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находящимся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 и </a:t>
            </a:r>
            <a:r>
              <a:rPr lang="en-US" dirty="0" err="1"/>
              <a:t>освещение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вычисляется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38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03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алгоритма</a:t>
            </a:r>
            <a:r>
              <a:rPr lang="en-US" dirty="0"/>
              <a:t> Depth-Pass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, </a:t>
            </a:r>
            <a:r>
              <a:rPr lang="en-US" dirty="0" err="1"/>
              <a:t>связанная</a:t>
            </a:r>
            <a:r>
              <a:rPr lang="en-US" dirty="0"/>
              <a:t> с </a:t>
            </a:r>
            <a:r>
              <a:rPr lang="en-US" dirty="0" err="1"/>
              <a:t>положением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луч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пересекает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stencil buffer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подсчитывает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входов</a:t>
            </a:r>
            <a:r>
              <a:rPr lang="en-US" dirty="0"/>
              <a:t> и </a:t>
            </a:r>
            <a:r>
              <a:rPr lang="en-US" dirty="0" err="1"/>
              <a:t>выходов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наблюдатель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нарушается</a:t>
            </a:r>
            <a:r>
              <a:rPr lang="en-US" dirty="0"/>
              <a:t>.</a:t>
            </a:r>
          </a:p>
          <a:p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лицевых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отсечена</a:t>
            </a:r>
            <a:r>
              <a:rPr lang="en-US" dirty="0"/>
              <a:t> </a:t>
            </a:r>
            <a:r>
              <a:rPr lang="en-US" dirty="0" err="1"/>
              <a:t>ближней</a:t>
            </a:r>
            <a:r>
              <a:rPr lang="en-US" dirty="0"/>
              <a:t> </a:t>
            </a:r>
            <a:r>
              <a:rPr lang="en-US" dirty="0" err="1"/>
              <a:t>плоскостью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.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говоря</a:t>
            </a:r>
            <a:r>
              <a:rPr lang="en-US" dirty="0"/>
              <a:t>,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пересечения</a:t>
            </a:r>
            <a:r>
              <a:rPr lang="en-US" dirty="0"/>
              <a:t> </a:t>
            </a:r>
            <a:r>
              <a:rPr lang="en-US" dirty="0" err="1"/>
              <a:t>луча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с </a:t>
            </a:r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учитываются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stencil buffer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неверные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участки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, </a:t>
            </a:r>
            <a:r>
              <a:rPr lang="en-US" dirty="0" err="1"/>
              <a:t>ошибочно</a:t>
            </a:r>
            <a:r>
              <a:rPr lang="en-US" dirty="0"/>
              <a:t> </a:t>
            </a:r>
            <a:r>
              <a:rPr lang="en-US" dirty="0" err="1"/>
              <a:t>считаются</a:t>
            </a:r>
            <a:r>
              <a:rPr lang="en-US" dirty="0"/>
              <a:t> </a:t>
            </a:r>
            <a:r>
              <a:rPr lang="en-US" dirty="0" err="1"/>
              <a:t>освещёнными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исчезновение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крупных</a:t>
            </a:r>
            <a:r>
              <a:rPr lang="en-US" dirty="0"/>
              <a:t> </a:t>
            </a:r>
            <a:r>
              <a:rPr lang="en-US" dirty="0" err="1"/>
              <a:t>визуальных</a:t>
            </a:r>
            <a:r>
              <a:rPr lang="en-US" dirty="0"/>
              <a:t> </a:t>
            </a:r>
            <a:r>
              <a:rPr lang="en-US" dirty="0" err="1"/>
              <a:t>артефактов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попадании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причиной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устойчивого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Depth-Fail,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</a:t>
            </a:r>
            <a:r>
              <a:rPr lang="en-US" dirty="0" err="1"/>
              <a:t>Кармака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подсчёт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,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чему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ошибкам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99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57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Depth-Fail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разработан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классического</a:t>
            </a:r>
            <a:r>
              <a:rPr lang="en-US" dirty="0"/>
              <a:t> Depth-Pass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фрагменты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проходят</a:t>
            </a:r>
            <a:r>
              <a:rPr lang="en-US" dirty="0"/>
              <a:t> depth test, а </a:t>
            </a:r>
            <a:r>
              <a:rPr lang="en-US" dirty="0" err="1"/>
              <a:t>наоборот</a:t>
            </a:r>
            <a:r>
              <a:rPr lang="en-US" dirty="0"/>
              <a:t> — </a:t>
            </a:r>
            <a:r>
              <a:rPr lang="en-US" dirty="0" err="1"/>
              <a:t>те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видимой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раньше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 и </a:t>
            </a:r>
            <a:r>
              <a:rPr lang="en-US" dirty="0" err="1"/>
              <a:t>формируется</a:t>
            </a:r>
            <a:r>
              <a:rPr lang="en-US" dirty="0"/>
              <a:t> depth buffer.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color buffer и depth buffer </a:t>
            </a:r>
            <a:r>
              <a:rPr lang="en-US" dirty="0" err="1"/>
              <a:t>отключается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обновлять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нелицевых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stencil buffer </a:t>
            </a:r>
            <a:r>
              <a:rPr lang="en-US" dirty="0" err="1"/>
              <a:t>увеличивается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лицевых</a:t>
            </a:r>
            <a:r>
              <a:rPr lang="en-US" dirty="0"/>
              <a:t> — </a:t>
            </a:r>
            <a:r>
              <a:rPr lang="en-US" dirty="0" err="1"/>
              <a:t>уменьшается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местах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depth test НЕ </a:t>
            </a:r>
            <a:r>
              <a:rPr lang="en-US" dirty="0" err="1"/>
              <a:t>проходит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пересечения</a:t>
            </a:r>
            <a:r>
              <a:rPr lang="en-US" dirty="0"/>
              <a:t> </a:t>
            </a:r>
            <a:r>
              <a:rPr lang="en-US" dirty="0" err="1"/>
              <a:t>луча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с </a:t>
            </a:r>
            <a:r>
              <a:rPr lang="en-US" dirty="0" err="1"/>
              <a:t>теневым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, а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бесконечности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направлению</a:t>
            </a:r>
            <a:r>
              <a:rPr lang="en-US" dirty="0"/>
              <a:t> к </a:t>
            </a:r>
            <a:r>
              <a:rPr lang="en-US" dirty="0" err="1"/>
              <a:t>наблюдателю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нахождения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исчезает</a:t>
            </a:r>
            <a:r>
              <a:rPr lang="en-US" dirty="0"/>
              <a:t>.</a:t>
            </a:r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камерой</a:t>
            </a:r>
            <a:r>
              <a:rPr lang="en-US" dirty="0"/>
              <a:t> и </a:t>
            </a:r>
            <a:r>
              <a:rPr lang="en-US" dirty="0" err="1"/>
              <a:t>отсекается</a:t>
            </a:r>
            <a:r>
              <a:rPr lang="en-US" dirty="0"/>
              <a:t> </a:t>
            </a:r>
            <a:r>
              <a:rPr lang="en-US" dirty="0" err="1"/>
              <a:t>ближней</a:t>
            </a:r>
            <a:r>
              <a:rPr lang="en-US" dirty="0"/>
              <a:t> </a:t>
            </a:r>
            <a:r>
              <a:rPr lang="en-US" dirty="0" err="1"/>
              <a:t>плоскостью</a:t>
            </a:r>
            <a:r>
              <a:rPr lang="en-US" dirty="0"/>
              <a:t>,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у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замкнут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отверстия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дальняя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отсечена</a:t>
            </a:r>
            <a:r>
              <a:rPr lang="en-US" dirty="0"/>
              <a:t> </a:t>
            </a:r>
            <a:r>
              <a:rPr lang="ru-RU" dirty="0"/>
              <a:t>дальней плоскостью отсечения</a:t>
            </a:r>
            <a:r>
              <a:rPr lang="en-US" dirty="0"/>
              <a:t>, stencil buffer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неверные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0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65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69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81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Depth-Fail </a:t>
            </a:r>
            <a:r>
              <a:rPr lang="en-US" dirty="0" err="1"/>
              <a:t>устраняет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нахождения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потенциальное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замкнут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отсекаться</a:t>
            </a:r>
            <a:r>
              <a:rPr lang="en-US" dirty="0"/>
              <a:t> </a:t>
            </a:r>
            <a:r>
              <a:rPr lang="en-US" dirty="0" err="1"/>
              <a:t>плоскостями</a:t>
            </a:r>
            <a:r>
              <a:rPr lang="en-US" dirty="0"/>
              <a:t> clipping-а.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дальняя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пересекаться</a:t>
            </a:r>
            <a:r>
              <a:rPr lang="en-US" dirty="0"/>
              <a:t> с </a:t>
            </a:r>
            <a:r>
              <a:rPr lang="en-US" dirty="0" err="1"/>
              <a:t>дальней</a:t>
            </a:r>
            <a:r>
              <a:rPr lang="en-US" dirty="0"/>
              <a:t> </a:t>
            </a:r>
            <a:r>
              <a:rPr lang="en-US" dirty="0" err="1"/>
              <a:t>плоскостью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— far plane.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исчезает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, и stencil buffer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неверные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неправильные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, </a:t>
            </a:r>
            <a:r>
              <a:rPr lang="en-US" dirty="0" err="1"/>
              <a:t>мерцание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исчезновение</a:t>
            </a:r>
            <a:r>
              <a:rPr lang="en-US" dirty="0"/>
              <a:t> </a:t>
            </a:r>
            <a:r>
              <a:rPr lang="en-US" dirty="0" err="1"/>
              <a:t>затенённых</a:t>
            </a:r>
            <a:r>
              <a:rPr lang="en-US" dirty="0"/>
              <a:t> </a:t>
            </a:r>
            <a:r>
              <a:rPr lang="en-US" dirty="0" err="1"/>
              <a:t>областей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встречается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с near plane в Depth-Pass, </a:t>
            </a:r>
            <a:r>
              <a:rPr lang="en-US" dirty="0" err="1"/>
              <a:t>поскольку</a:t>
            </a:r>
            <a:r>
              <a:rPr lang="en-US" dirty="0"/>
              <a:t> far plane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в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сценах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длинных</a:t>
            </a:r>
            <a:r>
              <a:rPr lang="en-US" dirty="0"/>
              <a:t> </a:t>
            </a:r>
            <a:r>
              <a:rPr lang="en-US" dirty="0" err="1"/>
              <a:t>тенях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возникать</a:t>
            </a:r>
            <a:r>
              <a:rPr lang="en-US" dirty="0"/>
              <a:t>.</a:t>
            </a:r>
          </a:p>
          <a:p>
            <a:r>
              <a:rPr lang="en-US" dirty="0" err="1"/>
              <a:t>Классическое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«</a:t>
            </a:r>
            <a:r>
              <a:rPr lang="en-US" dirty="0" err="1"/>
              <a:t>вытянуть</a:t>
            </a:r>
            <a:r>
              <a:rPr lang="en-US" dirty="0"/>
              <a:t>»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в </a:t>
            </a:r>
            <a:r>
              <a:rPr lang="en-US" dirty="0" err="1"/>
              <a:t>бесконечность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вершины</a:t>
            </a:r>
            <a:r>
              <a:rPr lang="en-US" dirty="0"/>
              <a:t> </a:t>
            </a:r>
            <a:r>
              <a:rPr lang="en-US" dirty="0" err="1"/>
              <a:t>удалённой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задаются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удалённые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, а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</a:t>
            </a:r>
            <a:r>
              <a:rPr lang="en-US" dirty="0" err="1"/>
              <a:t>модифицируется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дальняя</a:t>
            </a:r>
            <a:r>
              <a:rPr lang="en-US" dirty="0"/>
              <a:t> </a:t>
            </a:r>
            <a:r>
              <a:rPr lang="en-US" dirty="0" err="1"/>
              <a:t>плоскость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бесконечности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far plane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отсекать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, и </a:t>
            </a:r>
            <a:r>
              <a:rPr lang="en-US" dirty="0" err="1"/>
              <a:t>алгоритм</a:t>
            </a:r>
            <a:r>
              <a:rPr lang="en-US" dirty="0"/>
              <a:t> Depth-Fail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длинных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95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far plane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отсекала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,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модификация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Сверху</a:t>
            </a:r>
            <a:r>
              <a:rPr lang="en-US" dirty="0"/>
              <a:t> </a:t>
            </a:r>
            <a:r>
              <a:rPr lang="en-US" dirty="0" err="1"/>
              <a:t>показана</a:t>
            </a:r>
            <a:r>
              <a:rPr lang="en-US" dirty="0"/>
              <a:t>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перспективная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, </a:t>
            </a:r>
            <a:r>
              <a:rPr lang="en-US" dirty="0" err="1"/>
              <a:t>используемая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функцией</a:t>
            </a:r>
            <a:r>
              <a:rPr lang="en-US" dirty="0"/>
              <a:t> </a:t>
            </a:r>
            <a:r>
              <a:rPr lang="en-US" dirty="0" err="1"/>
              <a:t>glFrustum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матрице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</a:t>
            </a:r>
            <a:r>
              <a:rPr lang="en-US" dirty="0" err="1"/>
              <a:t>параметр</a:t>
            </a:r>
            <a:r>
              <a:rPr lang="en-US" dirty="0"/>
              <a:t> Far — </a:t>
            </a:r>
            <a:r>
              <a:rPr lang="en-US" dirty="0" err="1"/>
              <a:t>расстояние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дальней</a:t>
            </a:r>
            <a:r>
              <a:rPr lang="en-US" dirty="0"/>
              <a:t> </a:t>
            </a:r>
            <a:r>
              <a:rPr lang="en-US" dirty="0" err="1"/>
              <a:t>плоскости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плоскость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обрезать</a:t>
            </a:r>
            <a:r>
              <a:rPr lang="en-US" dirty="0"/>
              <a:t> </a:t>
            </a:r>
            <a:r>
              <a:rPr lang="en-US" dirty="0" err="1"/>
              <a:t>удалённые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и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в </a:t>
            </a:r>
            <a:r>
              <a:rPr lang="en-US" dirty="0" err="1"/>
              <a:t>работе</a:t>
            </a:r>
            <a:r>
              <a:rPr lang="en-US" dirty="0"/>
              <a:t> Depth-Fail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мысленно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far plane в </a:t>
            </a:r>
            <a:r>
              <a:rPr lang="en-US" dirty="0" err="1"/>
              <a:t>бесконечность</a:t>
            </a:r>
            <a:r>
              <a:rPr lang="en-US" dirty="0"/>
              <a:t>.</a:t>
            </a:r>
          </a:p>
          <a:p>
            <a:r>
              <a:rPr lang="en-US" dirty="0" err="1"/>
              <a:t>Математически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достигается</a:t>
            </a:r>
            <a:r>
              <a:rPr lang="en-US" dirty="0"/>
              <a:t> </a:t>
            </a:r>
            <a:r>
              <a:rPr lang="en-US" dirty="0" err="1"/>
              <a:t>вычислением</a:t>
            </a:r>
            <a:r>
              <a:rPr lang="en-US" dirty="0"/>
              <a:t> </a:t>
            </a:r>
            <a:r>
              <a:rPr lang="en-US" dirty="0" err="1"/>
              <a:t>предела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Far, </a:t>
            </a:r>
            <a:r>
              <a:rPr lang="en-US" dirty="0" err="1"/>
              <a:t>стремящемся</a:t>
            </a:r>
            <a:r>
              <a:rPr lang="en-US" dirty="0"/>
              <a:t> к </a:t>
            </a:r>
            <a:r>
              <a:rPr lang="en-US" dirty="0" err="1"/>
              <a:t>бесконечности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упрощаются</a:t>
            </a:r>
            <a:r>
              <a:rPr lang="en-US" dirty="0"/>
              <a:t>,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матрицу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, </a:t>
            </a:r>
            <a:r>
              <a:rPr lang="en-US" dirty="0" err="1"/>
              <a:t>показанную</a:t>
            </a:r>
            <a:r>
              <a:rPr lang="en-US" dirty="0"/>
              <a:t> </a:t>
            </a:r>
            <a:r>
              <a:rPr lang="en-US" dirty="0" err="1"/>
              <a:t>внизу</a:t>
            </a:r>
            <a:r>
              <a:rPr lang="en-US" dirty="0"/>
              <a:t> </a:t>
            </a:r>
            <a:r>
              <a:rPr lang="en-US" dirty="0" err="1"/>
              <a:t>слайда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расстоянии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отсекаются</a:t>
            </a:r>
            <a:r>
              <a:rPr lang="en-US" dirty="0"/>
              <a:t> </a:t>
            </a:r>
            <a:r>
              <a:rPr lang="en-US" dirty="0" err="1"/>
              <a:t>дальней</a:t>
            </a:r>
            <a:r>
              <a:rPr lang="en-US" dirty="0"/>
              <a:t> </a:t>
            </a:r>
            <a:r>
              <a:rPr lang="en-US" dirty="0" err="1"/>
              <a:t>плоскостью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теневые</a:t>
            </a:r>
            <a:r>
              <a:rPr lang="en-US" dirty="0"/>
              <a:t> </a:t>
            </a:r>
            <a:r>
              <a:rPr lang="en-US" dirty="0" err="1"/>
              <a:t>объёмы</a:t>
            </a:r>
            <a:r>
              <a:rPr lang="en-US" dirty="0"/>
              <a:t>, </a:t>
            </a:r>
            <a:r>
              <a:rPr lang="en-US" dirty="0" err="1"/>
              <a:t>вытянутые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 depth buffer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ухудшается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незначительно</a:t>
            </a:r>
            <a:r>
              <a:rPr lang="en-US" dirty="0"/>
              <a:t>.</a:t>
            </a:r>
          </a:p>
          <a:p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долгое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использовался</a:t>
            </a:r>
            <a:r>
              <a:rPr lang="en-US" dirty="0"/>
              <a:t> в stencil shadow implementations, </a:t>
            </a:r>
            <a:r>
              <a:rPr lang="en-US" dirty="0" err="1"/>
              <a:t>например</a:t>
            </a:r>
            <a:r>
              <a:rPr lang="en-US" dirty="0"/>
              <a:t> в </a:t>
            </a:r>
            <a:r>
              <a:rPr lang="en-US" dirty="0" err="1"/>
              <a:t>движке</a:t>
            </a:r>
            <a:r>
              <a:rPr lang="en-US" dirty="0"/>
              <a:t> Doom 3.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88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 </a:t>
            </a:r>
            <a:r>
              <a:rPr lang="en-US" dirty="0" err="1"/>
              <a:t>дальней</a:t>
            </a:r>
            <a:r>
              <a:rPr lang="en-US" dirty="0"/>
              <a:t> </a:t>
            </a:r>
            <a:r>
              <a:rPr lang="en-US" dirty="0" err="1"/>
              <a:t>плоскостью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«</a:t>
            </a:r>
            <a:r>
              <a:rPr lang="en-US" dirty="0" err="1"/>
              <a:t>бесконечным</a:t>
            </a:r>
            <a:r>
              <a:rPr lang="en-US" dirty="0"/>
              <a:t>».</a:t>
            </a:r>
          </a:p>
          <a:p>
            <a:r>
              <a:rPr lang="en-US" dirty="0"/>
              <a:t>В </a:t>
            </a:r>
            <a:r>
              <a:rPr lang="en-US" dirty="0" err="1"/>
              <a:t>однородных</a:t>
            </a:r>
            <a:r>
              <a:rPr lang="en-US" dirty="0"/>
              <a:t> </a:t>
            </a:r>
            <a:r>
              <a:rPr lang="en-US" dirty="0" err="1"/>
              <a:t>координатах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—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координата</a:t>
            </a:r>
            <a:r>
              <a:rPr lang="en-US" dirty="0"/>
              <a:t> w </a:t>
            </a:r>
            <a:r>
              <a:rPr lang="en-US" dirty="0" err="1"/>
              <a:t>устанавливается</a:t>
            </a:r>
            <a:r>
              <a:rPr lang="en-US" dirty="0"/>
              <a:t> в 0.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модифицированной</a:t>
            </a:r>
            <a:r>
              <a:rPr lang="en-US" dirty="0"/>
              <a:t> </a:t>
            </a:r>
            <a:r>
              <a:rPr lang="en-US" dirty="0" err="1"/>
              <a:t>матрице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far plane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отсекать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вершины</a:t>
            </a:r>
            <a:r>
              <a:rPr lang="en-US" dirty="0"/>
              <a:t>, и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уходить</a:t>
            </a:r>
            <a:r>
              <a:rPr lang="en-US" dirty="0"/>
              <a:t> в </a:t>
            </a:r>
            <a:r>
              <a:rPr lang="en-US" dirty="0" err="1"/>
              <a:t>бесконечность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 </a:t>
            </a:r>
            <a:r>
              <a:rPr lang="en-US" dirty="0" err="1"/>
              <a:t>стандартным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 depth buffer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подходе</a:t>
            </a:r>
            <a:r>
              <a:rPr lang="en-US" dirty="0"/>
              <a:t> </a:t>
            </a:r>
            <a:r>
              <a:rPr lang="en-US" dirty="0" err="1"/>
              <a:t>ухудшается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незначительно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практичным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real-time rendering.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05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проецировании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с </a:t>
            </a:r>
            <a:r>
              <a:rPr lang="en-US" dirty="0" err="1"/>
              <a:t>использованием</a:t>
            </a:r>
            <a:r>
              <a:rPr lang="en-US" dirty="0"/>
              <a:t> </a:t>
            </a:r>
            <a:r>
              <a:rPr lang="en-US" dirty="0" err="1"/>
              <a:t>модифицированной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.</a:t>
            </a:r>
          </a:p>
          <a:p>
            <a:r>
              <a:rPr lang="en-US" dirty="0" err="1"/>
              <a:t>Напомним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координатой</a:t>
            </a:r>
            <a:r>
              <a:rPr lang="en-US" dirty="0"/>
              <a:t> w = 0.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умножения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матрицу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и </a:t>
            </a:r>
            <a:r>
              <a:rPr lang="en-US" dirty="0" err="1"/>
              <a:t>выполнения</a:t>
            </a:r>
            <a:r>
              <a:rPr lang="en-US" dirty="0"/>
              <a:t> perspective divide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координата</a:t>
            </a:r>
            <a:r>
              <a:rPr lang="en-US" dirty="0"/>
              <a:t> z в </a:t>
            </a:r>
            <a:r>
              <a:rPr lang="en-US" dirty="0" err="1"/>
              <a:t>пространстве</a:t>
            </a:r>
            <a:r>
              <a:rPr lang="en-US" dirty="0"/>
              <a:t> NDC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равной</a:t>
            </a:r>
            <a:r>
              <a:rPr lang="en-US" dirty="0"/>
              <a:t> 1.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значение</a:t>
            </a:r>
            <a:r>
              <a:rPr lang="en-US" dirty="0"/>
              <a:t> z = 1 в NDC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дальней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depth buffer.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удалённые</a:t>
            </a:r>
            <a:r>
              <a:rPr lang="en-US" dirty="0"/>
              <a:t> </a:t>
            </a:r>
            <a:r>
              <a:rPr lang="en-US" dirty="0" err="1"/>
              <a:t>вершины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отсекаются</a:t>
            </a:r>
            <a:r>
              <a:rPr lang="en-US" dirty="0"/>
              <a:t> </a:t>
            </a:r>
            <a:r>
              <a:rPr lang="ru-RU" dirty="0"/>
              <a:t>дальней плоскостью</a:t>
            </a:r>
            <a:r>
              <a:rPr lang="en-US" dirty="0"/>
              <a:t>, а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проецируются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дальнюю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вытянут</a:t>
            </a:r>
            <a:r>
              <a:rPr lang="en-US" dirty="0"/>
              <a:t> «в </a:t>
            </a:r>
            <a:r>
              <a:rPr lang="en-US" dirty="0" err="1"/>
              <a:t>бесконечность</a:t>
            </a:r>
            <a:r>
              <a:rPr lang="en-US" dirty="0"/>
              <a:t>»,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вызывая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с clipping-</a:t>
            </a:r>
            <a:r>
              <a:rPr lang="en-US" dirty="0" err="1"/>
              <a:t>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w = 1,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проецироваться</a:t>
            </a:r>
            <a:r>
              <a:rPr lang="en-US" dirty="0"/>
              <a:t> </a:t>
            </a:r>
            <a:r>
              <a:rPr lang="en-US" dirty="0" err="1"/>
              <a:t>стандартным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и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55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</a:t>
            </a:r>
            <a:r>
              <a:rPr lang="en-US" dirty="0"/>
              <a:t>а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модифицированная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, </a:t>
            </a:r>
            <a:r>
              <a:rPr lang="en-US" dirty="0" err="1"/>
              <a:t>конечно</a:t>
            </a:r>
            <a:r>
              <a:rPr lang="en-US" dirty="0"/>
              <a:t> </a:t>
            </a:r>
            <a:r>
              <a:rPr lang="en-US" dirty="0" err="1"/>
              <a:t>удалённых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случая</a:t>
            </a:r>
            <a:r>
              <a:rPr lang="en-US" dirty="0"/>
              <a:t>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вершина</a:t>
            </a:r>
            <a:r>
              <a:rPr lang="en-US" dirty="0"/>
              <a:t> с </a:t>
            </a:r>
            <a:r>
              <a:rPr lang="en-US" dirty="0" err="1"/>
              <a:t>координатой</a:t>
            </a:r>
            <a:r>
              <a:rPr lang="en-US" dirty="0"/>
              <a:t> w = 1.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и perspective divide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координата</a:t>
            </a:r>
            <a:r>
              <a:rPr lang="en-US" dirty="0"/>
              <a:t> z в </a:t>
            </a:r>
            <a:r>
              <a:rPr lang="en-US" dirty="0" err="1"/>
              <a:t>пространстве</a:t>
            </a:r>
            <a:r>
              <a:rPr lang="en-US" dirty="0"/>
              <a:t> NDC </a:t>
            </a:r>
            <a:r>
              <a:rPr lang="en-US" dirty="0" err="1"/>
              <a:t>оказывается</a:t>
            </a:r>
            <a:r>
              <a:rPr lang="en-US" dirty="0"/>
              <a:t> в </a:t>
            </a:r>
            <a:r>
              <a:rPr lang="en-US" dirty="0" err="1"/>
              <a:t>диапазоне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-1 </a:t>
            </a:r>
            <a:r>
              <a:rPr lang="en-US" dirty="0" err="1"/>
              <a:t>до</a:t>
            </a:r>
            <a:r>
              <a:rPr lang="en-US" dirty="0"/>
              <a:t> +1.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:</a:t>
            </a:r>
          </a:p>
          <a:p>
            <a:r>
              <a:rPr lang="en-US" dirty="0"/>
              <a:t>z = -1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ближней</a:t>
            </a:r>
            <a:r>
              <a:rPr lang="en-US" dirty="0"/>
              <a:t> </a:t>
            </a:r>
            <a:r>
              <a:rPr lang="en-US" dirty="0" err="1"/>
              <a:t>плоскости</a:t>
            </a:r>
            <a:r>
              <a:rPr lang="en-US" dirty="0"/>
              <a:t> </a:t>
            </a:r>
            <a:r>
              <a:rPr lang="en-US" dirty="0" err="1"/>
              <a:t>отсечения</a:t>
            </a:r>
            <a:r>
              <a:rPr lang="en-US" dirty="0"/>
              <a:t>, </a:t>
            </a:r>
          </a:p>
          <a:p>
            <a:r>
              <a:rPr lang="en-US" dirty="0" err="1"/>
              <a:t>значения</a:t>
            </a:r>
            <a:r>
              <a:rPr lang="en-US" dirty="0"/>
              <a:t> z, </a:t>
            </a:r>
            <a:r>
              <a:rPr lang="en-US" dirty="0" err="1"/>
              <a:t>меньшие</a:t>
            </a:r>
            <a:r>
              <a:rPr lang="en-US" dirty="0"/>
              <a:t> +1, </a:t>
            </a:r>
            <a:r>
              <a:rPr lang="en-US" dirty="0" err="1"/>
              <a:t>соответствуют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конечно</a:t>
            </a:r>
            <a:r>
              <a:rPr lang="en-US" dirty="0"/>
              <a:t> </a:t>
            </a:r>
            <a:r>
              <a:rPr lang="en-US" dirty="0" err="1"/>
              <a:t>удалённым</a:t>
            </a:r>
            <a:r>
              <a:rPr lang="en-US" dirty="0"/>
              <a:t> </a:t>
            </a:r>
            <a:r>
              <a:rPr lang="en-US" dirty="0" err="1"/>
              <a:t>точкам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, </a:t>
            </a:r>
          </a:p>
          <a:p>
            <a:r>
              <a:rPr lang="en-US" dirty="0"/>
              <a:t>а </a:t>
            </a:r>
            <a:r>
              <a:rPr lang="en-US" dirty="0" err="1"/>
              <a:t>значение</a:t>
            </a:r>
            <a:r>
              <a:rPr lang="en-US" dirty="0"/>
              <a:t> z = +1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зарезервировано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удалённых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диапазон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frustum, а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удалённые</a:t>
            </a:r>
            <a:r>
              <a:rPr lang="en-US" dirty="0"/>
              <a:t> </a:t>
            </a:r>
            <a:r>
              <a:rPr lang="en-US" dirty="0" err="1"/>
              <a:t>вершины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проецируются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дальнюю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NDC.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модифицированная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сцену</a:t>
            </a:r>
            <a:r>
              <a:rPr lang="ru-RU" dirty="0"/>
              <a:t> </a:t>
            </a:r>
            <a:r>
              <a:rPr lang="en-US" dirty="0"/>
              <a:t>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отсекать</a:t>
            </a:r>
            <a:r>
              <a:rPr lang="en-US" dirty="0"/>
              <a:t> </a:t>
            </a:r>
            <a:r>
              <a:rPr lang="en-US" dirty="0" err="1"/>
              <a:t>теневые</a:t>
            </a:r>
            <a:r>
              <a:rPr lang="en-US" dirty="0"/>
              <a:t> </a:t>
            </a:r>
            <a:r>
              <a:rPr lang="en-US" dirty="0" err="1"/>
              <a:t>объёмы</a:t>
            </a:r>
            <a:r>
              <a:rPr lang="en-US" dirty="0"/>
              <a:t>, </a:t>
            </a:r>
            <a:r>
              <a:rPr lang="en-US" dirty="0" err="1"/>
              <a:t>вытянутые</a:t>
            </a:r>
            <a:r>
              <a:rPr lang="en-US" dirty="0"/>
              <a:t> в </a:t>
            </a:r>
            <a:r>
              <a:rPr lang="en-US" dirty="0" err="1"/>
              <a:t>бесконечность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14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65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65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043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97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75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1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26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09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8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44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853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Mapping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распространённый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в </a:t>
            </a:r>
            <a:r>
              <a:rPr lang="en-US" dirty="0" err="1"/>
              <a:t>современной</a:t>
            </a:r>
            <a:r>
              <a:rPr lang="en-US" dirty="0"/>
              <a:t> real-time </a:t>
            </a:r>
            <a:r>
              <a:rPr lang="en-US" dirty="0" err="1"/>
              <a:t>графике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Shadow Volume,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«</a:t>
            </a:r>
            <a:r>
              <a:rPr lang="en-US" dirty="0" err="1"/>
              <a:t>видит</a:t>
            </a:r>
            <a:r>
              <a:rPr lang="en-US" dirty="0"/>
              <a:t>» </a:t>
            </a:r>
            <a:r>
              <a:rPr lang="en-US" dirty="0" err="1"/>
              <a:t>точку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освещена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точкой</a:t>
            </a:r>
            <a:r>
              <a:rPr lang="en-US" dirty="0"/>
              <a:t> и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этапов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, а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ближайших</a:t>
            </a:r>
            <a:r>
              <a:rPr lang="en-US" dirty="0"/>
              <a:t> </a:t>
            </a:r>
            <a:r>
              <a:rPr lang="en-US" dirty="0" err="1"/>
              <a:t>поверхностей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 в </a:t>
            </a:r>
            <a:r>
              <a:rPr lang="en-US" dirty="0" err="1"/>
              <a:t>специальную</a:t>
            </a:r>
            <a:r>
              <a:rPr lang="en-US" dirty="0"/>
              <a:t> depth texture, </a:t>
            </a:r>
            <a:r>
              <a:rPr lang="en-US" dirty="0" err="1"/>
              <a:t>называемую</a:t>
            </a:r>
            <a:r>
              <a:rPr lang="en-US" dirty="0"/>
              <a:t> shadow map.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—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вычисляются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сравнивается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поверхность</a:t>
            </a:r>
            <a:r>
              <a:rPr lang="en-US" dirty="0"/>
              <a:t>, </a:t>
            </a:r>
            <a:r>
              <a:rPr lang="en-US" dirty="0" err="1"/>
              <a:t>сохранённая</a:t>
            </a:r>
            <a:r>
              <a:rPr lang="en-US" dirty="0"/>
              <a:t> в shadow map,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—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 Shadow Mapping — </a:t>
            </a:r>
            <a:r>
              <a:rPr lang="en-US" dirty="0" err="1"/>
              <a:t>простота</a:t>
            </a:r>
            <a:r>
              <a:rPr lang="en-US" dirty="0"/>
              <a:t> и 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совместимость</a:t>
            </a:r>
            <a:r>
              <a:rPr lang="en-US" dirty="0"/>
              <a:t> с </a:t>
            </a:r>
            <a:r>
              <a:rPr lang="en-US" dirty="0" err="1"/>
              <a:t>современными</a:t>
            </a:r>
            <a:r>
              <a:rPr lang="en-US" dirty="0"/>
              <a:t> GPU.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stencil shadow volumes.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80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показана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Shadow Mapping.</a:t>
            </a:r>
          </a:p>
          <a:p>
            <a:r>
              <a:rPr lang="en-US" dirty="0"/>
              <a:t>В </a:t>
            </a:r>
            <a:r>
              <a:rPr lang="en-US" dirty="0" err="1"/>
              <a:t>левом</a:t>
            </a:r>
            <a:r>
              <a:rPr lang="en-US" dirty="0"/>
              <a:t> </a:t>
            </a:r>
            <a:r>
              <a:rPr lang="en-US" dirty="0" err="1"/>
              <a:t>верхнем</a:t>
            </a:r>
            <a:r>
              <a:rPr lang="en-US" dirty="0"/>
              <a:t> </a:t>
            </a:r>
            <a:r>
              <a:rPr lang="en-US" dirty="0" err="1"/>
              <a:t>углу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сверху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shadow map.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shadow map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ближайших</a:t>
            </a:r>
            <a:r>
              <a:rPr lang="en-US" dirty="0"/>
              <a:t> к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поверхностей</a:t>
            </a:r>
            <a:r>
              <a:rPr lang="en-US" dirty="0"/>
              <a:t>. 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центру</a:t>
            </a:r>
            <a:r>
              <a:rPr lang="en-US" dirty="0"/>
              <a:t>.</a:t>
            </a:r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светлые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соответствуют</a:t>
            </a:r>
            <a:r>
              <a:rPr lang="en-US" dirty="0"/>
              <a:t> </a:t>
            </a:r>
            <a:r>
              <a:rPr lang="en-US" dirty="0" err="1"/>
              <a:t>поверхностям</a:t>
            </a:r>
            <a:r>
              <a:rPr lang="en-US" dirty="0"/>
              <a:t>, </a:t>
            </a:r>
            <a:r>
              <a:rPr lang="en-US" dirty="0" err="1"/>
              <a:t>находящимся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построении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в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что</a:t>
            </a:r>
            <a:r>
              <a:rPr lang="en-US" dirty="0"/>
              <a:t> «</a:t>
            </a:r>
            <a:r>
              <a:rPr lang="en-US" dirty="0" err="1"/>
              <a:t>видит</a:t>
            </a:r>
            <a:r>
              <a:rPr lang="en-US" dirty="0"/>
              <a:t>»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в </a:t>
            </a:r>
            <a:r>
              <a:rPr lang="en-US" dirty="0" err="1"/>
              <a:t>данной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центру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 </a:t>
            </a:r>
            <a:r>
              <a:rPr lang="en-US" dirty="0" err="1"/>
              <a:t>наложение</a:t>
            </a:r>
            <a:r>
              <a:rPr lang="en-US" dirty="0"/>
              <a:t> shadow map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.</a:t>
            </a:r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 </a:t>
            </a:r>
            <a:r>
              <a:rPr lang="en-US" dirty="0" err="1"/>
              <a:t>сравниваются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глубина</a:t>
            </a:r>
            <a:r>
              <a:rPr lang="en-US" dirty="0"/>
              <a:t>, </a:t>
            </a:r>
            <a:r>
              <a:rPr lang="en-US" dirty="0" err="1"/>
              <a:t>сохранённая</a:t>
            </a:r>
            <a:r>
              <a:rPr lang="en-US" dirty="0"/>
              <a:t> в shadow map.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ближайшая</a:t>
            </a:r>
            <a:r>
              <a:rPr lang="en-US" dirty="0"/>
              <a:t> </a:t>
            </a:r>
            <a:r>
              <a:rPr lang="en-US" dirty="0" err="1"/>
              <a:t>поверхность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map,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</a:t>
            </a:r>
            <a:r>
              <a:rPr lang="en-US" dirty="0"/>
              <a:t> и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</a:t>
            </a:r>
          </a:p>
          <a:p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сравнения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внизу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— </a:t>
            </a:r>
            <a:r>
              <a:rPr lang="en-US" dirty="0" err="1"/>
              <a:t>итоговая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с </a:t>
            </a:r>
            <a:r>
              <a:rPr lang="en-US" dirty="0" err="1"/>
              <a:t>построенными</a:t>
            </a:r>
            <a:r>
              <a:rPr lang="en-US" dirty="0"/>
              <a:t> </a:t>
            </a:r>
            <a:r>
              <a:rPr lang="en-US" dirty="0" err="1"/>
              <a:t>тенями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497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Shadow Mapping — </a:t>
            </a:r>
            <a:r>
              <a:rPr lang="en-US" dirty="0" err="1"/>
              <a:t>построение</a:t>
            </a:r>
            <a:r>
              <a:rPr lang="en-US" dirty="0"/>
              <a:t> shadow map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рендерится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камера</a:t>
            </a:r>
            <a:r>
              <a:rPr lang="en-US" dirty="0"/>
              <a:t> </a:t>
            </a:r>
            <a:r>
              <a:rPr lang="en-US" dirty="0" err="1"/>
              <a:t>расположена</a:t>
            </a:r>
            <a:r>
              <a:rPr lang="en-US" dirty="0"/>
              <a:t> в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используемой</a:t>
            </a:r>
            <a:r>
              <a:rPr lang="en-US" dirty="0"/>
              <a:t> </a:t>
            </a:r>
            <a:r>
              <a:rPr lang="en-US" dirty="0" err="1"/>
              <a:t>проекции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точечных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перспективная</a:t>
            </a:r>
            <a:r>
              <a:rPr lang="en-US" dirty="0"/>
              <a:t> </a:t>
            </a:r>
            <a:r>
              <a:rPr lang="en-US" dirty="0" err="1"/>
              <a:t>проекция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ведёт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прожектор</a:t>
            </a:r>
            <a:r>
              <a:rPr lang="en-US" dirty="0"/>
              <a:t> с </a:t>
            </a:r>
            <a:r>
              <a:rPr lang="en-US" dirty="0" err="1"/>
              <a:t>ограниченным</a:t>
            </a:r>
            <a:r>
              <a:rPr lang="en-US" dirty="0"/>
              <a:t> </a:t>
            </a:r>
            <a:r>
              <a:rPr lang="en-US" dirty="0" err="1"/>
              <a:t>углом</a:t>
            </a:r>
            <a:r>
              <a:rPr lang="en-US" dirty="0"/>
              <a:t> </a:t>
            </a:r>
            <a:r>
              <a:rPr lang="en-US" dirty="0" err="1"/>
              <a:t>обзора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говоря</a:t>
            </a:r>
            <a:r>
              <a:rPr lang="en-US" dirty="0"/>
              <a:t>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точечному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реальный</a:t>
            </a:r>
            <a:r>
              <a:rPr lang="en-US" dirty="0"/>
              <a:t> point light </a:t>
            </a:r>
            <a:r>
              <a:rPr lang="en-US" dirty="0" err="1"/>
              <a:t>излучает</a:t>
            </a:r>
            <a:r>
              <a:rPr lang="en-US" dirty="0"/>
              <a:t> </a:t>
            </a:r>
            <a:r>
              <a:rPr lang="en-US" dirty="0" err="1"/>
              <a:t>свет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полноценной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точечного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cubemap</a:t>
            </a:r>
            <a:r>
              <a:rPr lang="en-US" dirty="0"/>
              <a:t> shadow maps,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рассматривается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прожектор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направленных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солнца</a:t>
            </a:r>
            <a:r>
              <a:rPr lang="en-US" dirty="0"/>
              <a:t>,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ортографическая</a:t>
            </a:r>
            <a:r>
              <a:rPr lang="en-US" dirty="0"/>
              <a:t> </a:t>
            </a:r>
            <a:r>
              <a:rPr lang="en-US" dirty="0" err="1"/>
              <a:t>проекция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лучи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считаются</a:t>
            </a:r>
            <a:r>
              <a:rPr lang="en-US" dirty="0"/>
              <a:t> </a:t>
            </a:r>
            <a:r>
              <a:rPr lang="en-US" dirty="0" err="1"/>
              <a:t>параллельными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shadow map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отключается</a:t>
            </a:r>
            <a:r>
              <a:rPr lang="en-US" dirty="0"/>
              <a:t>. GPU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depth buffer,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дальнейшей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depth texture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полноценное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проецируемые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слайдов</a:t>
            </a:r>
            <a:r>
              <a:rPr lang="en-US" dirty="0"/>
              <a:t> </a:t>
            </a:r>
            <a:r>
              <a:rPr lang="en-US" dirty="0" err="1"/>
              <a:t>проектора</a:t>
            </a:r>
            <a:r>
              <a:rPr lang="en-US" dirty="0"/>
              <a:t>, </a:t>
            </a:r>
            <a:r>
              <a:rPr lang="en-US" dirty="0" err="1"/>
              <a:t>фонарика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gobo-</a:t>
            </a:r>
            <a:r>
              <a:rPr lang="en-US" dirty="0" err="1"/>
              <a:t>текстур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сцене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собственная</a:t>
            </a:r>
            <a:r>
              <a:rPr lang="en-US" dirty="0"/>
              <a:t> shadow map.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Shadow Mapping </a:t>
            </a:r>
            <a:r>
              <a:rPr lang="en-US" dirty="0" err="1"/>
              <a:t>растёт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689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shadow map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— </a:t>
            </a:r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итогового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с </a:t>
            </a:r>
            <a:r>
              <a:rPr lang="en-US" dirty="0" err="1"/>
              <a:t>тенями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рендерится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шагов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вычисляются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говоря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глазами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 </a:t>
            </a:r>
            <a:r>
              <a:rPr lang="en-US" dirty="0" err="1"/>
              <a:t>считывается</a:t>
            </a:r>
            <a:r>
              <a:rPr lang="en-US" dirty="0"/>
              <a:t> </a:t>
            </a:r>
            <a:r>
              <a:rPr lang="en-US" dirty="0" err="1"/>
              <a:t>сохранённая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ближайшей</a:t>
            </a:r>
            <a:r>
              <a:rPr lang="en-US" dirty="0"/>
              <a:t> </a:t>
            </a:r>
            <a:r>
              <a:rPr lang="en-US" dirty="0" err="1"/>
              <a:t>поверхности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сравнение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в shadow map,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</a:t>
            </a:r>
            <a:r>
              <a:rPr lang="en-US" dirty="0"/>
              <a:t> и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—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, и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освещённым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Shadow Mapping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 и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сцен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237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распространённых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Shadow Mapping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точностью</a:t>
            </a:r>
            <a:r>
              <a:rPr lang="en-US" dirty="0"/>
              <a:t> depth buffer.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shadow map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в </a:t>
            </a:r>
            <a:r>
              <a:rPr lang="en-US" dirty="0" err="1"/>
              <a:t>текстуру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затенении</a:t>
            </a:r>
            <a:r>
              <a:rPr lang="en-US" dirty="0"/>
              <a:t>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различий</a:t>
            </a:r>
            <a:r>
              <a:rPr lang="en-US" dirty="0"/>
              <a:t> в </a:t>
            </a:r>
            <a:r>
              <a:rPr lang="en-US" dirty="0" err="1"/>
              <a:t>точности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отличаться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поверхности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 </a:t>
            </a:r>
            <a:r>
              <a:rPr lang="en-US" dirty="0" err="1"/>
              <a:t>самозатенения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shadow acne.</a:t>
            </a:r>
          </a:p>
          <a:p>
            <a:r>
              <a:rPr lang="en-US" dirty="0" err="1"/>
              <a:t>Поверхность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ошибочно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препятствием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шум</a:t>
            </a:r>
            <a:r>
              <a:rPr lang="en-US" dirty="0"/>
              <a:t>, </a:t>
            </a:r>
            <a:r>
              <a:rPr lang="en-US" dirty="0" err="1"/>
              <a:t>полосы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мерцание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освещённых</a:t>
            </a:r>
            <a:r>
              <a:rPr lang="en-US" dirty="0"/>
              <a:t> </a:t>
            </a:r>
            <a:r>
              <a:rPr lang="en-US" dirty="0" err="1"/>
              <a:t>поверхностях</a:t>
            </a:r>
            <a:r>
              <a:rPr lang="en-US" dirty="0"/>
              <a:t>.</a:t>
            </a:r>
          </a:p>
          <a:p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z-fighting,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поверхности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глубину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распространённое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смещения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depth bias.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shadow map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сдвигается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 В OpenGL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glPolygonOffset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такому</a:t>
            </a:r>
            <a:r>
              <a:rPr lang="en-US" dirty="0"/>
              <a:t> </a:t>
            </a:r>
            <a:r>
              <a:rPr lang="en-US" dirty="0" err="1"/>
              <a:t>смещению</a:t>
            </a:r>
            <a:r>
              <a:rPr lang="en-US" dirty="0"/>
              <a:t> </a:t>
            </a:r>
            <a:r>
              <a:rPr lang="en-US" dirty="0" err="1"/>
              <a:t>поверхность</a:t>
            </a:r>
            <a:r>
              <a:rPr lang="en-US" dirty="0"/>
              <a:t>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сравниваться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с </a:t>
            </a:r>
            <a:r>
              <a:rPr lang="en-US" dirty="0" err="1"/>
              <a:t>собой</a:t>
            </a:r>
            <a:r>
              <a:rPr lang="en-US" dirty="0"/>
              <a:t>, и </a:t>
            </a:r>
            <a:r>
              <a:rPr lang="en-US" dirty="0" err="1"/>
              <a:t>артефакты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уменьшаются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bias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подбирать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маленькое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уберёт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, а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к </a:t>
            </a:r>
            <a:r>
              <a:rPr lang="en-US" dirty="0" err="1"/>
              <a:t>появлению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— </a:t>
            </a:r>
            <a:r>
              <a:rPr lang="en-US" dirty="0" err="1"/>
              <a:t>отрыву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Peter Panning.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852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посвящён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слайд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вершина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локальной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в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камеры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стандартных</a:t>
            </a:r>
            <a:r>
              <a:rPr lang="en-US" dirty="0"/>
              <a:t> </a:t>
            </a:r>
            <a:r>
              <a:rPr lang="en-US" dirty="0" err="1"/>
              <a:t>преобразований</a:t>
            </a:r>
            <a:r>
              <a:rPr lang="en-US" dirty="0"/>
              <a:t> Modeling и </a:t>
            </a:r>
            <a:r>
              <a:rPr lang="en-US" dirty="0" err="1"/>
              <a:t>EyeView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shadow map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построена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r>
              <a:rPr lang="en-US" dirty="0"/>
              <a:t>, а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в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— </a:t>
            </a:r>
            <a:r>
              <a:rPr lang="en-US" dirty="0" err="1"/>
              <a:t>LightView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матрица</a:t>
            </a:r>
            <a:r>
              <a:rPr lang="en-US" dirty="0"/>
              <a:t> </a:t>
            </a:r>
            <a:r>
              <a:rPr lang="en-US" dirty="0" err="1"/>
              <a:t>проецирования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— </a:t>
            </a:r>
            <a:r>
              <a:rPr lang="en-US" dirty="0" err="1"/>
              <a:t>LightFrustum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в </a:t>
            </a:r>
            <a:r>
              <a:rPr lang="en-US" dirty="0" err="1"/>
              <a:t>пространстве</a:t>
            </a:r>
            <a:r>
              <a:rPr lang="en-US" dirty="0"/>
              <a:t> clip coordinates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после</a:t>
            </a:r>
            <a:r>
              <a:rPr lang="en-US" dirty="0"/>
              <a:t> perspective divide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диапазоне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-1 </a:t>
            </a:r>
            <a:r>
              <a:rPr lang="en-US" dirty="0" err="1"/>
              <a:t>до</a:t>
            </a:r>
            <a:r>
              <a:rPr lang="en-US" dirty="0"/>
              <a:t> +1, а </a:t>
            </a:r>
            <a:r>
              <a:rPr lang="en-US" dirty="0" err="1"/>
              <a:t>текстурные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в </a:t>
            </a:r>
            <a:r>
              <a:rPr lang="en-US" dirty="0" err="1"/>
              <a:t>диапазоне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0 </a:t>
            </a:r>
            <a:r>
              <a:rPr lang="en-US" dirty="0" err="1"/>
              <a:t>до</a:t>
            </a:r>
            <a:r>
              <a:rPr lang="en-US" dirty="0"/>
              <a:t> 1.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дополнительная</a:t>
            </a:r>
            <a:r>
              <a:rPr lang="en-US" dirty="0"/>
              <a:t> bias matrix, </a:t>
            </a:r>
            <a:r>
              <a:rPr lang="en-US" dirty="0" err="1"/>
              <a:t>показанная</a:t>
            </a:r>
            <a:r>
              <a:rPr lang="en-US" dirty="0"/>
              <a:t> </a:t>
            </a:r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снизу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:</a:t>
            </a:r>
          </a:p>
          <a:p>
            <a:r>
              <a:rPr lang="en-US" dirty="0" err="1"/>
              <a:t>масштабирует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в 0.5 </a:t>
            </a:r>
            <a:r>
              <a:rPr lang="en-US" dirty="0" err="1"/>
              <a:t>раза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0.5. 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переводятся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диапазона</a:t>
            </a:r>
            <a:r>
              <a:rPr lang="ru-RU" dirty="0"/>
              <a:t> </a:t>
            </a:r>
            <a:r>
              <a:rPr lang="en-US" dirty="0"/>
              <a:t>[-1; 1]</a:t>
            </a:r>
            <a:r>
              <a:rPr lang="ru-RU" dirty="0"/>
              <a:t> </a:t>
            </a:r>
            <a:r>
              <a:rPr lang="en-US" dirty="0"/>
              <a:t>в </a:t>
            </a:r>
            <a:r>
              <a:rPr lang="en-US" dirty="0" err="1"/>
              <a:t>диапазон</a:t>
            </a:r>
            <a:r>
              <a:rPr lang="ru-RU" dirty="0"/>
              <a:t> </a:t>
            </a:r>
            <a:r>
              <a:rPr lang="en-US" dirty="0"/>
              <a:t>[0; 1]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выборки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 и </a:t>
            </a:r>
            <a:r>
              <a:rPr lang="en-US" dirty="0" err="1"/>
              <a:t>сравнения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738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в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:</a:t>
            </a:r>
          </a:p>
          <a:p>
            <a:r>
              <a:rPr lang="en-US" dirty="0"/>
              <a:t>X и Y —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shadow map, </a:t>
            </a:r>
          </a:p>
          <a:p>
            <a:r>
              <a:rPr lang="en-US" dirty="0"/>
              <a:t>и Z — </a:t>
            </a:r>
            <a:r>
              <a:rPr lang="en-US" dirty="0" err="1"/>
              <a:t>глубину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depth test </a:t>
            </a:r>
            <a:r>
              <a:rPr lang="en-US" dirty="0" err="1"/>
              <a:t>алгоритма</a:t>
            </a:r>
            <a:r>
              <a:rPr lang="en-US" dirty="0"/>
              <a:t> Shadow Mapping.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координатам</a:t>
            </a:r>
            <a:r>
              <a:rPr lang="en-US" dirty="0"/>
              <a:t> X и Y </a:t>
            </a:r>
            <a:r>
              <a:rPr lang="en-US" dirty="0" err="1"/>
              <a:t>из</a:t>
            </a:r>
            <a:r>
              <a:rPr lang="en-US" dirty="0"/>
              <a:t> shadow map </a:t>
            </a:r>
            <a:r>
              <a:rPr lang="en-US" dirty="0" err="1"/>
              <a:t>считывается</a:t>
            </a:r>
            <a:r>
              <a:rPr lang="en-US" dirty="0"/>
              <a:t> </a:t>
            </a:r>
            <a:r>
              <a:rPr lang="en-US" dirty="0" err="1"/>
              <a:t>сохранённая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ближайшей</a:t>
            </a:r>
            <a:r>
              <a:rPr lang="en-US" dirty="0"/>
              <a:t> </a:t>
            </a:r>
            <a:r>
              <a:rPr lang="en-US" dirty="0" err="1"/>
              <a:t>поверхности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сравнивается</a:t>
            </a:r>
            <a:r>
              <a:rPr lang="en-US" dirty="0"/>
              <a:t> с </a:t>
            </a:r>
            <a:r>
              <a:rPr lang="en-US" dirty="0" err="1"/>
              <a:t>глубиной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Z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фрагментом</a:t>
            </a:r>
            <a:r>
              <a:rPr lang="en-US" dirty="0"/>
              <a:t> и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, и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затенённым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—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освещён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Lambert </a:t>
            </a:r>
            <a:r>
              <a:rPr lang="en-US" dirty="0" err="1"/>
              <a:t>или</a:t>
            </a:r>
            <a:r>
              <a:rPr lang="en-US" dirty="0"/>
              <a:t> Phong.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X и Y </a:t>
            </a:r>
            <a:r>
              <a:rPr lang="en-US" dirty="0" err="1"/>
              <a:t>выходят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пределы</a:t>
            </a:r>
            <a:r>
              <a:rPr lang="en-US" dirty="0"/>
              <a:t> shadow map.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охватываемой</a:t>
            </a:r>
            <a:r>
              <a:rPr lang="en-US" dirty="0"/>
              <a:t>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освещённым</a:t>
            </a:r>
            <a:r>
              <a:rPr lang="en-US" dirty="0"/>
              <a:t> и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стандартным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433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Mapping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огромную</a:t>
            </a:r>
            <a:r>
              <a:rPr lang="en-US" dirty="0"/>
              <a:t> </a:t>
            </a:r>
            <a:r>
              <a:rPr lang="en-US" dirty="0" err="1"/>
              <a:t>популярность</a:t>
            </a:r>
            <a:r>
              <a:rPr lang="en-US" dirty="0"/>
              <a:t> в </a:t>
            </a:r>
            <a:r>
              <a:rPr lang="en-US" dirty="0" err="1"/>
              <a:t>современной</a:t>
            </a:r>
            <a:r>
              <a:rPr lang="en-US" dirty="0"/>
              <a:t> </a:t>
            </a:r>
            <a:r>
              <a:rPr lang="en-US" dirty="0" err="1"/>
              <a:t>графике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практичности</a:t>
            </a:r>
            <a:r>
              <a:rPr lang="en-US" dirty="0"/>
              <a:t> и </a:t>
            </a:r>
            <a:r>
              <a:rPr lang="en-US" dirty="0" err="1"/>
              <a:t>хорошей</a:t>
            </a:r>
            <a:r>
              <a:rPr lang="en-US" dirty="0"/>
              <a:t> </a:t>
            </a:r>
            <a:r>
              <a:rPr lang="en-US" dirty="0" err="1"/>
              <a:t>совместимости</a:t>
            </a:r>
            <a:r>
              <a:rPr lang="en-US" dirty="0"/>
              <a:t> с GPU.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достоинств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Shadow Volumes,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силуэтные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,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полигоны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теневые</a:t>
            </a:r>
            <a:r>
              <a:rPr lang="en-US" dirty="0"/>
              <a:t> </a:t>
            </a:r>
            <a:r>
              <a:rPr lang="en-US" dirty="0" err="1"/>
              <a:t>объёмы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исключительно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depth texture и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сравнения</a:t>
            </a:r>
            <a:r>
              <a:rPr lang="en-US" dirty="0"/>
              <a:t> </a:t>
            </a:r>
            <a:r>
              <a:rPr lang="en-US" dirty="0" err="1"/>
              <a:t>глубины</a:t>
            </a:r>
            <a:r>
              <a:rPr lang="en-US" dirty="0"/>
              <a:t>.</a:t>
            </a:r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— </a:t>
            </a:r>
            <a:r>
              <a:rPr lang="en-US" dirty="0" err="1"/>
              <a:t>аппаратная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.</a:t>
            </a:r>
          </a:p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видеокарты</a:t>
            </a:r>
            <a:r>
              <a:rPr lang="en-US" dirty="0"/>
              <a:t> </a:t>
            </a:r>
            <a:r>
              <a:rPr lang="en-US" dirty="0" err="1"/>
              <a:t>содержат</a:t>
            </a:r>
            <a:r>
              <a:rPr lang="en-US" dirty="0"/>
              <a:t> </a:t>
            </a:r>
            <a:r>
              <a:rPr lang="en-US" dirty="0" err="1"/>
              <a:t>специализированные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depth textures и shadow samplers, </a:t>
            </a:r>
            <a:r>
              <a:rPr lang="en-US" dirty="0" err="1"/>
              <a:t>поэтому</a:t>
            </a:r>
            <a:r>
              <a:rPr lang="en-US" dirty="0"/>
              <a:t> Shadow Mapping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динамических</a:t>
            </a:r>
            <a:r>
              <a:rPr lang="en-US" dirty="0"/>
              <a:t> </a:t>
            </a:r>
            <a:r>
              <a:rPr lang="en-US" dirty="0" err="1"/>
              <a:t>сцен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движется</a:t>
            </a:r>
            <a:r>
              <a:rPr lang="en-US" dirty="0"/>
              <a:t>,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shadow map — </a:t>
            </a:r>
            <a:r>
              <a:rPr lang="en-US" dirty="0" err="1"/>
              <a:t>никаких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Shadow Mapping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миллионы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r>
              <a:rPr lang="en-US" dirty="0"/>
              <a:t>,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и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:</a:t>
            </a:r>
          </a:p>
          <a:p>
            <a:r>
              <a:rPr lang="en-US" dirty="0" err="1"/>
              <a:t>направленных</a:t>
            </a:r>
            <a:r>
              <a:rPr lang="en-US" dirty="0"/>
              <a:t>, </a:t>
            </a:r>
          </a:p>
          <a:p>
            <a:r>
              <a:rPr lang="en-US" dirty="0" err="1"/>
              <a:t>прожекторов</a:t>
            </a:r>
            <a:r>
              <a:rPr lang="en-US" dirty="0"/>
              <a:t>, </a:t>
            </a:r>
          </a:p>
          <a:p>
            <a:r>
              <a:rPr lang="en-US" dirty="0" err="1"/>
              <a:t>точечных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комбинированных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преимуществам</a:t>
            </a:r>
            <a:r>
              <a:rPr lang="en-US" dirty="0"/>
              <a:t> Shadow Mapping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стандартным</a:t>
            </a:r>
            <a:r>
              <a:rPr lang="en-US" dirty="0"/>
              <a:t> </a:t>
            </a:r>
            <a:r>
              <a:rPr lang="en-US" dirty="0" err="1"/>
              <a:t>подходом</a:t>
            </a:r>
            <a:r>
              <a:rPr lang="en-US" dirty="0"/>
              <a:t> к </a:t>
            </a:r>
            <a:r>
              <a:rPr lang="en-US" dirty="0" err="1"/>
              <a:t>построению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в </a:t>
            </a:r>
            <a:r>
              <a:rPr lang="en-US" dirty="0" err="1"/>
              <a:t>большинстве</a:t>
            </a:r>
            <a:r>
              <a:rPr lang="en-US" dirty="0"/>
              <a:t> </a:t>
            </a:r>
            <a:r>
              <a:rPr lang="en-US" dirty="0" err="1"/>
              <a:t>игровых</a:t>
            </a:r>
            <a:r>
              <a:rPr lang="en-US" dirty="0"/>
              <a:t> </a:t>
            </a:r>
            <a:r>
              <a:rPr lang="en-US" dirty="0" err="1"/>
              <a:t>движков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445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огромную</a:t>
            </a:r>
            <a:r>
              <a:rPr lang="en-US" dirty="0"/>
              <a:t> </a:t>
            </a:r>
            <a:r>
              <a:rPr lang="en-US" dirty="0" err="1"/>
              <a:t>популярность</a:t>
            </a:r>
            <a:r>
              <a:rPr lang="en-US" dirty="0"/>
              <a:t> Shadow Mapping, у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ряд</a:t>
            </a:r>
            <a:r>
              <a:rPr lang="en-US" dirty="0"/>
              <a:t> </a:t>
            </a:r>
            <a:r>
              <a:rPr lang="en-US" dirty="0" err="1"/>
              <a:t>серьёзных</a:t>
            </a:r>
            <a:r>
              <a:rPr lang="en-US" dirty="0"/>
              <a:t> </a:t>
            </a:r>
            <a:r>
              <a:rPr lang="en-US" dirty="0" err="1"/>
              <a:t>недостатков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ступенчатые</a:t>
            </a:r>
            <a:r>
              <a:rPr lang="en-US" dirty="0"/>
              <a:t> </a:t>
            </a:r>
            <a:r>
              <a:rPr lang="en-US" dirty="0" err="1"/>
              <a:t>края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.</a:t>
            </a:r>
          </a:p>
          <a:p>
            <a:r>
              <a:rPr lang="en-US" dirty="0"/>
              <a:t>Shadow map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текстуру</a:t>
            </a:r>
            <a:r>
              <a:rPr lang="en-US" dirty="0"/>
              <a:t> </a:t>
            </a:r>
            <a:r>
              <a:rPr lang="en-US" dirty="0" err="1"/>
              <a:t>конечного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велико</a:t>
            </a:r>
            <a:r>
              <a:rPr lang="en-US" dirty="0"/>
              <a:t>,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зубчатыми</a:t>
            </a:r>
            <a:r>
              <a:rPr lang="en-US" dirty="0"/>
              <a:t> и </a:t>
            </a:r>
            <a:r>
              <a:rPr lang="en-US" dirty="0" err="1"/>
              <a:t>пикселизированными</a:t>
            </a:r>
            <a:r>
              <a:rPr lang="en-US" dirty="0"/>
              <a:t>.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удалённых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сцен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Питера</a:t>
            </a:r>
            <a:r>
              <a:rPr lang="en-US" dirty="0"/>
              <a:t> </a:t>
            </a:r>
            <a:r>
              <a:rPr lang="en-US" dirty="0" err="1"/>
              <a:t>Пэна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depth bias,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борьбы</a:t>
            </a:r>
            <a:r>
              <a:rPr lang="en-US" dirty="0"/>
              <a:t> с </a:t>
            </a:r>
            <a:r>
              <a:rPr lang="en-US" dirty="0" err="1"/>
              <a:t>самозатенением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отделяется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«</a:t>
            </a:r>
            <a:r>
              <a:rPr lang="en-US" dirty="0" err="1"/>
              <a:t>парить</a:t>
            </a:r>
            <a:r>
              <a:rPr lang="en-US" dirty="0"/>
              <a:t>»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.</a:t>
            </a:r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персонажем</a:t>
            </a:r>
            <a:r>
              <a:rPr lang="en-US" dirty="0"/>
              <a:t> </a:t>
            </a:r>
            <a:r>
              <a:rPr lang="en-US" dirty="0" err="1"/>
              <a:t>Питера</a:t>
            </a:r>
            <a:r>
              <a:rPr lang="en-US" dirty="0"/>
              <a:t> </a:t>
            </a:r>
            <a:r>
              <a:rPr lang="en-US" dirty="0" err="1"/>
              <a:t>Пэна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в </a:t>
            </a:r>
            <a:r>
              <a:rPr lang="en-US" dirty="0" err="1"/>
              <a:t>сказке</a:t>
            </a:r>
            <a:r>
              <a:rPr lang="en-US" dirty="0"/>
              <a:t> </a:t>
            </a:r>
            <a:r>
              <a:rPr lang="en-US" dirty="0" err="1"/>
              <a:t>потерял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тень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self-shadowing </a:t>
            </a:r>
            <a:r>
              <a:rPr lang="en-US" dirty="0" err="1"/>
              <a:t>или</a:t>
            </a:r>
            <a:r>
              <a:rPr lang="en-US" dirty="0"/>
              <a:t> shadow acne.</a:t>
            </a:r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точности</a:t>
            </a:r>
            <a:r>
              <a:rPr lang="en-US" dirty="0"/>
              <a:t> depth buffer </a:t>
            </a:r>
            <a:r>
              <a:rPr lang="en-US" dirty="0" err="1"/>
              <a:t>поверхность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ошибочно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препятствием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шуму</a:t>
            </a:r>
            <a:r>
              <a:rPr lang="en-US" dirty="0"/>
              <a:t>, </a:t>
            </a:r>
            <a:r>
              <a:rPr lang="en-US" dirty="0" err="1"/>
              <a:t>полосам</a:t>
            </a:r>
            <a:r>
              <a:rPr lang="en-US" dirty="0"/>
              <a:t> и </a:t>
            </a:r>
            <a:r>
              <a:rPr lang="en-US" dirty="0" err="1"/>
              <a:t>мерцанию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освещённых</a:t>
            </a:r>
            <a:r>
              <a:rPr lang="en-US" dirty="0"/>
              <a:t> </a:t>
            </a:r>
            <a:r>
              <a:rPr lang="en-US" dirty="0" err="1"/>
              <a:t>участках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Shadow Mapping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shadow map и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проход</a:t>
            </a:r>
            <a:r>
              <a:rPr lang="en-US" dirty="0"/>
              <a:t> </a:t>
            </a:r>
            <a:r>
              <a:rPr lang="en-US" dirty="0" err="1"/>
              <a:t>рендеринга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большом</a:t>
            </a:r>
            <a:r>
              <a:rPr lang="en-US" dirty="0"/>
              <a:t> </a:t>
            </a:r>
            <a:r>
              <a:rPr lang="en-US" dirty="0" err="1"/>
              <a:t>количестве</a:t>
            </a:r>
            <a:r>
              <a:rPr lang="en-US" dirty="0"/>
              <a:t> </a:t>
            </a:r>
            <a:r>
              <a:rPr lang="en-US" dirty="0" err="1"/>
              <a:t>динамических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движки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техник</a:t>
            </a:r>
            <a:r>
              <a:rPr lang="en-US" dirty="0"/>
              <a:t>:</a:t>
            </a:r>
          </a:p>
          <a:p>
            <a:r>
              <a:rPr lang="en-US" dirty="0"/>
              <a:t>PCF-</a:t>
            </a:r>
            <a:r>
              <a:rPr lang="en-US" dirty="0" err="1"/>
              <a:t>фильтрацию</a:t>
            </a:r>
            <a:r>
              <a:rPr lang="en-US" dirty="0"/>
              <a:t>, </a:t>
            </a:r>
          </a:p>
          <a:p>
            <a:r>
              <a:rPr lang="en-US" dirty="0"/>
              <a:t>cascaded shadow maps, </a:t>
            </a:r>
          </a:p>
          <a:p>
            <a:r>
              <a:rPr lang="en-US" dirty="0"/>
              <a:t>variance shadow maps, </a:t>
            </a:r>
          </a:p>
          <a:p>
            <a:r>
              <a:rPr lang="en-US" dirty="0"/>
              <a:t>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улучшения</a:t>
            </a:r>
            <a:r>
              <a:rPr lang="en-US" dirty="0"/>
              <a:t> </a:t>
            </a:r>
            <a:r>
              <a:rPr lang="en-US" dirty="0" err="1"/>
              <a:t>качества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12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технологию</a:t>
            </a:r>
            <a:r>
              <a:rPr lang="en-US" dirty="0"/>
              <a:t> Shadow Volumes.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к </a:t>
            </a:r>
            <a:r>
              <a:rPr lang="en-US" dirty="0" err="1"/>
              <a:t>построению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, </a:t>
            </a:r>
            <a:r>
              <a:rPr lang="en-US" dirty="0" err="1"/>
              <a:t>основанный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формировании</a:t>
            </a:r>
            <a:r>
              <a:rPr lang="en-US" dirty="0"/>
              <a:t> </a:t>
            </a:r>
            <a:r>
              <a:rPr lang="en-US" dirty="0" err="1"/>
              <a:t>специального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, </a:t>
            </a:r>
            <a:r>
              <a:rPr lang="en-US" dirty="0" err="1"/>
              <a:t>недоступного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поиск</a:t>
            </a:r>
            <a:r>
              <a:rPr lang="en-US" dirty="0"/>
              <a:t> </a:t>
            </a:r>
            <a:r>
              <a:rPr lang="en-US" dirty="0" err="1"/>
              <a:t>силуэтных</a:t>
            </a:r>
            <a:r>
              <a:rPr lang="en-US" dirty="0"/>
              <a:t> </a:t>
            </a:r>
            <a:r>
              <a:rPr lang="en-US" dirty="0" err="1"/>
              <a:t>рёбер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использование</a:t>
            </a:r>
            <a:r>
              <a:rPr lang="en-US" dirty="0"/>
              <a:t> stencil buffer,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Depth-Pass и Depth-Fail. 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 Shadow Volumes —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точность</a:t>
            </a:r>
            <a:r>
              <a:rPr lang="en-US" dirty="0"/>
              <a:t>.</a:t>
            </a:r>
          </a:p>
          <a:p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  <a:r>
              <a:rPr lang="en-US" dirty="0" err="1"/>
              <a:t>определяются</a:t>
            </a:r>
            <a:r>
              <a:rPr lang="en-US" dirty="0"/>
              <a:t> </a:t>
            </a:r>
            <a:r>
              <a:rPr lang="en-US" dirty="0" err="1"/>
              <a:t>геометрией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.</a:t>
            </a:r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,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stencil operations и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сцен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Shadow Volumes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629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Shadow Mapping —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распространённый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Shadow Volumes,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сравнивается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map.</a:t>
            </a:r>
          </a:p>
          <a:p>
            <a:endParaRPr lang="en-US" dirty="0"/>
          </a:p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артефактов</a:t>
            </a:r>
            <a:r>
              <a:rPr lang="en-US" dirty="0"/>
              <a:t> и </a:t>
            </a:r>
            <a:r>
              <a:rPr lang="en-US" dirty="0" err="1"/>
              <a:t>ограничений</a:t>
            </a:r>
            <a:r>
              <a:rPr lang="en-US" dirty="0"/>
              <a:t> </a:t>
            </a:r>
            <a:r>
              <a:rPr lang="en-US" dirty="0" err="1"/>
              <a:t>точности</a:t>
            </a:r>
            <a:r>
              <a:rPr lang="en-US" dirty="0"/>
              <a:t>, Shadow Mapping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приспособлен</a:t>
            </a:r>
            <a:r>
              <a:rPr lang="en-US" dirty="0"/>
              <a:t> к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GPU.</a:t>
            </a:r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,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динамические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и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интегрируется</a:t>
            </a:r>
            <a:r>
              <a:rPr lang="en-US" dirty="0"/>
              <a:t> в </a:t>
            </a:r>
            <a:r>
              <a:rPr lang="en-US" dirty="0" err="1"/>
              <a:t>современные</a:t>
            </a:r>
            <a:r>
              <a:rPr lang="en-US" dirty="0"/>
              <a:t> rendering pipelines.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игровые</a:t>
            </a:r>
            <a:r>
              <a:rPr lang="en-US" dirty="0"/>
              <a:t> </a:t>
            </a:r>
            <a:r>
              <a:rPr lang="en-US" dirty="0" err="1"/>
              <a:t>движки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разновидности</a:t>
            </a:r>
            <a:r>
              <a:rPr lang="en-US" dirty="0"/>
              <a:t> shadow maps.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базовая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неизменной</a:t>
            </a:r>
            <a:r>
              <a:rPr lang="en-US" dirty="0"/>
              <a:t>: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перекрыта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179EC9-B6FC-40A4-8759-C3882A1DCED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3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9BAA-5420-F515-D73C-67D377BA4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5DABE-1859-E8E9-553F-224053B6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3318A-7893-1D9F-D54C-0ECB1ACE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320FC-B520-3C86-FB1A-9CF1DBBA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1889-1BF2-F157-CA71-1E7B201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42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AD46-A3CF-D6B2-33E6-163FFCA4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BD56F-071B-F3B2-AD26-7DF98D1B8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C1B5C-FC4F-1027-CA3D-72D11D45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C7F0A-83D5-457F-ECAB-E195E4BB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1C52-1569-C9F8-A06C-E9350214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92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612D-9651-536C-D7E6-340E3682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9DE9-7D84-51BD-6712-80E25928B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8CACD-9FDA-C75B-C58C-58F11BEA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4A4E2-20F8-666B-740F-08DD68A0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25E5-2511-00A1-8B11-DBEA8B31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34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3DF6-440A-3170-A352-348C63EA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6B9C-960C-42F7-8B14-81BE8DD2E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CB075-82A5-9056-9B39-809CC43EC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3D49E-E91E-1990-E808-7BDFFD41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625C9-5B72-035B-BCF4-D4CD0A24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80487-F71B-FCB6-9980-7B88E06B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8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B2E2-2438-6F97-4815-490F5DC0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533BE-62D1-A41A-FB0F-1EC24583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836F-9277-428C-6395-7AB7C4BB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67A28-3020-5C5C-6621-B0E7DE31E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132C4-24DA-2102-96D7-51F3F08D2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378A-3835-7F60-E10B-F986BC7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5E2E1-700E-BFEA-E9FC-0CCF6ED4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CF404-F637-A50A-6EC1-BCAA880E5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73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8C21-F680-A874-9A9E-25CCB94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56209-69C1-3D0C-FB57-553CF26E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E6AF6-C938-7CB7-68F2-1FE899394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EF0A1-9AE7-B156-B553-45CC2B25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8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6FD98-2837-9D12-ACF3-4FC3A2C3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41A99-4C8D-6F69-5E3A-89628400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C495E-C493-975A-0E63-F6B0DA3B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12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1388-EC14-41E4-DBC6-A5B3CAA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25053-7A0A-341F-DC1F-35CA70EB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F4C15-7263-A6C8-253F-DB20B79E3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C1129-04DC-DD56-30C9-D8A612D6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7BB5F-EE47-C196-B0CE-F94C00C1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DA1E2-B392-3DB1-5165-1693A90A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57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CAD3-B155-3C25-501C-A194D68C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AE49E-CFEF-4DF6-6195-0AC7A892C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220BB-CC3D-A0B8-CFA1-E03ABF717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5302E-FD7E-42B9-5DDD-E086FC1B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23271-6E05-A747-E2D8-0E811DAE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F9009-D85D-7657-EE4B-1D1B4832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61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CC57-CED1-C1EB-309E-48A6FF1B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6F59D-C82E-5C1D-D9DE-0522677E7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3A76-133B-9022-8965-8B93408E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1233-BE31-2CA6-D7BB-4B5F3EFA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BAE5B-5D49-2FC5-74B7-045D8495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49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41F79-485E-A2A6-BE7D-4F5267DCC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F9CA2-E9D0-4830-F900-B81085018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0FBB-FE0F-D69F-A6E9-B5DBA42E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3FC4-7CC8-D9B7-EDEF-31F90283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493B-1A9A-41B0-40F7-96CF5E31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48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04B80-CE73-101A-3157-A44844BF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E1B9-BF0C-A712-45F4-5B9C5C232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417D5-FFC2-FB80-9BB7-BD0EB969F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63445-B0B9-48B1-81B7-B7BCBC84F2F4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B2546-A754-3D19-D5AF-3CFAA49EC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8F0ED-3BC5-FA7B-783E-63E5A2C42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80D86-F933-49A5-8902-DA1B8F6960F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9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gl.org/registry/specs/EXT/stencil_two_side.txt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pengl.org/registry/specs/EXT/stencil_wrap.txt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gpugems/gpugems3/part-ii-light-and-shadows/chapter-11-efficient-and-robust-shadow-volumes-using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5" descr="A couple of military vehicles&#10;&#10;Description automatically generated">
            <a:extLst>
              <a:ext uri="{FF2B5EF4-FFF2-40B4-BE49-F238E27FC236}">
                <a16:creationId xmlns:a16="http://schemas.microsoft.com/office/drawing/2014/main" id="{41753EB4-EB8E-BA17-1CF2-74C8AFF85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</a:blip>
          <a:srcRect t="5869" b="4845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53716" y="1781691"/>
            <a:ext cx="9954852" cy="2900518"/>
          </a:xfrm>
        </p:spPr>
        <p:txBody>
          <a:bodyPr>
            <a:noAutofit/>
          </a:bodyPr>
          <a:lstStyle/>
          <a:p>
            <a:pPr algn="l"/>
            <a:r>
              <a:rPr lang="ru-RU" sz="8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Визуализация теней в реальном времени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ru-RU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Тени как средство повышения реалистичности изображения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7922096" cy="4351338"/>
          </a:xfrm>
        </p:spPr>
        <p:txBody>
          <a:bodyPr/>
          <a:lstStyle/>
          <a:p>
            <a:r>
              <a:rPr lang="ru-RU" dirty="0"/>
              <a:t>Тени делают сцену более правдоподобной, добавляя информацию, которую невозможно получить только по освещённым поверхностям</a:t>
            </a:r>
          </a:p>
          <a:p>
            <a:pPr lvl="1"/>
            <a:r>
              <a:rPr lang="ru-RU" dirty="0"/>
              <a:t>Пространственное расположение</a:t>
            </a:r>
          </a:p>
          <a:p>
            <a:pPr lvl="1"/>
            <a:r>
              <a:rPr lang="ru-RU" dirty="0"/>
              <a:t>Форма и размер</a:t>
            </a:r>
          </a:p>
          <a:p>
            <a:pPr lvl="1"/>
            <a:r>
              <a:rPr lang="ru-RU" dirty="0"/>
              <a:t>Глубина сцены</a:t>
            </a:r>
          </a:p>
          <a:p>
            <a:pPr lvl="1"/>
            <a:r>
              <a:rPr lang="ru-RU" dirty="0"/>
              <a:t>Материалы и взаимное влияние</a:t>
            </a:r>
          </a:p>
        </p:txBody>
      </p:sp>
      <p:sp>
        <p:nvSpPr>
          <p:cNvPr id="15362" name="AutoShape 2" descr="mk:@MSITStore:G:\books\unsorted\Game.Design.eBooks.Pack\Programming\GPU%20Gems%203.chm::/final/images/NWRlOHJhN3Avc2NpOTUyL2cwbWEyOGd0cjQxNDMvcGdwaWZqMmMwaDAuL2dpOHM-.jpg"/>
          <p:cNvSpPr>
            <a:spLocks noChangeAspect="1" noChangeArrowheads="1"/>
          </p:cNvSpPr>
          <p:nvPr/>
        </p:nvSpPr>
        <p:spPr bwMode="auto">
          <a:xfrm>
            <a:off x="1679575" y="-1143000"/>
            <a:ext cx="3810000" cy="2381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64" name="AutoShape 4" descr="mk:@MSITStore:G:\books\unsorted\Game.Design.eBooks.Pack\Programming\GPU%20Gems%203.chm::/final/images/NWRlOHJhN3Avc2NpOTUyL2cwbWEyOGd0cjQxNDMvcGdwaWZqMmMwaDAuL2dpOHM-.jpg"/>
          <p:cNvSpPr>
            <a:spLocks noChangeAspect="1" noChangeArrowheads="1"/>
          </p:cNvSpPr>
          <p:nvPr/>
        </p:nvSpPr>
        <p:spPr bwMode="auto">
          <a:xfrm>
            <a:off x="1587500" y="-136525"/>
            <a:ext cx="3810000" cy="2381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08168" y="4001294"/>
            <a:ext cx="44577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D175-9455-2755-3B20-0224D04F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сложная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778F3-16E0-1752-3C22-2076E435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</a:t>
            </a:r>
            <a:r>
              <a:rPr lang="en-US" dirty="0" err="1"/>
              <a:t>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данную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свет</a:t>
            </a:r>
            <a:r>
              <a:rPr lang="en-US" dirty="0"/>
              <a:t> </a:t>
            </a:r>
            <a:r>
              <a:rPr lang="en-US" dirty="0" err="1"/>
              <a:t>перекрыт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? </a:t>
            </a:r>
          </a:p>
          <a:p>
            <a:r>
              <a:rPr lang="en-US" dirty="0" err="1"/>
              <a:t>Сложности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миллионов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Динамические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и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Ограниченная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GPU </a:t>
            </a:r>
          </a:p>
          <a:p>
            <a:pPr lvl="1"/>
            <a:r>
              <a:rPr lang="en-US" dirty="0" err="1"/>
              <a:t>Артефакты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aliasing </a:t>
            </a:r>
          </a:p>
          <a:p>
            <a:pPr lvl="2"/>
            <a:r>
              <a:rPr lang="en-US" dirty="0"/>
              <a:t>shadow acne </a:t>
            </a:r>
          </a:p>
          <a:p>
            <a:pPr lvl="2"/>
            <a:r>
              <a:rPr lang="en-US" dirty="0"/>
              <a:t>peter panning </a:t>
            </a:r>
          </a:p>
          <a:p>
            <a:pPr lvl="1"/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(60+ FPS) </a:t>
            </a:r>
          </a:p>
          <a:p>
            <a:r>
              <a:rPr lang="ru-RU" dirty="0"/>
              <a:t>Приходится идти на к</a:t>
            </a:r>
            <a:r>
              <a:rPr lang="en-US" dirty="0" err="1"/>
              <a:t>омпромисс</a:t>
            </a:r>
            <a:r>
              <a:rPr lang="ru-RU" dirty="0"/>
              <a:t>: </a:t>
            </a:r>
            <a:r>
              <a:rPr lang="en-US" dirty="0" err="1"/>
              <a:t>Качество</a:t>
            </a:r>
            <a:r>
              <a:rPr lang="en-US" dirty="0"/>
              <a:t> ↔ </a:t>
            </a:r>
            <a:r>
              <a:rPr lang="en-US" dirty="0" err="1"/>
              <a:t>Производительность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C039-3952-8232-2234-5AED8C38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подходы к реализации теней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E2651C-92D2-83A3-EEEC-A689E6395B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29096477"/>
              </p:ext>
            </p:extLst>
          </p:nvPr>
        </p:nvGraphicFramePr>
        <p:xfrm>
          <a:off x="838200" y="1825625"/>
          <a:ext cx="10515600" cy="3141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700548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0732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462644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6640728"/>
                    </a:ext>
                  </a:extLst>
                </a:gridCol>
              </a:tblGrid>
              <a:tr h="301383">
                <a:tc>
                  <a:txBody>
                    <a:bodyPr/>
                    <a:lstStyle/>
                    <a:p>
                      <a:r>
                        <a:rPr lang="ru-RU" dirty="0"/>
                        <a:t>Подход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Основная идея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Достоинства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002837"/>
                  </a:ext>
                </a:extLst>
              </a:tr>
              <a:tr h="818040">
                <a:tc>
                  <a:txBody>
                    <a:bodyPr/>
                    <a:lstStyle/>
                    <a:p>
                      <a:r>
                        <a:rPr lang="en-US" dirty="0"/>
                        <a:t>Shadow Volumes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Построение геометрического объема тени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Точные границы теней, отсутствие </a:t>
                      </a:r>
                      <a:r>
                        <a:rPr lang="en-US" dirty="0"/>
                        <a:t>aliasing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сложность геометрии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70839"/>
                  </a:ext>
                </a:extLst>
              </a:tr>
              <a:tr h="947204">
                <a:tc>
                  <a:txBody>
                    <a:bodyPr/>
                    <a:lstStyle/>
                    <a:p>
                      <a:r>
                        <a:rPr lang="en-US" dirty="0"/>
                        <a:t>Shadow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 видимости из положения источника света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Простота реализации, поддержка сложных сцен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Артефакты из-за ограниченного разрешения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63371"/>
                  </a:ext>
                </a:extLst>
              </a:tr>
              <a:tr h="688876">
                <a:tc>
                  <a:txBody>
                    <a:bodyPr/>
                    <a:lstStyle/>
                    <a:p>
                      <a:r>
                        <a:rPr lang="en-US" dirty="0"/>
                        <a:t>Ray Tracing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Трассировка луча к источнику света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Физически корректные тени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высокие вычислительные затраты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06408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F95A26-AE51-5CAD-7EFF-B70ADE13E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1384" y="5085183"/>
            <a:ext cx="10802416" cy="1091779"/>
          </a:xfrm>
        </p:spPr>
        <p:txBody>
          <a:bodyPr/>
          <a:lstStyle/>
          <a:p>
            <a:r>
              <a:rPr lang="ru-RU" dirty="0"/>
              <a:t>Современные игровые движки чаще всего используют различные вариации </a:t>
            </a:r>
            <a:r>
              <a:rPr lang="en-US" dirty="0"/>
              <a:t>Shadow Mapping</a:t>
            </a:r>
          </a:p>
        </p:txBody>
      </p:sp>
    </p:spTree>
    <p:extLst>
      <p:ext uri="{BB962C8B-B14F-4D97-AF65-F5344CB8AC3E}">
        <p14:creationId xmlns:p14="http://schemas.microsoft.com/office/powerpoint/2010/main" val="50125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1851" y="1709738"/>
            <a:ext cx="5840214" cy="2852737"/>
          </a:xfrm>
        </p:spPr>
        <p:txBody>
          <a:bodyPr/>
          <a:lstStyle/>
          <a:p>
            <a:r>
              <a:rPr lang="en-US" dirty="0"/>
              <a:t>Stencil Shadow Volume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34FA05-AB52-5FEC-C9C2-353BB6D3C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872" y="1463670"/>
            <a:ext cx="5804696" cy="434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Shadow volume (</a:t>
            </a:r>
            <a:r>
              <a:rPr lang="ru-RU" dirty="0"/>
              <a:t>теневой объем)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Shadow Volume —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основанный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выделении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недоступной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— </a:t>
            </a:r>
            <a:r>
              <a:rPr lang="en-US" dirty="0" err="1"/>
              <a:t>трёхмерная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образующаяся</a:t>
            </a:r>
            <a:r>
              <a:rPr lang="en-US" dirty="0"/>
              <a:t> </a:t>
            </a:r>
            <a:r>
              <a:rPr lang="en-US" dirty="0" err="1"/>
              <a:t>позади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Shadow Volume?</a:t>
            </a:r>
          </a:p>
          <a:p>
            <a:pPr lvl="1"/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разделяет</a:t>
            </a:r>
            <a:r>
              <a:rPr lang="en-US" dirty="0"/>
              <a:t> </a:t>
            </a:r>
            <a:r>
              <a:rPr lang="en-US" dirty="0" err="1"/>
              <a:t>сцену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→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→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освещены</a:t>
            </a:r>
            <a:r>
              <a:rPr lang="en-US" dirty="0"/>
              <a:t> 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endParaRPr lang="en-US" dirty="0"/>
          </a:p>
          <a:p>
            <a:pPr lvl="1"/>
            <a:r>
              <a:rPr lang="en-US" dirty="0" err="1"/>
              <a:t>Тени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Возможна</a:t>
            </a:r>
            <a:r>
              <a:rPr lang="en-US" dirty="0"/>
              <a:t> </a:t>
            </a:r>
            <a:r>
              <a:rPr lang="en-US" dirty="0" err="1"/>
              <a:t>корректная</a:t>
            </a:r>
            <a:r>
              <a:rPr lang="en-US" dirty="0"/>
              <a:t> </a:t>
            </a:r>
            <a:r>
              <a:rPr lang="en-US" dirty="0" err="1"/>
              <a:t>самотень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чувствителен</a:t>
            </a:r>
            <a:r>
              <a:rPr lang="en-US" dirty="0"/>
              <a:t> к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Теневой объем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936982" y="1693267"/>
            <a:ext cx="8318036" cy="4616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теневого объема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5761856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освещённой</a:t>
            </a:r>
            <a:r>
              <a:rPr lang="en-US" dirty="0"/>
              <a:t> и </a:t>
            </a:r>
            <a:r>
              <a:rPr lang="en-US" dirty="0" err="1"/>
              <a:t>неосвещённой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endParaRPr lang="en-US" dirty="0"/>
          </a:p>
          <a:p>
            <a:pPr lvl="1"/>
            <a:r>
              <a:rPr lang="en-US" dirty="0" err="1"/>
              <a:t>Определяются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, </a:t>
            </a:r>
            <a:r>
              <a:rPr lang="en-US" dirty="0" err="1"/>
              <a:t>видимые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, </a:t>
            </a:r>
            <a:r>
              <a:rPr lang="en-US" dirty="0" err="1"/>
              <a:t>разделяющие</a:t>
            </a:r>
            <a:r>
              <a:rPr lang="en-US" dirty="0"/>
              <a:t>: </a:t>
            </a:r>
          </a:p>
          <a:p>
            <a:pPr lvl="2"/>
            <a:r>
              <a:rPr lang="en-US" dirty="0" err="1"/>
              <a:t>освещённые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неосвещённые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силуэт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Силуэтные</a:t>
            </a:r>
            <a:r>
              <a:rPr lang="en-US" dirty="0"/>
              <a:t> </a:t>
            </a:r>
            <a:r>
              <a:rPr lang="en-US" dirty="0" err="1"/>
              <a:t>рёбра</a:t>
            </a:r>
            <a:r>
              <a:rPr lang="en-US" dirty="0"/>
              <a:t> </a:t>
            </a:r>
            <a:r>
              <a:rPr lang="en-US" dirty="0" err="1"/>
              <a:t>вытягиваются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формируя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</a:p>
          <a:p>
            <a:r>
              <a:rPr lang="en-US" dirty="0" err="1"/>
              <a:t>Критерий</a:t>
            </a:r>
            <a:r>
              <a:rPr lang="en-US" dirty="0"/>
              <a:t> </a:t>
            </a:r>
            <a:r>
              <a:rPr lang="en-US" dirty="0" err="1"/>
              <a:t>освещённости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знак</a:t>
            </a:r>
            <a:r>
              <a:rPr lang="en-US" dirty="0"/>
              <a:t> </a:t>
            </a:r>
            <a:r>
              <a:rPr lang="en-US" dirty="0" err="1"/>
              <a:t>скалярного</a:t>
            </a:r>
            <a:r>
              <a:rPr lang="en-US" dirty="0"/>
              <a:t> </a:t>
            </a:r>
            <a:r>
              <a:rPr lang="en-US" dirty="0" err="1"/>
              <a:t>произведения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dot(N, L) &gt; 0</a:t>
            </a:r>
            <a:r>
              <a:rPr lang="en-US" dirty="0"/>
              <a:t> — </a:t>
            </a:r>
            <a:r>
              <a:rPr lang="en-US" dirty="0" err="1"/>
              <a:t>грань</a:t>
            </a:r>
            <a:r>
              <a:rPr lang="en-US" dirty="0"/>
              <a:t> </a:t>
            </a:r>
            <a:r>
              <a:rPr lang="en-US" dirty="0" err="1"/>
              <a:t>освещена</a:t>
            </a:r>
            <a:endParaRPr lang="ru-RU" dirty="0"/>
          </a:p>
          <a:p>
            <a:pPr lvl="2"/>
            <a:r>
              <a:rPr lang="en-US" b="1" dirty="0"/>
              <a:t>dot(N, L) &lt; 0</a:t>
            </a:r>
            <a:r>
              <a:rPr lang="en-US" dirty="0"/>
              <a:t> — </a:t>
            </a:r>
            <a:r>
              <a:rPr lang="en-US" dirty="0" err="1"/>
              <a:t>грань</a:t>
            </a:r>
            <a:r>
              <a:rPr lang="en-US" dirty="0"/>
              <a:t> </a:t>
            </a:r>
            <a:r>
              <a:rPr lang="en-US" dirty="0" err="1"/>
              <a:t>отвернута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pPr lvl="1"/>
            <a:r>
              <a:rPr lang="en-US" b="1" dirty="0"/>
              <a:t>N</a:t>
            </a:r>
            <a:r>
              <a:rPr lang="en-US" dirty="0"/>
              <a:t> — </a:t>
            </a:r>
            <a:r>
              <a:rPr lang="en-US" dirty="0" err="1"/>
              <a:t>нормаль</a:t>
            </a:r>
            <a:r>
              <a:rPr lang="en-US" dirty="0"/>
              <a:t> </a:t>
            </a:r>
            <a:r>
              <a:rPr lang="en-US" dirty="0" err="1"/>
              <a:t>грани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—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37253" y="1809220"/>
            <a:ext cx="4863402" cy="192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37253" y="4169719"/>
            <a:ext cx="4863402" cy="181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Критерий принадлежности к затененной части сцены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Для любой точки сцены справедливо:</a:t>
            </a:r>
          </a:p>
          <a:p>
            <a:pPr lvl="1"/>
            <a:r>
              <a:rPr lang="ru-RU" dirty="0"/>
              <a:t>Если луч, соединяющий глаз с данной точкой, пересекает теневой объем нечетное количество раз, точка находится в тени</a:t>
            </a:r>
          </a:p>
          <a:p>
            <a:pPr lvl="1"/>
            <a:r>
              <a:rPr lang="ru-RU" dirty="0"/>
              <a:t>В противном случае - освещена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9824" y="1825626"/>
            <a:ext cx="5667615" cy="354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модели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Shadow Volume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топологически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endParaRPr lang="en-US" dirty="0"/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endParaRPr lang="en-US" dirty="0"/>
          </a:p>
          <a:p>
            <a:pPr lvl="1"/>
            <a:r>
              <a:rPr lang="en-US" dirty="0" err="1"/>
              <a:t>Замкнутая</a:t>
            </a:r>
            <a:r>
              <a:rPr lang="en-US" dirty="0"/>
              <a:t> </a:t>
            </a:r>
            <a:r>
              <a:rPr lang="en-US" dirty="0" err="1"/>
              <a:t>поверхность</a:t>
            </a:r>
            <a:endParaRPr lang="en-US" dirty="0"/>
          </a:p>
          <a:p>
            <a:pPr lvl="2"/>
            <a:r>
              <a:rPr lang="en-US" dirty="0"/>
              <a:t>Модель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непрерывный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отверстий</a:t>
            </a:r>
            <a:endParaRPr lang="en-US" dirty="0"/>
          </a:p>
          <a:p>
            <a:pPr lvl="2"/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пропущенных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endParaRPr lang="en-US" dirty="0"/>
          </a:p>
          <a:p>
            <a:pPr lvl="2"/>
            <a:r>
              <a:rPr lang="en-US" dirty="0" err="1"/>
              <a:t>Любые</a:t>
            </a:r>
            <a:r>
              <a:rPr lang="en-US" dirty="0"/>
              <a:t> «</a:t>
            </a:r>
            <a:r>
              <a:rPr lang="en-US" dirty="0" err="1"/>
              <a:t>дыры</a:t>
            </a:r>
            <a:r>
              <a:rPr lang="en-US" dirty="0"/>
              <a:t>» в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приводят</a:t>
            </a:r>
            <a:r>
              <a:rPr lang="en-US" dirty="0"/>
              <a:t> к </a:t>
            </a:r>
            <a:r>
              <a:rPr lang="en-US" dirty="0" err="1"/>
              <a:t>ошибкам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тени</a:t>
            </a:r>
            <a:endParaRPr lang="en-US" dirty="0"/>
          </a:p>
          <a:p>
            <a:pPr lvl="1"/>
            <a:r>
              <a:rPr lang="en-US" dirty="0" err="1"/>
              <a:t>Корректная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рёбер</a:t>
            </a:r>
            <a:endParaRPr lang="en-US" dirty="0"/>
          </a:p>
          <a:p>
            <a:pPr lvl="2"/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ребро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граням</a:t>
            </a:r>
            <a:endParaRPr lang="en-US" dirty="0"/>
          </a:p>
          <a:p>
            <a:pPr lvl="2"/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 </a:t>
            </a:r>
            <a:r>
              <a:rPr lang="en-US" dirty="0" err="1"/>
              <a:t>однозначно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вход</a:t>
            </a:r>
            <a:r>
              <a:rPr lang="en-US" dirty="0"/>
              <a:t> в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выход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</a:p>
          <a:p>
            <a:r>
              <a:rPr lang="en-US" dirty="0" err="1"/>
              <a:t>Выпуклость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endParaRPr lang="en-US" dirty="0"/>
          </a:p>
          <a:p>
            <a:pPr lvl="1"/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с </a:t>
            </a:r>
            <a:r>
              <a:rPr lang="en-US" dirty="0" err="1"/>
              <a:t>выпуклыми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так</a:t>
            </a:r>
            <a:r>
              <a:rPr lang="en-US" dirty="0"/>
              <a:t> и с </a:t>
            </a:r>
            <a:r>
              <a:rPr lang="en-US" dirty="0" err="1"/>
              <a:t>невыпуклыми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endParaRPr lang="en-US" dirty="0"/>
          </a:p>
          <a:p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endParaRPr lang="en-US" dirty="0"/>
          </a:p>
          <a:p>
            <a:pPr lvl="1"/>
            <a:r>
              <a:rPr lang="en-US" dirty="0" err="1"/>
              <a:t>разрывы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неправильное</a:t>
            </a:r>
            <a:r>
              <a:rPr lang="en-US" dirty="0"/>
              <a:t> </a:t>
            </a:r>
            <a:r>
              <a:rPr lang="en-US" dirty="0" err="1"/>
              <a:t>заполнение</a:t>
            </a:r>
            <a:r>
              <a:rPr lang="en-US" dirty="0"/>
              <a:t> stencil buffer </a:t>
            </a:r>
          </a:p>
          <a:p>
            <a:pPr lvl="1"/>
            <a:r>
              <a:rPr lang="en-US" dirty="0" err="1"/>
              <a:t>мерцание</a:t>
            </a:r>
            <a:r>
              <a:rPr lang="en-US" dirty="0"/>
              <a:t> и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Shadow Volume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Stencil Shadow Volume </a:t>
            </a:r>
            <a:r>
              <a:rPr lang="en-US" dirty="0" err="1"/>
              <a:t>использует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теневые</a:t>
            </a:r>
            <a:r>
              <a:rPr lang="en-US" dirty="0"/>
              <a:t> </a:t>
            </a:r>
            <a:r>
              <a:rPr lang="en-US" dirty="0" err="1"/>
              <a:t>объёмы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stencil buffer </a:t>
            </a:r>
          </a:p>
          <a:p>
            <a:pPr lvl="1"/>
            <a:r>
              <a:rPr lang="en-US" dirty="0"/>
              <a:t>depth buffer 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областей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, </a:t>
            </a:r>
            <a:r>
              <a:rPr lang="en-US" dirty="0" err="1"/>
              <a:t>находящихся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endParaRPr lang="en-US" dirty="0"/>
          </a:p>
          <a:p>
            <a:pPr lvl="1"/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базовое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ru-RU" dirty="0"/>
              <a:t>.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depth buffer </a:t>
            </a:r>
          </a:p>
          <a:p>
            <a:pPr lvl="1"/>
            <a:r>
              <a:rPr lang="en-US" dirty="0" err="1"/>
              <a:t>Результат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тёмная</a:t>
            </a:r>
            <a:r>
              <a:rPr lang="en-US" dirty="0"/>
              <a:t>» </a:t>
            </a: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вкладов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маски</a:t>
            </a:r>
            <a:r>
              <a:rPr lang="en-US" dirty="0"/>
              <a:t> </a:t>
            </a:r>
            <a:r>
              <a:rPr lang="en-US" dirty="0" err="1"/>
              <a:t>теней</a:t>
            </a:r>
            <a:endParaRPr lang="en-US" dirty="0"/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ru-RU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ru-RU" dirty="0"/>
              <a:t>, </a:t>
            </a:r>
            <a:r>
              <a:rPr lang="en-US" dirty="0" err="1"/>
              <a:t>обновляется</a:t>
            </a:r>
            <a:r>
              <a:rPr lang="en-US" dirty="0"/>
              <a:t> stencil buffer</a:t>
            </a:r>
            <a:r>
              <a:rPr lang="ru-RU" dirty="0"/>
              <a:t>, </a:t>
            </a:r>
            <a:r>
              <a:rPr lang="en-US" dirty="0" err="1"/>
              <a:t>отмечаются</a:t>
            </a:r>
            <a:r>
              <a:rPr lang="en-US" dirty="0"/>
              <a:t> </a:t>
            </a:r>
            <a:r>
              <a:rPr lang="en-US" dirty="0" err="1"/>
              <a:t>пиксели</a:t>
            </a:r>
            <a:r>
              <a:rPr lang="en-US" dirty="0"/>
              <a:t>, </a:t>
            </a:r>
            <a:r>
              <a:rPr lang="en-US" dirty="0" err="1"/>
              <a:t>находящиеся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0 →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освещён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≠0 →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endParaRPr lang="en-US" dirty="0"/>
          </a:p>
          <a:p>
            <a:pPr lvl="1"/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ru-RU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stencil = 0</a:t>
            </a:r>
            <a:r>
              <a:rPr lang="ru-RU" dirty="0"/>
              <a:t>,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освещение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ru-RU" dirty="0"/>
              <a:t>,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аддитивный</a:t>
            </a:r>
            <a:r>
              <a:rPr lang="en-US" dirty="0"/>
              <a:t> blending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Depth-pass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Depth-Pass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Сцена рисуется с отключенными источниками света</a:t>
            </a:r>
          </a:p>
          <a:p>
            <a:pPr lvl="1"/>
            <a:r>
              <a:rPr lang="ru-RU" dirty="0"/>
              <a:t>Получаем затененную сцена, сформировано содержимое буфера глубины</a:t>
            </a:r>
          </a:p>
          <a:p>
            <a:r>
              <a:rPr lang="ru-RU" dirty="0"/>
              <a:t>Запрещается запись в буфер цвета и буфер глубины</a:t>
            </a:r>
          </a:p>
          <a:p>
            <a:r>
              <a:rPr lang="ru-RU" dirty="0"/>
              <a:t>Рисуются лицевые, увеличивая значение в буфере трафарета при прохождении теста глубины</a:t>
            </a:r>
          </a:p>
          <a:p>
            <a:r>
              <a:rPr lang="ru-RU" dirty="0"/>
              <a:t>Рисуются </a:t>
            </a:r>
            <a:r>
              <a:rPr lang="ru-RU" dirty="0" err="1"/>
              <a:t>нелицевые</a:t>
            </a:r>
            <a:r>
              <a:rPr lang="ru-RU" dirty="0"/>
              <a:t> грани теневого объема, уменьшая значение в буфере трафарета при прохождении теста глубины</a:t>
            </a:r>
          </a:p>
          <a:p>
            <a:r>
              <a:rPr lang="ru-RU" dirty="0"/>
              <a:t>Разрешается запись в буфер цвета и буфер глубины</a:t>
            </a:r>
          </a:p>
          <a:p>
            <a:r>
              <a:rPr lang="ru-RU" dirty="0"/>
              <a:t>Сцена рисуется со включенными источником света в тех местах, где значение буфера трафарета равно 0</a:t>
            </a:r>
          </a:p>
          <a:p>
            <a:pPr lvl="1"/>
            <a:r>
              <a:rPr lang="ru-RU" dirty="0"/>
              <a:t>Будут нарисованы только освещённые части сцены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Полилиния 225"/>
          <p:cNvSpPr/>
          <p:nvPr/>
        </p:nvSpPr>
        <p:spPr>
          <a:xfrm>
            <a:off x="4007769" y="3752202"/>
            <a:ext cx="2661139" cy="2227385"/>
          </a:xfrm>
          <a:custGeom>
            <a:avLst/>
            <a:gdLst>
              <a:gd name="connsiteX0" fmla="*/ 797169 w 2661139"/>
              <a:gd name="connsiteY0" fmla="*/ 152400 h 2227385"/>
              <a:gd name="connsiteX1" fmla="*/ 1981200 w 2661139"/>
              <a:gd name="connsiteY1" fmla="*/ 0 h 2227385"/>
              <a:gd name="connsiteX2" fmla="*/ 2661139 w 2661139"/>
              <a:gd name="connsiteY2" fmla="*/ 2227385 h 2227385"/>
              <a:gd name="connsiteX3" fmla="*/ 0 w 2661139"/>
              <a:gd name="connsiteY3" fmla="*/ 2215662 h 2227385"/>
              <a:gd name="connsiteX4" fmla="*/ 797169 w 2661139"/>
              <a:gd name="connsiteY4" fmla="*/ 152400 h 222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139" h="2227385">
                <a:moveTo>
                  <a:pt x="797169" y="152400"/>
                </a:moveTo>
                <a:lnTo>
                  <a:pt x="1981200" y="0"/>
                </a:lnTo>
                <a:lnTo>
                  <a:pt x="2661139" y="2227385"/>
                </a:lnTo>
                <a:lnTo>
                  <a:pt x="0" y="2215662"/>
                </a:lnTo>
                <a:lnTo>
                  <a:pt x="797169" y="1524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Заголовок 1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Depth-pass</a:t>
            </a:r>
            <a:r>
              <a:rPr lang="ru-RU" dirty="0"/>
              <a:t> алгоритм</a:t>
            </a:r>
          </a:p>
        </p:txBody>
      </p:sp>
      <p:grpSp>
        <p:nvGrpSpPr>
          <p:cNvPr id="142" name="Группа 63"/>
          <p:cNvGrpSpPr/>
          <p:nvPr/>
        </p:nvGrpSpPr>
        <p:grpSpPr>
          <a:xfrm>
            <a:off x="2423592" y="4797152"/>
            <a:ext cx="288032" cy="216024"/>
            <a:chOff x="1115616" y="3284984"/>
            <a:chExt cx="288032" cy="216024"/>
          </a:xfrm>
        </p:grpSpPr>
        <p:cxnSp>
          <p:nvCxnSpPr>
            <p:cNvPr id="143" name="Прямая соединительная линия 142"/>
            <p:cNvCxnSpPr/>
            <p:nvPr/>
          </p:nvCxnSpPr>
          <p:spPr>
            <a:xfrm flipV="1">
              <a:off x="1115616" y="3284984"/>
              <a:ext cx="288032" cy="72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/>
            <p:nvPr/>
          </p:nvCxnSpPr>
          <p:spPr>
            <a:xfrm>
              <a:off x="1115616" y="3356992"/>
              <a:ext cx="288032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Овал 144"/>
            <p:cNvSpPr/>
            <p:nvPr/>
          </p:nvSpPr>
          <p:spPr>
            <a:xfrm flipH="1">
              <a:off x="1311976" y="3314480"/>
              <a:ext cx="45719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45"/>
          <p:cNvGrpSpPr/>
          <p:nvPr/>
        </p:nvGrpSpPr>
        <p:grpSpPr>
          <a:xfrm rot="2991041">
            <a:off x="4973295" y="3528035"/>
            <a:ext cx="1080120" cy="955768"/>
            <a:chOff x="6084168" y="4077072"/>
            <a:chExt cx="1080120" cy="955768"/>
          </a:xfrm>
        </p:grpSpPr>
        <p:sp>
          <p:nvSpPr>
            <p:cNvPr id="147" name="Прямоугольник с одним вырезанным углом 146"/>
            <p:cNvSpPr/>
            <p:nvPr/>
          </p:nvSpPr>
          <p:spPr>
            <a:xfrm>
              <a:off x="6084168" y="4077072"/>
              <a:ext cx="1053805" cy="922079"/>
            </a:xfrm>
            <a:prstGeom prst="snip1Rect">
              <a:avLst>
                <a:gd name="adj" fmla="val 4879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8" name="Прямая соединительная линия 147"/>
            <p:cNvCxnSpPr/>
            <p:nvPr/>
          </p:nvCxnSpPr>
          <p:spPr>
            <a:xfrm rot="5400000" flipH="1" flipV="1">
              <a:off x="5616116" y="4545124"/>
              <a:ext cx="936104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Прямая соединительная линия 148"/>
            <p:cNvCxnSpPr/>
            <p:nvPr/>
          </p:nvCxnSpPr>
          <p:spPr>
            <a:xfrm rot="10800000">
              <a:off x="6084168" y="4077072"/>
              <a:ext cx="648072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Прямая соединительная линия 149"/>
            <p:cNvCxnSpPr/>
            <p:nvPr/>
          </p:nvCxnSpPr>
          <p:spPr>
            <a:xfrm rot="16200000" flipV="1">
              <a:off x="6715433" y="4100052"/>
              <a:ext cx="462117" cy="422788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/>
            <p:nvPr/>
          </p:nvCxnSpPr>
          <p:spPr>
            <a:xfrm rot="10800000" flipV="1">
              <a:off x="6084168" y="5013176"/>
              <a:ext cx="1080120" cy="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/>
            <p:nvPr/>
          </p:nvCxnSpPr>
          <p:spPr>
            <a:xfrm rot="5400000">
              <a:off x="6902428" y="4780812"/>
              <a:ext cx="504056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Прямая соединительная линия 155"/>
          <p:cNvCxnSpPr/>
          <p:nvPr/>
        </p:nvCxnSpPr>
        <p:spPr>
          <a:xfrm rot="16200000" flipH="1">
            <a:off x="3877444" y="3775348"/>
            <a:ext cx="465313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единительная линия 157"/>
          <p:cNvCxnSpPr/>
          <p:nvPr/>
        </p:nvCxnSpPr>
        <p:spPr>
          <a:xfrm rot="5400000">
            <a:off x="2099556" y="3681028"/>
            <a:ext cx="4824536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Прямая соединительная линия 160"/>
          <p:cNvCxnSpPr/>
          <p:nvPr/>
        </p:nvCxnSpPr>
        <p:spPr>
          <a:xfrm rot="5400000">
            <a:off x="3503712" y="4437112"/>
            <a:ext cx="1872208" cy="720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Овал 158"/>
          <p:cNvSpPr/>
          <p:nvPr/>
        </p:nvSpPr>
        <p:spPr>
          <a:xfrm>
            <a:off x="3719736" y="5589240"/>
            <a:ext cx="3240360" cy="64807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TextBox 161"/>
          <p:cNvSpPr txBox="1"/>
          <p:nvPr/>
        </p:nvSpPr>
        <p:spPr>
          <a:xfrm>
            <a:off x="6600056" y="1844824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лицевые стороны теневого объема, увеличивая значения в буфера трафарета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143672" y="450912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143672" y="52292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167" name="Прямая соединительная линия 166"/>
          <p:cNvCxnSpPr/>
          <p:nvPr/>
        </p:nvCxnSpPr>
        <p:spPr>
          <a:xfrm rot="5400000">
            <a:off x="2315580" y="490516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единительная линия 168"/>
          <p:cNvCxnSpPr>
            <a:stCxn id="145" idx="2"/>
          </p:cNvCxnSpPr>
          <p:nvPr/>
        </p:nvCxnSpPr>
        <p:spPr>
          <a:xfrm flipV="1">
            <a:off x="2665672" y="3212976"/>
            <a:ext cx="3502337" cy="1685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единительная линия 170"/>
          <p:cNvCxnSpPr>
            <a:stCxn id="145" idx="2"/>
          </p:cNvCxnSpPr>
          <p:nvPr/>
        </p:nvCxnSpPr>
        <p:spPr>
          <a:xfrm>
            <a:off x="2665672" y="4898656"/>
            <a:ext cx="4222417" cy="2346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Прямая соединительная линия 174"/>
          <p:cNvCxnSpPr>
            <a:stCxn id="145" idx="7"/>
          </p:cNvCxnSpPr>
          <p:nvPr/>
        </p:nvCxnSpPr>
        <p:spPr>
          <a:xfrm rot="16200000" flipH="1">
            <a:off x="2622421" y="4851966"/>
            <a:ext cx="2325677" cy="2317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143672" y="573325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15680" y="41490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181" name="Прямая соединительная линия 180"/>
          <p:cNvCxnSpPr/>
          <p:nvPr/>
        </p:nvCxnSpPr>
        <p:spPr>
          <a:xfrm rot="5400000">
            <a:off x="3307123" y="6421749"/>
            <a:ext cx="876250" cy="33905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10-конечная звезда 156"/>
          <p:cNvSpPr/>
          <p:nvPr/>
        </p:nvSpPr>
        <p:spPr>
          <a:xfrm>
            <a:off x="5159896" y="1916832"/>
            <a:ext cx="576064" cy="576064"/>
          </a:xfrm>
          <a:prstGeom prst="star10">
            <a:avLst>
              <a:gd name="adj" fmla="val 23758"/>
              <a:gd name="hf" fmla="val 10514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6" name="TextBox 185"/>
          <p:cNvSpPr txBox="1"/>
          <p:nvPr/>
        </p:nvSpPr>
        <p:spPr>
          <a:xfrm>
            <a:off x="6600056" y="2348880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</a:t>
            </a:r>
            <a:r>
              <a:rPr lang="ru-RU" sz="1400" dirty="0" err="1"/>
              <a:t>нелицевые</a:t>
            </a:r>
            <a:r>
              <a:rPr lang="ru-RU" sz="1400" dirty="0"/>
              <a:t> стороны теневого объема, уменьшая содержимое буфера трафарета</a:t>
            </a:r>
          </a:p>
        </p:txBody>
      </p:sp>
      <p:cxnSp>
        <p:nvCxnSpPr>
          <p:cNvPr id="187" name="Прямая соединительная линия 186"/>
          <p:cNvCxnSpPr/>
          <p:nvPr/>
        </p:nvCxnSpPr>
        <p:spPr>
          <a:xfrm rot="16200000" flipH="1">
            <a:off x="5629275" y="4067173"/>
            <a:ext cx="962029" cy="3143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>
            <a:stCxn id="145" idx="2"/>
          </p:cNvCxnSpPr>
          <p:nvPr/>
        </p:nvCxnSpPr>
        <p:spPr>
          <a:xfrm flipV="1">
            <a:off x="2665672" y="4653136"/>
            <a:ext cx="4078401" cy="245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Прямая соединительная линия 193"/>
          <p:cNvCxnSpPr/>
          <p:nvPr/>
        </p:nvCxnSpPr>
        <p:spPr>
          <a:xfrm rot="5400000">
            <a:off x="3781427" y="5829301"/>
            <a:ext cx="447675" cy="1809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Прямая соединительная линия 202"/>
          <p:cNvCxnSpPr/>
          <p:nvPr/>
        </p:nvCxnSpPr>
        <p:spPr>
          <a:xfrm>
            <a:off x="2711624" y="4941168"/>
            <a:ext cx="4104456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 rot="16200000" flipH="1">
            <a:off x="5919789" y="5024437"/>
            <a:ext cx="1019175" cy="3429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3143672" y="47971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213" name="Прямая соединительная линия 212"/>
          <p:cNvCxnSpPr/>
          <p:nvPr/>
        </p:nvCxnSpPr>
        <p:spPr>
          <a:xfrm rot="16200000" flipH="1">
            <a:off x="6076954" y="6191253"/>
            <a:ext cx="1523997" cy="5143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3120274" y="494116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600056" y="2852936"/>
            <a:ext cx="475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освещенные части сцены там, где </a:t>
            </a:r>
            <a:r>
              <a:rPr lang="en-US" sz="1400" dirty="0"/>
              <a:t>stencil=0</a:t>
            </a:r>
            <a:endParaRPr lang="ru-RU" sz="1400" dirty="0"/>
          </a:p>
        </p:txBody>
      </p:sp>
      <p:cxnSp>
        <p:nvCxnSpPr>
          <p:cNvPr id="220" name="Прямая соединительная линия 219"/>
          <p:cNvCxnSpPr/>
          <p:nvPr/>
        </p:nvCxnSpPr>
        <p:spPr>
          <a:xfrm flipV="1">
            <a:off x="4823519" y="3284984"/>
            <a:ext cx="709811" cy="58216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Дуга 222"/>
          <p:cNvSpPr/>
          <p:nvPr/>
        </p:nvSpPr>
        <p:spPr>
          <a:xfrm>
            <a:off x="3719736" y="5589240"/>
            <a:ext cx="3240360" cy="648072"/>
          </a:xfrm>
          <a:prstGeom prst="arc">
            <a:avLst>
              <a:gd name="adj1" fmla="val 10678398"/>
              <a:gd name="adj2" fmla="val 11329168"/>
            </a:avLst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3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3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162" grpId="0"/>
      <p:bldP spid="163" grpId="0"/>
      <p:bldP spid="164" grpId="0"/>
      <p:bldP spid="176" grpId="0"/>
      <p:bldP spid="186" grpId="0"/>
      <p:bldP spid="212" grpId="0"/>
      <p:bldP spid="216" grpId="0"/>
      <p:bldP spid="217" grpId="0"/>
      <p:bldP spid="2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олилиния 66"/>
          <p:cNvSpPr/>
          <p:nvPr/>
        </p:nvSpPr>
        <p:spPr>
          <a:xfrm>
            <a:off x="8158177" y="3722706"/>
            <a:ext cx="2661139" cy="2227385"/>
          </a:xfrm>
          <a:custGeom>
            <a:avLst/>
            <a:gdLst>
              <a:gd name="connsiteX0" fmla="*/ 797169 w 2661139"/>
              <a:gd name="connsiteY0" fmla="*/ 152400 h 2227385"/>
              <a:gd name="connsiteX1" fmla="*/ 1981200 w 2661139"/>
              <a:gd name="connsiteY1" fmla="*/ 0 h 2227385"/>
              <a:gd name="connsiteX2" fmla="*/ 2661139 w 2661139"/>
              <a:gd name="connsiteY2" fmla="*/ 2227385 h 2227385"/>
              <a:gd name="connsiteX3" fmla="*/ 0 w 2661139"/>
              <a:gd name="connsiteY3" fmla="*/ 2215662 h 2227385"/>
              <a:gd name="connsiteX4" fmla="*/ 797169 w 2661139"/>
              <a:gd name="connsiteY4" fmla="*/ 152400 h 222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139" h="2227385">
                <a:moveTo>
                  <a:pt x="797169" y="152400"/>
                </a:moveTo>
                <a:lnTo>
                  <a:pt x="1981200" y="0"/>
                </a:lnTo>
                <a:lnTo>
                  <a:pt x="2661139" y="2227385"/>
                </a:lnTo>
                <a:lnTo>
                  <a:pt x="0" y="2215662"/>
                </a:lnTo>
                <a:lnTo>
                  <a:pt x="797169" y="1524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5" name="Группа 45"/>
          <p:cNvGrpSpPr/>
          <p:nvPr/>
        </p:nvGrpSpPr>
        <p:grpSpPr>
          <a:xfrm rot="2991041">
            <a:off x="9123703" y="3498539"/>
            <a:ext cx="1080120" cy="955768"/>
            <a:chOff x="6084168" y="4077072"/>
            <a:chExt cx="1080120" cy="955768"/>
          </a:xfrm>
        </p:grpSpPr>
        <p:sp>
          <p:nvSpPr>
            <p:cNvPr id="56" name="Прямоугольник с одним вырезанным углом 55"/>
            <p:cNvSpPr/>
            <p:nvPr/>
          </p:nvSpPr>
          <p:spPr>
            <a:xfrm>
              <a:off x="6084168" y="4077072"/>
              <a:ext cx="1053805" cy="922079"/>
            </a:xfrm>
            <a:prstGeom prst="snip1Rect">
              <a:avLst>
                <a:gd name="adj" fmla="val 4879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7" name="Прямая соединительная линия 56"/>
            <p:cNvCxnSpPr/>
            <p:nvPr/>
          </p:nvCxnSpPr>
          <p:spPr>
            <a:xfrm rot="5400000" flipH="1" flipV="1">
              <a:off x="5616116" y="4545124"/>
              <a:ext cx="936104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/>
          </p:nvCxnSpPr>
          <p:spPr>
            <a:xfrm rot="10800000">
              <a:off x="6084168" y="4077072"/>
              <a:ext cx="648072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/>
          </p:nvCxnSpPr>
          <p:spPr>
            <a:xfrm rot="16200000" flipV="1">
              <a:off x="6715433" y="4100052"/>
              <a:ext cx="462117" cy="422788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 rot="10800000" flipV="1">
              <a:off x="6084168" y="5013176"/>
              <a:ext cx="1080120" cy="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/>
          </p:nvCxnSpPr>
          <p:spPr>
            <a:xfrm rot="5400000">
              <a:off x="6902428" y="4780812"/>
              <a:ext cx="504056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Заголовок 14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 </a:t>
            </a:r>
            <a:r>
              <a:rPr lang="en-US" dirty="0"/>
              <a:t>Depth-pass</a:t>
            </a:r>
            <a:r>
              <a:rPr lang="ru-RU" dirty="0"/>
              <a:t> алгоритма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A6AFD-A0C9-6800-89BD-D4BF19A91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2833" cy="4351338"/>
          </a:xfrm>
        </p:spPr>
        <p:txBody>
          <a:bodyPr/>
          <a:lstStyle/>
          <a:p>
            <a:r>
              <a:rPr lang="ru-RU" dirty="0"/>
              <a:t>Если наблюдатель находится внутри теневого объема, сцена не будет нарисована корректно </a:t>
            </a:r>
          </a:p>
          <a:p>
            <a:pPr lvl="1"/>
            <a:r>
              <a:rPr lang="ru-RU" dirty="0"/>
              <a:t>Затененные участки сцены будут нарисованы без теней</a:t>
            </a:r>
          </a:p>
          <a:p>
            <a:pPr lvl="1"/>
            <a:r>
              <a:rPr lang="ru-RU" dirty="0"/>
              <a:t>Лицевые грани теневого объема были отсечены ближней плоскостью отсечения</a:t>
            </a:r>
          </a:p>
          <a:p>
            <a:endParaRPr lang="en-US" dirty="0"/>
          </a:p>
        </p:txBody>
      </p:sp>
      <p:grpSp>
        <p:nvGrpSpPr>
          <p:cNvPr id="2" name="Группа 63"/>
          <p:cNvGrpSpPr/>
          <p:nvPr/>
        </p:nvGrpSpPr>
        <p:grpSpPr>
          <a:xfrm>
            <a:off x="8662232" y="5055688"/>
            <a:ext cx="288032" cy="216024"/>
            <a:chOff x="1115616" y="3284984"/>
            <a:chExt cx="288032" cy="216024"/>
          </a:xfrm>
        </p:grpSpPr>
        <p:cxnSp>
          <p:nvCxnSpPr>
            <p:cNvPr id="143" name="Прямая соединительная линия 142"/>
            <p:cNvCxnSpPr/>
            <p:nvPr/>
          </p:nvCxnSpPr>
          <p:spPr>
            <a:xfrm flipV="1">
              <a:off x="1115616" y="3284984"/>
              <a:ext cx="288032" cy="72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/>
            <p:nvPr/>
          </p:nvCxnSpPr>
          <p:spPr>
            <a:xfrm>
              <a:off x="1115616" y="3356992"/>
              <a:ext cx="288032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Овал 144"/>
            <p:cNvSpPr/>
            <p:nvPr/>
          </p:nvSpPr>
          <p:spPr>
            <a:xfrm flipH="1">
              <a:off x="1311976" y="3314480"/>
              <a:ext cx="45719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56" name="Прямая соединительная линия 155"/>
          <p:cNvCxnSpPr/>
          <p:nvPr/>
        </p:nvCxnSpPr>
        <p:spPr>
          <a:xfrm rot="16200000" flipH="1">
            <a:off x="8027852" y="3745852"/>
            <a:ext cx="465313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единительная линия 157"/>
          <p:cNvCxnSpPr/>
          <p:nvPr/>
        </p:nvCxnSpPr>
        <p:spPr>
          <a:xfrm rot="5400000">
            <a:off x="6249964" y="3651532"/>
            <a:ext cx="4824536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Прямая соединительная линия 160"/>
          <p:cNvCxnSpPr/>
          <p:nvPr/>
        </p:nvCxnSpPr>
        <p:spPr>
          <a:xfrm rot="5400000">
            <a:off x="6754020" y="4803660"/>
            <a:ext cx="3168352" cy="12241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Овал 158"/>
          <p:cNvSpPr/>
          <p:nvPr/>
        </p:nvSpPr>
        <p:spPr>
          <a:xfrm>
            <a:off x="7870144" y="5559744"/>
            <a:ext cx="3240360" cy="64807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7" name="Прямая соединительная линия 166"/>
          <p:cNvCxnSpPr/>
          <p:nvPr/>
        </p:nvCxnSpPr>
        <p:spPr>
          <a:xfrm rot="5400000">
            <a:off x="8554220" y="516370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10-конечная звезда 156"/>
          <p:cNvSpPr/>
          <p:nvPr/>
        </p:nvSpPr>
        <p:spPr>
          <a:xfrm>
            <a:off x="9310304" y="1887336"/>
            <a:ext cx="576064" cy="576064"/>
          </a:xfrm>
          <a:prstGeom prst="star10">
            <a:avLst>
              <a:gd name="adj" fmla="val 23758"/>
              <a:gd name="hf" fmla="val 10514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7" name="Прямая соединительная линия 186"/>
          <p:cNvCxnSpPr/>
          <p:nvPr/>
        </p:nvCxnSpPr>
        <p:spPr>
          <a:xfrm rot="16200000" flipH="1">
            <a:off x="9918893" y="3898466"/>
            <a:ext cx="547326" cy="178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 rot="16200000" flipH="1">
            <a:off x="9808996" y="4733738"/>
            <a:ext cx="1414825" cy="469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единительная линия 212"/>
          <p:cNvCxnSpPr/>
          <p:nvPr/>
        </p:nvCxnSpPr>
        <p:spPr>
          <a:xfrm rot="16200000" flipH="1">
            <a:off x="10227362" y="6161757"/>
            <a:ext cx="1523997" cy="5143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145" idx="2"/>
          </p:cNvCxnSpPr>
          <p:nvPr/>
        </p:nvCxnSpPr>
        <p:spPr>
          <a:xfrm flipV="1">
            <a:off x="8904312" y="3471512"/>
            <a:ext cx="2566233" cy="1685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145" idx="2"/>
          </p:cNvCxnSpPr>
          <p:nvPr/>
        </p:nvCxnSpPr>
        <p:spPr>
          <a:xfrm>
            <a:off x="8904312" y="5157192"/>
            <a:ext cx="2926273" cy="83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82312" y="48396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0644" y="447033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2312" y="527171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2" name="Дуга 61"/>
          <p:cNvSpPr/>
          <p:nvPr/>
        </p:nvSpPr>
        <p:spPr>
          <a:xfrm>
            <a:off x="7870144" y="5559744"/>
            <a:ext cx="3240360" cy="648072"/>
          </a:xfrm>
          <a:prstGeom prst="arc">
            <a:avLst>
              <a:gd name="adj1" fmla="val 15932398"/>
              <a:gd name="adj2" fmla="val 20979991"/>
            </a:avLst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 rot="16200000" flipH="1">
            <a:off x="9402348" y="4448719"/>
            <a:ext cx="269635" cy="22274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Умножение 67"/>
          <p:cNvSpPr/>
          <p:nvPr/>
        </p:nvSpPr>
        <p:spPr>
          <a:xfrm>
            <a:off x="9742352" y="5271712"/>
            <a:ext cx="648072" cy="648072"/>
          </a:xfrm>
          <a:prstGeom prst="mathMultiply">
            <a:avLst>
              <a:gd name="adj1" fmla="val 1085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Умножение 68"/>
          <p:cNvSpPr/>
          <p:nvPr/>
        </p:nvSpPr>
        <p:spPr>
          <a:xfrm rot="1692741">
            <a:off x="9238296" y="4191592"/>
            <a:ext cx="648072" cy="648072"/>
          </a:xfrm>
          <a:prstGeom prst="mathMultiply">
            <a:avLst>
              <a:gd name="adj1" fmla="val 1085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8" grpId="0" animBg="1"/>
      <p:bldP spid="6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Depth-fail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en-US" dirty="0"/>
              <a:t>Depth Fail</a:t>
            </a:r>
            <a:r>
              <a:rPr lang="ru-RU" dirty="0"/>
              <a:t> (алгоритм </a:t>
            </a:r>
            <a:r>
              <a:rPr lang="ru-RU" dirty="0" err="1"/>
              <a:t>Кармака</a:t>
            </a:r>
            <a:r>
              <a:rPr lang="ru-RU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Подсчёт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граней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НЕ </a:t>
            </a:r>
            <a:r>
              <a:rPr lang="en-US" dirty="0" err="1"/>
              <a:t>проходят</a:t>
            </a:r>
            <a:r>
              <a:rPr lang="en-US" dirty="0"/>
              <a:t> depth test</a:t>
            </a:r>
          </a:p>
          <a:p>
            <a:r>
              <a:rPr lang="en-US" b="1" dirty="0" err="1"/>
              <a:t>Основные</a:t>
            </a:r>
            <a:r>
              <a:rPr lang="en-US" b="1" dirty="0"/>
              <a:t> </a:t>
            </a:r>
            <a:r>
              <a:rPr lang="en-US" b="1" dirty="0" err="1"/>
              <a:t>этапы</a:t>
            </a:r>
            <a:endParaRPr lang="en-US" b="1" dirty="0"/>
          </a:p>
          <a:p>
            <a:pPr lvl="1"/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endParaRPr lang="en-US" dirty="0"/>
          </a:p>
          <a:p>
            <a:pPr lvl="1"/>
            <a:r>
              <a:rPr lang="en-US" dirty="0" err="1"/>
              <a:t>Отключается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color и depth buffer </a:t>
            </a:r>
          </a:p>
          <a:p>
            <a:pPr lvl="1"/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endParaRPr lang="ru-RU" dirty="0"/>
          </a:p>
          <a:p>
            <a:pPr lvl="1"/>
            <a:r>
              <a:rPr lang="ru-RU" dirty="0"/>
              <a:t>При непрохождении теста глубины</a:t>
            </a:r>
          </a:p>
          <a:p>
            <a:pPr lvl="2"/>
            <a:r>
              <a:rPr lang="ru-RU" dirty="0"/>
              <a:t>Увеличиваем значения для </a:t>
            </a:r>
            <a:r>
              <a:rPr lang="ru-RU" dirty="0" err="1"/>
              <a:t>нелицевых</a:t>
            </a:r>
            <a:r>
              <a:rPr lang="ru-RU" dirty="0"/>
              <a:t> граней</a:t>
            </a:r>
          </a:p>
          <a:p>
            <a:pPr lvl="2"/>
            <a:r>
              <a:rPr lang="ru-RU" dirty="0"/>
              <a:t>Уменьшаем значения для лицевых граней</a:t>
            </a:r>
            <a:endParaRPr lang="en-US" dirty="0"/>
          </a:p>
          <a:p>
            <a:pPr lvl="1"/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с </a:t>
            </a:r>
            <a:r>
              <a:rPr lang="en-US" dirty="0" err="1"/>
              <a:t>освещением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stencil = 0 </a:t>
            </a:r>
          </a:p>
          <a:p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камера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endParaRPr lang="en-US" dirty="0"/>
          </a:p>
          <a:p>
            <a:r>
              <a:rPr lang="en-US" dirty="0" err="1"/>
              <a:t>Теневой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замкнут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Требования к </a:t>
            </a:r>
            <a:r>
              <a:rPr lang="en-US" dirty="0"/>
              <a:t>Depth-Fail</a:t>
            </a:r>
            <a:r>
              <a:rPr lang="ru-RU" dirty="0"/>
              <a:t>-алгоритму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Теневой объем должен быть замкнутым</a:t>
            </a:r>
          </a:p>
          <a:p>
            <a:pPr lvl="1"/>
            <a:r>
              <a:rPr lang="ru-RU" dirty="0"/>
              <a:t>Должны быть нарисованы дополнительные грани, задающие «верх» и «низ» теневого объема</a:t>
            </a:r>
          </a:p>
          <a:p>
            <a:r>
              <a:rPr lang="ru-RU" dirty="0"/>
              <a:t>Данный подход требует рисования большего количества полигонов, нежели </a:t>
            </a:r>
            <a:r>
              <a:rPr lang="en-US" dirty="0"/>
              <a:t>Depth-pass</a:t>
            </a:r>
          </a:p>
          <a:p>
            <a:pPr lvl="1"/>
            <a:r>
              <a:rPr lang="ru-RU" dirty="0"/>
              <a:t>Можно применять только в тех случаях, когда </a:t>
            </a:r>
            <a:r>
              <a:rPr lang="en-US" dirty="0"/>
              <a:t>Depth-pass</a:t>
            </a:r>
            <a:r>
              <a:rPr lang="ru-RU" dirty="0"/>
              <a:t> алгоритм не справляется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Полилиния 225"/>
          <p:cNvSpPr/>
          <p:nvPr/>
        </p:nvSpPr>
        <p:spPr>
          <a:xfrm>
            <a:off x="4007769" y="3752202"/>
            <a:ext cx="2661139" cy="2227385"/>
          </a:xfrm>
          <a:custGeom>
            <a:avLst/>
            <a:gdLst>
              <a:gd name="connsiteX0" fmla="*/ 797169 w 2661139"/>
              <a:gd name="connsiteY0" fmla="*/ 152400 h 2227385"/>
              <a:gd name="connsiteX1" fmla="*/ 1981200 w 2661139"/>
              <a:gd name="connsiteY1" fmla="*/ 0 h 2227385"/>
              <a:gd name="connsiteX2" fmla="*/ 2661139 w 2661139"/>
              <a:gd name="connsiteY2" fmla="*/ 2227385 h 2227385"/>
              <a:gd name="connsiteX3" fmla="*/ 0 w 2661139"/>
              <a:gd name="connsiteY3" fmla="*/ 2215662 h 2227385"/>
              <a:gd name="connsiteX4" fmla="*/ 797169 w 2661139"/>
              <a:gd name="connsiteY4" fmla="*/ 152400 h 222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139" h="2227385">
                <a:moveTo>
                  <a:pt x="797169" y="152400"/>
                </a:moveTo>
                <a:lnTo>
                  <a:pt x="1981200" y="0"/>
                </a:lnTo>
                <a:lnTo>
                  <a:pt x="2661139" y="2227385"/>
                </a:lnTo>
                <a:lnTo>
                  <a:pt x="0" y="2215662"/>
                </a:lnTo>
                <a:lnTo>
                  <a:pt x="797169" y="1524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Заголовок 1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Depth-fail</a:t>
            </a:r>
            <a:r>
              <a:rPr lang="ru-RU" dirty="0"/>
              <a:t> алгоритм</a:t>
            </a:r>
          </a:p>
        </p:txBody>
      </p:sp>
      <p:grpSp>
        <p:nvGrpSpPr>
          <p:cNvPr id="2" name="Группа 63"/>
          <p:cNvGrpSpPr/>
          <p:nvPr/>
        </p:nvGrpSpPr>
        <p:grpSpPr>
          <a:xfrm>
            <a:off x="2423592" y="4437112"/>
            <a:ext cx="288032" cy="216024"/>
            <a:chOff x="1115616" y="3284984"/>
            <a:chExt cx="288032" cy="216024"/>
          </a:xfrm>
        </p:grpSpPr>
        <p:cxnSp>
          <p:nvCxnSpPr>
            <p:cNvPr id="143" name="Прямая соединительная линия 142"/>
            <p:cNvCxnSpPr/>
            <p:nvPr/>
          </p:nvCxnSpPr>
          <p:spPr>
            <a:xfrm flipV="1">
              <a:off x="1115616" y="3284984"/>
              <a:ext cx="288032" cy="72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/>
            <p:nvPr/>
          </p:nvCxnSpPr>
          <p:spPr>
            <a:xfrm>
              <a:off x="1115616" y="3356992"/>
              <a:ext cx="288032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Овал 144"/>
            <p:cNvSpPr/>
            <p:nvPr/>
          </p:nvSpPr>
          <p:spPr>
            <a:xfrm flipH="1">
              <a:off x="1311976" y="3314480"/>
              <a:ext cx="45719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45"/>
          <p:cNvGrpSpPr/>
          <p:nvPr/>
        </p:nvGrpSpPr>
        <p:grpSpPr>
          <a:xfrm rot="2991041">
            <a:off x="4973295" y="3528035"/>
            <a:ext cx="1080120" cy="955768"/>
            <a:chOff x="6084168" y="4077072"/>
            <a:chExt cx="1080120" cy="955768"/>
          </a:xfrm>
        </p:grpSpPr>
        <p:sp>
          <p:nvSpPr>
            <p:cNvPr id="147" name="Прямоугольник с одним вырезанным углом 146"/>
            <p:cNvSpPr/>
            <p:nvPr/>
          </p:nvSpPr>
          <p:spPr>
            <a:xfrm>
              <a:off x="6084168" y="4077072"/>
              <a:ext cx="1053805" cy="922079"/>
            </a:xfrm>
            <a:prstGeom prst="snip1Rect">
              <a:avLst>
                <a:gd name="adj" fmla="val 4879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8" name="Прямая соединительная линия 147"/>
            <p:cNvCxnSpPr/>
            <p:nvPr/>
          </p:nvCxnSpPr>
          <p:spPr>
            <a:xfrm rot="5400000" flipH="1" flipV="1">
              <a:off x="5616116" y="4545124"/>
              <a:ext cx="936104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Прямая соединительная линия 148"/>
            <p:cNvCxnSpPr/>
            <p:nvPr/>
          </p:nvCxnSpPr>
          <p:spPr>
            <a:xfrm rot="10800000">
              <a:off x="6084168" y="4077072"/>
              <a:ext cx="648072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Прямая соединительная линия 149"/>
            <p:cNvCxnSpPr/>
            <p:nvPr/>
          </p:nvCxnSpPr>
          <p:spPr>
            <a:xfrm rot="16200000" flipV="1">
              <a:off x="6715433" y="4100052"/>
              <a:ext cx="462117" cy="422788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/>
            <p:nvPr/>
          </p:nvCxnSpPr>
          <p:spPr>
            <a:xfrm rot="10800000" flipV="1">
              <a:off x="6084168" y="5013176"/>
              <a:ext cx="1080120" cy="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/>
            <p:nvPr/>
          </p:nvCxnSpPr>
          <p:spPr>
            <a:xfrm rot="5400000">
              <a:off x="6902428" y="4780812"/>
              <a:ext cx="504056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Прямая соединительная линия 155"/>
          <p:cNvCxnSpPr/>
          <p:nvPr/>
        </p:nvCxnSpPr>
        <p:spPr>
          <a:xfrm rot="16200000" flipH="1">
            <a:off x="3877444" y="3775348"/>
            <a:ext cx="465313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единительная линия 157"/>
          <p:cNvCxnSpPr/>
          <p:nvPr/>
        </p:nvCxnSpPr>
        <p:spPr>
          <a:xfrm rot="5400000">
            <a:off x="2099556" y="3681028"/>
            <a:ext cx="4824536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Овал 158"/>
          <p:cNvSpPr/>
          <p:nvPr/>
        </p:nvSpPr>
        <p:spPr>
          <a:xfrm>
            <a:off x="3719736" y="5589240"/>
            <a:ext cx="3240360" cy="64807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TextBox 161"/>
          <p:cNvSpPr txBox="1"/>
          <p:nvPr/>
        </p:nvSpPr>
        <p:spPr>
          <a:xfrm>
            <a:off x="6600056" y="1844824"/>
            <a:ext cx="4067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</a:t>
            </a:r>
            <a:r>
              <a:rPr lang="ru-RU" sz="1400" dirty="0" err="1"/>
              <a:t>нелицевые</a:t>
            </a:r>
            <a:r>
              <a:rPr lang="ru-RU" sz="1400" dirty="0"/>
              <a:t> стороны теневого объема, инкрементируя содержимое буфера трафарета, где тест глубины не проходит</a:t>
            </a:r>
          </a:p>
        </p:txBody>
      </p:sp>
      <p:cxnSp>
        <p:nvCxnSpPr>
          <p:cNvPr id="167" name="Прямая соединительная линия 166"/>
          <p:cNvCxnSpPr/>
          <p:nvPr/>
        </p:nvCxnSpPr>
        <p:spPr>
          <a:xfrm rot="5400000">
            <a:off x="2315580" y="490516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10-конечная звезда 156"/>
          <p:cNvSpPr/>
          <p:nvPr/>
        </p:nvSpPr>
        <p:spPr>
          <a:xfrm>
            <a:off x="5159896" y="1916832"/>
            <a:ext cx="576064" cy="576064"/>
          </a:xfrm>
          <a:prstGeom prst="star10">
            <a:avLst>
              <a:gd name="adj" fmla="val 23758"/>
              <a:gd name="hf" fmla="val 10514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6" name="TextBox 185"/>
          <p:cNvSpPr txBox="1"/>
          <p:nvPr/>
        </p:nvSpPr>
        <p:spPr>
          <a:xfrm>
            <a:off x="6600056" y="2708920"/>
            <a:ext cx="4067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лицевые стороны теневого объема, декрементируя содержимое буфера трафарета, где тест глубины не проходит</a:t>
            </a:r>
          </a:p>
        </p:txBody>
      </p:sp>
      <p:cxnSp>
        <p:nvCxnSpPr>
          <p:cNvPr id="187" name="Прямая соединительная линия 186"/>
          <p:cNvCxnSpPr/>
          <p:nvPr/>
        </p:nvCxnSpPr>
        <p:spPr>
          <a:xfrm rot="16200000" flipH="1">
            <a:off x="5494458" y="3325692"/>
            <a:ext cx="488708" cy="4095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 rot="16200000" flipH="1">
            <a:off x="5987976" y="5121201"/>
            <a:ext cx="927376" cy="27927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единительная линия 212"/>
          <p:cNvCxnSpPr/>
          <p:nvPr/>
        </p:nvCxnSpPr>
        <p:spPr>
          <a:xfrm rot="16200000" flipH="1">
            <a:off x="5600702" y="4086225"/>
            <a:ext cx="1023939" cy="3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600056" y="3501008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Рисуем освещенные части сцены там, где </a:t>
            </a:r>
            <a:r>
              <a:rPr lang="en-US" sz="1400" dirty="0"/>
              <a:t>stencil=0</a:t>
            </a:r>
            <a:endParaRPr lang="ru-RU" sz="1400" dirty="0"/>
          </a:p>
        </p:txBody>
      </p:sp>
      <p:cxnSp>
        <p:nvCxnSpPr>
          <p:cNvPr id="43" name="Прямая соединительная линия 42"/>
          <p:cNvCxnSpPr>
            <a:stCxn id="145" idx="2"/>
          </p:cNvCxnSpPr>
          <p:nvPr/>
        </p:nvCxnSpPr>
        <p:spPr>
          <a:xfrm flipV="1">
            <a:off x="2665672" y="2996952"/>
            <a:ext cx="3430329" cy="1541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45" idx="2"/>
          </p:cNvCxnSpPr>
          <p:nvPr/>
        </p:nvCxnSpPr>
        <p:spPr>
          <a:xfrm>
            <a:off x="2665672" y="4538616"/>
            <a:ext cx="3862377" cy="258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43672" y="385175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0274" y="428380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43672" y="443711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71" name="Прямая соединительная линия 70"/>
          <p:cNvCxnSpPr>
            <a:stCxn id="145" idx="2"/>
          </p:cNvCxnSpPr>
          <p:nvPr/>
        </p:nvCxnSpPr>
        <p:spPr>
          <a:xfrm>
            <a:off x="2665672" y="4538616"/>
            <a:ext cx="4438441" cy="133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/>
        </p:nvCxnSpPr>
        <p:spPr>
          <a:xfrm rot="16200000" flipH="1">
            <a:off x="6312024" y="6021288"/>
            <a:ext cx="864096" cy="2880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>
            <a:stCxn id="145" idx="2"/>
          </p:cNvCxnSpPr>
          <p:nvPr/>
        </p:nvCxnSpPr>
        <p:spPr>
          <a:xfrm>
            <a:off x="2665672" y="4538616"/>
            <a:ext cx="1846153" cy="2490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120274" y="464384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43672" y="53639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cxnSp>
        <p:nvCxnSpPr>
          <p:cNvPr id="83" name="Прямая соединительная линия 82"/>
          <p:cNvCxnSpPr>
            <a:stCxn id="145" idx="2"/>
          </p:cNvCxnSpPr>
          <p:nvPr/>
        </p:nvCxnSpPr>
        <p:spPr>
          <a:xfrm flipV="1">
            <a:off x="2665672" y="3429000"/>
            <a:ext cx="3574345" cy="1109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/>
          <p:nvPr/>
        </p:nvCxnSpPr>
        <p:spPr>
          <a:xfrm rot="10800000" flipV="1">
            <a:off x="4810127" y="3284984"/>
            <a:ext cx="709811" cy="6107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410036" y="400506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92" name="Прямая соединительная линия 91"/>
          <p:cNvCxnSpPr/>
          <p:nvPr/>
        </p:nvCxnSpPr>
        <p:spPr>
          <a:xfrm rot="10800000">
            <a:off x="4223792" y="6597352"/>
            <a:ext cx="26642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/>
          <p:nvPr/>
        </p:nvCxnSpPr>
        <p:spPr>
          <a:xfrm>
            <a:off x="3719736" y="6597352"/>
            <a:ext cx="50405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 rot="5400000">
            <a:off x="3503712" y="4437112"/>
            <a:ext cx="1872208" cy="720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>
            <a:stCxn id="145" idx="2"/>
          </p:cNvCxnSpPr>
          <p:nvPr/>
        </p:nvCxnSpPr>
        <p:spPr>
          <a:xfrm>
            <a:off x="2665672" y="4538616"/>
            <a:ext cx="2278201" cy="1914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/>
          <p:cNvCxnSpPr/>
          <p:nvPr/>
        </p:nvCxnSpPr>
        <p:spPr>
          <a:xfrm rot="5400000">
            <a:off x="3751793" y="5873525"/>
            <a:ext cx="468252" cy="1877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143672" y="50131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cxnSp>
        <p:nvCxnSpPr>
          <p:cNvPr id="111" name="Прямая соединительная линия 110"/>
          <p:cNvCxnSpPr/>
          <p:nvPr/>
        </p:nvCxnSpPr>
        <p:spPr>
          <a:xfrm rot="5400000">
            <a:off x="3609442" y="6312974"/>
            <a:ext cx="394672" cy="17408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/>
          <p:nvPr/>
        </p:nvCxnSpPr>
        <p:spPr>
          <a:xfrm flipV="1">
            <a:off x="4823519" y="3284984"/>
            <a:ext cx="709811" cy="58216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Дуга 116"/>
          <p:cNvSpPr/>
          <p:nvPr/>
        </p:nvSpPr>
        <p:spPr>
          <a:xfrm>
            <a:off x="3719736" y="5589240"/>
            <a:ext cx="3240360" cy="648072"/>
          </a:xfrm>
          <a:prstGeom prst="arc">
            <a:avLst>
              <a:gd name="adj1" fmla="val 10678398"/>
              <a:gd name="adj2" fmla="val 11329168"/>
            </a:avLst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3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3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3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3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162" grpId="0"/>
      <p:bldP spid="186" grpId="0"/>
      <p:bldP spid="217" grpId="0"/>
      <p:bldP spid="68" grpId="0"/>
      <p:bldP spid="70" grpId="0"/>
      <p:bldP spid="81" grpId="0"/>
      <p:bldP spid="82" grpId="0"/>
      <p:bldP spid="90" grpId="0"/>
      <p:bldP spid="110" grpId="0"/>
      <p:bldP spid="1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Полилиния 225"/>
          <p:cNvSpPr/>
          <p:nvPr/>
        </p:nvSpPr>
        <p:spPr>
          <a:xfrm>
            <a:off x="4007769" y="3752202"/>
            <a:ext cx="2661139" cy="2227385"/>
          </a:xfrm>
          <a:custGeom>
            <a:avLst/>
            <a:gdLst>
              <a:gd name="connsiteX0" fmla="*/ 797169 w 2661139"/>
              <a:gd name="connsiteY0" fmla="*/ 152400 h 2227385"/>
              <a:gd name="connsiteX1" fmla="*/ 1981200 w 2661139"/>
              <a:gd name="connsiteY1" fmla="*/ 0 h 2227385"/>
              <a:gd name="connsiteX2" fmla="*/ 2661139 w 2661139"/>
              <a:gd name="connsiteY2" fmla="*/ 2227385 h 2227385"/>
              <a:gd name="connsiteX3" fmla="*/ 0 w 2661139"/>
              <a:gd name="connsiteY3" fmla="*/ 2215662 h 2227385"/>
              <a:gd name="connsiteX4" fmla="*/ 797169 w 2661139"/>
              <a:gd name="connsiteY4" fmla="*/ 152400 h 222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1139" h="2227385">
                <a:moveTo>
                  <a:pt x="797169" y="152400"/>
                </a:moveTo>
                <a:lnTo>
                  <a:pt x="1981200" y="0"/>
                </a:lnTo>
                <a:lnTo>
                  <a:pt x="2661139" y="2227385"/>
                </a:lnTo>
                <a:lnTo>
                  <a:pt x="0" y="2215662"/>
                </a:lnTo>
                <a:lnTo>
                  <a:pt x="797169" y="1524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Заголовок 1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Depth-fail</a:t>
            </a:r>
            <a:r>
              <a:rPr lang="ru-RU" dirty="0"/>
              <a:t> алгоритм</a:t>
            </a:r>
          </a:p>
        </p:txBody>
      </p:sp>
      <p:grpSp>
        <p:nvGrpSpPr>
          <p:cNvPr id="2" name="Группа 63"/>
          <p:cNvGrpSpPr/>
          <p:nvPr/>
        </p:nvGrpSpPr>
        <p:grpSpPr>
          <a:xfrm>
            <a:off x="4583832" y="4869160"/>
            <a:ext cx="288032" cy="216024"/>
            <a:chOff x="1115616" y="3284984"/>
            <a:chExt cx="288032" cy="216024"/>
          </a:xfrm>
        </p:grpSpPr>
        <p:cxnSp>
          <p:nvCxnSpPr>
            <p:cNvPr id="143" name="Прямая соединительная линия 142"/>
            <p:cNvCxnSpPr/>
            <p:nvPr/>
          </p:nvCxnSpPr>
          <p:spPr>
            <a:xfrm flipV="1">
              <a:off x="1115616" y="3284984"/>
              <a:ext cx="288032" cy="72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/>
            <p:nvPr/>
          </p:nvCxnSpPr>
          <p:spPr>
            <a:xfrm>
              <a:off x="1115616" y="3356992"/>
              <a:ext cx="288032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Овал 144"/>
            <p:cNvSpPr/>
            <p:nvPr/>
          </p:nvSpPr>
          <p:spPr>
            <a:xfrm flipH="1">
              <a:off x="1311976" y="3314480"/>
              <a:ext cx="45719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" name="Группа 45"/>
          <p:cNvGrpSpPr/>
          <p:nvPr/>
        </p:nvGrpSpPr>
        <p:grpSpPr>
          <a:xfrm rot="2991041">
            <a:off x="4973295" y="3528035"/>
            <a:ext cx="1080120" cy="955768"/>
            <a:chOff x="6084168" y="4077072"/>
            <a:chExt cx="1080120" cy="955768"/>
          </a:xfrm>
        </p:grpSpPr>
        <p:sp>
          <p:nvSpPr>
            <p:cNvPr id="147" name="Прямоугольник с одним вырезанным углом 146"/>
            <p:cNvSpPr/>
            <p:nvPr/>
          </p:nvSpPr>
          <p:spPr>
            <a:xfrm>
              <a:off x="6084168" y="4077072"/>
              <a:ext cx="1053805" cy="922079"/>
            </a:xfrm>
            <a:prstGeom prst="snip1Rect">
              <a:avLst>
                <a:gd name="adj" fmla="val 4879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8" name="Прямая соединительная линия 147"/>
            <p:cNvCxnSpPr/>
            <p:nvPr/>
          </p:nvCxnSpPr>
          <p:spPr>
            <a:xfrm rot="5400000" flipH="1" flipV="1">
              <a:off x="5616116" y="4545124"/>
              <a:ext cx="936104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Прямая соединительная линия 148"/>
            <p:cNvCxnSpPr/>
            <p:nvPr/>
          </p:nvCxnSpPr>
          <p:spPr>
            <a:xfrm rot="10800000">
              <a:off x="6084168" y="4077072"/>
              <a:ext cx="648072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Прямая соединительная линия 149"/>
            <p:cNvCxnSpPr/>
            <p:nvPr/>
          </p:nvCxnSpPr>
          <p:spPr>
            <a:xfrm rot="16200000" flipV="1">
              <a:off x="6715433" y="4100052"/>
              <a:ext cx="462117" cy="422788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/>
            <p:nvPr/>
          </p:nvCxnSpPr>
          <p:spPr>
            <a:xfrm rot="10800000" flipV="1">
              <a:off x="6084168" y="5013176"/>
              <a:ext cx="1080120" cy="2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/>
            <p:nvPr/>
          </p:nvCxnSpPr>
          <p:spPr>
            <a:xfrm rot="5400000">
              <a:off x="6902428" y="4780812"/>
              <a:ext cx="504056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Прямая соединительная линия 155"/>
          <p:cNvCxnSpPr/>
          <p:nvPr/>
        </p:nvCxnSpPr>
        <p:spPr>
          <a:xfrm rot="16200000" flipH="1">
            <a:off x="3877444" y="3775348"/>
            <a:ext cx="465313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единительная линия 157"/>
          <p:cNvCxnSpPr/>
          <p:nvPr/>
        </p:nvCxnSpPr>
        <p:spPr>
          <a:xfrm rot="5400000">
            <a:off x="2099556" y="3681028"/>
            <a:ext cx="4824536" cy="1872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Овал 158"/>
          <p:cNvSpPr/>
          <p:nvPr/>
        </p:nvSpPr>
        <p:spPr>
          <a:xfrm>
            <a:off x="3719736" y="5589240"/>
            <a:ext cx="3240360" cy="64807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7" name="Прямая соединительная линия 166"/>
          <p:cNvCxnSpPr/>
          <p:nvPr/>
        </p:nvCxnSpPr>
        <p:spPr>
          <a:xfrm rot="5400000">
            <a:off x="4475820" y="512118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10-конечная звезда 156"/>
          <p:cNvSpPr/>
          <p:nvPr/>
        </p:nvSpPr>
        <p:spPr>
          <a:xfrm>
            <a:off x="5159896" y="1916832"/>
            <a:ext cx="576064" cy="576064"/>
          </a:xfrm>
          <a:prstGeom prst="star10">
            <a:avLst>
              <a:gd name="adj" fmla="val 23758"/>
              <a:gd name="hf" fmla="val 10514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TextBox 216"/>
          <p:cNvSpPr txBox="1"/>
          <p:nvPr/>
        </p:nvSpPr>
        <p:spPr>
          <a:xfrm>
            <a:off x="6600056" y="1988840"/>
            <a:ext cx="406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Отсутствует проблема нахождения наблюдателя в тени источника света</a:t>
            </a:r>
          </a:p>
        </p:txBody>
      </p:sp>
      <p:cxnSp>
        <p:nvCxnSpPr>
          <p:cNvPr id="50" name="Прямая соединительная линия 49"/>
          <p:cNvCxnSpPr>
            <a:stCxn id="145" idx="2"/>
          </p:cNvCxnSpPr>
          <p:nvPr/>
        </p:nvCxnSpPr>
        <p:spPr>
          <a:xfrm flipV="1">
            <a:off x="4825912" y="2780928"/>
            <a:ext cx="1630129" cy="2189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145" idx="2"/>
          </p:cNvCxnSpPr>
          <p:nvPr/>
        </p:nvCxnSpPr>
        <p:spPr>
          <a:xfrm flipV="1">
            <a:off x="4825912" y="4221088"/>
            <a:ext cx="2062177" cy="749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16200000" flipH="1">
            <a:off x="5818187" y="3649663"/>
            <a:ext cx="158754" cy="1301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rot="16200000" flipH="1">
            <a:off x="5732466" y="4011615"/>
            <a:ext cx="676275" cy="2286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303912" y="429309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 rot="16200000" flipH="1">
            <a:off x="5770576" y="4903774"/>
            <a:ext cx="1250157" cy="40880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145" idx="2"/>
          </p:cNvCxnSpPr>
          <p:nvPr/>
        </p:nvCxnSpPr>
        <p:spPr>
          <a:xfrm>
            <a:off x="4825912" y="4970664"/>
            <a:ext cx="2206193" cy="906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303912" y="47971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80" name="Прямая соединительная линия 79"/>
          <p:cNvCxnSpPr/>
          <p:nvPr/>
        </p:nvCxnSpPr>
        <p:spPr>
          <a:xfrm rot="16200000" flipH="1">
            <a:off x="6312025" y="6021287"/>
            <a:ext cx="864097" cy="2880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5663952" y="6597353"/>
            <a:ext cx="1224136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/>
          <p:cNvCxnSpPr>
            <a:stCxn id="145" idx="7"/>
          </p:cNvCxnSpPr>
          <p:nvPr/>
        </p:nvCxnSpPr>
        <p:spPr>
          <a:xfrm rot="16200000" flipH="1">
            <a:off x="4350613" y="5356022"/>
            <a:ext cx="1821621" cy="94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303912" y="53012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+1</a:t>
            </a: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3719736" y="6597353"/>
            <a:ext cx="1944216" cy="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 rot="5400000" flipH="1" flipV="1">
            <a:off x="2891645" y="4689141"/>
            <a:ext cx="2736305" cy="108012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>
            <a:stCxn id="226" idx="0"/>
          </p:cNvCxnSpPr>
          <p:nvPr/>
        </p:nvCxnSpPr>
        <p:spPr>
          <a:xfrm flipV="1">
            <a:off x="4804938" y="3284985"/>
            <a:ext cx="714999" cy="61961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единительная линия 107"/>
          <p:cNvCxnSpPr>
            <a:stCxn id="147" idx="3"/>
          </p:cNvCxnSpPr>
          <p:nvPr/>
        </p:nvCxnSpPr>
        <p:spPr>
          <a:xfrm flipH="1" flipV="1">
            <a:off x="5519936" y="3284985"/>
            <a:ext cx="350214" cy="40274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Возможная проблема </a:t>
            </a:r>
            <a:r>
              <a:rPr lang="en-US" dirty="0"/>
              <a:t>depth fail-</a:t>
            </a:r>
            <a:r>
              <a:rPr lang="ru-RU" dirty="0"/>
              <a:t>алгоритма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Грани теневого объема могут быть отсечены дальней плоскостью отсечения и привести к визуальным артефактам</a:t>
            </a:r>
          </a:p>
          <a:p>
            <a:pPr lvl="1"/>
            <a:r>
              <a:rPr lang="ru-RU" dirty="0"/>
              <a:t>Это менее вероятно, нежели для отсечению ближней плоскостью</a:t>
            </a:r>
          </a:p>
          <a:p>
            <a:r>
              <a:rPr lang="ru-RU" dirty="0"/>
              <a:t>Проблема решается «вытягиванием» теневого объема в «бесконечность» и модификацией матрицы проецирования так, чтобы дальняя плоскость отсечения находилась в бесконечности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Модификация матрицы проецирования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 txBox="1"/>
              <p:nvPr/>
            </p:nvSpPr>
            <p:spPr bwMode="auto">
              <a:xfrm>
                <a:off x="4439816" y="1557338"/>
                <a:ext cx="5789613" cy="1871662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Объект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9816" y="1557338"/>
                <a:ext cx="5789613" cy="18716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 txBox="1"/>
              <p:nvPr/>
            </p:nvSpPr>
            <p:spPr bwMode="auto">
              <a:xfrm>
                <a:off x="3719737" y="3429000"/>
                <a:ext cx="7848872" cy="3384376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𝐹𝑎𝑟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737" y="3429000"/>
                <a:ext cx="7848872" cy="3384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38200" y="1917204"/>
            <a:ext cx="3385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Стандартная матрица проецирования (</a:t>
            </a:r>
            <a:r>
              <a:rPr lang="en-US" dirty="0" err="1"/>
              <a:t>glFrustum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3861048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Модифицированная матрица проецирования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Решение проблемы отсечения дальней плоскостью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Бесконечно удаленная точка получается выставленеим ее координаты </a:t>
            </a:r>
            <a:r>
              <a:rPr lang="en-US" dirty="0"/>
              <a:t>w </a:t>
            </a:r>
            <a:r>
              <a:rPr lang="ru-RU" dirty="0"/>
              <a:t>в 0.0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Дальняя плоскость не отсекает вершины, удаленные на конечную дистанцию</a:t>
            </a:r>
          </a:p>
          <a:p>
            <a:pPr lvl="1"/>
            <a:r>
              <a:rPr lang="ru-RU" dirty="0"/>
              <a:t>Точность представления значений в буфере глубины меняется незначительно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Проецирование бесконечно удаленной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2"/>
              <p:cNvSpPr txBox="1"/>
              <p:nvPr/>
            </p:nvSpPr>
            <p:spPr bwMode="auto">
              <a:xfrm>
                <a:off x="623392" y="1556792"/>
                <a:ext cx="10730408" cy="5180558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𝐿𝑒𝑓𝑡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𝑅𝑖𝑔h𝑡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𝐵𝑜𝑡𝑡𝑜𝑚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4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556792"/>
                <a:ext cx="10730408" cy="518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Проецирование конечно удаленной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2"/>
              <p:cNvSpPr txBox="1"/>
              <p:nvPr/>
            </p:nvSpPr>
            <p:spPr bwMode="auto">
              <a:xfrm>
                <a:off x="911424" y="1412776"/>
                <a:ext cx="6264696" cy="5340449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𝐿𝑒𝑓𝑡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𝑅𝑖𝑔h𝑡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𝐵𝑜𝑡𝑡𝑜𝑚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𝑅𝑖𝑔h𝑡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𝑇𝑜𝑝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−2×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𝑁𝑒𝑎𝑟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4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424" y="1412776"/>
                <a:ext cx="6264696" cy="5340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D941A6-2991-A969-E519-20F3EA44EC75}"/>
                  </a:ext>
                </a:extLst>
              </p:cNvPr>
              <p:cNvSpPr txBox="1"/>
              <p:nvPr/>
            </p:nvSpPr>
            <p:spPr>
              <a:xfrm>
                <a:off x="7680176" y="2420888"/>
                <a:ext cx="4209037" cy="36216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𝑁𝑒𝑎𝑟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𝐻𝑒𝑖𝑔h𝑡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2×</m:t>
                                        </m:r>
                                        <m:r>
                                          <a:rPr lang="en-US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𝑁𝑒𝑎𝑟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𝑁𝑒𝑎𝑟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𝑊𝑖𝑑𝑡h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2×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𝐻𝑒𝑖𝑔h𝑡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D941A6-2991-A969-E519-20F3EA44E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2420888"/>
                <a:ext cx="4209037" cy="36216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77FCB3-3E7F-A043-8F70-69CBA13C7E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78" t="23499" r="29919" b="1698"/>
          <a:stretch/>
        </p:blipFill>
        <p:spPr>
          <a:xfrm>
            <a:off x="2279576" y="440668"/>
            <a:ext cx="7455420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53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Достоинства технологии </a:t>
            </a:r>
            <a:r>
              <a:rPr lang="en-US" dirty="0"/>
              <a:t>Stencil Shadow volumes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Возможность </a:t>
            </a:r>
            <a:r>
              <a:rPr lang="ru-RU" dirty="0" err="1"/>
              <a:t>самозатенения</a:t>
            </a:r>
            <a:endParaRPr lang="ru-RU" dirty="0"/>
          </a:p>
          <a:p>
            <a:r>
              <a:rPr lang="ru-RU" dirty="0"/>
              <a:t>При должном применении изображения лишены ряда визуальных артефактов, присущих ряду других методов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2047" y="1916832"/>
            <a:ext cx="3960440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Недостатки технологии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Тени получаются слишком резкими</a:t>
            </a:r>
          </a:p>
          <a:p>
            <a:pPr lvl="1"/>
            <a:r>
              <a:rPr lang="ru-RU" dirty="0"/>
              <a:t>Можно решить за счет многопроходной визуализации</a:t>
            </a:r>
          </a:p>
          <a:p>
            <a:r>
              <a:rPr lang="ru-RU" dirty="0"/>
              <a:t>Высокие требования к скорости закрашивания полигонов</a:t>
            </a:r>
          </a:p>
          <a:p>
            <a:r>
              <a:rPr lang="ru-RU" dirty="0"/>
              <a:t>Сложность объектов сцены заметно влияет на производительность приложения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теневого объема на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построения теневого объема на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Геометрия теневого объема динамически изменяется при взаимном изменении положения источника света и объекта</a:t>
            </a:r>
          </a:p>
          <a:p>
            <a:r>
              <a:rPr lang="ru-RU" dirty="0"/>
              <a:t>Существующая технология требует генерирования новых вершин и граней дополнительно к вершинам и граням оригинального объекта</a:t>
            </a:r>
          </a:p>
          <a:p>
            <a:pPr lvl="1"/>
            <a:r>
              <a:rPr lang="ru-RU" dirty="0"/>
              <a:t>Вершинный </a:t>
            </a:r>
            <a:r>
              <a:rPr lang="ru-RU" dirty="0" err="1"/>
              <a:t>шейдер</a:t>
            </a:r>
            <a:r>
              <a:rPr lang="ru-RU" dirty="0"/>
              <a:t> не может добавлять новые вершины или отбрасывать существующие</a:t>
            </a:r>
          </a:p>
          <a:p>
            <a:pPr lvl="1"/>
            <a:r>
              <a:rPr lang="ru-RU" dirty="0"/>
              <a:t>Объект должен содержать некоторую дополнительную информацию для построения теневого объема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Дополнение полигональной сетки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 оригинальной модели добавляются дополнительные вершины и грани, задающие ребро</a:t>
            </a:r>
          </a:p>
          <a:p>
            <a:pPr lvl="1"/>
            <a:r>
              <a:rPr lang="ru-RU" dirty="0"/>
              <a:t>Ребро представляется в виде пары вырожденных треугольников</a:t>
            </a:r>
          </a:p>
          <a:p>
            <a:pPr lvl="1"/>
            <a:r>
              <a:rPr lang="ru-RU" dirty="0"/>
              <a:t>4 вершины на ребро – по 2 вершины, хранящих нормали соседних граней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7993" y="2924945"/>
            <a:ext cx="4390665" cy="194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Вытягивание вершин </a:t>
            </a:r>
            <a:r>
              <a:rPr lang="ru-RU" dirty="0" err="1"/>
              <a:t>нелицевых</a:t>
            </a:r>
            <a:r>
              <a:rPr lang="ru-RU" dirty="0"/>
              <a:t> граней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Вершинный </a:t>
            </a:r>
            <a:r>
              <a:rPr lang="ru-RU" dirty="0" err="1"/>
              <a:t>шейдер</a:t>
            </a:r>
            <a:r>
              <a:rPr lang="ru-RU" dirty="0"/>
              <a:t> выполняет «вытягивание» «неосвещенных» вершин от источника света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8366" y="3212977"/>
            <a:ext cx="48702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Вершинный </a:t>
            </a:r>
            <a:r>
              <a:rPr lang="ru-RU" dirty="0" err="1"/>
              <a:t>шейдер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50049-7AC6-7CB6-ADE9-11934BAE2337}"/>
              </a:ext>
            </a:extLst>
          </p:cNvPr>
          <p:cNvSpPr txBox="1"/>
          <p:nvPr/>
        </p:nvSpPr>
        <p:spPr>
          <a:xfrm>
            <a:off x="807869" y="1412776"/>
            <a:ext cx="101531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источник света в системе координат наблюдателя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Степень "Вытягивания" полигонов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ExtrusionFactor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 =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gl_ModelViewMatrix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gl_Vertex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– pos;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l)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Вытягиваем"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нелицевую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вершину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 -= l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ExtrustionFactor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pos.w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направляем ее бесконечность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gl_ProjectionMatrix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pos;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Использование теста ножниц (</a:t>
            </a:r>
            <a:r>
              <a:rPr lang="en-US" dirty="0"/>
              <a:t>scissors test)</a:t>
            </a:r>
            <a:r>
              <a:rPr lang="ru-RU" dirty="0"/>
              <a:t>, ограничивающих область теневого объема</a:t>
            </a:r>
          </a:p>
          <a:p>
            <a:r>
              <a:rPr lang="ru-RU" dirty="0"/>
              <a:t>Двусторонний </a:t>
            </a:r>
            <a:r>
              <a:rPr lang="en-US" dirty="0"/>
              <a:t>Stencil-</a:t>
            </a:r>
            <a:r>
              <a:rPr lang="ru-RU" dirty="0"/>
              <a:t>буфер</a:t>
            </a:r>
          </a:p>
          <a:p>
            <a:pPr lvl="1"/>
            <a:r>
              <a:rPr lang="ru-RU" dirty="0"/>
              <a:t>Расширение </a:t>
            </a:r>
            <a:r>
              <a:rPr lang="en-US" dirty="0" err="1">
                <a:hlinkClick r:id="rId3"/>
              </a:rPr>
              <a:t>GL_EXT_stencil_two_side</a:t>
            </a:r>
            <a:r>
              <a:rPr lang="en-US" dirty="0"/>
              <a:t> </a:t>
            </a:r>
            <a:endParaRPr lang="ru-RU" dirty="0"/>
          </a:p>
          <a:p>
            <a:pPr lvl="2"/>
            <a:r>
              <a:rPr lang="ru-RU" dirty="0"/>
              <a:t>Позволяет задать различные операции над буфером трафарета для лицевых и </a:t>
            </a:r>
            <a:r>
              <a:rPr lang="ru-RU" dirty="0" err="1"/>
              <a:t>нелицевых</a:t>
            </a:r>
            <a:r>
              <a:rPr lang="ru-RU" dirty="0"/>
              <a:t> граней</a:t>
            </a:r>
          </a:p>
          <a:p>
            <a:pPr lvl="2"/>
            <a:r>
              <a:rPr lang="ru-RU" dirty="0"/>
              <a:t>Визуализация теневого объема осуществляется только один раз</a:t>
            </a:r>
          </a:p>
          <a:p>
            <a:r>
              <a:rPr lang="ru-RU" dirty="0"/>
              <a:t>Циклический </a:t>
            </a:r>
            <a:r>
              <a:rPr lang="en-US" dirty="0"/>
              <a:t>Stencil-buffer</a:t>
            </a:r>
          </a:p>
          <a:p>
            <a:pPr lvl="1"/>
            <a:r>
              <a:rPr lang="ru-RU" dirty="0"/>
              <a:t>Расширение </a:t>
            </a:r>
            <a:r>
              <a:rPr lang="en-US" dirty="0" err="1">
                <a:hlinkClick r:id="rId4"/>
              </a:rPr>
              <a:t>GL_EXT_stencil_wrap</a:t>
            </a:r>
            <a:endParaRPr lang="ru-RU" dirty="0"/>
          </a:p>
          <a:p>
            <a:pPr lvl="2"/>
            <a:r>
              <a:rPr lang="ru-RU" dirty="0"/>
              <a:t>Позволяет избежать «насыщения» значений в буфере трафарета и уменьшить вероятность возникновения визуальных артефактов для сложных теневых объемов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29FD-FA29-7ABE-38ED-EE14DE75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теневого объема в геометрическом шейдере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C1A4-07DA-8E1A-5192-556B73AF7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– геометрический шейдер определяет контуры силуэта и вытягивает рёбра вдоль направления от источника света, создавая теневой объем из таких ребер</a:t>
            </a:r>
          </a:p>
          <a:p>
            <a:r>
              <a:rPr lang="ru-RU" dirty="0"/>
              <a:t>Достоинства</a:t>
            </a:r>
          </a:p>
          <a:p>
            <a:pPr lvl="1"/>
            <a:r>
              <a:rPr lang="ru-RU" dirty="0"/>
              <a:t>Теневой объем строится без вмешательства </a:t>
            </a:r>
            <a:r>
              <a:rPr lang="en-US" dirty="0"/>
              <a:t>CPU</a:t>
            </a:r>
            <a:r>
              <a:rPr lang="ru-RU" dirty="0"/>
              <a:t>, требуется меньше вершин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Требует поддержки геометрических шейдеров (нет в </a:t>
            </a:r>
            <a:r>
              <a:rPr lang="en-US" dirty="0"/>
              <a:t>WebGL)</a:t>
            </a:r>
            <a:endParaRPr lang="ru-RU" dirty="0"/>
          </a:p>
          <a:p>
            <a:r>
              <a:rPr lang="ru-RU" dirty="0"/>
              <a:t>Статья «</a:t>
            </a:r>
            <a:r>
              <a:rPr lang="en-US" dirty="0">
                <a:hlinkClick r:id="rId3"/>
              </a:rPr>
              <a:t>Efficient and robust shadow volumes using hierarchical occlusion culling and geometry shaders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629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mapping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71E2BB-3979-E2FC-4EAC-9627BFF2A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0" r="47291"/>
          <a:stretch>
            <a:fillRect/>
          </a:stretch>
        </p:blipFill>
        <p:spPr bwMode="auto">
          <a:xfrm>
            <a:off x="8641958" y="129886"/>
            <a:ext cx="3096344" cy="302764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51EC566-30D9-6C90-50CE-C89821703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70"/>
          <a:stretch>
            <a:fillRect/>
          </a:stretch>
        </p:blipFill>
        <p:spPr bwMode="auto">
          <a:xfrm>
            <a:off x="8641958" y="3634440"/>
            <a:ext cx="3096344" cy="302764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0061F5-007C-8F48-69AC-CB1FFEFB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Mapping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A161C-CEA6-4C4F-3764-4D2F4893C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Shadow Mapping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освещён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закрыт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ru-RU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r>
              <a:rPr lang="en-US" dirty="0" err="1"/>
              <a:t>Этап</a:t>
            </a:r>
            <a:r>
              <a:rPr lang="en-US" dirty="0"/>
              <a:t> 1. </a:t>
            </a:r>
            <a:r>
              <a:rPr lang="en-US" dirty="0" err="1"/>
              <a:t>Построение</a:t>
            </a:r>
            <a:r>
              <a:rPr lang="en-US" dirty="0"/>
              <a:t> shadow map</a:t>
            </a:r>
          </a:p>
          <a:p>
            <a:pPr lvl="1"/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pPr lvl="1"/>
            <a:r>
              <a:rPr lang="en-US" dirty="0"/>
              <a:t>В texture depth buffer </a:t>
            </a:r>
            <a:r>
              <a:rPr lang="en-US" dirty="0" err="1"/>
              <a:t>сохраняется</a:t>
            </a:r>
            <a:r>
              <a:rPr lang="ru-RU" dirty="0"/>
              <a:t> </a:t>
            </a:r>
            <a:r>
              <a:rPr lang="en-US" dirty="0" err="1"/>
              <a:t>расстояние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ближайших</a:t>
            </a:r>
            <a:r>
              <a:rPr lang="en-US" dirty="0"/>
              <a:t> </a:t>
            </a:r>
            <a:r>
              <a:rPr lang="en-US" dirty="0" err="1"/>
              <a:t>поверхностей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Результат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depth texture — shadow map</a:t>
            </a:r>
          </a:p>
          <a:p>
            <a:r>
              <a:rPr lang="en-US" dirty="0" err="1"/>
              <a:t>Этап</a:t>
            </a:r>
            <a:r>
              <a:rPr lang="en-US" dirty="0"/>
              <a:t> 2.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endParaRPr lang="en-US" dirty="0"/>
          </a:p>
          <a:p>
            <a:pPr lvl="1"/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наблюдателя</a:t>
            </a:r>
            <a:endParaRPr lang="en-US" dirty="0"/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ru-RU" dirty="0"/>
              <a:t> в</a:t>
            </a:r>
            <a:r>
              <a:rPr lang="en-US" dirty="0" err="1"/>
              <a:t>ычисляются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endParaRPr lang="en-US" dirty="0"/>
          </a:p>
          <a:p>
            <a:pPr lvl="1"/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</a:t>
            </a:r>
          </a:p>
          <a:p>
            <a:pPr lvl="1"/>
            <a:r>
              <a:rPr lang="ru-RU" dirty="0"/>
              <a:t>Если </a:t>
            </a:r>
            <a:r>
              <a:rPr lang="en-US" dirty="0" err="1"/>
              <a:t>глубина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shadow map</a:t>
            </a:r>
            <a:r>
              <a:rPr lang="ru-RU" dirty="0"/>
              <a:t>, </a:t>
            </a:r>
            <a:r>
              <a:rPr lang="en-US" dirty="0" err="1"/>
              <a:t>фрагмент</a:t>
            </a:r>
            <a:r>
              <a:rPr lang="en-US" dirty="0"/>
              <a:t> в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endParaRPr lang="en-US" dirty="0"/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динамических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shadow map</a:t>
            </a:r>
          </a:p>
        </p:txBody>
      </p:sp>
    </p:spTree>
    <p:extLst>
      <p:ext uri="{BB962C8B-B14F-4D97-AF65-F5344CB8AC3E}">
        <p14:creationId xmlns:p14="http://schemas.microsoft.com/office/powerpoint/2010/main" val="11606582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Иллюстрация алгоритма </a:t>
            </a:r>
            <a:r>
              <a:rPr lang="en-US" dirty="0"/>
              <a:t>Shadow Mapping</a:t>
            </a:r>
            <a:endParaRPr lang="ru-RU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640905" y="1825625"/>
            <a:ext cx="2910189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524001" y="2132856"/>
            <a:ext cx="2989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 сцены от наблюдателя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6200" y="2132857"/>
            <a:ext cx="34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Вид сцены от источника света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2" y="4005065"/>
            <a:ext cx="2267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Теневая карта – (светлее = глубже)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8209" y="3861049"/>
            <a:ext cx="3385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Теневая карта , спроецированная на вид сцены с </a:t>
            </a:r>
            <a:r>
              <a:rPr lang="ru-RU" dirty="0" err="1"/>
              <a:t>т.з</a:t>
            </a:r>
            <a:r>
              <a:rPr lang="ru-RU" dirty="0"/>
              <a:t>. наблюдателя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1" y="5373216"/>
            <a:ext cx="2519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Расстояние до источника света с </a:t>
            </a:r>
            <a:r>
              <a:rPr lang="ru-RU" dirty="0" err="1"/>
              <a:t>т.з</a:t>
            </a:r>
            <a:r>
              <a:rPr lang="ru-RU" dirty="0"/>
              <a:t>. наблюдателя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216" y="5229200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Сцена, построенная с учетом сравнения глубины двух предыдущих изображений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тени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Сцена строится из положения источника света</a:t>
            </a:r>
          </a:p>
          <a:p>
            <a:pPr lvl="1"/>
            <a:r>
              <a:rPr lang="ru-RU" dirty="0"/>
              <a:t>Для точечных источников света</a:t>
            </a:r>
          </a:p>
          <a:p>
            <a:pPr lvl="2"/>
            <a:r>
              <a:rPr lang="ru-RU" dirty="0"/>
              <a:t>Перспективная проекция</a:t>
            </a:r>
          </a:p>
          <a:p>
            <a:pPr lvl="2"/>
            <a:r>
              <a:rPr lang="ru-RU" dirty="0"/>
              <a:t>Фактически – источник не точечный, а «прямоугольный прожектор»</a:t>
            </a:r>
          </a:p>
          <a:p>
            <a:pPr lvl="1"/>
            <a:r>
              <a:rPr lang="ru-RU" dirty="0"/>
              <a:t>Для направленных источников света</a:t>
            </a:r>
          </a:p>
          <a:p>
            <a:pPr lvl="2"/>
            <a:r>
              <a:rPr lang="ru-RU" dirty="0"/>
              <a:t>Ортографическая проекция</a:t>
            </a:r>
          </a:p>
          <a:p>
            <a:r>
              <a:rPr lang="ru-RU" dirty="0"/>
              <a:t>Запись в буфер цвета обычно не осуществляется для экономии времени</a:t>
            </a:r>
          </a:p>
          <a:p>
            <a:pPr lvl="1"/>
            <a:r>
              <a:rPr lang="ru-RU" dirty="0"/>
              <a:t>Впрочем, можно создать источник света в виде изображения</a:t>
            </a:r>
          </a:p>
          <a:p>
            <a:r>
              <a:rPr lang="ru-RU" dirty="0"/>
              <a:t>Несколько источников света – несколько текстур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Затенение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Сцена строится из положения наблюдателя с применением карты теней</a:t>
            </a:r>
          </a:p>
          <a:p>
            <a:r>
              <a:rPr lang="ru-RU" dirty="0"/>
              <a:t>Задачи</a:t>
            </a:r>
          </a:p>
          <a:p>
            <a:pPr lvl="1"/>
            <a:r>
              <a:rPr lang="ru-RU" dirty="0"/>
              <a:t>Найти координаты фрагмента в системе координат источника света</a:t>
            </a:r>
          </a:p>
          <a:p>
            <a:pPr lvl="1"/>
            <a:r>
              <a:rPr lang="ru-RU" dirty="0"/>
              <a:t>Сравнить данные координаты с величиной из теневой карты</a:t>
            </a:r>
          </a:p>
          <a:p>
            <a:pPr lvl="1"/>
            <a:r>
              <a:rPr lang="ru-RU" dirty="0"/>
              <a:t>Принять решение о том, виден фрагмент или нет и нарисовать его соответствующим образом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Добавление смещения к глубине полигонов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5617840" cy="4351338"/>
          </a:xfrm>
        </p:spPr>
        <p:txBody>
          <a:bodyPr/>
          <a:lstStyle/>
          <a:p>
            <a:r>
              <a:rPr lang="ru-RU" dirty="0"/>
              <a:t>Значения в</a:t>
            </a:r>
            <a:r>
              <a:rPr lang="en-US" dirty="0"/>
              <a:t> </a:t>
            </a:r>
            <a:r>
              <a:rPr lang="ru-RU" dirty="0"/>
              <a:t>карте теней и вычисленное значение глубины могут иметь разную точность</a:t>
            </a:r>
          </a:p>
          <a:p>
            <a:pPr lvl="1"/>
            <a:r>
              <a:rPr lang="ru-RU" dirty="0"/>
              <a:t>Возможны артефакты </a:t>
            </a:r>
            <a:r>
              <a:rPr lang="en-US" dirty="0"/>
              <a:t>(z-fighting)</a:t>
            </a:r>
          </a:p>
          <a:p>
            <a:pPr lvl="1"/>
            <a:r>
              <a:rPr lang="ru-RU" dirty="0"/>
              <a:t>Добавляют небольшое смещение к полигонам при рисовании теней</a:t>
            </a:r>
          </a:p>
          <a:p>
            <a:pPr lvl="2"/>
            <a:r>
              <a:rPr lang="en-US" dirty="0" err="1"/>
              <a:t>glPolygonOffset</a:t>
            </a:r>
            <a:endParaRPr lang="ru-RU" dirty="0"/>
          </a:p>
        </p:txBody>
      </p:sp>
      <p:pic>
        <p:nvPicPr>
          <p:cNvPr id="4" name="Picture 3" descr="Stitching or Z-fighting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04112" y="1690688"/>
            <a:ext cx="4600428" cy="325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Трансформация в систему координат источника света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 txBox="1"/>
              <p:nvPr/>
            </p:nvSpPr>
            <p:spPr bwMode="auto">
              <a:xfrm>
                <a:off x="911424" y="1772816"/>
                <a:ext cx="10442376" cy="489627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𝐸𝑦𝑒𝑉𝑖𝑒𝑤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𝑀𝑜𝑑𝑒𝑙𝑖𝑛𝑔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𝐿𝑖𝑔h𝑡𝐹𝑟𝑢𝑠𝑡𝑢𝑚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𝐿𝑖𝑔h𝑡𝑉𝑖𝑒𝑤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𝐸𝑦𝑒𝑉𝑖𝑒𝑤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𝐿𝑖𝑔h𝑡𝐹𝑟𝑢𝑠𝑡𝑢𝑚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𝐿𝑖𝑔h𝑡𝑉𝑖𝑒𝑤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𝑀𝑜𝑑𝑒𝑙𝑖𝑛𝑔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Объект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424" y="1772816"/>
                <a:ext cx="10442376" cy="4896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«Тест глубины» с использованием карты теней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После трансформации координат фрагмента в систему координат наблюдателя будут получены 3 координаты:</a:t>
            </a:r>
            <a:endParaRPr lang="en-US" dirty="0"/>
          </a:p>
          <a:p>
            <a:pPr lvl="1"/>
            <a:r>
              <a:rPr lang="en-US" dirty="0"/>
              <a:t>X,Y – </a:t>
            </a:r>
            <a:r>
              <a:rPr lang="ru-RU" dirty="0"/>
              <a:t>координаты внутри теневой текстуры</a:t>
            </a:r>
          </a:p>
          <a:p>
            <a:pPr lvl="1"/>
            <a:r>
              <a:rPr lang="en-US" dirty="0"/>
              <a:t>Z –</a:t>
            </a:r>
            <a:r>
              <a:rPr lang="ru-RU" dirty="0"/>
              <a:t> глубина фрагмента</a:t>
            </a:r>
          </a:p>
          <a:p>
            <a:r>
              <a:rPr lang="ru-RU" dirty="0"/>
              <a:t>Сравнивается значение из текстуры с глубиной фрагмента</a:t>
            </a:r>
          </a:p>
          <a:p>
            <a:pPr lvl="1"/>
            <a:r>
              <a:rPr lang="ru-RU" dirty="0"/>
              <a:t>Координата </a:t>
            </a:r>
            <a:r>
              <a:rPr lang="en-US" dirty="0"/>
              <a:t>Z</a:t>
            </a:r>
            <a:r>
              <a:rPr lang="ru-RU" dirty="0"/>
              <a:t> больше значения из карты глубины - фрагмент затенен</a:t>
            </a:r>
          </a:p>
          <a:p>
            <a:pPr lvl="1"/>
            <a:r>
              <a:rPr lang="ru-RU" dirty="0"/>
              <a:t>В противном случае – фрагмент освещен</a:t>
            </a:r>
          </a:p>
          <a:p>
            <a:pPr lvl="2"/>
            <a:r>
              <a:rPr lang="ru-RU" dirty="0"/>
              <a:t>Стандартная модель освещения (</a:t>
            </a:r>
            <a:r>
              <a:rPr lang="en-US" dirty="0" err="1"/>
              <a:t>lambert</a:t>
            </a:r>
            <a:r>
              <a:rPr lang="en-US" dirty="0"/>
              <a:t>/</a:t>
            </a:r>
            <a:r>
              <a:rPr lang="en-US" dirty="0" err="1"/>
              <a:t>phong</a:t>
            </a:r>
            <a:r>
              <a:rPr lang="en-US" dirty="0"/>
              <a:t>,</a:t>
            </a:r>
            <a:r>
              <a:rPr lang="ru-RU" dirty="0"/>
              <a:t> и т.п.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Если </a:t>
            </a:r>
            <a:r>
              <a:rPr lang="en-US" dirty="0"/>
              <a:t>(X,Y)</a:t>
            </a:r>
            <a:r>
              <a:rPr lang="ru-RU" dirty="0"/>
              <a:t> за пределами текстуры (</a:t>
            </a:r>
            <a:r>
              <a:rPr lang="en-US" dirty="0"/>
              <a:t>0..1)</a:t>
            </a:r>
            <a:endParaRPr lang="ru-RU" dirty="0"/>
          </a:p>
          <a:p>
            <a:pPr lvl="1"/>
            <a:r>
              <a:rPr lang="ru-RU" dirty="0"/>
              <a:t>Фрагмент вне карты глубины и должен быть освещен стандартным образом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A6FB-7B6F-1C92-AE47-9662E9B7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Достоинства </a:t>
            </a:r>
            <a:r>
              <a:rPr lang="en-US" dirty="0"/>
              <a:t>Shadow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75E57-5DD5-9F44-E4AC-BAF76E127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требует изменения геометрии сцены</a:t>
            </a:r>
          </a:p>
          <a:p>
            <a:r>
              <a:rPr lang="ru-RU" dirty="0"/>
              <a:t>Поддерживается </a:t>
            </a:r>
            <a:r>
              <a:rPr lang="ru-RU" dirty="0" err="1"/>
              <a:t>аппаратно</a:t>
            </a:r>
            <a:r>
              <a:rPr lang="ru-RU" dirty="0"/>
              <a:t> на современных видеокартах</a:t>
            </a:r>
          </a:p>
          <a:p>
            <a:r>
              <a:rPr lang="ru-RU" dirty="0"/>
              <a:t>Поддержка динамических объектов</a:t>
            </a:r>
          </a:p>
          <a:p>
            <a:r>
              <a:rPr lang="ru-RU" dirty="0"/>
              <a:t>Поддержка произвольно сложных сцен</a:t>
            </a:r>
          </a:p>
          <a:p>
            <a:r>
              <a:rPr lang="ru-RU" dirty="0"/>
              <a:t>Можно использовать для произвольных типов источников света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89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6D2F-5599-D1BB-1E0B-F34389BC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0BD4-064A-CD41-0015-45E020674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5952" cy="4351338"/>
          </a:xfrm>
        </p:spPr>
        <p:txBody>
          <a:bodyPr>
            <a:normAutofit/>
          </a:bodyPr>
          <a:lstStyle/>
          <a:p>
            <a:r>
              <a:rPr lang="ru-RU" dirty="0"/>
              <a:t>Ступенчатые края из-за ограниченного разрешения теневых карт</a:t>
            </a:r>
          </a:p>
          <a:p>
            <a:r>
              <a:rPr lang="ru-RU" dirty="0"/>
              <a:t>«Эффект Питера Пэна»</a:t>
            </a:r>
          </a:p>
          <a:p>
            <a:pPr lvl="1"/>
            <a:r>
              <a:rPr lang="ru-RU" dirty="0"/>
              <a:t>Тень отрывается от объекта</a:t>
            </a:r>
          </a:p>
          <a:p>
            <a:r>
              <a:rPr lang="ru-RU" dirty="0"/>
              <a:t>Проблемы с </a:t>
            </a:r>
            <a:r>
              <a:rPr lang="ru-RU" dirty="0" err="1"/>
              <a:t>самозатенением</a:t>
            </a:r>
            <a:r>
              <a:rPr lang="ru-RU" dirty="0"/>
              <a:t> из-за ошибок округления</a:t>
            </a:r>
          </a:p>
          <a:p>
            <a:r>
              <a:rPr lang="ru-RU" dirty="0"/>
              <a:t>Неэффективность для большого количества источников света</a:t>
            </a:r>
            <a:endParaRPr lang="en-US" dirty="0"/>
          </a:p>
        </p:txBody>
      </p:sp>
      <p:pic>
        <p:nvPicPr>
          <p:cNvPr id="1026" name="Picture 2" descr="Shadow-Peter-Panning">
            <a:extLst>
              <a:ext uri="{FF2B5EF4-FFF2-40B4-BE49-F238E27FC236}">
                <a16:creationId xmlns:a16="http://schemas.microsoft.com/office/drawing/2014/main" id="{8B405BEA-43F7-F514-2376-803F884C2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210" y="1595092"/>
            <a:ext cx="4390290" cy="226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86AE80-D358-3CE3-C771-5CEC3F05B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59499" y="4226917"/>
            <a:ext cx="1903403" cy="226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4A4A59F-7A49-CCAC-B4C9-C56737F82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62406" y="4226917"/>
            <a:ext cx="2029222" cy="2204864"/>
          </a:xfrm>
          <a:prstGeom prst="rect">
            <a:avLst/>
          </a:prstGeom>
          <a:noFill/>
          <a:ln w="38100" cap="sq">
            <a:solidFill>
              <a:schemeClr val="tx2"/>
            </a:solidFill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82911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9E34-5FA8-8475-334B-46559710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</a:t>
            </a:r>
            <a:r>
              <a:rPr lang="en-US" dirty="0"/>
              <a:t>shadow volumes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D11A-DBFD-28A1-F869-185AD3731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endParaRPr lang="en-US" dirty="0"/>
          </a:p>
          <a:p>
            <a:pPr lvl="1"/>
            <a:r>
              <a:rPr lang="en-US" dirty="0" err="1"/>
              <a:t>Построение</a:t>
            </a:r>
            <a:r>
              <a:rPr lang="en-US" dirty="0"/>
              <a:t> </a:t>
            </a:r>
            <a:r>
              <a:rPr lang="en-US" dirty="0" err="1"/>
              <a:t>теневого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Использование</a:t>
            </a:r>
            <a:r>
              <a:rPr lang="en-US" dirty="0"/>
              <a:t> stencil buffer </a:t>
            </a:r>
          </a:p>
          <a:p>
            <a:pPr lvl="1"/>
            <a:r>
              <a:rPr lang="en-US" dirty="0" err="1"/>
              <a:t>Подсчёт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луча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с </a:t>
            </a:r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r>
              <a:rPr lang="en-US" dirty="0" err="1"/>
              <a:t>Рассмотренные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endParaRPr lang="en-US" dirty="0"/>
          </a:p>
          <a:p>
            <a:pPr lvl="1"/>
            <a:r>
              <a:rPr lang="en-US" dirty="0"/>
              <a:t>Depth-Pass </a:t>
            </a:r>
          </a:p>
          <a:p>
            <a:pPr lvl="1"/>
            <a:r>
              <a:rPr lang="en-US" dirty="0"/>
              <a:t>Depth-Fail (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Кармака</a:t>
            </a:r>
            <a:r>
              <a:rPr lang="en-US" dirty="0"/>
              <a:t>) </a:t>
            </a:r>
          </a:p>
          <a:p>
            <a:r>
              <a:rPr lang="en-US" dirty="0" err="1"/>
              <a:t>Достоинства</a:t>
            </a:r>
            <a:endParaRPr lang="en-US" dirty="0"/>
          </a:p>
          <a:p>
            <a:pPr lvl="1"/>
            <a:r>
              <a:rPr lang="en-US" dirty="0" err="1"/>
              <a:t>Геометрически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тени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Чёткие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aliasing </a:t>
            </a:r>
          </a:p>
          <a:p>
            <a:pPr lvl="1"/>
            <a:r>
              <a:rPr lang="en-US" dirty="0" err="1"/>
              <a:t>Корректное</a:t>
            </a:r>
            <a:r>
              <a:rPr lang="en-US" dirty="0"/>
              <a:t> </a:t>
            </a:r>
            <a:r>
              <a:rPr lang="en-US" dirty="0" err="1"/>
              <a:t>самозатенение</a:t>
            </a:r>
            <a:r>
              <a:rPr lang="en-US" dirty="0"/>
              <a:t> </a:t>
            </a:r>
          </a:p>
          <a:p>
            <a:r>
              <a:rPr lang="en-US" dirty="0" err="1"/>
              <a:t>Недостатки</a:t>
            </a:r>
            <a:endParaRPr lang="en-US" dirty="0"/>
          </a:p>
          <a:p>
            <a:pPr lvl="1"/>
            <a:r>
              <a:rPr lang="en-US" dirty="0" err="1"/>
              <a:t>Сложная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нагрузка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fill-rate </a:t>
            </a:r>
          </a:p>
          <a:p>
            <a:pPr lvl="1"/>
            <a:r>
              <a:rPr lang="en-US" dirty="0" err="1"/>
              <a:t>Проблемы</a:t>
            </a:r>
            <a:r>
              <a:rPr lang="en-US" dirty="0"/>
              <a:t> clipping-а </a:t>
            </a:r>
          </a:p>
          <a:p>
            <a:pPr lvl="1"/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сцен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821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0F59-B372-F162-96E5-18AAFF16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r>
              <a:rPr lang="en-US" dirty="0"/>
              <a:t>: shadow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0B5C-902F-824F-7A4A-39FC7EDC9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Image-space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теней</a:t>
            </a:r>
            <a:r>
              <a:rPr lang="en-US" dirty="0"/>
              <a:t> (</a:t>
            </a:r>
            <a:r>
              <a:rPr lang="ru-RU" dirty="0"/>
              <a:t>п</a:t>
            </a:r>
            <a:r>
              <a:rPr lang="en-US" dirty="0" err="1"/>
              <a:t>роверка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фрагмента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)</a:t>
            </a:r>
          </a:p>
          <a:p>
            <a:r>
              <a:rPr lang="en-US" dirty="0" err="1"/>
              <a:t>Достоинства</a:t>
            </a:r>
            <a:endParaRPr lang="en-US" dirty="0"/>
          </a:p>
          <a:p>
            <a:pPr lvl="1"/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 </a:t>
            </a:r>
          </a:p>
          <a:p>
            <a:pPr lvl="1"/>
            <a:r>
              <a:rPr lang="en-US" dirty="0" err="1"/>
              <a:t>Поддержка</a:t>
            </a:r>
            <a:r>
              <a:rPr lang="en-US" dirty="0"/>
              <a:t> </a:t>
            </a:r>
            <a:r>
              <a:rPr lang="en-US" dirty="0" err="1"/>
              <a:t>динамических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Совместим</a:t>
            </a:r>
            <a:r>
              <a:rPr lang="en-US" dirty="0"/>
              <a:t> с </a:t>
            </a:r>
            <a:r>
              <a:rPr lang="en-US" dirty="0" err="1"/>
              <a:t>современными</a:t>
            </a:r>
            <a:r>
              <a:rPr lang="en-US" dirty="0"/>
              <a:t> </a:t>
            </a:r>
            <a:r>
              <a:rPr lang="en-US" dirty="0" err="1"/>
              <a:t>движками</a:t>
            </a:r>
            <a:r>
              <a:rPr lang="en-US" dirty="0"/>
              <a:t> </a:t>
            </a:r>
          </a:p>
          <a:p>
            <a:r>
              <a:rPr lang="en-US" dirty="0" err="1"/>
              <a:t>Недостатки</a:t>
            </a:r>
            <a:endParaRPr lang="en-US" dirty="0"/>
          </a:p>
          <a:p>
            <a:pPr lvl="1"/>
            <a:r>
              <a:rPr lang="en-US" dirty="0"/>
              <a:t>Aliasing </a:t>
            </a:r>
          </a:p>
          <a:p>
            <a:pPr lvl="1"/>
            <a:r>
              <a:rPr lang="en-US" dirty="0"/>
              <a:t>Shadow acne </a:t>
            </a:r>
          </a:p>
          <a:p>
            <a:pPr lvl="1"/>
            <a:r>
              <a:rPr lang="en-US" dirty="0"/>
              <a:t>Peter Panning </a:t>
            </a:r>
          </a:p>
          <a:p>
            <a:pPr lvl="1"/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shadow map 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игры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Shadow Maps?</a:t>
            </a:r>
          </a:p>
          <a:p>
            <a:pPr lvl="1"/>
            <a:r>
              <a:rPr lang="en-US" dirty="0" err="1"/>
              <a:t>Эффективная</a:t>
            </a:r>
            <a:r>
              <a:rPr lang="en-US" dirty="0"/>
              <a:t> </a:t>
            </a:r>
            <a:r>
              <a:rPr lang="en-US" dirty="0" err="1"/>
              <a:t>аппаратная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deferred rendering </a:t>
            </a:r>
          </a:p>
          <a:p>
            <a:pPr lvl="1"/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открытых</a:t>
            </a:r>
            <a:r>
              <a:rPr lang="en-US" dirty="0"/>
              <a:t> </a:t>
            </a:r>
            <a:r>
              <a:rPr lang="en-US" dirty="0" err="1"/>
              <a:t>миров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расширяется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PCF </a:t>
            </a:r>
          </a:p>
          <a:p>
            <a:pPr lvl="2"/>
            <a:r>
              <a:rPr lang="en-US" dirty="0"/>
              <a:t>Cascaded Shadow Maps </a:t>
            </a:r>
          </a:p>
          <a:p>
            <a:pPr lvl="2"/>
            <a:r>
              <a:rPr lang="en-US" dirty="0"/>
              <a:t>Soft Shadows </a:t>
            </a:r>
          </a:p>
          <a:p>
            <a:pPr lvl="2"/>
            <a:r>
              <a:rPr lang="en-US" dirty="0"/>
              <a:t>Variance Shadow Maps</a:t>
            </a:r>
          </a:p>
        </p:txBody>
      </p:sp>
    </p:spTree>
    <p:extLst>
      <p:ext uri="{BB962C8B-B14F-4D97-AF65-F5344CB8AC3E}">
        <p14:creationId xmlns:p14="http://schemas.microsoft.com/office/powerpoint/2010/main" val="259523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2220</TotalTime>
  <Words>6684</Words>
  <Application>Microsoft Office PowerPoint</Application>
  <PresentationFormat>Widescreen</PresentationFormat>
  <Paragraphs>843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Consolas</vt:lpstr>
      <vt:lpstr>Impact</vt:lpstr>
      <vt:lpstr>Office Theme</vt:lpstr>
      <vt:lpstr>Визуализация теней в реальном времени</vt:lpstr>
      <vt:lpstr>Тени как средство повышения реалистичности изображения</vt:lpstr>
      <vt:lpstr>Почему тени в реальном времени — это сложная задача</vt:lpstr>
      <vt:lpstr>Основные подходы к реализации теней</vt:lpstr>
      <vt:lpstr>Stencil Shadow Volume</vt:lpstr>
      <vt:lpstr>Shadow volume (теневой объем)</vt:lpstr>
      <vt:lpstr>Теневой объем</vt:lpstr>
      <vt:lpstr>Построение теневого объема</vt:lpstr>
      <vt:lpstr>Критерий принадлежности к затененной части сцены</vt:lpstr>
      <vt:lpstr>Требования к модели</vt:lpstr>
      <vt:lpstr>Stencil Shadow Volume</vt:lpstr>
      <vt:lpstr>Алгоритм Depth-pass</vt:lpstr>
      <vt:lpstr>Алгоритм Depth-Pass</vt:lpstr>
      <vt:lpstr>Depth-pass алгоритм</vt:lpstr>
      <vt:lpstr>Проблема Depth-pass алгоритма</vt:lpstr>
      <vt:lpstr>Алгоритм Depth-fail</vt:lpstr>
      <vt:lpstr>Алгоритм Depth Fail (алгоритм Кармака)</vt:lpstr>
      <vt:lpstr>Требования к Depth-Fail-алгоритму</vt:lpstr>
      <vt:lpstr>Depth-fail алгоритм</vt:lpstr>
      <vt:lpstr>Depth-fail алгоритм</vt:lpstr>
      <vt:lpstr>Возможная проблема depth fail-алгоритма</vt:lpstr>
      <vt:lpstr>Модификация матрицы проецирования</vt:lpstr>
      <vt:lpstr>Решение проблемы отсечения дальней плоскостью</vt:lpstr>
      <vt:lpstr>Проецирование бесконечно удаленной точки</vt:lpstr>
      <vt:lpstr>Проецирование конечно удаленной точки</vt:lpstr>
      <vt:lpstr>PowerPoint Presentation</vt:lpstr>
      <vt:lpstr>Достоинства технологии Stencil Shadow volumes</vt:lpstr>
      <vt:lpstr>Недостатки технологии</vt:lpstr>
      <vt:lpstr>Построение теневого объема на GPU</vt:lpstr>
      <vt:lpstr>Особенности построения теневого объема на GPU</vt:lpstr>
      <vt:lpstr>Дополнение полигональной сетки</vt:lpstr>
      <vt:lpstr>Вытягивание вершин нелицевых граней</vt:lpstr>
      <vt:lpstr>Вершинный шейдер</vt:lpstr>
      <vt:lpstr>Оптимизации</vt:lpstr>
      <vt:lpstr>Построение теневого объема в геометрическом шейдере</vt:lpstr>
      <vt:lpstr>Shadow mapping</vt:lpstr>
      <vt:lpstr>Shadow Mapping</vt:lpstr>
      <vt:lpstr>Иллюстрация алгоритма Shadow Mapping</vt:lpstr>
      <vt:lpstr>Построение тени</vt:lpstr>
      <vt:lpstr>Затенение</vt:lpstr>
      <vt:lpstr>Добавление смещения к глубине полигонов</vt:lpstr>
      <vt:lpstr>Трансформация в систему координат источника света</vt:lpstr>
      <vt:lpstr>«Тест глубины» с использованием карты теней</vt:lpstr>
      <vt:lpstr>Достоинства Shadow Maps</vt:lpstr>
      <vt:lpstr>Недостатки</vt:lpstr>
      <vt:lpstr>Итоги: shadow volumes</vt:lpstr>
      <vt:lpstr>Итоги: shadow 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Aleksey Malov</dc:creator>
  <cp:lastModifiedBy>K5 318</cp:lastModifiedBy>
  <cp:revision>425</cp:revision>
  <dcterms:created xsi:type="dcterms:W3CDTF">2010-12-14T05:50:03Z</dcterms:created>
  <dcterms:modified xsi:type="dcterms:W3CDTF">2026-05-25T17:44:28Z</dcterms:modified>
</cp:coreProperties>
</file>