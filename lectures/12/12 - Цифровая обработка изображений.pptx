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9" r:id="rId4"/>
    <p:sldId id="364" r:id="rId5"/>
    <p:sldId id="363" r:id="rId6"/>
    <p:sldId id="260" r:id="rId7"/>
    <p:sldId id="261" r:id="rId8"/>
    <p:sldId id="365" r:id="rId9"/>
    <p:sldId id="262" r:id="rId10"/>
    <p:sldId id="264" r:id="rId11"/>
    <p:sldId id="270" r:id="rId12"/>
    <p:sldId id="265" r:id="rId13"/>
    <p:sldId id="268" r:id="rId14"/>
    <p:sldId id="266" r:id="rId15"/>
    <p:sldId id="285" r:id="rId16"/>
    <p:sldId id="287" r:id="rId17"/>
    <p:sldId id="288" r:id="rId18"/>
    <p:sldId id="271" r:id="rId19"/>
    <p:sldId id="284" r:id="rId20"/>
    <p:sldId id="278" r:id="rId21"/>
    <p:sldId id="279" r:id="rId22"/>
    <p:sldId id="289" r:id="rId23"/>
    <p:sldId id="366" r:id="rId24"/>
    <p:sldId id="290" r:id="rId25"/>
    <p:sldId id="291" r:id="rId26"/>
    <p:sldId id="292" r:id="rId27"/>
    <p:sldId id="293" r:id="rId28"/>
    <p:sldId id="367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30" r:id="rId41"/>
    <p:sldId id="332" r:id="rId42"/>
    <p:sldId id="333" r:id="rId43"/>
    <p:sldId id="306" r:id="rId44"/>
    <p:sldId id="331" r:id="rId45"/>
    <p:sldId id="368" r:id="rId46"/>
    <p:sldId id="369" r:id="rId47"/>
    <p:sldId id="370" r:id="rId48"/>
    <p:sldId id="337" r:id="rId49"/>
    <p:sldId id="360" r:id="rId50"/>
    <p:sldId id="361" r:id="rId51"/>
    <p:sldId id="371" r:id="rId52"/>
    <p:sldId id="352" r:id="rId53"/>
    <p:sldId id="372" r:id="rId54"/>
    <p:sldId id="373" r:id="rId55"/>
    <p:sldId id="374" r:id="rId56"/>
    <p:sldId id="320" r:id="rId57"/>
    <p:sldId id="321" r:id="rId58"/>
    <p:sldId id="375" r:id="rId59"/>
    <p:sldId id="376" r:id="rId60"/>
    <p:sldId id="377" r:id="rId61"/>
    <p:sldId id="378" r:id="rId62"/>
    <p:sldId id="379" r:id="rId63"/>
    <p:sldId id="380" r:id="rId64"/>
    <p:sldId id="381" r:id="rId65"/>
    <p:sldId id="386" r:id="rId66"/>
    <p:sldId id="383" r:id="rId67"/>
    <p:sldId id="382" r:id="rId68"/>
    <p:sldId id="387" r:id="rId69"/>
    <p:sldId id="384" r:id="rId70"/>
    <p:sldId id="385" r:id="rId71"/>
    <p:sldId id="388" r:id="rId72"/>
    <p:sldId id="325" r:id="rId73"/>
    <p:sldId id="389" r:id="rId74"/>
    <p:sldId id="390" r:id="rId75"/>
    <p:sldId id="391" r:id="rId76"/>
    <p:sldId id="336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1" autoAdjust="0"/>
    <p:restoredTop sz="59951" autoAdjust="0"/>
  </p:normalViewPr>
  <p:slideViewPr>
    <p:cSldViewPr snapToGrid="0" showGuides="1">
      <p:cViewPr>
        <p:scale>
          <a:sx n="66" d="100"/>
          <a:sy n="66" d="100"/>
        </p:scale>
        <p:origin x="2178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0CB7EE-E2A3-44CC-8B67-BB0131D3BD2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23D5B-7383-46CD-9583-7E6A0047D9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841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96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Цифровое изображение представляет собой дискретную модель реального визуального объекта. В отличие от непрерывного изображения, формируемого оптической системой, цифровое изображение хранится в памяти компьютера в виде набора отдельных элементов — пикселей.</a:t>
            </a:r>
          </a:p>
          <a:p>
            <a:endParaRPr lang="ru-RU" dirty="0"/>
          </a:p>
          <a:p>
            <a:r>
              <a:rPr lang="ru-RU" dirty="0"/>
              <a:t>Пиксель является минимальным элементом растрового изображения. Каждый пиксель содержит численные значения, описывающие цвет или яркость в соответствующей точке изображения.</a:t>
            </a:r>
          </a:p>
          <a:p>
            <a:r>
              <a:rPr lang="ru-RU" dirty="0"/>
              <a:t>На практике изображение можно рассматривать как двумерную матрицу:</a:t>
            </a:r>
            <a:br>
              <a:rPr lang="ru-RU" dirty="0"/>
            </a:br>
            <a:r>
              <a:rPr lang="ru-RU" dirty="0"/>
              <a:t>каждая строка и каждый столбец соответствуют координатам пикселя, а значения в ячейках определяют его цветовые характеристики.</a:t>
            </a:r>
          </a:p>
          <a:p>
            <a:endParaRPr lang="ru-RU" dirty="0"/>
          </a:p>
          <a:p>
            <a:r>
              <a:rPr lang="ru-RU" dirty="0"/>
              <a:t>Одной из ключевых характеристик изображения является разрешение — количество пикселей по горизонтали и вертикали. Чем выше разрешение, тем больше деталей может содержать изображение. Однако увеличение разрешения также приводит к росту объёма данных и вычислительных затрат при обработке.</a:t>
            </a:r>
          </a:p>
          <a:p>
            <a:endParaRPr lang="ru-RU" dirty="0"/>
          </a:p>
          <a:p>
            <a:r>
              <a:rPr lang="ru-RU" dirty="0"/>
              <a:t>Вторая важная характеристика — глубина цвета. Она определяет количество бит, используемых для кодирования цвета одного пикселя. Например, при использовании 8 бит можно представить 256 различных значений яркости. В наиболее распространённом формате RGB обычно используется 24 бита на пиксель — по 8 бит на каждый цветовой канал: красный, зелёный и синий.</a:t>
            </a:r>
          </a:p>
          <a:p>
            <a:endParaRPr lang="ru-RU" dirty="0"/>
          </a:p>
          <a:p>
            <a:r>
              <a:rPr lang="ru-RU" dirty="0"/>
              <a:t>Следует обратить внимание, что компьютер хранит изображение не как «картинку», а как набор чисел. Именно поэтому изображение можно анализировать математически, применять фильтрацию, преобразования и алгоритмы компьютерного зрения.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46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Цифровая обработка изображений занимается преобразованием изображений с помощью математических алгоритмов и вычислительных методов.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Основная идея заключается в том, что изображение рассматривается как набор численных данных, над которыми можно выполнять различные операции: изменять яркость, устранять шум, выделять объекты или извлекать полезную информацию.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Одной из важнейших задач обработки изображений является улучшение визуального качества. Сюда относятся повышение резкости, коррекция яркости и контраста, удаление шумов и восстановление повреждённых изображений.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Вторая крупная область — анализ содержимого изображения. Здесь обработка изображений используется для выделения объектов, обнаружения границ, сегментации сцен и подготовки данных для систем компьютерного зрения и искусственного интеллекта.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Кроме того, обработка изображений широко применяется в задачах сжатия данных. Например, современные форматы JPEG и MPEG используют особенности восприятия человеческого зрения для уменьшения объёма хранимой информации.</a:t>
            </a:r>
            <a:endParaRPr lang="en-US" dirty="0"/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578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 цифровая обработка изображений используется практически во всех областях современной вычислительной техники: от камер смартфонов и графических редакторов до медицинской диагностики, спутниковых систем наблюдения и беспилотного транспорта.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95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 точки зрения методов обработки можно выделить несколько основных направлений.</a:t>
            </a:r>
          </a:p>
          <a:p>
            <a:endParaRPr lang="ru-RU" dirty="0"/>
          </a:p>
          <a:p>
            <a:r>
              <a:rPr lang="ru-RU" dirty="0"/>
              <a:t>Геометрические преобразования изменяют пространственную структуру изображения: выполняют масштабирование, поворот или коррекцию перспективы.</a:t>
            </a:r>
          </a:p>
          <a:p>
            <a:endParaRPr lang="ru-RU" dirty="0"/>
          </a:p>
          <a:p>
            <a:r>
              <a:rPr lang="ru-RU" dirty="0"/>
              <a:t>Фильтрация используется для сглаживания изображений, подавления шумов или усиления деталей.</a:t>
            </a:r>
          </a:p>
          <a:p>
            <a:endParaRPr lang="ru-RU" dirty="0"/>
          </a:p>
          <a:p>
            <a:r>
              <a:rPr lang="ru-RU" dirty="0"/>
              <a:t>Цветовые преобразования позволяют переходить между различными цветовыми моделями, например RGB, HSV или </a:t>
            </a:r>
            <a:r>
              <a:rPr lang="ru-RU" dirty="0" err="1"/>
              <a:t>YCbCr</a:t>
            </a:r>
            <a:r>
              <a:rPr lang="ru-RU" dirty="0"/>
              <a:t>, в зависимости от поставленной задачи.</a:t>
            </a:r>
          </a:p>
          <a:p>
            <a:endParaRPr lang="ru-RU" dirty="0"/>
          </a:p>
          <a:p>
            <a:r>
              <a:rPr lang="ru-RU" dirty="0"/>
              <a:t>Отдельное направление связано с частотным анализом изображений, основанным на преобразовании Фурье. Такие методы применяются при шумоподавлении, компрессии и анализе структуры изображения.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72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60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работе с цифровыми изображениями возникает необходимость хранить и обрабатывать информацию о цвете в численной форме. Для этого используются цветовые модели.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Цветовая модель определяет способ представления цвета с помощью набора числовых компонентов. Иначе говоря, она задаёт систему координат в пространстве цветов.</a:t>
            </a:r>
          </a:p>
          <a:p>
            <a:endParaRPr lang="en-US" dirty="0"/>
          </a:p>
          <a:p>
            <a:r>
              <a:rPr lang="ru-RU" dirty="0"/>
              <a:t>Следует понимать, что одна и та же воспринимаемая человеком окраска может быть представлена различными способами. Выбор конкретной модели зависит от решаемой задачи.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00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Например, модель RGB используется в устройствах отображения — мониторах, телевизорах, проекторах. Она основана на смешении трёх базовых световых компонентов: красного, зелёного и синего.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полиграфии применяется модель CMYK, основанная на смешении красок. В отличие от RGB, она является субтрактивной: краски не излучают свет, а поглощают его.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Модели HSV и HSL были разработаны для более интуитивного представления цвета. Они удобны для редактирования изображений и настройки оттенка, насыщенности и яркости.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системах </a:t>
            </a:r>
            <a:r>
              <a:rPr lang="ru-RU" dirty="0" err="1"/>
              <a:t>видеосжатия</a:t>
            </a:r>
            <a:r>
              <a:rPr lang="ru-RU" dirty="0"/>
              <a:t> и цифрового телевидения широко используется модель </a:t>
            </a:r>
            <a:r>
              <a:rPr lang="ru-RU" dirty="0" err="1"/>
              <a:t>YCbCr</a:t>
            </a:r>
            <a:r>
              <a:rPr lang="ru-RU" dirty="0"/>
              <a:t>, в которой яркость отделяется от цветовой информации. Это позволяет эффективнее выполнять сжатие данных, поскольку человеческое зрение значительно чувствительнее к изменениям яркости, чем цвета.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Отдельную группу составляют аппаратно-независимые модели, такие как CIELAB и XYZ. Они применяются в задачах точного измерения и сравнения цветов, а также при калибровке оборудования.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отметить, что цветовая модель не изменяет сам цвет объекта. Она лишь задаёт математический способ его представления и обработки в вычислительной системе.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39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RGB является основной цветовой моделью современной цифровой графики и используется практически во всех устройствах отображения изображения.</a:t>
            </a:r>
          </a:p>
          <a:p>
            <a:endParaRPr lang="ru-RU" dirty="0"/>
          </a:p>
          <a:p>
            <a:r>
              <a:rPr lang="ru-RU" dirty="0"/>
              <a:t>Название модели образовано от первых букв трёх базовых цветовых компонентов:</a:t>
            </a:r>
            <a:br>
              <a:rPr lang="ru-RU" dirty="0"/>
            </a:br>
            <a:r>
              <a:rPr lang="ru-RU" dirty="0"/>
              <a:t>Red — красный,</a:t>
            </a:r>
            <a:br>
              <a:rPr lang="ru-RU" dirty="0"/>
            </a:br>
            <a:r>
              <a:rPr lang="ru-RU" dirty="0"/>
              <a:t>Green — зелёный,</a:t>
            </a:r>
            <a:br>
              <a:rPr lang="ru-RU" dirty="0"/>
            </a:br>
            <a:r>
              <a:rPr lang="ru-RU" dirty="0"/>
              <a:t>Blue — синий.</a:t>
            </a:r>
          </a:p>
          <a:p>
            <a:endParaRPr lang="ru-RU" dirty="0"/>
          </a:p>
          <a:p>
            <a:r>
              <a:rPr lang="ru-RU" dirty="0"/>
              <a:t>Каждый цвет в модели RGB задаётся комбинацией интенсивностей этих трёх компонентов. Например, значение RGB = (255, 0, 0) соответствует чистому красному цвету, а RGB = (255, 255, 255) — белому.</a:t>
            </a:r>
          </a:p>
          <a:p>
            <a:endParaRPr lang="ru-RU" dirty="0"/>
          </a:p>
          <a:p>
            <a:r>
              <a:rPr lang="ru-RU" dirty="0"/>
              <a:t>Модель RGB является аддитивной. Это означает, что цвет формируется путём сложения световых потоков. Чем больше интенсивность компонентов, тем ярче результирующий цвет.</a:t>
            </a:r>
          </a:p>
          <a:p>
            <a:endParaRPr lang="ru-RU" dirty="0"/>
          </a:p>
          <a:p>
            <a:r>
              <a:rPr lang="ru-RU" dirty="0"/>
              <a:t>При отсутствии всех компонентов получается чёрный цвет. При максимальной интенсивности всех трёх каналов формируется белый цвет.</a:t>
            </a:r>
          </a:p>
          <a:p>
            <a:endParaRPr lang="ru-RU" dirty="0"/>
          </a:p>
          <a:p>
            <a:r>
              <a:rPr lang="ru-RU" dirty="0"/>
              <a:t>Именно поэтому RGB используется в устройствах, которые излучают свет: мониторах, телевизорах, смартфонах, проекторах и LED-дисплеях.</a:t>
            </a:r>
          </a:p>
          <a:p>
            <a:endParaRPr lang="ru-RU" dirty="0"/>
          </a:p>
          <a:p>
            <a:r>
              <a:rPr lang="ru-RU" dirty="0"/>
              <a:t>С точки зрения вычислительной техники цвет в RGB хранится как набор чисел. Обычно для каждого канала используется 8 бит, что позволяет представить 256 уровней интенсивности.</a:t>
            </a:r>
          </a:p>
          <a:p>
            <a:endParaRPr lang="ru-RU" dirty="0"/>
          </a:p>
          <a:p>
            <a:r>
              <a:rPr lang="ru-RU" dirty="0"/>
              <a:t>В стандартном формате RGB8 суммарно используется 24 бита:</a:t>
            </a:r>
            <a:br>
              <a:rPr lang="ru-RU" dirty="0"/>
            </a:br>
            <a:r>
              <a:rPr lang="ru-RU" dirty="0"/>
              <a:t>по 8 бит на красный, зелёный и синий каналы. Это позволяет представить более 16 миллионов различных цветов.</a:t>
            </a:r>
          </a:p>
          <a:p>
            <a:endParaRPr lang="ru-RU" dirty="0"/>
          </a:p>
          <a:p>
            <a:r>
              <a:rPr lang="ru-RU" dirty="0"/>
              <a:t>В профессиональной графике, обработке HDR-изображений и современных графических движках применяются форматы с повышенной точностью — например, 16-битные целочисленные или 32-битные </a:t>
            </a:r>
            <a:r>
              <a:rPr lang="ru-RU" dirty="0" err="1"/>
              <a:t>floating-point</a:t>
            </a:r>
            <a:r>
              <a:rPr lang="ru-RU" dirty="0"/>
              <a:t> значения.</a:t>
            </a:r>
          </a:p>
          <a:p>
            <a:endParaRPr lang="ru-RU" dirty="0"/>
          </a:p>
          <a:p>
            <a:r>
              <a:rPr lang="ru-RU" dirty="0"/>
              <a:t>Важно понимать, что RGB описывает не физический цвет объекта, а параметры излучаемого света. Поэтому одна и та же RGB-комбинация может восприниматься по-разному на разных устройствах отображения без дополнительной калибровки.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094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1A56A55D-B549-3CA6-594E-A4E6D8C313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15054F3B-2D69-3273-B00E-E50A5B24B3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Несмотря на широкое распространение, модель RGB имеет ряд фундаментальных ограничений.</a:t>
            </a:r>
          </a:p>
          <a:p>
            <a:r>
              <a:rPr lang="ru-RU" dirty="0"/>
              <a:t>Главное ограничение связано с тем, что RGB не может представить все цвета, различимые человеческим зрением.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диаграмме CIE показана область цветов, воспринимаемых человеком. Цветной треугольник внутри диаграммы соответствует цветовому охвату стандартного RGB-пространства. Видно, что RGB покрывает лишь часть всех видимых цветов.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Цвета, находящиеся вне этого треугольника, невозможно точно представить средствами стандартной RGB-модели. При отображении таких цветов система вынуждена заменять их ближайшими доступными значениями. Это приводит к потере точности цветопередачи.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Второе важное ограничение состоит в зависимости RGB от конкретного устройства отображения.</a:t>
            </a:r>
          </a:p>
          <a:p>
            <a:r>
              <a:rPr lang="ru-RU" dirty="0"/>
              <a:t>Одинаковые значения RGB могут визуально отличаться на разных мониторах, телевизорах или проекторах. Причина заключается в различии характеристик матриц, подсветки, цветовых профилей и калибровки устройств.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в профессиональной графике применяются системы управления цветом и цветовые профили, например ICC-профили.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Ещё одна проблема RGB связана с особенностями человеческого восприятия.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Человек воспринимает изменения цвета нелинейно. Однако пространство RGB не является </a:t>
            </a:r>
            <a:r>
              <a:rPr lang="ru-RU" dirty="0" err="1"/>
              <a:t>перцептуально</a:t>
            </a:r>
            <a:r>
              <a:rPr lang="ru-RU" dirty="0"/>
              <a:t> равномерным. Это означает, что одинаковое изменение числовых компонент RGB не обязательно приводит к одинаковому визуальному изменению цвета.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Из-за этого RGB неудобна для задач анализа цвета, сравнения изображений и коррекции цветовых характеристик.</a:t>
            </a:r>
            <a:r>
              <a:rPr lang="en-US" dirty="0"/>
              <a:t> </a:t>
            </a:r>
            <a:r>
              <a:rPr lang="ru-RU" dirty="0"/>
              <a:t>По этой причине в цифровой обработке изображений используются и другие цветовые модели.</a:t>
            </a:r>
          </a:p>
          <a:p>
            <a:r>
              <a:rPr lang="ru-RU" dirty="0"/>
              <a:t>Например, HSV и HSL удобны для интерактивного редактирования цвета, </a:t>
            </a:r>
            <a:r>
              <a:rPr lang="ru-RU" dirty="0" err="1"/>
              <a:t>YCbCr</a:t>
            </a:r>
            <a:r>
              <a:rPr lang="ru-RU" dirty="0"/>
              <a:t> применяется в системах </a:t>
            </a:r>
            <a:r>
              <a:rPr lang="ru-RU" dirty="0" err="1"/>
              <a:t>видеосжатия</a:t>
            </a:r>
            <a:r>
              <a:rPr lang="ru-RU" dirty="0"/>
              <a:t>, а LAB используется в задачах, где важна близость к человеческому восприятию цвета.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53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Цветовая модель CMYK используется в полиграфии и устройствах печати.</a:t>
            </a:r>
          </a:p>
          <a:p>
            <a:r>
              <a:rPr lang="ru-RU" dirty="0"/>
              <a:t>Название модели образовано от четырёх базовых компонентов:</a:t>
            </a:r>
            <a:br>
              <a:rPr lang="ru-RU" dirty="0"/>
            </a:br>
            <a:r>
              <a:rPr lang="ru-RU" dirty="0" err="1"/>
              <a:t>Cyan</a:t>
            </a:r>
            <a:r>
              <a:rPr lang="ru-RU" dirty="0"/>
              <a:t> — голубой,</a:t>
            </a:r>
            <a:br>
              <a:rPr lang="ru-RU" dirty="0"/>
            </a:br>
            <a:r>
              <a:rPr lang="ru-RU" dirty="0" err="1"/>
              <a:t>Magenta</a:t>
            </a:r>
            <a:r>
              <a:rPr lang="ru-RU" dirty="0"/>
              <a:t> — пурпурный,</a:t>
            </a:r>
            <a:br>
              <a:rPr lang="ru-RU" dirty="0"/>
            </a:br>
            <a:r>
              <a:rPr lang="ru-RU" dirty="0"/>
              <a:t>Yellow — жёлтый,</a:t>
            </a:r>
            <a:br>
              <a:rPr lang="ru-RU" dirty="0"/>
            </a:br>
            <a:r>
              <a:rPr lang="ru-RU" dirty="0"/>
              <a:t>Black — чёрный.</a:t>
            </a:r>
          </a:p>
          <a:p>
            <a:r>
              <a:rPr lang="ru-RU" dirty="0"/>
              <a:t>В отличие от RGB, модель CMYK является субтрактивной.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RGB формирует цвет путём сложения световых потоков, то CMYK работает противоположным образом — краски поглощают часть падающего света и отражают оставшуюся часть.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голубая краска поглощает красную составляющую света, пурпурная — зелёную, а жёлтая — синюю.</a:t>
            </a:r>
          </a:p>
          <a:p>
            <a:endParaRPr lang="en-US" dirty="0"/>
          </a:p>
          <a:p>
            <a:r>
              <a:rPr lang="ru-RU" dirty="0"/>
              <a:t>При отсутствии красок поверхность бумаги остаётся белой и отражает весь падающий свет. При нанесении нескольких красок одновременно количество отражённого света уменьшается, и изображение становится темнее.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Теоретически комбинация голубой, пурпурной и жёлтой красок должна давать чёрный цвет. Однако на практике из-за несовершенства красителей получается тёмно-коричневый оттенок. Поэтому в модель был добавлен отдельный чёрный канал K.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Использование отдельной чёрной краски: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улучшает контраст;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уменьшает расход цветных чернил;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повышает качество печати текста и теней. 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понимать, что RGB и CMYK имеют различный цветовой охват.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Монитор излучает свет, а бумага лишь отражает его. Поэтому некоторые яркие и насыщенные RGB-цвета невозможно точно воспроизвести при печати. Именно по этой причине при подготовке изображений к полиграфии выполняется преобразование между цветовыми пространствами и калибровка оборудования.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23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5C1D62EE-FE0E-10D0-B5AB-901AABCB67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169A7654-C729-334D-763F-85AF36E25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Модель HSL была разработана как более удобное и интуитивное представление цвета по сравнению с RGB.</a:t>
            </a:r>
          </a:p>
          <a:p>
            <a:r>
              <a:rPr lang="ru-RU" dirty="0"/>
              <a:t>В RGB цвет задаётся интенсивностями трёх компонент — красной, зелёной и синей. Однако человеку обычно неудобно мыслить цвет в таком виде.</a:t>
            </a:r>
          </a:p>
          <a:p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Например, при редактировании изображения пользователь чаще хочет:</a:t>
            </a:r>
            <a:br>
              <a:rPr lang="ru-RU" dirty="0"/>
            </a:br>
            <a:r>
              <a:rPr lang="ru-RU" dirty="0"/>
              <a:t>изменить оттенок,</a:t>
            </a:r>
            <a:br>
              <a:rPr lang="ru-RU" dirty="0"/>
            </a:br>
            <a:r>
              <a:rPr lang="ru-RU" dirty="0"/>
              <a:t>сделать цвет более насыщенным,</a:t>
            </a:r>
            <a:br>
              <a:rPr lang="ru-RU" dirty="0"/>
            </a:br>
            <a:r>
              <a:rPr lang="ru-RU" dirty="0"/>
              <a:t>либо осветлить изображение.</a:t>
            </a:r>
          </a:p>
          <a:p>
            <a:endParaRPr lang="ru-RU" dirty="0"/>
          </a:p>
          <a:p>
            <a:r>
              <a:rPr lang="ru-RU" dirty="0"/>
              <a:t>Именно для этого используется модель HSL.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Название HSL образовано от трёх компонент:</a:t>
            </a:r>
            <a:br>
              <a:rPr lang="ru-RU" dirty="0"/>
            </a:br>
            <a:r>
              <a:rPr lang="ru-RU" dirty="0" err="1"/>
              <a:t>Hue</a:t>
            </a:r>
            <a:r>
              <a:rPr lang="ru-RU" dirty="0"/>
              <a:t> — цветовой тон,</a:t>
            </a:r>
            <a:br>
              <a:rPr lang="ru-RU" dirty="0"/>
            </a:br>
            <a:r>
              <a:rPr lang="ru-RU" dirty="0" err="1"/>
              <a:t>Saturation</a:t>
            </a:r>
            <a:r>
              <a:rPr lang="ru-RU" dirty="0"/>
              <a:t> — насыщенность,</a:t>
            </a:r>
            <a:br>
              <a:rPr lang="ru-RU" dirty="0"/>
            </a:br>
            <a:r>
              <a:rPr lang="ru-RU" dirty="0" err="1"/>
              <a:t>Lightness</a:t>
            </a:r>
            <a:r>
              <a:rPr lang="ru-RU" dirty="0"/>
              <a:t> — светлота.</a:t>
            </a:r>
          </a:p>
          <a:p>
            <a:endParaRPr lang="ru-RU" dirty="0"/>
          </a:p>
          <a:p>
            <a:r>
              <a:rPr lang="ru-RU" dirty="0"/>
              <a:t>Компонента </a:t>
            </a:r>
            <a:r>
              <a:rPr lang="ru-RU" dirty="0" err="1"/>
              <a:t>Hue</a:t>
            </a:r>
            <a:r>
              <a:rPr lang="ru-RU" dirty="0"/>
              <a:t> задаёт сам оттенок цвета и обычно измеряется в градусах на цветовом круге.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Например:</a:t>
            </a:r>
            <a:br>
              <a:rPr lang="ru-RU" dirty="0"/>
            </a:br>
            <a:r>
              <a:rPr lang="ru-RU" dirty="0"/>
              <a:t>0 градусов соответствует красному цвету,</a:t>
            </a:r>
            <a:br>
              <a:rPr lang="ru-RU" dirty="0"/>
            </a:br>
            <a:r>
              <a:rPr lang="ru-RU" dirty="0"/>
              <a:t>120 градусов — зелёному,</a:t>
            </a:r>
            <a:br>
              <a:rPr lang="ru-RU" dirty="0"/>
            </a:br>
            <a:r>
              <a:rPr lang="ru-RU" dirty="0"/>
              <a:t>240 градусов — синему.</a:t>
            </a:r>
          </a:p>
          <a:p>
            <a:endParaRPr lang="ru-RU" dirty="0"/>
          </a:p>
          <a:p>
            <a:r>
              <a:rPr lang="ru-RU" dirty="0"/>
              <a:t>Компонента </a:t>
            </a:r>
            <a:r>
              <a:rPr lang="ru-RU" dirty="0" err="1"/>
              <a:t>Saturation</a:t>
            </a:r>
            <a:r>
              <a:rPr lang="ru-RU" dirty="0"/>
              <a:t> определяет степень насыщенности цвета.</a:t>
            </a:r>
          </a:p>
          <a:p>
            <a:r>
              <a:rPr lang="ru-RU" dirty="0"/>
              <a:t>При уменьшении насыщенности цвет становится более серым и менее выразительным.</a:t>
            </a:r>
          </a:p>
          <a:p>
            <a:endParaRPr lang="ru-RU" dirty="0"/>
          </a:p>
          <a:p>
            <a:r>
              <a:rPr lang="ru-RU" dirty="0"/>
              <a:t>Компонента </a:t>
            </a:r>
            <a:r>
              <a:rPr lang="ru-RU" dirty="0" err="1"/>
              <a:t>Lightness</a:t>
            </a:r>
            <a:r>
              <a:rPr lang="ru-RU" dirty="0"/>
              <a:t> отвечает за светлоту цвета.</a:t>
            </a:r>
          </a:p>
          <a:p>
            <a:r>
              <a:rPr lang="ru-RU" dirty="0"/>
              <a:t>При минимальном значении получается чёрный цвет, при максимальном — белый.</a:t>
            </a:r>
          </a:p>
          <a:p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Геометрически пространство HSL обычно представляют в виде двойного конуса или цилиндра, где:</a:t>
            </a:r>
            <a:br>
              <a:rPr lang="ru-RU" dirty="0"/>
            </a:br>
            <a:r>
              <a:rPr lang="ru-RU" dirty="0"/>
              <a:t>угол соответствует оттенку,</a:t>
            </a:r>
            <a:br>
              <a:rPr lang="ru-RU" dirty="0"/>
            </a:br>
            <a:r>
              <a:rPr lang="ru-RU" dirty="0"/>
              <a:t>расстояние от центра — насыщенности,</a:t>
            </a:r>
            <a:br>
              <a:rPr lang="ru-RU" dirty="0"/>
            </a:br>
            <a:r>
              <a:rPr lang="ru-RU" dirty="0"/>
              <a:t>а вертикальная ось — светлоте.</a:t>
            </a:r>
          </a:p>
          <a:p>
            <a:endParaRPr lang="ru-RU" dirty="0"/>
          </a:p>
          <a:p>
            <a:r>
              <a:rPr lang="ru-RU" dirty="0"/>
              <a:t>Следует отметить, что HSL не является физически точной моделью цвета. Она была создана прежде всего для удобства взаимодействия человека с цветом.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Поэтому HSL широко используется: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 графических редакторах,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интерфейсах выбора цвета,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системах визуального редактирования,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также в задачах обработки изображений, где важно отдельно управлять оттенком, насыщенностью и светлотой.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979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637C90C6-1A72-EA63-746F-A4EC1D6BB0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4047978D-3221-7FB3-ACFA-9583B100BE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01406051-3321-FCDD-9EAA-04AC5B45A0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92F02D2E-CA4C-D1AD-589E-D809DD29D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22BDDD24-911A-DAC1-6FA1-AA8AD6510E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C46FD344-5DAB-BF78-A231-6D126AD270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Модель HSV является ещё одним способом представления цвета, ориентированным на удобство анализа и обработки изображений.</a:t>
            </a:r>
          </a:p>
          <a:p>
            <a:endParaRPr lang="ru-RU" dirty="0"/>
          </a:p>
          <a:p>
            <a:r>
              <a:rPr lang="ru-RU" dirty="0"/>
              <a:t>Название модели образовано от трёх компонент:</a:t>
            </a:r>
            <a:br>
              <a:rPr lang="ru-RU" dirty="0"/>
            </a:br>
            <a:r>
              <a:rPr lang="ru-RU" dirty="0" err="1"/>
              <a:t>Hue</a:t>
            </a:r>
            <a:r>
              <a:rPr lang="ru-RU" dirty="0"/>
              <a:t> — цветовой тон,</a:t>
            </a:r>
            <a:br>
              <a:rPr lang="ru-RU" dirty="0"/>
            </a:br>
            <a:r>
              <a:rPr lang="ru-RU" dirty="0" err="1"/>
              <a:t>Saturation</a:t>
            </a:r>
            <a:r>
              <a:rPr lang="ru-RU" dirty="0"/>
              <a:t> — насыщенность,</a:t>
            </a:r>
            <a:br>
              <a:rPr lang="ru-RU" dirty="0"/>
            </a:br>
            <a:r>
              <a:rPr lang="ru-RU" dirty="0"/>
              <a:t>Value — яркость.</a:t>
            </a:r>
          </a:p>
          <a:p>
            <a:r>
              <a:rPr lang="ru-RU" dirty="0"/>
              <a:t>Как и в HSL, компонент </a:t>
            </a:r>
            <a:r>
              <a:rPr lang="ru-RU" dirty="0" err="1"/>
              <a:t>Hue</a:t>
            </a:r>
            <a:r>
              <a:rPr lang="ru-RU" dirty="0"/>
              <a:t> задаёт оттенок цвета на цветовом круге.</a:t>
            </a:r>
          </a:p>
          <a:p>
            <a:endParaRPr lang="ru-RU" dirty="0"/>
          </a:p>
          <a:p>
            <a:r>
              <a:rPr lang="ru-RU" dirty="0" err="1"/>
              <a:t>Saturation</a:t>
            </a:r>
            <a:r>
              <a:rPr lang="ru-RU" dirty="0"/>
              <a:t> определяет степень насыщенности цвета: при уменьшении насыщенности цвет становится более серым.</a:t>
            </a:r>
          </a:p>
          <a:p>
            <a:endParaRPr lang="ru-RU" dirty="0"/>
          </a:p>
          <a:p>
            <a:r>
              <a:rPr lang="ru-RU" dirty="0"/>
              <a:t>Основное отличие HSV от HSL связано с компонентой яркости.</a:t>
            </a:r>
          </a:p>
          <a:p>
            <a:endParaRPr lang="ru-RU" dirty="0"/>
          </a:p>
          <a:p>
            <a:r>
              <a:rPr lang="ru-RU" dirty="0"/>
              <a:t>В модели HSV параметр Value соответствует максимальной интенсивности RGB-компонент. Поэтому изменение Value воспринимается как изменение общей яркости цвета.</a:t>
            </a:r>
          </a:p>
          <a:p>
            <a:r>
              <a:rPr lang="ru-RU" dirty="0"/>
              <a:t>В HSL используется другая величина — </a:t>
            </a:r>
            <a:r>
              <a:rPr lang="ru-RU" dirty="0" err="1"/>
              <a:t>Lightness</a:t>
            </a:r>
            <a:r>
              <a:rPr lang="ru-RU" dirty="0"/>
              <a:t>, основанная на среднем значении между максимальной и минимальной RGB-компонентами.</a:t>
            </a:r>
          </a:p>
          <a:p>
            <a:endParaRPr lang="ru-RU" dirty="0"/>
          </a:p>
          <a:p>
            <a:r>
              <a:rPr lang="ru-RU" dirty="0"/>
              <a:t>Несмотря на внешнее сходство, эти модели по-разному описывают изменение цвета и яркости.</a:t>
            </a:r>
          </a:p>
          <a:p>
            <a:endParaRPr lang="ru-RU" dirty="0"/>
          </a:p>
          <a:p>
            <a:r>
              <a:rPr lang="ru-RU" dirty="0"/>
              <a:t>Модель HSV особенно широко применяется в задачах компьютерного зрения и обработки изображений.</a:t>
            </a:r>
          </a:p>
          <a:p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Главная причина заключается в том, что HSV позволяет относительно независимо анализировать цвет, насыщенность и яркость изображения.</a:t>
            </a:r>
          </a:p>
          <a:p>
            <a:endParaRPr lang="ru-RU" dirty="0"/>
          </a:p>
          <a:p>
            <a:r>
              <a:rPr lang="ru-RU" dirty="0"/>
              <a:t>Например, при выделении объектов по цвету можно анализировать компонент </a:t>
            </a:r>
            <a:r>
              <a:rPr lang="ru-RU" dirty="0" err="1"/>
              <a:t>Hue</a:t>
            </a:r>
            <a:r>
              <a:rPr lang="ru-RU" dirty="0"/>
              <a:t> отдельно от освещения сцены.</a:t>
            </a:r>
          </a:p>
          <a:p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Это делает HSV удобной для: сегментации изображений, обнаружения объектов, трекинга, анализа видео, а также систем машинного зрения.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На практике многие алгоритмы </a:t>
            </a:r>
            <a:r>
              <a:rPr lang="ru-RU" dirty="0" err="1"/>
              <a:t>computer</a:t>
            </a:r>
            <a:r>
              <a:rPr lang="ru-RU" dirty="0"/>
              <a:t> </a:t>
            </a:r>
            <a:r>
              <a:rPr lang="ru-RU" dirty="0" err="1"/>
              <a:t>vision</a:t>
            </a:r>
            <a:r>
              <a:rPr lang="ru-RU" dirty="0"/>
              <a:t> сначала преобразуют изображение из RGB в HSV, а затем выполняют обработку уже в HSV-пространстве.</a:t>
            </a:r>
          </a:p>
          <a:p>
            <a:endParaRPr lang="ru-RU" dirty="0"/>
          </a:p>
          <a:p>
            <a:r>
              <a:rPr lang="ru-RU" dirty="0"/>
              <a:t>Особенно хорошо это работает в задачах, где объект отличается прежде всего цветом:</a:t>
            </a:r>
            <a:br>
              <a:rPr lang="ru-RU" dirty="0"/>
            </a:br>
            <a:r>
              <a:rPr lang="ru-RU" dirty="0"/>
              <a:t>например, при отслеживании дорожных знаков, спортивных мячей или цветовых маркеров.</a:t>
            </a:r>
          </a:p>
          <a:p>
            <a:pPr eaLnBrk="1" hangingPunct="1"/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1097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55FB3092-559E-FFDE-F1C9-81656A7C2B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107BCEB0-5C49-2637-981A-EDA690DC78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24D16BB0-9D44-D619-B317-5DA7B51D2D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E5CA25E1-0BA7-3E49-ADBC-39C635F453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6B4C8176-E877-FA50-AB86-77106EBB21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04F902BC-B009-BAB2-214F-E3BFD1552E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Модель </a:t>
            </a:r>
            <a:r>
              <a:rPr lang="ru-RU" dirty="0" err="1"/>
              <a:t>YCbCr</a:t>
            </a:r>
            <a:r>
              <a:rPr lang="ru-RU" dirty="0"/>
              <a:t> широко используется в системах хранения и передачи изображений и видео.</a:t>
            </a:r>
          </a:p>
          <a:p>
            <a:r>
              <a:rPr lang="ru-RU" dirty="0"/>
              <a:t>Она применяется:</a:t>
            </a:r>
            <a:br>
              <a:rPr lang="ru-RU" dirty="0"/>
            </a:br>
            <a:r>
              <a:rPr lang="ru-RU" dirty="0"/>
              <a:t>в JPEG,</a:t>
            </a:r>
            <a:br>
              <a:rPr lang="ru-RU" dirty="0"/>
            </a:br>
            <a:r>
              <a:rPr lang="ru-RU" dirty="0"/>
              <a:t>MPEG,</a:t>
            </a:r>
            <a:br>
              <a:rPr lang="ru-RU" dirty="0"/>
            </a:br>
            <a:r>
              <a:rPr lang="ru-RU" dirty="0"/>
              <a:t>цифровом телевидении,</a:t>
            </a:r>
            <a:br>
              <a:rPr lang="ru-RU" dirty="0"/>
            </a:br>
            <a:r>
              <a:rPr lang="ru-RU" dirty="0"/>
              <a:t>видеокодеках,</a:t>
            </a:r>
            <a:br>
              <a:rPr lang="ru-RU" dirty="0"/>
            </a:br>
            <a:r>
              <a:rPr lang="ru-RU" dirty="0"/>
              <a:t>камерах,</a:t>
            </a:r>
            <a:br>
              <a:rPr lang="ru-RU" dirty="0"/>
            </a:br>
            <a:r>
              <a:rPr lang="ru-RU" dirty="0"/>
              <a:t>и практически всех современных видеоформатах.</a:t>
            </a:r>
          </a:p>
          <a:p>
            <a:endParaRPr lang="ru-RU" dirty="0"/>
          </a:p>
          <a:p>
            <a:r>
              <a:rPr lang="ru-RU" dirty="0"/>
              <a:t>Главная особенность модели </a:t>
            </a:r>
            <a:r>
              <a:rPr lang="ru-RU" dirty="0" err="1"/>
              <a:t>YCbCr</a:t>
            </a:r>
            <a:r>
              <a:rPr lang="ru-RU" dirty="0"/>
              <a:t> заключается в разделении яркости и цветовой информации.</a:t>
            </a:r>
          </a:p>
          <a:p>
            <a:r>
              <a:rPr lang="ru-RU" dirty="0"/>
              <a:t>Компонента Y хранит яркость изображения — так называемую </a:t>
            </a:r>
            <a:r>
              <a:rPr lang="ru-RU" dirty="0" err="1"/>
              <a:t>luma</a:t>
            </a:r>
            <a:r>
              <a:rPr lang="ru-RU" dirty="0"/>
              <a:t>.</a:t>
            </a:r>
          </a:p>
          <a:p>
            <a:r>
              <a:rPr lang="ru-RU" dirty="0"/>
              <a:t>Компоненты </a:t>
            </a:r>
            <a:r>
              <a:rPr lang="ru-RU" dirty="0" err="1"/>
              <a:t>Cb</a:t>
            </a:r>
            <a:r>
              <a:rPr lang="ru-RU" dirty="0"/>
              <a:t> и </a:t>
            </a:r>
            <a:r>
              <a:rPr lang="ru-RU" dirty="0" err="1"/>
              <a:t>Cr</a:t>
            </a:r>
            <a:r>
              <a:rPr lang="ru-RU" dirty="0"/>
              <a:t> содержат информацию о цветности: отклонении от серого в сине-жёлтом и красно-зелёном направлениях.</a:t>
            </a:r>
          </a:p>
          <a:p>
            <a:endParaRPr lang="ru-RU" dirty="0"/>
          </a:p>
          <a:p>
            <a:r>
              <a:rPr lang="ru-RU" dirty="0"/>
              <a:t>Такое разделение основано на особенностях человеческого зрения.</a:t>
            </a:r>
          </a:p>
          <a:p>
            <a:r>
              <a:rPr lang="ru-RU" dirty="0"/>
              <a:t>Человек значительно лучше различает изменения яркости, чем мелкие изменения цвета.</a:t>
            </a:r>
          </a:p>
          <a:p>
            <a:endParaRPr lang="ru-RU" dirty="0"/>
          </a:p>
          <a:p>
            <a:r>
              <a:rPr lang="ru-RU" dirty="0"/>
              <a:t>По сути, именно модель </a:t>
            </a:r>
            <a:r>
              <a:rPr lang="ru-RU" dirty="0" err="1"/>
              <a:t>YCbCr</a:t>
            </a:r>
            <a:r>
              <a:rPr lang="ru-RU" dirty="0"/>
              <a:t> сделала возможным эффективное цифровое видео и современные алгоритмы сжатия изображений.</a:t>
            </a:r>
          </a:p>
          <a:p>
            <a:endParaRPr lang="ru-RU" dirty="0"/>
          </a:p>
          <a:p>
            <a:r>
              <a:rPr lang="ru-RU" dirty="0"/>
              <a:t>Важно отметить, что </a:t>
            </a:r>
            <a:r>
              <a:rPr lang="ru-RU" dirty="0" err="1"/>
              <a:t>YCbCr</a:t>
            </a:r>
            <a:r>
              <a:rPr lang="ru-RU" dirty="0"/>
              <a:t> не является независимой цветовой моделью в строгом смысле. Обычно изображение сначала задаётся в RGB, после чего преобразуется в </a:t>
            </a:r>
            <a:r>
              <a:rPr lang="ru-RU" dirty="0" err="1"/>
              <a:t>YCbCr</a:t>
            </a:r>
            <a:r>
              <a:rPr lang="ru-RU" dirty="0"/>
              <a:t> для хранения, передачи или сжатия.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446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Цветовая </a:t>
            </a:r>
            <a:r>
              <a:rPr lang="ru-RU" dirty="0" err="1"/>
              <a:t>субдискретизация</a:t>
            </a:r>
            <a:r>
              <a:rPr lang="ru-RU" dirty="0"/>
              <a:t> используется для уменьшения объёма данных изображения или видеопотока за счёт снижения разрешения цветовых компонент.</a:t>
            </a:r>
          </a:p>
          <a:p>
            <a:endParaRPr lang="ru-RU" dirty="0"/>
          </a:p>
          <a:p>
            <a:r>
              <a:rPr lang="ru-RU" dirty="0"/>
              <a:t>Основная идея основана на особенностях человеческого зрения.</a:t>
            </a:r>
          </a:p>
          <a:p>
            <a:endParaRPr lang="ru-RU" dirty="0"/>
          </a:p>
          <a:p>
            <a:r>
              <a:rPr lang="ru-RU" dirty="0"/>
              <a:t>Человек значительно лучше различает мелкие детали яркости, чем мелкие изменения цвета. Поэтому информацию о цветности можно хранить с меньшим разрешением, практически без заметной потери визуального качества.</a:t>
            </a:r>
          </a:p>
          <a:p>
            <a:endParaRPr lang="ru-RU" dirty="0"/>
          </a:p>
          <a:p>
            <a:r>
              <a:rPr lang="ru-RU" dirty="0"/>
              <a:t>На слайде показаны наиболее распространённые схемы </a:t>
            </a:r>
            <a:r>
              <a:rPr lang="ru-RU" dirty="0" err="1"/>
              <a:t>субдискретизации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Формат 4:4:4 означает отсутствие </a:t>
            </a:r>
            <a:r>
              <a:rPr lang="ru-RU" dirty="0" err="1"/>
              <a:t>субдискретизации</a:t>
            </a:r>
            <a:r>
              <a:rPr lang="ru-RU" dirty="0"/>
              <a:t>. Яркость и цветность хранятся с одинаковым разрешением для каждого пикселя. Это обеспечивает максимальное качество изображения, но требует наибольшего объёма данных.</a:t>
            </a:r>
          </a:p>
          <a:p>
            <a:endParaRPr lang="ru-RU" dirty="0"/>
          </a:p>
          <a:p>
            <a:r>
              <a:rPr lang="ru-RU" dirty="0"/>
              <a:t>Формат 4:4:0 уменьшает разрешение цветности по вертикали. Цветовые компоненты хранятся только для каждой второй строки изображения. Горизонтальное разрешение цветности при этом сохраняется.</a:t>
            </a:r>
          </a:p>
          <a:p>
            <a:endParaRPr lang="ru-RU" dirty="0"/>
          </a:p>
          <a:p>
            <a:r>
              <a:rPr lang="ru-RU" dirty="0"/>
              <a:t>Формат 4:2:2 уменьшает цветность по горизонтали. Для пары соседних пикселей используется общий набор цветовых компонент. Такой формат широко применяется в профессиональном видео, поскольку хорошо сохраняет качество изображения при заметном уменьшении потока данных.</a:t>
            </a:r>
          </a:p>
          <a:p>
            <a:endParaRPr lang="ru-RU" dirty="0"/>
          </a:p>
          <a:p>
            <a:r>
              <a:rPr lang="ru-RU" dirty="0"/>
              <a:t>Формат 4:2:0 уменьшает разрешение цветности одновременно по горизонтали и по вертикали. Цветовые компоненты фактически хранятся для блока из четырёх пикселей. Именно этот формат наиболее широко используется в JPEG, MPEG, H.264 и большинстве современных видеокодеков.</a:t>
            </a:r>
          </a:p>
          <a:p>
            <a:endParaRPr lang="ru-RU" dirty="0"/>
          </a:p>
          <a:p>
            <a:r>
              <a:rPr lang="ru-RU" dirty="0"/>
              <a:t>Справа на слайде показано визуальное влияние </a:t>
            </a:r>
            <a:r>
              <a:rPr lang="ru-RU" dirty="0" err="1"/>
              <a:t>субдискретизации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Можно заметить, что при уменьшении разрешения цветности изображение становится менее насыщенным и более размытым по цвету. Однако структура объектов и основные детали сцены сохраняются достаточно хорошо, поскольку они главным образом определяются каналом яркости.</a:t>
            </a:r>
          </a:p>
          <a:p>
            <a:endParaRPr lang="ru-RU" dirty="0"/>
          </a:p>
          <a:p>
            <a:r>
              <a:rPr lang="ru-RU" dirty="0"/>
              <a:t>Именно благодаря цветовой </a:t>
            </a:r>
            <a:r>
              <a:rPr lang="ru-RU" dirty="0" err="1"/>
              <a:t>субдискретизации</a:t>
            </a:r>
            <a:r>
              <a:rPr lang="ru-RU" dirty="0"/>
              <a:t> стало возможным эффективное хранение и передача цифрового видео высокого разрешения.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79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801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272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Модель CIELAB, или LAB, была разработана Международной комиссией по освещению — CIE — как аппаратно-независимое цветовое пространство, ориентированное на особенности человеческого восприятия цвета.</a:t>
            </a:r>
          </a:p>
          <a:p>
            <a:endParaRPr lang="ru-RU" dirty="0"/>
          </a:p>
          <a:p>
            <a:r>
              <a:rPr lang="ru-RU" dirty="0"/>
              <a:t>Главное отличие LAB от RGB и многих других моделей состоит в том, что она создавалась не для устройств отображения или печати, а для математически корректного описания воспринимаемого человеком цвета.</a:t>
            </a:r>
          </a:p>
          <a:p>
            <a:endParaRPr lang="ru-RU" dirty="0"/>
          </a:p>
          <a:p>
            <a:r>
              <a:rPr lang="ru-RU" dirty="0"/>
              <a:t>В модели LAB цвет разделяется на три независимые компоненты.</a:t>
            </a:r>
          </a:p>
          <a:p>
            <a:r>
              <a:rPr lang="ru-RU" dirty="0"/>
              <a:t>Компонента L* описывает светлоту цвета: от чёрного к белому.</a:t>
            </a:r>
          </a:p>
          <a:p>
            <a:endParaRPr lang="ru-RU" dirty="0"/>
          </a:p>
          <a:p>
            <a:r>
              <a:rPr lang="ru-RU" dirty="0"/>
              <a:t>Компонента a* отвечает за положение цвета на оси: зелёный — красный.</a:t>
            </a:r>
          </a:p>
          <a:p>
            <a:r>
              <a:rPr lang="ru-RU" dirty="0"/>
              <a:t>Отрицательные значения соответствуют зелёным оттенкам, положительные — красным.</a:t>
            </a:r>
          </a:p>
          <a:p>
            <a:endParaRPr lang="ru-RU" dirty="0"/>
          </a:p>
          <a:p>
            <a:r>
              <a:rPr lang="ru-RU" dirty="0"/>
              <a:t>Компонента b* описывает ось: синий — жёлтый.</a:t>
            </a:r>
          </a:p>
          <a:p>
            <a:r>
              <a:rPr lang="ru-RU" dirty="0"/>
              <a:t>Отрицательные значения соответствуют синим оттенкам, положительные — жёлтым.</a:t>
            </a:r>
          </a:p>
          <a:p>
            <a:endParaRPr lang="ru-RU" dirty="0"/>
          </a:p>
          <a:p>
            <a:r>
              <a:rPr lang="ru-RU" dirty="0"/>
              <a:t>Одним из важнейших свойств LAB является её относительная </a:t>
            </a:r>
            <a:r>
              <a:rPr lang="ru-RU" dirty="0" err="1"/>
              <a:t>перцептуальная</a:t>
            </a:r>
            <a:r>
              <a:rPr lang="ru-RU" dirty="0"/>
              <a:t> равномерность.</a:t>
            </a:r>
          </a:p>
          <a:p>
            <a:r>
              <a:rPr lang="ru-RU" dirty="0"/>
              <a:t>Это означает, что одинаковое изменение координат LAB приблизительно соответствует одинаковому визуальному изменению цвета для человека.</a:t>
            </a:r>
          </a:p>
          <a:p>
            <a:endParaRPr lang="ru-RU" dirty="0"/>
          </a:p>
          <a:p>
            <a:r>
              <a:rPr lang="ru-RU" dirty="0"/>
              <a:t>В RGB такого свойства нет: одинаковое изменение RGB-компонент может восприниматься совершенно по-разному в разных областях цветового пространства.</a:t>
            </a:r>
          </a:p>
          <a:p>
            <a:endParaRPr lang="ru-RU" dirty="0"/>
          </a:p>
          <a:p>
            <a:r>
              <a:rPr lang="ru-RU" dirty="0"/>
              <a:t>Благодаря этому LAB широко применяется в задачах, где требуется точная работа с цветом.</a:t>
            </a:r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 сравнении цветов,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оценке цветовых различий,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калибровке устройств,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цветокоррекции,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полиграфии,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компьютерном зрении,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научной обработке изображений.</a:t>
            </a:r>
          </a:p>
          <a:p>
            <a:endParaRPr lang="ru-RU" dirty="0"/>
          </a:p>
          <a:p>
            <a:r>
              <a:rPr lang="ru-RU" dirty="0"/>
              <a:t>На практике LAB часто используется как промежуточное пространство для сложной обработки изображений, поскольку позволяет отдельно управлять светлотой и цветовыми характеристиками изображения.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837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5446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Гамма-коррекция представляет собой нелинейное преобразование яркости изображения.</a:t>
            </a:r>
          </a:p>
          <a:p>
            <a:r>
              <a:rPr lang="ru-RU" dirty="0"/>
              <a:t>Она используется для согласования трёх факторов:</a:t>
            </a:r>
            <a:r>
              <a:rPr lang="en-US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особенностей человеческого зрения,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характеристик устройств отображения,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способов хранения цифровых изображений.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Человеческое зрение воспринимает яркость нелинейно.</a:t>
            </a:r>
          </a:p>
          <a:p>
            <a:r>
              <a:rPr lang="ru-RU" dirty="0"/>
              <a:t>Мы значительно лучше различаем изменения яркости в тёмных областях изображения, чем в очень светлых.</a:t>
            </a:r>
          </a:p>
          <a:p>
            <a:r>
              <a:rPr lang="ru-RU" dirty="0"/>
              <a:t>Например, небольшое изменение интенсивности в тенях хорошо заметно человеку, тогда как аналогичное изменение в ярких областях может быть практически незаметным.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Кроме того, устройства отображения — мониторы, телевизоры, дисплеи — также работают нелинейно.</a:t>
            </a:r>
          </a:p>
          <a:p>
            <a:r>
              <a:rPr lang="ru-RU" dirty="0"/>
              <a:t>Если подавать на монитор линейный сигнал, изображение будет выглядеть слишком тёмным.</a:t>
            </a:r>
          </a:p>
          <a:p>
            <a:endParaRPr lang="en-US" dirty="0"/>
          </a:p>
          <a:p>
            <a:r>
              <a:rPr lang="ru-RU" dirty="0"/>
              <a:t>Для компенсации этих эффектов используется гамма-коррекция.</a:t>
            </a:r>
          </a:p>
          <a:p>
            <a:r>
              <a:rPr lang="ru-RU" dirty="0"/>
              <a:t>Её идея заключается в нелинейном распределении уровней яркости:</a:t>
            </a:r>
            <a:r>
              <a:rPr lang="en-US" dirty="0"/>
              <a:t> </a:t>
            </a:r>
            <a:r>
              <a:rPr lang="ru-RU" dirty="0"/>
              <a:t>больше точности выделяется тёмным оттенкам,</a:t>
            </a:r>
            <a:r>
              <a:rPr lang="en-US" dirty="0"/>
              <a:t> </a:t>
            </a:r>
            <a:r>
              <a:rPr lang="ru-RU" dirty="0"/>
              <a:t>а светлые области кодируются менее детально.</a:t>
            </a:r>
          </a:p>
          <a:p>
            <a:endParaRPr lang="en-US" dirty="0"/>
          </a:p>
          <a:p>
            <a:r>
              <a:rPr lang="ru-RU" dirty="0"/>
              <a:t>Это позволяет эффективно использовать ограниченную разрядность изображения, например 8 бит на канал, без заметной потери визуального качества.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Большинство современных изображений хранится в пространстве </a:t>
            </a:r>
            <a:r>
              <a:rPr lang="ru-RU" dirty="0" err="1"/>
              <a:t>sRGB</a:t>
            </a:r>
            <a:r>
              <a:rPr lang="ru-RU" dirty="0"/>
              <a:t>, которое уже содержит гамма-коррекцию.</a:t>
            </a:r>
          </a:p>
          <a:p>
            <a:endParaRPr lang="en-US" dirty="0"/>
          </a:p>
          <a:p>
            <a:r>
              <a:rPr lang="ru-RU" dirty="0"/>
              <a:t>Поэтому значения пикселей в обычных изображениях обычно не являются линейными по яркости.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457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Гамма-коррекция играет важную роль в современной компьютерной графике и рендеринге.</a:t>
            </a:r>
          </a:p>
          <a:p>
            <a:endParaRPr lang="ru-RU" dirty="0"/>
          </a:p>
          <a:p>
            <a:r>
              <a:rPr lang="ru-RU" dirty="0"/>
              <a:t>Главная причина заключается в том, что физически корректные вычисления освещения должны выполняться в линейном цветовом пространстве.</a:t>
            </a:r>
          </a:p>
          <a:p>
            <a:r>
              <a:rPr lang="ru-RU" dirty="0"/>
              <a:t>Например:</a:t>
            </a:r>
            <a:br>
              <a:rPr lang="ru-RU" dirty="0"/>
            </a:br>
            <a:r>
              <a:rPr lang="ru-RU" dirty="0"/>
              <a:t>сложение световых потоков,</a:t>
            </a:r>
            <a:br>
              <a:rPr lang="ru-RU" dirty="0"/>
            </a:br>
            <a:r>
              <a:rPr lang="ru-RU" dirty="0"/>
              <a:t>вычисление освещённости,</a:t>
            </a:r>
            <a:br>
              <a:rPr lang="ru-RU" dirty="0"/>
            </a:br>
            <a:r>
              <a:rPr lang="ru-RU" dirty="0" err="1"/>
              <a:t>blur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 err="1"/>
              <a:t>alpha</a:t>
            </a:r>
            <a:r>
              <a:rPr lang="ru-RU" dirty="0"/>
              <a:t> </a:t>
            </a:r>
            <a:r>
              <a:rPr lang="ru-RU" dirty="0" err="1"/>
              <a:t>blending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 err="1"/>
              <a:t>tone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 —</a:t>
            </a:r>
            <a:br>
              <a:rPr lang="ru-RU" dirty="0"/>
            </a:br>
            <a:r>
              <a:rPr lang="ru-RU" dirty="0"/>
              <a:t>все эти операции предполагают линейную зависимость между числом и интенсивностью света.</a:t>
            </a:r>
          </a:p>
          <a:p>
            <a:endParaRPr lang="ru-RU" dirty="0"/>
          </a:p>
          <a:p>
            <a:r>
              <a:rPr lang="ru-RU" dirty="0"/>
              <a:t>Однако большинство изображений и текстур хранится в пространстве </a:t>
            </a:r>
            <a:r>
              <a:rPr lang="ru-RU" dirty="0" err="1"/>
              <a:t>sRGB</a:t>
            </a:r>
            <a:r>
              <a:rPr lang="ru-RU" dirty="0"/>
              <a:t>, которое уже содержит гамма-коррекцию.</a:t>
            </a:r>
          </a:p>
          <a:p>
            <a:endParaRPr lang="ru-RU" dirty="0"/>
          </a:p>
          <a:p>
            <a:r>
              <a:rPr lang="ru-RU" dirty="0"/>
              <a:t>Поэтому перед вычислением освещения изображение обычно переводится из </a:t>
            </a:r>
            <a:r>
              <a:rPr lang="ru-RU" dirty="0" err="1"/>
              <a:t>sRGB</a:t>
            </a:r>
            <a:r>
              <a:rPr lang="ru-RU" dirty="0"/>
              <a:t> в линейное пространство.</a:t>
            </a:r>
          </a:p>
          <a:p>
            <a:endParaRPr lang="ru-RU" dirty="0"/>
          </a:p>
          <a:p>
            <a:r>
              <a:rPr lang="ru-RU" dirty="0"/>
              <a:t>После выполнения всех вычислений результат снова подвергается гамма-коррекции перед выводом на экран.</a:t>
            </a:r>
          </a:p>
          <a:p>
            <a:r>
              <a:rPr lang="ru-RU" dirty="0"/>
              <a:t>Такой </a:t>
            </a:r>
            <a:r>
              <a:rPr lang="ru-RU" dirty="0" err="1"/>
              <a:t>pipeline</a:t>
            </a:r>
            <a:r>
              <a:rPr lang="ru-RU" dirty="0"/>
              <a:t> используется:</a:t>
            </a:r>
            <a:br>
              <a:rPr lang="ru-RU" dirty="0"/>
            </a:br>
            <a:r>
              <a:rPr lang="ru-RU" dirty="0"/>
              <a:t>в OpenGL,</a:t>
            </a:r>
            <a:br>
              <a:rPr lang="ru-RU" dirty="0"/>
            </a:br>
            <a:r>
              <a:rPr lang="ru-RU" dirty="0"/>
              <a:t>DirectX,</a:t>
            </a:r>
            <a:br>
              <a:rPr lang="ru-RU" dirty="0"/>
            </a:br>
            <a:r>
              <a:rPr lang="ru-RU" dirty="0" err="1"/>
              <a:t>Vulkan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 err="1"/>
              <a:t>WebGL</a:t>
            </a:r>
            <a:r>
              <a:rPr lang="ru-RU" dirty="0"/>
              <a:t>,</a:t>
            </a:r>
            <a:br>
              <a:rPr lang="ru-RU" dirty="0"/>
            </a:br>
            <a:r>
              <a:rPr lang="ru-RU" dirty="0"/>
              <a:t>игровых движках,</a:t>
            </a:r>
            <a:br>
              <a:rPr lang="ru-RU" dirty="0"/>
            </a:br>
            <a:r>
              <a:rPr lang="ru-RU" dirty="0"/>
              <a:t>и системах рендеринга.</a:t>
            </a:r>
          </a:p>
          <a:p>
            <a:endParaRPr lang="ru-RU" dirty="0"/>
          </a:p>
          <a:p>
            <a:r>
              <a:rPr lang="ru-RU" dirty="0"/>
              <a:t>Если выполнять смешивание цветов непосредственно в </a:t>
            </a:r>
            <a:r>
              <a:rPr lang="ru-RU" dirty="0" err="1"/>
              <a:t>sRGB</a:t>
            </a:r>
            <a:r>
              <a:rPr lang="ru-RU" dirty="0"/>
              <a:t>-пространстве, результат будет физически некорректным.</a:t>
            </a:r>
          </a:p>
          <a:p>
            <a:endParaRPr lang="ru-RU" dirty="0"/>
          </a:p>
          <a:p>
            <a:r>
              <a:rPr lang="ru-RU" dirty="0"/>
              <a:t>Например, освещение может выглядеть слишком тёмным, а градиенты и </a:t>
            </a:r>
            <a:r>
              <a:rPr lang="ru-RU" dirty="0" err="1"/>
              <a:t>blur</a:t>
            </a:r>
            <a:r>
              <a:rPr lang="ru-RU" dirty="0"/>
              <a:t> — иметь заметные артефакты.</a:t>
            </a:r>
          </a:p>
          <a:p>
            <a:r>
              <a:rPr lang="ru-RU" dirty="0"/>
              <a:t>Именно поэтому современные графические API и GPU обычно поддерживают автоматическое преобразование между линейным пространством и </a:t>
            </a:r>
            <a:r>
              <a:rPr lang="ru-RU" dirty="0" err="1"/>
              <a:t>sRGB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Кроме рендеринга, гамма-коррекция активно применяется:</a:t>
            </a:r>
            <a:br>
              <a:rPr lang="ru-RU" dirty="0"/>
            </a:br>
            <a:r>
              <a:rPr lang="ru-RU" dirty="0"/>
              <a:t>в обработке фотографий,</a:t>
            </a:r>
            <a:br>
              <a:rPr lang="ru-RU" dirty="0"/>
            </a:br>
            <a:r>
              <a:rPr lang="ru-RU" dirty="0"/>
              <a:t>видеомонтаже,</a:t>
            </a:r>
            <a:br>
              <a:rPr lang="ru-RU" dirty="0"/>
            </a:br>
            <a:r>
              <a:rPr lang="ru-RU" dirty="0"/>
              <a:t>HDR-графике,</a:t>
            </a:r>
            <a:br>
              <a:rPr lang="ru-RU" dirty="0"/>
            </a:br>
            <a:r>
              <a:rPr lang="ru-RU" dirty="0"/>
              <a:t>и </a:t>
            </a:r>
            <a:r>
              <a:rPr lang="ru-RU" dirty="0" err="1"/>
              <a:t>tone</a:t>
            </a:r>
            <a:r>
              <a:rPr lang="ru-RU" dirty="0"/>
              <a:t> </a:t>
            </a:r>
            <a:r>
              <a:rPr lang="ru-RU" dirty="0" err="1"/>
              <a:t>mapping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508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89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Математически гамма-коррекция описывается степенным преобразованием.</a:t>
            </a:r>
          </a:p>
          <a:p>
            <a:endParaRPr lang="ru-RU" dirty="0"/>
          </a:p>
          <a:p>
            <a:r>
              <a:rPr lang="ru-RU" dirty="0"/>
              <a:t>При </a:t>
            </a:r>
            <a:r>
              <a:rPr lang="ru-RU" dirty="0" err="1"/>
              <a:t>gamma</a:t>
            </a:r>
            <a:r>
              <a:rPr lang="ru-RU" dirty="0"/>
              <a:t> </a:t>
            </a:r>
            <a:r>
              <a:rPr lang="ru-RU" dirty="0" err="1"/>
              <a:t>encoding</a:t>
            </a:r>
            <a:r>
              <a:rPr lang="ru-RU" dirty="0"/>
              <a:t> линейное значение яркости преобразуется с использованием степени </a:t>
            </a:r>
            <a:r>
              <a:rPr lang="ru-RU" dirty="0" err="1"/>
              <a:t>gamma</a:t>
            </a:r>
            <a:r>
              <a:rPr lang="ru-RU" dirty="0"/>
              <a:t>.</a:t>
            </a:r>
          </a:p>
          <a:p>
            <a:r>
              <a:rPr lang="ru-RU" dirty="0"/>
              <a:t>Параметр </a:t>
            </a:r>
            <a:r>
              <a:rPr lang="ru-RU" dirty="0" err="1"/>
              <a:t>gamma</a:t>
            </a:r>
            <a:r>
              <a:rPr lang="ru-RU" dirty="0"/>
              <a:t> определяет форму нелинейной кривой.</a:t>
            </a:r>
          </a:p>
          <a:p>
            <a:r>
              <a:rPr lang="ru-RU" dirty="0"/>
              <a:t>Наиболее распространённое значение:</a:t>
            </a:r>
            <a:br>
              <a:rPr lang="ru-RU" dirty="0"/>
            </a:br>
            <a:r>
              <a:rPr lang="ru-RU" dirty="0" err="1"/>
              <a:t>gamma</a:t>
            </a:r>
            <a:r>
              <a:rPr lang="ru-RU" dirty="0"/>
              <a:t> приблизительно равно 2.2.</a:t>
            </a:r>
          </a:p>
          <a:p>
            <a:endParaRPr lang="ru-RU" dirty="0"/>
          </a:p>
          <a:p>
            <a:r>
              <a:rPr lang="ru-RU" dirty="0"/>
              <a:t>Именно такая характеристика близка к поведению большинства устройств отображения и стандарту </a:t>
            </a:r>
            <a:r>
              <a:rPr lang="ru-RU" dirty="0" err="1"/>
              <a:t>sRGB</a:t>
            </a:r>
            <a:r>
              <a:rPr lang="ru-RU" dirty="0"/>
              <a:t>.</a:t>
            </a:r>
          </a:p>
          <a:p>
            <a:r>
              <a:rPr lang="ru-RU" dirty="0"/>
              <a:t>Обратное преобразование используется для перехода из гамма-корректированного пространства обратно в линейное.</a:t>
            </a:r>
          </a:p>
          <a:p>
            <a:r>
              <a:rPr lang="ru-RU" dirty="0"/>
              <a:t>Это необходимо перед выполнением вычислений освещения и других операций обработки изображения.</a:t>
            </a:r>
          </a:p>
          <a:p>
            <a:endParaRPr lang="ru-RU" dirty="0"/>
          </a:p>
          <a:p>
            <a:r>
              <a:rPr lang="ru-RU" dirty="0"/>
              <a:t>Следует отметить, что реальный стандарт </a:t>
            </a:r>
            <a:r>
              <a:rPr lang="ru-RU" dirty="0" err="1"/>
              <a:t>sRGB</a:t>
            </a:r>
            <a:r>
              <a:rPr lang="ru-RU" dirty="0"/>
              <a:t> использует более сложную кусочно-заданную функцию, а не простую степень.</a:t>
            </a:r>
          </a:p>
          <a:p>
            <a:r>
              <a:rPr lang="ru-RU" dirty="0"/>
              <a:t>Однако степенная модель с </a:t>
            </a:r>
            <a:r>
              <a:rPr lang="ru-RU" dirty="0" err="1"/>
              <a:t>gamma</a:t>
            </a:r>
            <a:r>
              <a:rPr lang="ru-RU" dirty="0"/>
              <a:t> около 2.2 обычно используется как хорошее приближение и широко применяется в компьютерной графике.</a:t>
            </a:r>
          </a:p>
          <a:p>
            <a:endParaRPr lang="ru-RU" dirty="0"/>
          </a:p>
          <a:p>
            <a:r>
              <a:rPr lang="ru-RU" dirty="0"/>
              <a:t>График гамма-функции показывает, что после преобразования большая часть числовой точности распределяется в области тёмных оттенков.</a:t>
            </a:r>
          </a:p>
          <a:p>
            <a:endParaRPr lang="ru-RU" dirty="0"/>
          </a:p>
          <a:p>
            <a:r>
              <a:rPr lang="ru-RU" dirty="0"/>
              <a:t>Именно это позволяет эффективно кодировать изображение с ограниченной разрядностью без существенной потери качества восприятия.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986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1323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Инверсия является одним из простейших преобразований изображения.</a:t>
                </a:r>
              </a:p>
              <a:p>
                <a:r>
                  <a:rPr lang="ru-RU" dirty="0"/>
                  <a:t>Для каждого цветового канала вычисляется противоположное значение яркости:</a:t>
                </a:r>
                <a:br>
                  <a:rPr lang="ru-RU" dirty="0"/>
                </a:br>
                <a:r>
                  <a:rPr lang="ru-RU" dirty="0"/>
                  <a:t>чем светлее был исходный пиксель, тем темнее становится результат, и наоборот.</a:t>
                </a:r>
              </a:p>
              <a:p>
                <a:r>
                  <a:rPr lang="ru-RU" dirty="0"/>
                  <a:t>В нормализованном диапазоне от 0 до 1 инверсия выполняется по формуле: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𝑖𝑛𝑣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𝐶</m:t>
                      </m:r>
                    </m:oMath>
                  </m:oMathPara>
                </a14:m>
                <a:endParaRPr lang="ar-AE" dirty="0"/>
              </a:p>
              <a:p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ru-R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𝐶</m:t>
                    </m:r>
                  </m:oMath>
                </a14:m>
                <a:r>
                  <a:rPr lang="ru-RU" dirty="0"/>
                  <a:t>— значение соответствующего цветового канала.</a:t>
                </a:r>
              </a:p>
              <a:p>
                <a:endParaRPr lang="ru-RU" dirty="0"/>
              </a:p>
              <a:p>
                <a:r>
                  <a:rPr lang="ru-RU" dirty="0"/>
                  <a:t>Важно отметить, что математически корректную инверсию следует выполнять в линейном цветовом пространстве.</a:t>
                </a:r>
              </a:p>
              <a:p>
                <a:endParaRPr lang="ru-RU" dirty="0"/>
              </a:p>
              <a:p>
                <a:r>
                  <a:rPr lang="ru-RU" dirty="0"/>
                  <a:t>Если выполнить операцию непосредственно в </a:t>
                </a:r>
                <a:r>
                  <a:rPr lang="en-US" dirty="0"/>
                  <a:t>sRGB, </a:t>
                </a:r>
                <a:r>
                  <a:rPr lang="ru-RU" dirty="0"/>
                  <a:t>то есть в гамма-корректированном нелинейном пространстве, визуальный результат будет физически некорректным:</a:t>
                </a:r>
                <a:br>
                  <a:rPr lang="ru-RU" dirty="0"/>
                </a:br>
                <a:r>
                  <a:rPr lang="ru-RU" dirty="0"/>
                  <a:t>яркость и контраст изображения изменятся несимметрично.</a:t>
                </a:r>
              </a:p>
              <a:p>
                <a:endParaRPr lang="ru-RU" dirty="0"/>
              </a:p>
              <a:p>
                <a:r>
                  <a:rPr lang="ru-RU" dirty="0"/>
                  <a:t>Поэтому в системах компьютерной графики обычно сначала выполняется преобразование из </a:t>
                </a:r>
                <a:r>
                  <a:rPr lang="en-US" dirty="0"/>
                  <a:t>sRGB </a:t>
                </a:r>
                <a:r>
                  <a:rPr lang="ru-RU" dirty="0"/>
                  <a:t>в </a:t>
                </a:r>
                <a:r>
                  <a:rPr lang="en-US" dirty="0"/>
                  <a:t>Linear RGB,</a:t>
                </a:r>
                <a:br>
                  <a:rPr lang="en-US" dirty="0"/>
                </a:br>
                <a:r>
                  <a:rPr lang="ru-RU" dirty="0"/>
                  <a:t>затем выполняется инверсия, после чего результат снова переводится в </a:t>
                </a:r>
                <a:r>
                  <a:rPr lang="en-US" dirty="0"/>
                  <a:t>sRGB </a:t>
                </a:r>
                <a:r>
                  <a:rPr lang="ru-RU" dirty="0"/>
                  <a:t>для отображения.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Инверсия является одним из простейших преобразований изображения.</a:t>
                </a:r>
              </a:p>
              <a:p>
                <a:r>
                  <a:rPr lang="ru-RU" dirty="0"/>
                  <a:t>Для каждого цветового канала вычисляется противоположное значение яркости:</a:t>
                </a:r>
                <a:br>
                  <a:rPr lang="ru-RU" dirty="0"/>
                </a:br>
                <a:r>
                  <a:rPr lang="ru-RU" dirty="0"/>
                  <a:t>чем светлее был исходный пиксель, тем темнее становится результат, и наоборот.</a:t>
                </a:r>
              </a:p>
              <a:p>
                <a:r>
                  <a:rPr lang="ru-RU" dirty="0"/>
                  <a:t>В нормализованном диапазоне от 0 до 1 инверсия выполняется по формуле: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𝐶_𝑖𝑛𝑣=1−𝐶</a:t>
                </a:r>
                <a:endParaRPr lang="ar-AE" dirty="0"/>
              </a:p>
              <a:p>
                <a:r>
                  <a:rPr lang="ru-RU" dirty="0"/>
                  <a:t>где </a:t>
                </a:r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</a:t>
                </a:r>
                <a:r>
                  <a:rPr lang="ru-RU" dirty="0"/>
                  <a:t>— значение соответствующего цветового канала.</a:t>
                </a:r>
              </a:p>
              <a:p>
                <a:endParaRPr lang="ru-RU" dirty="0"/>
              </a:p>
              <a:p>
                <a:r>
                  <a:rPr lang="ru-RU" dirty="0"/>
                  <a:t>Важно отметить, что математически корректную инверсию следует выполнять в линейном цветовом пространстве.</a:t>
                </a:r>
              </a:p>
              <a:p>
                <a:endParaRPr lang="ru-RU" dirty="0"/>
              </a:p>
              <a:p>
                <a:r>
                  <a:rPr lang="ru-RU" dirty="0"/>
                  <a:t>Если выполнить операцию непосредственно в </a:t>
                </a:r>
                <a:r>
                  <a:rPr lang="en-US" dirty="0"/>
                  <a:t>sRGB, </a:t>
                </a:r>
                <a:r>
                  <a:rPr lang="ru-RU" dirty="0"/>
                  <a:t>то есть в гамма-корректированном нелинейном пространстве, визуальный результат будет физически некорректным:</a:t>
                </a:r>
                <a:br>
                  <a:rPr lang="ru-RU" dirty="0"/>
                </a:br>
                <a:r>
                  <a:rPr lang="ru-RU" dirty="0"/>
                  <a:t>яркость и контраст изображения изменятся несимметрично.</a:t>
                </a:r>
              </a:p>
              <a:p>
                <a:endParaRPr lang="ru-RU" dirty="0"/>
              </a:p>
              <a:p>
                <a:r>
                  <a:rPr lang="ru-RU" dirty="0"/>
                  <a:t>Поэтому в системах компьютерной графики обычно сначала выполняется преобразование из </a:t>
                </a:r>
                <a:r>
                  <a:rPr lang="en-US" dirty="0"/>
                  <a:t>sRGB </a:t>
                </a:r>
                <a:r>
                  <a:rPr lang="ru-RU" dirty="0"/>
                  <a:t>в </a:t>
                </a:r>
                <a:r>
                  <a:rPr lang="en-US" dirty="0"/>
                  <a:t>Linear RGB,</a:t>
                </a:r>
                <a:br>
                  <a:rPr lang="en-US" dirty="0"/>
                </a:br>
                <a:r>
                  <a:rPr lang="ru-RU" dirty="0"/>
                  <a:t>затем выполняется инверсия, после чего результат снова переводится в </a:t>
                </a:r>
                <a:r>
                  <a:rPr lang="en-US" dirty="0"/>
                  <a:t>sRGB </a:t>
                </a:r>
                <a:r>
                  <a:rPr lang="ru-RU" dirty="0"/>
                  <a:t>для отображения.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054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Регулировка яркости изменяет интенсивность цветовых компонент изображения.</a:t>
                </a:r>
              </a:p>
              <a:p>
                <a:r>
                  <a:rPr lang="ru-RU" dirty="0"/>
                  <a:t>Существует два основных подхода:</a:t>
                </a:r>
                <a:br>
                  <a:rPr lang="ru-RU" dirty="0"/>
                </a:br>
                <a:r>
                  <a:rPr lang="ru-RU" dirty="0"/>
                  <a:t>аддитивное и мультипликативное изменение яркости.</a:t>
                </a:r>
              </a:p>
              <a:p>
                <a:endParaRPr lang="ru-RU" dirty="0"/>
              </a:p>
              <a:p>
                <a:r>
                  <a:rPr lang="ru-RU" dirty="0"/>
                  <a:t>При аддитивном изменении к каждому значению пикселя прибавляется константа: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𝑜𝑢𝑡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𝑖𝑛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Δ</m:t>
                      </m:r>
                    </m:oMath>
                  </m:oMathPara>
                </a14:m>
                <a:endParaRPr lang="el-GR" dirty="0"/>
              </a:p>
              <a:p>
                <a:r>
                  <a:rPr lang="ru-RU" dirty="0"/>
                  <a:t>Такой метод прост и хорошо работает при небольших изменениях яркости.</a:t>
                </a:r>
              </a:p>
              <a:p>
                <a:endParaRPr lang="ru-RU" dirty="0"/>
              </a:p>
              <a:p>
                <a:r>
                  <a:rPr lang="ru-RU" dirty="0"/>
                  <a:t>Однако он может приводить к потере деталей в светлых областях изображения:</a:t>
                </a:r>
                <a:br>
                  <a:rPr lang="ru-RU" dirty="0"/>
                </a:br>
                <a:r>
                  <a:rPr lang="ru-RU" dirty="0"/>
                  <a:t>яркие пиксели быстро достигают максимального значения и «выжигаются».</a:t>
                </a:r>
              </a:p>
              <a:p>
                <a:endParaRPr lang="ru-RU" dirty="0"/>
              </a:p>
              <a:p>
                <a:r>
                  <a:rPr lang="ru-RU" dirty="0"/>
                  <a:t>Кроме того, тёмные области становятся сероватыми и теряют контраст.</a:t>
                </a:r>
              </a:p>
              <a:p>
                <a:r>
                  <a:rPr lang="ru-RU" dirty="0"/>
                  <a:t>При мультипликативном изменении значения пикселей масштабируются: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𝑜𝑢𝑡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𝑖𝑛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𝛽</m:t>
                      </m:r>
                    </m:oMath>
                  </m:oMathPara>
                </a14:m>
                <a:endParaRPr lang="ar-AE" dirty="0"/>
              </a:p>
              <a:p>
                <a:r>
                  <a:rPr lang="ru-RU" dirty="0"/>
                  <a:t>Такой подход изменяет яркость пропорционально и обычно выглядит более естественно.</a:t>
                </a:r>
              </a:p>
              <a:p>
                <a:endParaRPr lang="ru-RU" dirty="0"/>
              </a:p>
              <a:p>
                <a:r>
                  <a:rPr lang="ru-RU" dirty="0"/>
                  <a:t>Однако очень тёмные области могут становиться практически чёрными, что приводит к потере деталей в тенях.</a:t>
                </a:r>
              </a:p>
              <a:p>
                <a:endParaRPr lang="ru-RU" dirty="0"/>
              </a:p>
              <a:p>
                <a:r>
                  <a:rPr lang="ru-RU" dirty="0"/>
                  <a:t>Важно отметить, что корректное изменение яркости следует выполнять в линейном цветовом пространстве.</a:t>
                </a:r>
              </a:p>
              <a:p>
                <a:r>
                  <a:rPr lang="ru-RU" dirty="0"/>
                  <a:t>Если операция выполняется непосредственно в </a:t>
                </a:r>
                <a:r>
                  <a:rPr lang="en-US" dirty="0"/>
                  <a:t>sRGB, </a:t>
                </a:r>
                <a:r>
                  <a:rPr lang="ru-RU" dirty="0"/>
                  <a:t>то есть в нелинейном гамма-корректированном пространстве, изменение яркости становится физически некорректным:</a:t>
                </a:r>
                <a:br>
                  <a:rPr lang="ru-RU" dirty="0"/>
                </a:br>
                <a:r>
                  <a:rPr lang="ru-RU" dirty="0"/>
                  <a:t>освещённость и контраст изменяются неравномерно.</a:t>
                </a:r>
              </a:p>
              <a:p>
                <a:endParaRPr lang="ru-RU" dirty="0"/>
              </a:p>
              <a:p>
                <a:r>
                  <a:rPr lang="ru-RU" dirty="0"/>
                  <a:t>Поэтому в системах компьютерной графики изображение обычно:</a:t>
                </a:r>
                <a:br>
                  <a:rPr lang="ru-RU" dirty="0"/>
                </a:br>
                <a:r>
                  <a:rPr lang="ru-RU" dirty="0"/>
                  <a:t>сначала переводится из </a:t>
                </a:r>
                <a:r>
                  <a:rPr lang="en-US" dirty="0"/>
                  <a:t>sRGB </a:t>
                </a:r>
                <a:r>
                  <a:rPr lang="ru-RU" dirty="0"/>
                  <a:t>в </a:t>
                </a:r>
                <a:r>
                  <a:rPr lang="en-US" dirty="0"/>
                  <a:t>Linear RGB,</a:t>
                </a:r>
                <a:br>
                  <a:rPr lang="en-US" dirty="0"/>
                </a:br>
                <a:r>
                  <a:rPr lang="ru-RU" dirty="0"/>
                  <a:t>затем выполняется изменение яркости,</a:t>
                </a:r>
                <a:br>
                  <a:rPr lang="ru-RU" dirty="0"/>
                </a:br>
                <a:r>
                  <a:rPr lang="ru-RU" dirty="0"/>
                  <a:t>после чего результат снова кодируется в </a:t>
                </a:r>
                <a:r>
                  <a:rPr lang="en-US" dirty="0"/>
                  <a:t>sRGB </a:t>
                </a:r>
                <a:r>
                  <a:rPr lang="ru-RU" dirty="0"/>
                  <a:t>для отображения.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Регулировка яркости изменяет интенсивность цветовых компонент изображения.</a:t>
                </a:r>
              </a:p>
              <a:p>
                <a:r>
                  <a:rPr lang="ru-RU" dirty="0"/>
                  <a:t>Существует два основных подхода:</a:t>
                </a:r>
                <a:br>
                  <a:rPr lang="ru-RU" dirty="0"/>
                </a:br>
                <a:r>
                  <a:rPr lang="ru-RU" dirty="0"/>
                  <a:t>аддитивное и мультипликативное изменение яркости.</a:t>
                </a:r>
              </a:p>
              <a:p>
                <a:endParaRPr lang="ru-RU" dirty="0"/>
              </a:p>
              <a:p>
                <a:r>
                  <a:rPr lang="ru-RU" dirty="0"/>
                  <a:t>При аддитивном изменении к каждому значению пикселя прибавляется константа: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𝐶_𝑜𝑢𝑡=𝐶_𝑖𝑛+</a:t>
                </a:r>
                <a:r>
                  <a:rPr 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Δ</a:t>
                </a:r>
                <a:endParaRPr lang="el-GR" dirty="0"/>
              </a:p>
              <a:p>
                <a:r>
                  <a:rPr lang="ru-RU" dirty="0"/>
                  <a:t>Такой метод прост и хорошо работает при небольших изменениях яркости.</a:t>
                </a:r>
              </a:p>
              <a:p>
                <a:endParaRPr lang="ru-RU" dirty="0"/>
              </a:p>
              <a:p>
                <a:r>
                  <a:rPr lang="ru-RU" dirty="0"/>
                  <a:t>Однако он может приводить к потере деталей в светлых областях изображения:</a:t>
                </a:r>
                <a:br>
                  <a:rPr lang="ru-RU" dirty="0"/>
                </a:br>
                <a:r>
                  <a:rPr lang="ru-RU" dirty="0"/>
                  <a:t>яркие пиксели быстро достигают максимального значения и «выжигаются».</a:t>
                </a:r>
              </a:p>
              <a:p>
                <a:endParaRPr lang="ru-RU" dirty="0"/>
              </a:p>
              <a:p>
                <a:r>
                  <a:rPr lang="ru-RU" dirty="0"/>
                  <a:t>Кроме того, тёмные области становятся сероватыми и теряют контраст.</a:t>
                </a:r>
              </a:p>
              <a:p>
                <a:r>
                  <a:rPr lang="ru-RU" dirty="0"/>
                  <a:t>При мультипликативном изменении значения пикселей масштабируются: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𝐶_𝑜𝑢𝑡=𝐶_𝑖𝑛⋅𝛽</a:t>
                </a:r>
                <a:endParaRPr lang="ar-AE" dirty="0"/>
              </a:p>
              <a:p>
                <a:r>
                  <a:rPr lang="ru-RU" dirty="0"/>
                  <a:t>Такой подход изменяет яркость пропорционально и обычно выглядит более естественно.</a:t>
                </a:r>
              </a:p>
              <a:p>
                <a:endParaRPr lang="ru-RU" dirty="0"/>
              </a:p>
              <a:p>
                <a:r>
                  <a:rPr lang="ru-RU" dirty="0"/>
                  <a:t>Однако очень тёмные области могут становиться практически чёрными, что приводит к потере деталей в тенях.</a:t>
                </a:r>
              </a:p>
              <a:p>
                <a:endParaRPr lang="ru-RU" dirty="0"/>
              </a:p>
              <a:p>
                <a:r>
                  <a:rPr lang="ru-RU" dirty="0"/>
                  <a:t>Важно отметить, что корректное изменение яркости следует выполнять в линейном цветовом пространстве.</a:t>
                </a:r>
              </a:p>
              <a:p>
                <a:r>
                  <a:rPr lang="ru-RU" dirty="0"/>
                  <a:t>Если операция выполняется непосредственно в </a:t>
                </a:r>
                <a:r>
                  <a:rPr lang="en-US" dirty="0"/>
                  <a:t>sRGB, </a:t>
                </a:r>
                <a:r>
                  <a:rPr lang="ru-RU" dirty="0"/>
                  <a:t>то есть в нелинейном гамма-корректированном пространстве, изменение яркости становится физически некорректным:</a:t>
                </a:r>
                <a:br>
                  <a:rPr lang="ru-RU" dirty="0"/>
                </a:br>
                <a:r>
                  <a:rPr lang="ru-RU" dirty="0"/>
                  <a:t>освещённость и контраст изменяются неравномерно.</a:t>
                </a:r>
              </a:p>
              <a:p>
                <a:endParaRPr lang="ru-RU" dirty="0"/>
              </a:p>
              <a:p>
                <a:r>
                  <a:rPr lang="ru-RU" dirty="0"/>
                  <a:t>Поэтому в системах компьютерной графики изображение обычно:</a:t>
                </a:r>
                <a:br>
                  <a:rPr lang="ru-RU" dirty="0"/>
                </a:br>
                <a:r>
                  <a:rPr lang="ru-RU" dirty="0"/>
                  <a:t>сначала переводится из </a:t>
                </a:r>
                <a:r>
                  <a:rPr lang="en-US" dirty="0"/>
                  <a:t>sRGB </a:t>
                </a:r>
                <a:r>
                  <a:rPr lang="ru-RU" dirty="0"/>
                  <a:t>в </a:t>
                </a:r>
                <a:r>
                  <a:rPr lang="en-US" dirty="0"/>
                  <a:t>Linear RGB,</a:t>
                </a:r>
                <a:br>
                  <a:rPr lang="en-US" dirty="0"/>
                </a:br>
                <a:r>
                  <a:rPr lang="ru-RU" dirty="0"/>
                  <a:t>затем выполняется изменение яркости,</a:t>
                </a:r>
                <a:br>
                  <a:rPr lang="ru-RU" dirty="0"/>
                </a:br>
                <a:r>
                  <a:rPr lang="ru-RU" dirty="0"/>
                  <a:t>после чего результат снова кодируется в </a:t>
                </a:r>
                <a:r>
                  <a:rPr lang="en-US" dirty="0"/>
                  <a:t>sRGB </a:t>
                </a:r>
                <a:r>
                  <a:rPr lang="ru-RU" dirty="0"/>
                  <a:t>для отображения.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8690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Контраст определяет степень различия между светлыми и тёмными областями изображения.</a:t>
                </a:r>
              </a:p>
              <a:p>
                <a:r>
                  <a:rPr lang="ru-RU" dirty="0"/>
                  <a:t>Чем выше контраст, тем сильнее визуально разделяются яркие и тёмные участки сцены.</a:t>
                </a:r>
              </a:p>
              <a:p>
                <a:r>
                  <a:rPr lang="ru-RU" dirty="0"/>
                  <a:t>При регулировке контраста обычно изменяется отклонение яркости пикселей относительно среднего значения.</a:t>
                </a:r>
              </a:p>
              <a:p>
                <a:r>
                  <a:rPr lang="ru-RU" dirty="0"/>
                  <a:t>В приведённой формуле: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𝑜𝑢𝑡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5</m:t>
                          </m:r>
                        </m:e>
                      </m:d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⋅</m:t>
                      </m:r>
                      <m:r>
                        <a:rPr lang="ar-AE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𝛼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</m:t>
                      </m:r>
                    </m:oMath>
                  </m:oMathPara>
                </a14:m>
                <a:endParaRPr lang="ar-AE" dirty="0"/>
              </a:p>
              <a:p>
                <a:r>
                  <a:rPr lang="ru-RU" dirty="0"/>
                  <a:t>значение 0.5 соответствует средней яркости в нормализованном диапазоне от 0 до 1.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Сначала из значения пикселя вычитается средний уровень яркости, затем это отклонение масштабируется коэффициентом </a:t>
                </a:r>
                <a14:m>
                  <m:oMath xmlns:m="http://schemas.openxmlformats.org/officeDocument/2006/math">
                    <m:r>
                      <a:rPr lang="ru-R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𝛼</m:t>
                    </m:r>
                  </m:oMath>
                </a14:m>
                <a:r>
                  <a:rPr lang="ru-RU" dirty="0"/>
                  <a:t>, после чего среднее значение добавляется обратно.</a:t>
                </a:r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ru-R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𝛼</m:t>
                    </m:r>
                    <m:r>
                      <a:rPr lang="ru-RU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</m:t>
                    </m:r>
                    <m:r>
                      <a:rPr lang="ru-RU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ru-RU" dirty="0"/>
                  <a:t>, различия между светлыми и тёмными областями усиливаются, и изображение становится более контрастным.</a:t>
                </a:r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ru-R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𝛼</m:t>
                    </m:r>
                    <m:r>
                      <a:rPr lang="ru-RU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</m:t>
                    </m:r>
                    <m:r>
                      <a:rPr lang="ru-RU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ru-RU" dirty="0"/>
                  <a:t>, яркости сближаются, и изображение выглядит более плоским и менее выразительным.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При слишком сильном увеличении контраста возможна потеря деталей:</a:t>
                </a:r>
                <a:br>
                  <a:rPr lang="ru-RU" dirty="0"/>
                </a:br>
                <a:r>
                  <a:rPr lang="ru-RU" dirty="0"/>
                  <a:t>яркие области становятся полностью белыми,</a:t>
                </a:r>
                <a:br>
                  <a:rPr lang="ru-RU" dirty="0"/>
                </a:br>
                <a:r>
                  <a:rPr lang="ru-RU" dirty="0"/>
                  <a:t>а тёмные — полностью чёрными.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Важно отметить, что корректная регулировка контраста должна выполняться в линейном цветовом пространстве.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Если операция применяется непосредственно к </a:t>
                </a:r>
                <a:r>
                  <a:rPr lang="en-US" dirty="0"/>
                  <a:t>sRGB-</a:t>
                </a:r>
                <a:r>
                  <a:rPr lang="ru-RU" dirty="0"/>
                  <a:t>значениям, изменение яркости происходит нелинейно, и визуальный результат может отличаться от ожидаемого.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Поэтому в системах компьютерной графики изображение обычно:</a:t>
                </a:r>
                <a:br>
                  <a:rPr lang="ru-RU" dirty="0"/>
                </a:br>
                <a:r>
                  <a:rPr lang="ru-RU" dirty="0"/>
                  <a:t>сначала переводится из </a:t>
                </a:r>
                <a:r>
                  <a:rPr lang="en-US" dirty="0"/>
                  <a:t>sRGB </a:t>
                </a:r>
                <a:r>
                  <a:rPr lang="ru-RU" dirty="0"/>
                  <a:t>в </a:t>
                </a:r>
                <a:r>
                  <a:rPr lang="en-US" dirty="0"/>
                  <a:t>Linear RGB,</a:t>
                </a:r>
                <a:br>
                  <a:rPr lang="en-US" dirty="0"/>
                </a:br>
                <a:r>
                  <a:rPr lang="ru-RU" dirty="0"/>
                  <a:t>затем выполняется изменение контраста,</a:t>
                </a:r>
                <a:br>
                  <a:rPr lang="ru-RU" dirty="0"/>
                </a:br>
                <a:r>
                  <a:rPr lang="ru-RU" dirty="0"/>
                  <a:t>после чего результат снова кодируется в </a:t>
                </a:r>
                <a:r>
                  <a:rPr lang="en-US" dirty="0"/>
                  <a:t>sRGB </a:t>
                </a:r>
                <a:r>
                  <a:rPr lang="ru-RU" dirty="0"/>
                  <a:t>для отображения.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Контраст определяет степень различия между светлыми и тёмными областями изображения.</a:t>
                </a:r>
              </a:p>
              <a:p>
                <a:r>
                  <a:rPr lang="ru-RU" dirty="0"/>
                  <a:t>Чем выше контраст, тем сильнее визуально разделяются яркие и тёмные участки сцены.</a:t>
                </a:r>
              </a:p>
              <a:p>
                <a:r>
                  <a:rPr lang="ru-RU" dirty="0"/>
                  <a:t>При регулировке контраста обычно изменяется отклонение яркости пикселей относительно среднего значения.</a:t>
                </a:r>
              </a:p>
              <a:p>
                <a:r>
                  <a:rPr lang="ru-RU" dirty="0"/>
                  <a:t>В приведённой формуле: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𝐶_𝑜𝑢𝑡=(𝐶_𝑖𝑛−0.5)⋅𝛼+0.5</a:t>
                </a:r>
                <a:endParaRPr lang="ar-AE" dirty="0"/>
              </a:p>
              <a:p>
                <a:r>
                  <a:rPr lang="ru-RU" dirty="0"/>
                  <a:t>значение 0.5 соответствует средней яркости в нормализованном диапазоне от 0 до 1.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Сначала из значения пикселя вычитается средний уровень яркости, затем это отклонение масштабируется коэффициентом </a:t>
                </a:r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</a:t>
                </a:r>
                <a:r>
                  <a:rPr lang="ru-RU" dirty="0"/>
                  <a:t>, после чего среднее значение добавляется обратно.</a:t>
                </a:r>
              </a:p>
              <a:p>
                <a:r>
                  <a:rPr lang="ru-RU" dirty="0"/>
                  <a:t>Если </a:t>
                </a:r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𝛼&gt;1</a:t>
                </a:r>
                <a:r>
                  <a:rPr lang="ru-RU" dirty="0"/>
                  <a:t>, различия между светлыми и тёмными областями усиливаются, и изображение становится более контрастным.</a:t>
                </a:r>
              </a:p>
              <a:p>
                <a:r>
                  <a:rPr lang="ru-RU" dirty="0"/>
                  <a:t>Если </a:t>
                </a:r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𝛼&lt;1</a:t>
                </a:r>
                <a:r>
                  <a:rPr lang="ru-RU" dirty="0"/>
                  <a:t>, яркости сближаются, и изображение выглядит более плоским и менее выразительным.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При слишком сильном увеличении контраста возможна потеря деталей:</a:t>
                </a:r>
                <a:br>
                  <a:rPr lang="ru-RU" dirty="0"/>
                </a:br>
                <a:r>
                  <a:rPr lang="ru-RU" dirty="0"/>
                  <a:t>яркие области становятся полностью белыми,</a:t>
                </a:r>
                <a:br>
                  <a:rPr lang="ru-RU" dirty="0"/>
                </a:br>
                <a:r>
                  <a:rPr lang="ru-RU" dirty="0"/>
                  <a:t>а тёмные — полностью чёрными.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Важно отметить, что корректная регулировка контраста должна выполняться в линейном цветовом пространстве.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Если операция применяется непосредственно к </a:t>
                </a:r>
                <a:r>
                  <a:rPr lang="en-US" dirty="0"/>
                  <a:t>sRGB-</a:t>
                </a:r>
                <a:r>
                  <a:rPr lang="ru-RU" dirty="0"/>
                  <a:t>значениям, изменение яркости происходит нелинейно, и визуальный результат может отличаться от ожидаемого.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Поэтому в системах компьютерной графики изображение обычно:</a:t>
                </a:r>
                <a:br>
                  <a:rPr lang="ru-RU" dirty="0"/>
                </a:br>
                <a:r>
                  <a:rPr lang="ru-RU" dirty="0"/>
                  <a:t>сначала переводится из </a:t>
                </a:r>
                <a:r>
                  <a:rPr lang="en-US" dirty="0"/>
                  <a:t>sRGB </a:t>
                </a:r>
                <a:r>
                  <a:rPr lang="ru-RU" dirty="0"/>
                  <a:t>в </a:t>
                </a:r>
                <a:r>
                  <a:rPr lang="en-US" dirty="0"/>
                  <a:t>Linear RGB,</a:t>
                </a:r>
                <a:br>
                  <a:rPr lang="en-US" dirty="0"/>
                </a:br>
                <a:r>
                  <a:rPr lang="ru-RU" dirty="0"/>
                  <a:t>затем выполняется изменение контраста,</a:t>
                </a:r>
                <a:br>
                  <a:rPr lang="ru-RU" dirty="0"/>
                </a:br>
                <a:r>
                  <a:rPr lang="ru-RU" dirty="0"/>
                  <a:t>после чего результат снова кодируется в </a:t>
                </a:r>
                <a:r>
                  <a:rPr lang="en-US" dirty="0"/>
                  <a:t>sRGB </a:t>
                </a:r>
                <a:r>
                  <a:rPr lang="ru-RU" dirty="0"/>
                  <a:t>для отображения.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542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Регулировка цветовых кривых представляет собой нелинейное преобразование яркости или цветовых компонент изображения.</a:t>
            </a:r>
          </a:p>
          <a:p>
            <a:endParaRPr lang="ru-RU" dirty="0"/>
          </a:p>
          <a:p>
            <a:r>
              <a:rPr lang="ru-RU" dirty="0"/>
              <a:t>Вместо простой линейной операции каждому входному значению яркости сопоставляется новое значение в соответствии с заданной кривой преобразования.</a:t>
            </a:r>
          </a:p>
          <a:p>
            <a:endParaRPr lang="ru-RU" dirty="0"/>
          </a:p>
          <a:p>
            <a:r>
              <a:rPr lang="ru-RU" dirty="0"/>
              <a:t>Это позволяет выборочно изменять:</a:t>
            </a:r>
          </a:p>
          <a:p>
            <a:r>
              <a:rPr lang="ru-RU" dirty="0"/>
              <a:t>тени; </a:t>
            </a:r>
          </a:p>
          <a:p>
            <a:r>
              <a:rPr lang="ru-RU" dirty="0"/>
              <a:t>средние тона; </a:t>
            </a:r>
          </a:p>
          <a:p>
            <a:r>
              <a:rPr lang="ru-RU" dirty="0"/>
              <a:t>светлые области изображения. </a:t>
            </a:r>
          </a:p>
          <a:p>
            <a:endParaRPr lang="ru-RU" dirty="0"/>
          </a:p>
          <a:p>
            <a:r>
              <a:rPr lang="ru-RU" dirty="0"/>
              <a:t>Например, S-образная кривая обычно используется для повышения контраста:</a:t>
            </a:r>
            <a:br>
              <a:rPr lang="ru-RU" dirty="0"/>
            </a:br>
            <a:r>
              <a:rPr lang="ru-RU" dirty="0"/>
              <a:t>тёмные области становятся темнее,</a:t>
            </a:r>
            <a:br>
              <a:rPr lang="ru-RU" dirty="0"/>
            </a:br>
            <a:r>
              <a:rPr lang="ru-RU" dirty="0"/>
              <a:t>а светлые — светлее.</a:t>
            </a:r>
          </a:p>
          <a:p>
            <a:endParaRPr lang="ru-RU" dirty="0"/>
          </a:p>
          <a:p>
            <a:r>
              <a:rPr lang="ru-RU" dirty="0"/>
              <a:t>Кроме общей RGB-кривой, преобразование может выполняться отдельно для каждого цветового канала.</a:t>
            </a:r>
          </a:p>
          <a:p>
            <a:r>
              <a:rPr lang="ru-RU" dirty="0"/>
              <a:t>На слайде показан пример изменения формы кривых для красного, зелёного и синего каналов, что приводит к изменению цветового баланса изображения.</a:t>
            </a:r>
          </a:p>
          <a:p>
            <a:endParaRPr lang="ru-RU" dirty="0"/>
          </a:p>
          <a:p>
            <a:r>
              <a:rPr lang="ru-RU" dirty="0"/>
              <a:t>Именно поэтому </a:t>
            </a:r>
            <a:r>
              <a:rPr lang="ru-RU" dirty="0" err="1"/>
              <a:t>curves</a:t>
            </a:r>
            <a:r>
              <a:rPr lang="ru-RU" dirty="0"/>
              <a:t> являются одним из самых мощных инструментов цветокоррекции в графических редакторах и системах обработки изображений.</a:t>
            </a:r>
          </a:p>
          <a:p>
            <a:endParaRPr lang="ru-RU" dirty="0"/>
          </a:p>
          <a:p>
            <a:r>
              <a:rPr lang="ru-RU" dirty="0"/>
              <a:t>Важно отметить, что корректная работа с яркостью и освещённостью должна выполняться в линейном цветовом пространстве.</a:t>
            </a:r>
          </a:p>
          <a:p>
            <a:endParaRPr lang="ru-RU" dirty="0"/>
          </a:p>
          <a:p>
            <a:r>
              <a:rPr lang="ru-RU" dirty="0"/>
              <a:t>Однако на практике многие инструменты редактирования применяют кривые непосредственно к </a:t>
            </a:r>
            <a:r>
              <a:rPr lang="ru-RU" dirty="0" err="1"/>
              <a:t>sRGB</a:t>
            </a:r>
            <a:r>
              <a:rPr lang="ru-RU" dirty="0"/>
              <a:t>-значениям, поскольку это часто даёт визуально ожидаемый результат для человека.</a:t>
            </a:r>
          </a:p>
          <a:p>
            <a:r>
              <a:rPr lang="ru-RU" dirty="0"/>
              <a:t>В профессиональной компьютерной графике и рендеринге сложная цветокоррекция обычно выполняется после преобразования изображения в </a:t>
            </a:r>
            <a:r>
              <a:rPr lang="ru-RU" dirty="0" err="1"/>
              <a:t>Linear</a:t>
            </a:r>
            <a:r>
              <a:rPr lang="ru-RU" dirty="0"/>
              <a:t> RGB.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565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0267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Свёртка является одной из важнейших операций цифровой обработки изображений.</a:t>
            </a:r>
          </a:p>
          <a:p>
            <a:r>
              <a:rPr lang="ru-RU" dirty="0"/>
              <a:t>Практически большинство классических фильтров изображений основано именно на операции свёртки.</a:t>
            </a:r>
          </a:p>
          <a:p>
            <a:r>
              <a:rPr lang="ru-RU" dirty="0"/>
              <a:t>Основная идея заключается в том, что новое значение пикселя вычисляется на основе значений соседних пикселей.</a:t>
            </a:r>
          </a:p>
          <a:p>
            <a:endParaRPr lang="ru-RU" dirty="0"/>
          </a:p>
          <a:p>
            <a:r>
              <a:rPr lang="ru-RU" dirty="0"/>
              <a:t>Для этого используется специальная матрица коэффициентов — ядро свёртки, или </a:t>
            </a:r>
            <a:r>
              <a:rPr lang="ru-RU" dirty="0" err="1"/>
              <a:t>convolution</a:t>
            </a:r>
            <a:r>
              <a:rPr lang="ru-RU" dirty="0"/>
              <a:t> </a:t>
            </a:r>
            <a:r>
              <a:rPr lang="ru-RU" dirty="0" err="1"/>
              <a:t>kernel</a:t>
            </a:r>
            <a:r>
              <a:rPr lang="ru-RU" dirty="0"/>
              <a:t>.</a:t>
            </a:r>
          </a:p>
          <a:p>
            <a:r>
              <a:rPr lang="ru-RU" dirty="0"/>
              <a:t>Во время обработки ядро последовательно перемещается по изображению.</a:t>
            </a:r>
          </a:p>
          <a:p>
            <a:endParaRPr lang="ru-RU" dirty="0"/>
          </a:p>
          <a:p>
            <a:r>
              <a:rPr lang="ru-RU" dirty="0"/>
              <a:t>Для каждого положения вычисляется взвешенная сумма соседних пикселей, после чего результат записывается в выходное изображение.</a:t>
            </a:r>
          </a:p>
          <a:p>
            <a:endParaRPr lang="ru-RU" dirty="0"/>
          </a:p>
          <a:p>
            <a:r>
              <a:rPr lang="ru-RU" dirty="0"/>
              <a:t>Разные значения коэффициентов ядра позволяют получать различные эффекты обработки.</a:t>
            </a:r>
          </a:p>
          <a:p>
            <a:r>
              <a:rPr lang="ru-RU" dirty="0"/>
              <a:t>Например:</a:t>
            </a:r>
            <a:br>
              <a:rPr lang="ru-RU" dirty="0"/>
            </a:br>
            <a:r>
              <a:rPr lang="ru-RU" dirty="0"/>
              <a:t>одни ядра выполняют размытие изображения,</a:t>
            </a:r>
            <a:br>
              <a:rPr lang="ru-RU" dirty="0"/>
            </a:br>
            <a:r>
              <a:rPr lang="ru-RU" dirty="0"/>
              <a:t>другие — повышение резкости,</a:t>
            </a:r>
            <a:br>
              <a:rPr lang="ru-RU" dirty="0"/>
            </a:br>
            <a:r>
              <a:rPr lang="ru-RU" dirty="0"/>
              <a:t>третьи — выделение границ или подавление шумов.</a:t>
            </a:r>
          </a:p>
          <a:p>
            <a:endParaRPr lang="ru-RU" dirty="0"/>
          </a:p>
          <a:p>
            <a:r>
              <a:rPr lang="ru-RU" dirty="0"/>
              <a:t>Математически свёртка представляет собой сумму произведений значений изображения и коэффициентов ядра.</a:t>
            </a:r>
          </a:p>
          <a:p>
            <a:endParaRPr lang="ru-RU" dirty="0"/>
          </a:p>
          <a:p>
            <a:r>
              <a:rPr lang="ru-RU" dirty="0"/>
              <a:t>В двумерном случае свёртка применяется отдельно для каждой точки изображения.</a:t>
            </a:r>
          </a:p>
          <a:p>
            <a:r>
              <a:rPr lang="ru-RU" dirty="0"/>
              <a:t>Важно отметить, что свёртка является локальной операцией:</a:t>
            </a:r>
            <a:br>
              <a:rPr lang="ru-RU" dirty="0"/>
            </a:br>
            <a:r>
              <a:rPr lang="ru-RU" dirty="0"/>
              <a:t>новое значение пикселя зависит только от некоторой окрестности вокруг него.</a:t>
            </a:r>
          </a:p>
          <a:p>
            <a:endParaRPr lang="ru-RU" dirty="0"/>
          </a:p>
          <a:p>
            <a:r>
              <a:rPr lang="ru-RU" dirty="0"/>
              <a:t>Именно благодаря этому свёртка эффективно реализуется: на CPU, GPU,</a:t>
            </a:r>
            <a:br>
              <a:rPr lang="ru-RU" dirty="0"/>
            </a:br>
            <a:r>
              <a:rPr lang="ru-RU" dirty="0"/>
              <a:t>и в специализированных ускорителях обработки изображений.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442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Свёртка обладает рядом важных математических свойств, которые широко используются при разработке алгоритмов обработки изображений.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Первое важное свойство — коммутативность.</a:t>
            </a:r>
          </a:p>
          <a:p>
            <a:r>
              <a:rPr lang="ru-RU" dirty="0"/>
              <a:t>Она означает, что порядок операндов при свёртке не влияет на результат.</a:t>
            </a:r>
          </a:p>
          <a:p>
            <a:r>
              <a:rPr lang="ru-RU" dirty="0"/>
              <a:t>На практике это свойство используется редко напрямую, но оно важно для математического анализа фильтров.</a:t>
            </a:r>
          </a:p>
          <a:p>
            <a:endParaRPr lang="en-US" dirty="0"/>
          </a:p>
          <a:p>
            <a:r>
              <a:rPr lang="ru-RU" dirty="0"/>
              <a:t>Второе важное свойство — ассоциативность.</a:t>
            </a:r>
          </a:p>
          <a:p>
            <a:r>
              <a:rPr lang="ru-RU" dirty="0"/>
              <a:t>Оно позволяет объединять несколько последовательных фильтров в один эквивалентный фильтр.</a:t>
            </a:r>
          </a:p>
          <a:p>
            <a:r>
              <a:rPr lang="ru-RU" dirty="0"/>
              <a:t>Например, если изображение сначала размывается, а затем дополнительно фильтруется другим ядром, оба преобразования можно объединить в одну свёртку.</a:t>
            </a:r>
          </a:p>
          <a:p>
            <a:r>
              <a:rPr lang="ru-RU" dirty="0"/>
              <a:t>Это позволяет уменьшить количество вычислений и повысить производительность обработки.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Наиболее важное свойство связано с преобразованием Фурье.</a:t>
            </a:r>
          </a:p>
          <a:p>
            <a:r>
              <a:rPr lang="ru-RU" dirty="0"/>
              <a:t>Свёртка в пространственной области эквивалентна умножению спектров в частотной области.</a:t>
            </a:r>
          </a:p>
          <a:p>
            <a:r>
              <a:rPr lang="ru-RU" dirty="0"/>
              <a:t>Это свойство лежит в основе быстрого вычисления больших свёрток с использованием FFT — быстрого преобразования Фурье.</a:t>
            </a:r>
          </a:p>
          <a:p>
            <a:r>
              <a:rPr lang="ru-RU" dirty="0"/>
              <a:t>Для больших ядер такой подход может работать значительно быстрее, чем прямая свёртка в пространственной области.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поэтому методы обработки изображений тесно связаны с частотным анализом сигналов и преобразованием Фурье.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8344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C2C23832-1BD8-5D0D-CB4F-3EE791E48F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035" name="Rectangle 3">
                <a:extLst>
                  <a:ext uri="{FF2B5EF4-FFF2-40B4-BE49-F238E27FC236}">
                    <a16:creationId xmlns:a16="http://schemas.microsoft.com/office/drawing/2014/main" id="{06A9C051-726F-9195-24EA-8E18DD06544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u-RU" dirty="0"/>
                  <a:t>На данном примере показан принцип работы фильтра размытия, основанного на свёртке.</a:t>
                </a:r>
              </a:p>
              <a:p>
                <a:r>
                  <a:rPr lang="ru-RU" dirty="0"/>
                  <a:t>Исходное изображение содержит один яркий пиксель.</a:t>
                </a:r>
              </a:p>
              <a:p>
                <a:r>
                  <a:rPr lang="ru-RU" dirty="0"/>
                  <a:t>После применения свёртки его яркость распределяется между соседними пикселями в соответствии с коэффициентами ядра.</a:t>
                </a:r>
              </a:p>
              <a:p>
                <a:r>
                  <a:rPr lang="ru-RU" dirty="0"/>
                  <a:t>В центре ядра расположен больший коэффициент — 4, поэтому центральный пиксель сохраняет наибольшую яркость.</a:t>
                </a:r>
              </a:p>
              <a:p>
                <a:r>
                  <a:rPr lang="ru-RU" dirty="0"/>
                  <a:t>Соседние пиксели получают меньшие значения яркости, поскольку их коэффициенты равны 1.</a:t>
                </a:r>
              </a:p>
              <a:p>
                <a:endParaRPr lang="ru-RU" dirty="0"/>
              </a:p>
              <a:p>
                <a:r>
                  <a:rPr lang="ru-RU" dirty="0"/>
                  <a:t>Нормирующий множитель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ar-AE" sz="120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8</m:t>
                        </m:r>
                      </m:den>
                    </m:f>
                  </m:oMath>
                </a14:m>
                <a:r>
                  <a:rPr lang="ru-RU" dirty="0"/>
                  <a:t> обеспечивает сохранение общего уровня яркости изображения и предотвращает переполнение значений.</a:t>
                </a:r>
              </a:p>
              <a:p>
                <a:endParaRPr lang="ru-RU" dirty="0"/>
              </a:p>
              <a:p>
                <a:r>
                  <a:rPr lang="ru-RU" dirty="0"/>
                  <a:t>В результате резкая точка превращается в более плавное световое пятно.</a:t>
                </a:r>
              </a:p>
              <a:p>
                <a:endParaRPr lang="ru-RU" dirty="0"/>
              </a:p>
              <a:p>
                <a:r>
                  <a:rPr lang="ru-RU" dirty="0"/>
                  <a:t>Именно так работают фильтры размытия: они уменьшают локальные перепады яркости и сглаживают высокочастотные детали изображения.</a:t>
                </a:r>
              </a:p>
              <a:p>
                <a:pPr eaLnBrk="1" hangingPunct="1"/>
                <a:endParaRPr lang="en-US" altLang="en-US" dirty="0"/>
              </a:p>
            </p:txBody>
          </p:sp>
        </mc:Choice>
        <mc:Fallback xmlns="">
          <p:sp>
            <p:nvSpPr>
              <p:cNvPr id="172035" name="Rectangle 3">
                <a:extLst>
                  <a:ext uri="{FF2B5EF4-FFF2-40B4-BE49-F238E27FC236}">
                    <a16:creationId xmlns:a16="http://schemas.microsoft.com/office/drawing/2014/main" id="{06A9C051-726F-9195-24EA-8E18DD065448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u-RU" dirty="0"/>
                  <a:t>На данном примере показан принцип работы фильтра размытия, основанного на свёртке.</a:t>
                </a:r>
              </a:p>
              <a:p>
                <a:r>
                  <a:rPr lang="ru-RU" dirty="0"/>
                  <a:t>Исходное изображение содержит один яркий пиксель.</a:t>
                </a:r>
              </a:p>
              <a:p>
                <a:r>
                  <a:rPr lang="ru-RU" dirty="0"/>
                  <a:t>После применения свёртки его яркость распределяется между соседними пикселями в соответствии с коэффициентами ядра.</a:t>
                </a:r>
              </a:p>
              <a:p>
                <a:r>
                  <a:rPr lang="ru-RU" dirty="0"/>
                  <a:t>В центре ядра расположен больший коэффициент — 4, поэтому центральный пиксель сохраняет наибольшую яркость.</a:t>
                </a:r>
              </a:p>
              <a:p>
                <a:r>
                  <a:rPr lang="ru-RU" dirty="0"/>
                  <a:t>Соседние пиксели получают меньшие значения яркости, поскольку их коэффициенты равны 1.</a:t>
                </a:r>
              </a:p>
              <a:p>
                <a:endParaRPr lang="ru-RU" dirty="0"/>
              </a:p>
              <a:p>
                <a:r>
                  <a:rPr lang="ru-RU" dirty="0"/>
                  <a:t>Нормирующий множитель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1/8</a:t>
                </a:r>
                <a:r>
                  <a:rPr lang="ru-RU" dirty="0"/>
                  <a:t> обеспечивает сохранение общего уровня яркости изображения и предотвращает переполнение значений.</a:t>
                </a:r>
              </a:p>
              <a:p>
                <a:endParaRPr lang="ru-RU" dirty="0"/>
              </a:p>
              <a:p>
                <a:r>
                  <a:rPr lang="ru-RU" dirty="0"/>
                  <a:t>В результате резкая точка превращается в более плавное световое пятно.</a:t>
                </a:r>
              </a:p>
              <a:p>
                <a:endParaRPr lang="ru-RU" dirty="0"/>
              </a:p>
              <a:p>
                <a:r>
                  <a:rPr lang="ru-RU" dirty="0"/>
                  <a:t>Именно так работают фильтры размытия: они уменьшают локальные перепады яркости и сглаживают высокочастотные детали изображения.</a:t>
                </a:r>
              </a:p>
              <a:p>
                <a:pPr eaLnBrk="1" hangingPunct="1"/>
                <a:endParaRPr lang="en-US" altLang="en-US" dirty="0"/>
              </a:p>
            </p:txBody>
          </p:sp>
        </mc:Fallback>
      </mc:AlternateContent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0A96E9D1-4485-F4DC-98D0-95C1EB1A20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79" name="Rectangle 3">
            <a:extLst>
              <a:ext uri="{FF2B5EF4-FFF2-40B4-BE49-F238E27FC236}">
                <a16:creationId xmlns:a16="http://schemas.microsoft.com/office/drawing/2014/main" id="{99854839-575D-A984-53B0-737A661E90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dirty="0"/>
              <a:t>Фильтры повышения резкости используются для усиления локальных перепадов яркости и выделения границ объектов на изображении.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данном ядре центральный коэффициент имеет большое положительное значение, а соседние элементы — отрицательные.</a:t>
            </a:r>
          </a:p>
          <a:p>
            <a:r>
              <a:rPr lang="ru-RU" dirty="0"/>
              <a:t>Во время свёртки это приводит к тому, что центральный пиксель усиливается, а окружающие значения частично вычитаются.</a:t>
            </a:r>
          </a:p>
          <a:p>
            <a:r>
              <a:rPr lang="ru-RU" dirty="0"/>
              <a:t>В результате возрастает контраст на границах объектов, и изображение визуально становится более резким.</a:t>
            </a:r>
          </a:p>
          <a:p>
            <a:endParaRPr lang="ru-RU" dirty="0"/>
          </a:p>
          <a:p>
            <a:r>
              <a:rPr lang="ru-RU" dirty="0"/>
              <a:t>Такие фильтры усиливают высокочастотные компоненты изображения: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мелкие детали;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текстуры;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контуры объектов. </a:t>
            </a:r>
          </a:p>
          <a:p>
            <a:endParaRPr lang="ru-RU" dirty="0"/>
          </a:p>
          <a:p>
            <a:r>
              <a:rPr lang="ru-RU" dirty="0"/>
              <a:t>Однако вместе с полезными деталями часто усиливается и шум изображения.</a:t>
            </a:r>
          </a:p>
          <a:p>
            <a:r>
              <a:rPr lang="ru-RU" dirty="0"/>
              <a:t>Поэтому </a:t>
            </a:r>
            <a:r>
              <a:rPr lang="ru-RU" dirty="0" err="1"/>
              <a:t>sharpen</a:t>
            </a:r>
            <a:r>
              <a:rPr lang="ru-RU" dirty="0"/>
              <a:t>-фильтры обычно применяются:</a:t>
            </a:r>
          </a:p>
          <a:p>
            <a:r>
              <a:rPr lang="ru-RU" dirty="0"/>
              <a:t>после размытия; </a:t>
            </a:r>
          </a:p>
          <a:p>
            <a:r>
              <a:rPr lang="ru-RU" dirty="0"/>
              <a:t>после масштабирования; </a:t>
            </a:r>
          </a:p>
          <a:p>
            <a:r>
              <a:rPr lang="ru-RU" dirty="0"/>
              <a:t>при постобработке фотографий и видео; </a:t>
            </a:r>
          </a:p>
          <a:p>
            <a:r>
              <a:rPr lang="ru-RU" dirty="0"/>
              <a:t>в графических редакторах и игровых движках. </a:t>
            </a:r>
          </a:p>
          <a:p>
            <a:endParaRPr lang="ru-RU" dirty="0"/>
          </a:p>
          <a:p>
            <a:r>
              <a:rPr lang="ru-RU" dirty="0"/>
              <a:t>Важно отметить, что повышение резкости, как и другие операции свёртки, корректнее выполнять в линейном цветовом пространстве, поскольку </a:t>
            </a:r>
            <a:r>
              <a:rPr lang="ru-RU" dirty="0" err="1"/>
              <a:t>sharpening</a:t>
            </a:r>
            <a:r>
              <a:rPr lang="ru-RU" dirty="0"/>
              <a:t> фактически изменяет распределение энергии и локальный контраст изображения.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F8DF84C1-7424-F900-E38A-76412824B1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EF572037-107A-BA0A-B9D5-90B7373A9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dirty="0"/>
              <a:t>Фильтр </a:t>
            </a:r>
            <a:r>
              <a:rPr lang="ru-RU" dirty="0" err="1"/>
              <a:t>emboss</a:t>
            </a:r>
            <a:r>
              <a:rPr lang="ru-RU" dirty="0"/>
              <a:t>, или фильтр тиснения, создаёт эффект рельефной поверхности.</a:t>
            </a:r>
          </a:p>
          <a:p>
            <a:r>
              <a:rPr lang="ru-RU" dirty="0"/>
              <a:t>Он основан на выделении перепадов яркости в определённом направлении.</a:t>
            </a:r>
          </a:p>
          <a:p>
            <a:endParaRPr lang="ru-RU" dirty="0"/>
          </a:p>
          <a:p>
            <a:r>
              <a:rPr lang="ru-RU" dirty="0"/>
              <a:t>Ядро свёртки содержит положительные и отрицательные коэффициенты, расположенные асимметрично.</a:t>
            </a:r>
          </a:p>
          <a:p>
            <a:r>
              <a:rPr lang="ru-RU" dirty="0"/>
              <a:t>В результате одна сторона границы объектов становится светлее, а противоположная — темнее.</a:t>
            </a:r>
          </a:p>
          <a:p>
            <a:endParaRPr lang="ru-RU" dirty="0"/>
          </a:p>
          <a:p>
            <a:r>
              <a:rPr lang="ru-RU" dirty="0"/>
              <a:t>Это создаёт иллюзию освещения и объёма, как будто изображение было выдавлено или выгравировано на поверхности.</a:t>
            </a:r>
          </a:p>
          <a:p>
            <a:endParaRPr lang="ru-RU" dirty="0"/>
          </a:p>
          <a:p>
            <a:r>
              <a:rPr lang="ru-RU" dirty="0"/>
              <a:t>Направление расположения коэффициентов определяет направление «виртуального освещения» и ориентацию рельефа.</a:t>
            </a:r>
          </a:p>
          <a:p>
            <a:r>
              <a:rPr lang="ru-RU" dirty="0"/>
              <a:t>Фактически </a:t>
            </a:r>
            <a:r>
              <a:rPr lang="ru-RU" dirty="0" err="1"/>
              <a:t>emboss</a:t>
            </a:r>
            <a:r>
              <a:rPr lang="ru-RU" dirty="0"/>
              <a:t>-фильтр является разновидностью градиентного фильтра и близок к алгоритмам выделения границ.</a:t>
            </a:r>
          </a:p>
          <a:p>
            <a:endParaRPr lang="ru-RU" dirty="0"/>
          </a:p>
          <a:p>
            <a:r>
              <a:rPr lang="ru-RU" dirty="0"/>
              <a:t>Такие фильтры используются:</a:t>
            </a:r>
          </a:p>
          <a:p>
            <a:r>
              <a:rPr lang="ru-RU" dirty="0"/>
              <a:t>в графических редакторах; </a:t>
            </a:r>
          </a:p>
          <a:p>
            <a:r>
              <a:rPr lang="ru-RU" dirty="0"/>
              <a:t>при создании декоративных эффектов; </a:t>
            </a:r>
          </a:p>
          <a:p>
            <a:r>
              <a:rPr lang="ru-RU" dirty="0"/>
              <a:t>для стилизации изображений; </a:t>
            </a:r>
          </a:p>
          <a:p>
            <a:r>
              <a:rPr lang="ru-RU" dirty="0"/>
              <a:t>в интерфейсах и текстурировании. </a:t>
            </a:r>
          </a:p>
          <a:p>
            <a:endParaRPr lang="ru-RU" dirty="0"/>
          </a:p>
          <a:p>
            <a:r>
              <a:rPr lang="ru-RU" dirty="0"/>
              <a:t>Поскольку </a:t>
            </a:r>
            <a:r>
              <a:rPr lang="ru-RU" dirty="0" err="1"/>
              <a:t>emboss</a:t>
            </a:r>
            <a:r>
              <a:rPr lang="ru-RU" dirty="0"/>
              <a:t> основан на анализе изменений яркости, его также предпочтительно выполнять в линейном цветовом пространстве.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Оператор Собеля является одним из классических методов выделения границ на изображении.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Его основная идея заключается в вычислении приближённого градиента яркости — то есть скорости изменения яркости в разных направлениях.</a:t>
                </a:r>
              </a:p>
              <a:p>
                <a:endParaRPr lang="ru-RU" dirty="0"/>
              </a:p>
              <a:p>
                <a:r>
                  <a:rPr lang="ru-RU" dirty="0"/>
                  <a:t>Для этого используются два свёрточных ядра:</a:t>
                </a:r>
              </a:p>
              <a:p>
                <a:r>
                  <a:rPr lang="ru-RU" dirty="0"/>
                  <a:t>одно вычисляет изменение яркости по горизонтали; </a:t>
                </a:r>
              </a:p>
              <a:p>
                <a:r>
                  <a:rPr lang="ru-RU" dirty="0"/>
                  <a:t>второе — по вертикали. </a:t>
                </a:r>
              </a:p>
              <a:p>
                <a:endParaRPr lang="ru-RU" dirty="0"/>
              </a:p>
              <a:p>
                <a:r>
                  <a:rPr lang="ru-RU" dirty="0"/>
                  <a:t>После применения обоих фильтров получаются компоненты градиента: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</m:sub>
                      </m:sSub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ru-RU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и</m:t>
                      </m:r>
                      <m:r>
                        <a:rPr lang="ru-RU" sz="1200" b="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𝐺</m:t>
                          </m:r>
                        </m:e>
                        <m:sub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ar-AE" b="0" dirty="0"/>
              </a:p>
              <a:p>
                <a:r>
                  <a:rPr lang="ru-RU" dirty="0"/>
                  <a:t>По ним вычисляется полная величина градиента: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𝐺</m:t>
                      </m:r>
                      <m:r>
                        <a:rPr lang="ru-RU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ar-AE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ar-AE" dirty="0"/>
              </a:p>
              <a:p>
                <a:r>
                  <a:rPr lang="ru-RU" dirty="0"/>
                  <a:t>Чем больше значение градиента, тем сильнее локальный перепад яркости и тем вероятнее наличие границы объекта.</a:t>
                </a:r>
              </a:p>
              <a:p>
                <a:endParaRPr lang="ru-RU" dirty="0"/>
              </a:p>
              <a:p>
                <a:r>
                  <a:rPr lang="ru-RU" dirty="0"/>
                  <a:t>Также можно вычислить угол градиента: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𝜃</m:t>
                      </m:r>
                      <m:r>
                        <a:rPr lang="ru-RU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unc>
                        <m:func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atan</m:t>
                          </m:r>
                        </m:fName>
                        <m:e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ar-AE" dirty="0"/>
              </a:p>
              <a:p>
                <a:endParaRPr lang="ru-RU" dirty="0"/>
              </a:p>
              <a:p>
                <a:r>
                  <a:rPr lang="ru-RU" dirty="0"/>
                  <a:t>Он показывает направление изменения яркости.</a:t>
                </a:r>
              </a:p>
              <a:p>
                <a:r>
                  <a:rPr lang="ru-RU" dirty="0"/>
                  <a:t>На практике оператор Собеля:</a:t>
                </a:r>
              </a:p>
              <a:p>
                <a:r>
                  <a:rPr lang="ru-RU" dirty="0"/>
                  <a:t>выделяет контуры объектов; </a:t>
                </a:r>
              </a:p>
              <a:p>
                <a:r>
                  <a:rPr lang="ru-RU" dirty="0"/>
                  <a:t>подавляет часть шумов благодаря сглаживающим коэффициентам; </a:t>
                </a:r>
              </a:p>
              <a:p>
                <a:r>
                  <a:rPr lang="ru-RU" dirty="0"/>
                  <a:t>часто используется как первый этап компьютерного зрения. </a:t>
                </a:r>
              </a:p>
              <a:p>
                <a:endParaRPr lang="ru-RU" dirty="0"/>
              </a:p>
              <a:p>
                <a:r>
                  <a:rPr lang="ru-RU" dirty="0"/>
                  <a:t>Он применяется:</a:t>
                </a:r>
              </a:p>
              <a:p>
                <a:r>
                  <a:rPr lang="ru-RU" dirty="0"/>
                  <a:t>в системах распознавания объектов; </a:t>
                </a:r>
              </a:p>
              <a:p>
                <a:r>
                  <a:rPr lang="ru-RU" dirty="0"/>
                  <a:t>при сегментации изображений; </a:t>
                </a:r>
              </a:p>
              <a:p>
                <a:r>
                  <a:rPr lang="ru-RU" dirty="0"/>
                  <a:t>в алгоритмах трекинга; </a:t>
                </a:r>
              </a:p>
              <a:p>
                <a:r>
                  <a:rPr lang="ru-RU" dirty="0"/>
                  <a:t>в </a:t>
                </a:r>
                <a:r>
                  <a:rPr lang="en-US" dirty="0"/>
                  <a:t>edge detection </a:t>
                </a:r>
                <a:r>
                  <a:rPr lang="ru-RU" dirty="0"/>
                  <a:t>и </a:t>
                </a:r>
                <a:r>
                  <a:rPr lang="en-US" dirty="0"/>
                  <a:t>feature extraction. </a:t>
                </a:r>
                <a:endParaRPr lang="ru-RU" dirty="0"/>
              </a:p>
              <a:p>
                <a:endParaRPr lang="en-US" dirty="0"/>
              </a:p>
              <a:p>
                <a:r>
                  <a:rPr lang="ru-RU" dirty="0"/>
                  <a:t>Поскольку оператор анализирует изменения яркости, вычисления предпочтительно выполнять в линейном цветовом пространстве или по компоненте </a:t>
                </a:r>
                <a:r>
                  <a:rPr lang="en-US" dirty="0"/>
                  <a:t>luminance.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Оператор Собеля является одним из классических методов выделения границ на изображении.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Его основная идея заключается в вычислении приближённого градиента яркости — то есть скорости изменения яркости в разных направлениях.</a:t>
                </a:r>
              </a:p>
              <a:p>
                <a:endParaRPr lang="ru-RU" dirty="0"/>
              </a:p>
              <a:p>
                <a:r>
                  <a:rPr lang="ru-RU" dirty="0"/>
                  <a:t>Для этого используются два свёрточных ядра:</a:t>
                </a:r>
              </a:p>
              <a:p>
                <a:r>
                  <a:rPr lang="ru-RU" dirty="0"/>
                  <a:t>одно вычисляет изменение яркости по горизонтали; </a:t>
                </a:r>
              </a:p>
              <a:p>
                <a:r>
                  <a:rPr lang="ru-RU" dirty="0"/>
                  <a:t>второе — по вертикали. </a:t>
                </a:r>
              </a:p>
              <a:p>
                <a:endParaRPr lang="ru-RU" dirty="0"/>
              </a:p>
              <a:p>
                <a:r>
                  <a:rPr lang="ru-RU" dirty="0"/>
                  <a:t>После применения обоих фильтров получаются компоненты градиента: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𝐺_𝑥  </a:t>
                </a:r>
                <a:r>
                  <a:rPr lang="ru-RU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"и</a:t>
                </a:r>
                <a:r>
                  <a:rPr lang="ru-RU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𝐺_𝑦</a:t>
                </a:r>
                <a:endParaRPr lang="ar-AE" b="0" dirty="0"/>
              </a:p>
              <a:p>
                <a:r>
                  <a:rPr lang="ru-RU" dirty="0"/>
                  <a:t>По ним вычисляется полная величина градиента:</a:t>
                </a:r>
              </a:p>
              <a:p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𝐺=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√(𝐺_𝑥^2+𝐺_𝑦^2 )</a:t>
                </a:r>
                <a:endParaRPr lang="ar-AE" dirty="0"/>
              </a:p>
              <a:p>
                <a:r>
                  <a:rPr lang="ru-RU" dirty="0"/>
                  <a:t>Чем больше значение градиента, тем сильнее локальный перепад яркости и тем вероятнее наличие границы объекта.</a:t>
                </a:r>
              </a:p>
              <a:p>
                <a:endParaRPr lang="ru-RU" dirty="0"/>
              </a:p>
              <a:p>
                <a:r>
                  <a:rPr lang="ru-RU" dirty="0"/>
                  <a:t>Также можно вычислить угол градиента:</a:t>
                </a:r>
              </a:p>
              <a:p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𝜃=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atan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⁡(𝐺_𝑦/𝐺_𝑥 )</a:t>
                </a:r>
                <a:endParaRPr lang="ar-AE" dirty="0"/>
              </a:p>
              <a:p>
                <a:endParaRPr lang="ru-RU" dirty="0"/>
              </a:p>
              <a:p>
                <a:r>
                  <a:rPr lang="ru-RU" dirty="0"/>
                  <a:t>Он показывает направление изменения яркости.</a:t>
                </a:r>
              </a:p>
              <a:p>
                <a:r>
                  <a:rPr lang="ru-RU" dirty="0"/>
                  <a:t>На практике оператор Собеля:</a:t>
                </a:r>
              </a:p>
              <a:p>
                <a:r>
                  <a:rPr lang="ru-RU" dirty="0"/>
                  <a:t>выделяет контуры объектов; </a:t>
                </a:r>
              </a:p>
              <a:p>
                <a:r>
                  <a:rPr lang="ru-RU" dirty="0"/>
                  <a:t>подавляет часть шумов благодаря сглаживающим коэффициентам; </a:t>
                </a:r>
              </a:p>
              <a:p>
                <a:r>
                  <a:rPr lang="ru-RU" dirty="0"/>
                  <a:t>часто используется как первый этап компьютерного зрения. </a:t>
                </a:r>
              </a:p>
              <a:p>
                <a:endParaRPr lang="ru-RU" dirty="0"/>
              </a:p>
              <a:p>
                <a:r>
                  <a:rPr lang="ru-RU" dirty="0"/>
                  <a:t>Он применяется:</a:t>
                </a:r>
              </a:p>
              <a:p>
                <a:r>
                  <a:rPr lang="ru-RU" dirty="0"/>
                  <a:t>в системах распознавания объектов; </a:t>
                </a:r>
              </a:p>
              <a:p>
                <a:r>
                  <a:rPr lang="ru-RU" dirty="0"/>
                  <a:t>при сегментации изображений; </a:t>
                </a:r>
              </a:p>
              <a:p>
                <a:r>
                  <a:rPr lang="ru-RU" dirty="0"/>
                  <a:t>в алгоритмах трекинга; </a:t>
                </a:r>
              </a:p>
              <a:p>
                <a:r>
                  <a:rPr lang="ru-RU" dirty="0"/>
                  <a:t>в </a:t>
                </a:r>
                <a:r>
                  <a:rPr lang="en-US" dirty="0"/>
                  <a:t>edge detection </a:t>
                </a:r>
                <a:r>
                  <a:rPr lang="ru-RU" dirty="0"/>
                  <a:t>и </a:t>
                </a:r>
                <a:r>
                  <a:rPr lang="en-US" dirty="0"/>
                  <a:t>feature extraction. </a:t>
                </a:r>
                <a:endParaRPr lang="ru-RU" dirty="0"/>
              </a:p>
              <a:p>
                <a:endParaRPr lang="en-US" dirty="0"/>
              </a:p>
              <a:p>
                <a:r>
                  <a:rPr lang="ru-RU" dirty="0"/>
                  <a:t>Поскольку оператор анализирует изменения яркости, вычисления предпочтительно выполнять в линейном цветовом пространстве или по компоненте </a:t>
                </a:r>
                <a:r>
                  <a:rPr lang="en-US" dirty="0"/>
                  <a:t>luminance.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177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77FA8D7F-F7B6-88C3-4820-06CBC2E5F8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6131" name="Rectangle 3">
                <a:extLst>
                  <a:ext uri="{FF2B5EF4-FFF2-40B4-BE49-F238E27FC236}">
                    <a16:creationId xmlns:a16="http://schemas.microsoft.com/office/drawing/2014/main" id="{01ADBD95-0982-B928-7A23-2608542F1491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u-RU" dirty="0"/>
                  <a:t>Размытие Гаусса является одним из наиболее распространённых фильтров сглаживания изображений.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В основе фильтра лежит гауссово распределение, коэффициенты которого убывают по мере удаления от центра ядра.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Это означает, что наибольший вклад в результат вносит центральный пиксель, а влияние соседних пикселей постепенно уменьшается с расстоянием.</a:t>
                </a:r>
              </a:p>
              <a:p>
                <a:endParaRPr lang="en-US" dirty="0"/>
              </a:p>
              <a:p>
                <a:r>
                  <a:rPr lang="ru-RU" dirty="0"/>
                  <a:t>Такое сглаживание хорошо подавляет высокочастотные компоненты изображения:</a:t>
                </a:r>
              </a:p>
              <a:p>
                <a:r>
                  <a:rPr lang="ru-RU" dirty="0"/>
                  <a:t>шум; </a:t>
                </a:r>
              </a:p>
              <a:p>
                <a:r>
                  <a:rPr lang="ru-RU" dirty="0"/>
                  <a:t>мелкие детали; </a:t>
                </a:r>
              </a:p>
              <a:p>
                <a:r>
                  <a:rPr lang="ru-RU" dirty="0"/>
                  <a:t>резкие перепады яркости. </a:t>
                </a:r>
              </a:p>
              <a:p>
                <a:endParaRPr lang="en-US" dirty="0"/>
              </a:p>
              <a:p>
                <a:r>
                  <a:rPr lang="ru-RU" dirty="0"/>
                  <a:t>При этом </a:t>
                </a:r>
                <a:r>
                  <a:rPr lang="ru-RU" dirty="0" err="1"/>
                  <a:t>Gaussian</a:t>
                </a:r>
                <a:r>
                  <a:rPr lang="ru-RU" dirty="0"/>
                  <a:t> </a:t>
                </a:r>
                <a:r>
                  <a:rPr lang="ru-RU" dirty="0" err="1"/>
                  <a:t>Blur</a:t>
                </a:r>
                <a:r>
                  <a:rPr lang="ru-RU" dirty="0"/>
                  <a:t> создаёт более естественное размытие по сравнению с простым </a:t>
                </a:r>
                <a:r>
                  <a:rPr lang="ru-RU" dirty="0" err="1"/>
                  <a:t>box</a:t>
                </a:r>
                <a:r>
                  <a:rPr lang="ru-RU" dirty="0"/>
                  <a:t> </a:t>
                </a:r>
                <a:r>
                  <a:rPr lang="ru-RU" dirty="0" err="1"/>
                  <a:t>blur</a:t>
                </a:r>
                <a:r>
                  <a:rPr lang="ru-RU" dirty="0"/>
                  <a:t>, поскольку не создаёт резких границ внутри ядра.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Параметр </a:t>
                </a:r>
                <a14:m>
                  <m:oMath xmlns:m="http://schemas.openxmlformats.org/officeDocument/2006/math">
                    <m:r>
                      <a:rPr lang="ru-R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𝜎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определяет степень размытия:</a:t>
                </a:r>
                <a:r>
                  <a:rPr lang="en-US" dirty="0"/>
                  <a:t> </a:t>
                </a:r>
                <a:r>
                  <a:rPr lang="ru-RU" dirty="0"/>
                  <a:t>чем больше </a:t>
                </a:r>
                <a14:m>
                  <m:oMath xmlns:m="http://schemas.openxmlformats.org/officeDocument/2006/math">
                    <m:r>
                      <a:rPr lang="ru-R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𝜎</m:t>
                    </m:r>
                  </m:oMath>
                </a14:m>
                <a:r>
                  <a:rPr lang="ru-RU" dirty="0"/>
                  <a:t>, тем сильнее сглаживание и тем шире ядро фильтра.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Размытие Гаусса активно используется:</a:t>
                </a:r>
              </a:p>
              <a:p>
                <a:r>
                  <a:rPr lang="ru-RU" dirty="0"/>
                  <a:t>для подавления шумов; </a:t>
                </a:r>
              </a:p>
              <a:p>
                <a:r>
                  <a:rPr lang="ru-RU" dirty="0"/>
                  <a:t>перед выделением границ; </a:t>
                </a:r>
              </a:p>
              <a:p>
                <a:r>
                  <a:rPr lang="ru-RU" dirty="0"/>
                  <a:t>в </a:t>
                </a:r>
                <a:r>
                  <a:rPr lang="ru-RU" dirty="0" err="1"/>
                  <a:t>depth</a:t>
                </a:r>
                <a:r>
                  <a:rPr lang="ru-RU" dirty="0"/>
                  <a:t> </a:t>
                </a:r>
                <a:r>
                  <a:rPr lang="ru-RU" dirty="0" err="1"/>
                  <a:t>of</a:t>
                </a:r>
                <a:r>
                  <a:rPr lang="ru-RU" dirty="0"/>
                  <a:t> </a:t>
                </a:r>
                <a:r>
                  <a:rPr lang="ru-RU" dirty="0" err="1"/>
                  <a:t>field</a:t>
                </a:r>
                <a:r>
                  <a:rPr lang="ru-RU" dirty="0"/>
                  <a:t>; </a:t>
                </a:r>
              </a:p>
              <a:p>
                <a:r>
                  <a:rPr lang="en-US" dirty="0"/>
                  <a:t>B</a:t>
                </a:r>
                <a:r>
                  <a:rPr lang="ru-RU" dirty="0" err="1"/>
                  <a:t>loom</a:t>
                </a:r>
                <a:r>
                  <a:rPr lang="en-US" dirty="0"/>
                  <a:t> (</a:t>
                </a:r>
                <a:r>
                  <a:rPr lang="ru-RU" dirty="0"/>
                  <a:t>это эффект постобработки, создающий свечение вокруг очень ярких областей изображения.</a:t>
                </a:r>
                <a:r>
                  <a:rPr lang="en-US" dirty="0"/>
                  <a:t>)</a:t>
                </a:r>
                <a:endParaRPr lang="ru-RU" dirty="0"/>
              </a:p>
              <a:p>
                <a:r>
                  <a:rPr lang="ru-RU" dirty="0" err="1"/>
                  <a:t>post-processing</a:t>
                </a:r>
                <a:r>
                  <a:rPr lang="ru-RU" dirty="0"/>
                  <a:t>; </a:t>
                </a:r>
              </a:p>
              <a:p>
                <a:r>
                  <a:rPr lang="ru-RU" dirty="0"/>
                  <a:t>при построении пирамид изображений и </a:t>
                </a:r>
                <a:r>
                  <a:rPr lang="ru-RU" dirty="0" err="1"/>
                  <a:t>mipmaps</a:t>
                </a:r>
                <a:r>
                  <a:rPr lang="ru-RU" dirty="0"/>
                  <a:t>. 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Фильтр Гаусса является сепарабельным, поэтому двумерную свёртку можно эффективно вычислять как две одномерные — сначала по горизонтали, затем по вертикали.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Как и большинство фильтров, </a:t>
                </a:r>
                <a:r>
                  <a:rPr lang="ru-RU" dirty="0" err="1"/>
                  <a:t>Gaussian</a:t>
                </a:r>
                <a:r>
                  <a:rPr lang="ru-RU" dirty="0"/>
                  <a:t> </a:t>
                </a:r>
                <a:r>
                  <a:rPr lang="ru-RU" dirty="0" err="1"/>
                  <a:t>Blur</a:t>
                </a:r>
                <a:r>
                  <a:rPr lang="ru-RU" dirty="0"/>
                  <a:t> корректнее применять в линейном цветовом пространстве, особенно в задачах физически корректного рендеринга.</a:t>
                </a:r>
              </a:p>
              <a:p>
                <a:pPr eaLnBrk="1" hangingPunct="1"/>
                <a:endParaRPr lang="en-US" altLang="en-US" dirty="0"/>
              </a:p>
            </p:txBody>
          </p:sp>
        </mc:Choice>
        <mc:Fallback xmlns="">
          <p:sp>
            <p:nvSpPr>
              <p:cNvPr id="176131" name="Rectangle 3">
                <a:extLst>
                  <a:ext uri="{FF2B5EF4-FFF2-40B4-BE49-F238E27FC236}">
                    <a16:creationId xmlns:a16="http://schemas.microsoft.com/office/drawing/2014/main" id="{01ADBD95-0982-B928-7A23-2608542F1491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noFill/>
              <a:ln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ru-RU" dirty="0"/>
                  <a:t>Размытие Гаусса является одним из наиболее распространённых фильтров сглаживания изображений.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В основе фильтра лежит гауссово распределение, коэффициенты которого убывают по мере удаления от центра ядра.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Это означает, что наибольший вклад в результат вносит центральный пиксель, а влияние соседних пикселей постепенно уменьшается с расстоянием.</a:t>
                </a:r>
              </a:p>
              <a:p>
                <a:endParaRPr lang="en-US" dirty="0"/>
              </a:p>
              <a:p>
                <a:r>
                  <a:rPr lang="ru-RU" dirty="0"/>
                  <a:t>Такое сглаживание хорошо подавляет высокочастотные компоненты изображения:</a:t>
                </a:r>
              </a:p>
              <a:p>
                <a:r>
                  <a:rPr lang="ru-RU" dirty="0"/>
                  <a:t>шум; </a:t>
                </a:r>
              </a:p>
              <a:p>
                <a:r>
                  <a:rPr lang="ru-RU" dirty="0"/>
                  <a:t>мелкие детали; </a:t>
                </a:r>
              </a:p>
              <a:p>
                <a:r>
                  <a:rPr lang="ru-RU" dirty="0"/>
                  <a:t>резкие перепады яркости. </a:t>
                </a:r>
              </a:p>
              <a:p>
                <a:endParaRPr lang="en-US" dirty="0"/>
              </a:p>
              <a:p>
                <a:r>
                  <a:rPr lang="ru-RU" dirty="0"/>
                  <a:t>При этом </a:t>
                </a:r>
                <a:r>
                  <a:rPr lang="ru-RU" dirty="0" err="1"/>
                  <a:t>Gaussian</a:t>
                </a:r>
                <a:r>
                  <a:rPr lang="ru-RU" dirty="0"/>
                  <a:t> </a:t>
                </a:r>
                <a:r>
                  <a:rPr lang="ru-RU" dirty="0" err="1"/>
                  <a:t>Blur</a:t>
                </a:r>
                <a:r>
                  <a:rPr lang="ru-RU" dirty="0"/>
                  <a:t> создаёт более естественное размытие по сравнению с простым </a:t>
                </a:r>
                <a:r>
                  <a:rPr lang="ru-RU" dirty="0" err="1"/>
                  <a:t>box</a:t>
                </a:r>
                <a:r>
                  <a:rPr lang="ru-RU" dirty="0"/>
                  <a:t> </a:t>
                </a:r>
                <a:r>
                  <a:rPr lang="ru-RU" dirty="0" err="1"/>
                  <a:t>blur</a:t>
                </a:r>
                <a:r>
                  <a:rPr lang="ru-RU" dirty="0"/>
                  <a:t>, поскольку не создаёт резких границ внутри ядра.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Параметр </a:t>
                </a:r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</a:t>
                </a:r>
                <a:r>
                  <a:rPr lang="en-US" dirty="0"/>
                  <a:t> </a:t>
                </a:r>
                <a:r>
                  <a:rPr lang="ru-RU" dirty="0"/>
                  <a:t>определяет степень размытия:</a:t>
                </a:r>
                <a:r>
                  <a:rPr lang="en-US" dirty="0"/>
                  <a:t> </a:t>
                </a:r>
                <a:r>
                  <a:rPr lang="ru-RU" dirty="0"/>
                  <a:t>чем больше </a:t>
                </a:r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</a:t>
                </a:r>
                <a:r>
                  <a:rPr lang="ru-RU" dirty="0"/>
                  <a:t>, тем сильнее сглаживание и тем шире ядро фильтра.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Размытие Гаусса активно используется:</a:t>
                </a:r>
              </a:p>
              <a:p>
                <a:r>
                  <a:rPr lang="ru-RU" dirty="0"/>
                  <a:t>для подавления шумов; </a:t>
                </a:r>
              </a:p>
              <a:p>
                <a:r>
                  <a:rPr lang="ru-RU" dirty="0"/>
                  <a:t>перед выделением границ; </a:t>
                </a:r>
              </a:p>
              <a:p>
                <a:r>
                  <a:rPr lang="ru-RU" dirty="0"/>
                  <a:t>в </a:t>
                </a:r>
                <a:r>
                  <a:rPr lang="ru-RU" dirty="0" err="1"/>
                  <a:t>depth</a:t>
                </a:r>
                <a:r>
                  <a:rPr lang="ru-RU" dirty="0"/>
                  <a:t> </a:t>
                </a:r>
                <a:r>
                  <a:rPr lang="ru-RU" dirty="0" err="1"/>
                  <a:t>of</a:t>
                </a:r>
                <a:r>
                  <a:rPr lang="ru-RU" dirty="0"/>
                  <a:t> </a:t>
                </a:r>
                <a:r>
                  <a:rPr lang="ru-RU" dirty="0" err="1"/>
                  <a:t>field</a:t>
                </a:r>
                <a:r>
                  <a:rPr lang="ru-RU" dirty="0"/>
                  <a:t>; </a:t>
                </a:r>
              </a:p>
              <a:p>
                <a:r>
                  <a:rPr lang="en-US" dirty="0"/>
                  <a:t>B</a:t>
                </a:r>
                <a:r>
                  <a:rPr lang="ru-RU" dirty="0" err="1"/>
                  <a:t>loom</a:t>
                </a:r>
                <a:r>
                  <a:rPr lang="en-US" dirty="0"/>
                  <a:t> (</a:t>
                </a:r>
                <a:r>
                  <a:rPr lang="ru-RU" dirty="0"/>
                  <a:t>это эффект постобработки, создающий свечение вокруг очень ярких областей изображения.</a:t>
                </a:r>
                <a:r>
                  <a:rPr lang="en-US" dirty="0"/>
                  <a:t>)</a:t>
                </a:r>
                <a:endParaRPr lang="ru-RU" dirty="0"/>
              </a:p>
              <a:p>
                <a:r>
                  <a:rPr lang="ru-RU" dirty="0" err="1"/>
                  <a:t>post-processing</a:t>
                </a:r>
                <a:r>
                  <a:rPr lang="ru-RU" dirty="0"/>
                  <a:t>; </a:t>
                </a:r>
              </a:p>
              <a:p>
                <a:r>
                  <a:rPr lang="ru-RU" dirty="0"/>
                  <a:t>при построении пирамид изображений и </a:t>
                </a:r>
                <a:r>
                  <a:rPr lang="ru-RU" dirty="0" err="1"/>
                  <a:t>mipmaps</a:t>
                </a:r>
                <a:r>
                  <a:rPr lang="ru-RU" dirty="0"/>
                  <a:t>. 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Фильтр Гаусса является сепарабельным, поэтому двумерную свёртку можно эффективно вычислять как две одномерные — сначала по горизонтали, затем по вертикали.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Как и большинство фильтров, </a:t>
                </a:r>
                <a:r>
                  <a:rPr lang="ru-RU" dirty="0" err="1"/>
                  <a:t>Gaussian</a:t>
                </a:r>
                <a:r>
                  <a:rPr lang="ru-RU" dirty="0"/>
                  <a:t> </a:t>
                </a:r>
                <a:r>
                  <a:rPr lang="ru-RU" dirty="0" err="1"/>
                  <a:t>Blur</a:t>
                </a:r>
                <a:r>
                  <a:rPr lang="ru-RU" dirty="0"/>
                  <a:t> корректнее применять в линейном цветовом пространстве, особенно в задачах физически корректного рендеринга.</a:t>
                </a:r>
              </a:p>
              <a:p>
                <a:pPr eaLnBrk="1" hangingPunct="1"/>
                <a:endParaRPr lang="en-US" altLang="en-US" dirty="0"/>
              </a:p>
            </p:txBody>
          </p:sp>
        </mc:Fallback>
      </mc:AlternateContent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Ключевым параметром фильтра Гаусса является стандартное отклонение </a:t>
                </a:r>
                <a14:m>
                  <m:oMath xmlns:m="http://schemas.openxmlformats.org/officeDocument/2006/math">
                    <m:r>
                      <a:rPr lang="ru-R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𝜎</m:t>
                    </m:r>
                  </m:oMath>
                </a14:m>
                <a:r>
                  <a:rPr lang="ru-RU" dirty="0"/>
                  <a:t>.</a:t>
                </a:r>
              </a:p>
              <a:p>
                <a:r>
                  <a:rPr lang="ru-RU" dirty="0"/>
                  <a:t>Именно оно определяет степень размытия изображения.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Чем больше значение </a:t>
                </a:r>
                <a14:m>
                  <m:oMath xmlns:m="http://schemas.openxmlformats.org/officeDocument/2006/math">
                    <m:r>
                      <a:rPr lang="ru-R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𝜎</m:t>
                    </m:r>
                  </m:oMath>
                </a14:m>
                <a:r>
                  <a:rPr lang="ru-RU" dirty="0"/>
                  <a:t>, тем шире становится гауссово распределение и тем сильнее сглаживание.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Теоретически </a:t>
                </a:r>
                <a:r>
                  <a:rPr lang="ru-RU" dirty="0" err="1"/>
                  <a:t>гауссовая</a:t>
                </a:r>
                <a:r>
                  <a:rPr lang="ru-RU" dirty="0"/>
                  <a:t> функция имеет бесконечную область определения.</a:t>
                </a:r>
              </a:p>
              <a:p>
                <a:r>
                  <a:rPr lang="ru-RU" dirty="0"/>
                  <a:t>Однако её значения очень быстро стремятся к нулю при удалении от центра.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На практике ядро фильтра обрезают так, чтобы оно охватывало почти всю значимую часть распределения.</a:t>
                </a:r>
              </a:p>
              <a:p>
                <a:r>
                  <a:rPr lang="ru-RU" dirty="0"/>
                  <a:t>Обычно используется правило: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  <m:r>
                        <a:rPr lang="ru-RU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ru-RU" dirty="0"/>
                  <a:t>Такое ядро содержит около 99% всей энергии гауссовой функции.</a:t>
                </a:r>
              </a:p>
              <a:p>
                <a:r>
                  <a:rPr lang="ru-RU" dirty="0"/>
                  <a:t>Размер ядра напрямую влияет на производительность.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При больших значениях </a:t>
                </a:r>
                <a14:m>
                  <m:oMath xmlns:m="http://schemas.openxmlformats.org/officeDocument/2006/math">
                    <m:r>
                      <a:rPr lang="ru-R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𝜎</m:t>
                    </m:r>
                  </m:oMath>
                </a14:m>
                <a:r>
                  <a:rPr lang="ru-RU" dirty="0"/>
                  <a:t>ядра становятся очень большими, а вычислительная стоимость свёртки быстро возрастает.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Именно поэтому для </a:t>
                </a:r>
                <a:r>
                  <a:rPr lang="en-US" dirty="0"/>
                  <a:t>Gaussian Blur </a:t>
                </a:r>
                <a:r>
                  <a:rPr lang="ru-RU" dirty="0"/>
                  <a:t>используются специальные методы оптимизации.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Ключевым параметром фильтра Гаусса является стандартное отклонение </a:t>
                </a:r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</a:t>
                </a:r>
                <a:r>
                  <a:rPr lang="ru-RU" dirty="0"/>
                  <a:t>.</a:t>
                </a:r>
              </a:p>
              <a:p>
                <a:r>
                  <a:rPr lang="ru-RU" dirty="0"/>
                  <a:t>Именно оно определяет степень размытия изображения.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Чем больше значение </a:t>
                </a:r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</a:t>
                </a:r>
                <a:r>
                  <a:rPr lang="ru-RU" dirty="0"/>
                  <a:t>, тем шире становится гауссово распределение и тем сильнее сглаживание.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Теоретически </a:t>
                </a:r>
                <a:r>
                  <a:rPr lang="ru-RU" dirty="0" err="1"/>
                  <a:t>гауссовая</a:t>
                </a:r>
                <a:r>
                  <a:rPr lang="ru-RU" dirty="0"/>
                  <a:t> функция имеет бесконечную область определения.</a:t>
                </a:r>
              </a:p>
              <a:p>
                <a:r>
                  <a:rPr lang="ru-RU" dirty="0"/>
                  <a:t>Однако её значения очень быстро стремятся к нулю при удалении от центра.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На практике ядро фильтра обрезают так, чтобы оно охватывало почти всю значимую часть распределения.</a:t>
                </a:r>
              </a:p>
              <a:p>
                <a:r>
                  <a:rPr lang="ru-RU" dirty="0"/>
                  <a:t>Обычно используется правило:</a:t>
                </a:r>
              </a:p>
              <a:p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𝑟=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⌈3𝜎⌉</a:t>
                </a:r>
                <a:endParaRPr lang="ar-AE" dirty="0"/>
              </a:p>
              <a:p>
                <a:r>
                  <a:rPr lang="ru-RU" dirty="0"/>
                  <a:t>Такое ядро содержит около 99% всей энергии гауссовой функции.</a:t>
                </a:r>
              </a:p>
              <a:p>
                <a:r>
                  <a:rPr lang="ru-RU" dirty="0"/>
                  <a:t>Размер ядра напрямую влияет на производительность.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При больших значениях </a:t>
                </a:r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</a:t>
                </a:r>
                <a:r>
                  <a:rPr lang="ru-RU" dirty="0"/>
                  <a:t>ядра становятся очень большими, а вычислительная стоимость свёртки быстро возрастает.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Именно поэтому для </a:t>
                </a:r>
                <a:r>
                  <a:rPr lang="en-US" dirty="0"/>
                  <a:t>Gaussian Blur </a:t>
                </a:r>
                <a:r>
                  <a:rPr lang="ru-RU" dirty="0"/>
                  <a:t>используются специальные методы оптимизации.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747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Фильтр Гаусса обладает очень важным свойством — </a:t>
                </a:r>
                <a:r>
                  <a:rPr lang="ru-RU" dirty="0" err="1"/>
                  <a:t>сепарабельностью</a:t>
                </a:r>
                <a:r>
                  <a:rPr lang="ru-RU" dirty="0"/>
                  <a:t>.</a:t>
                </a:r>
              </a:p>
              <a:p>
                <a:endParaRPr lang="en-US" dirty="0"/>
              </a:p>
              <a:p>
                <a:r>
                  <a:rPr lang="ru-RU" dirty="0"/>
                  <a:t>Это означает, что двумерную свёртку можно заменить двумя одномерными:</a:t>
                </a:r>
                <a:r>
                  <a:rPr lang="en-US" dirty="0"/>
                  <a:t> </a:t>
                </a:r>
                <a:r>
                  <a:rPr lang="ru-RU" dirty="0"/>
                  <a:t>сначала выполнить размытие по горизонтали,</a:t>
                </a:r>
                <a:r>
                  <a:rPr lang="en-US" dirty="0"/>
                  <a:t> </a:t>
                </a:r>
                <a:r>
                  <a:rPr lang="ru-RU" dirty="0"/>
                  <a:t>а затем — по вертикали.</a:t>
                </a:r>
              </a:p>
              <a:p>
                <a:endParaRPr lang="en-US" dirty="0"/>
              </a:p>
              <a:p>
                <a:r>
                  <a:rPr lang="ru-RU" dirty="0"/>
                  <a:t>Такой подход резко уменьшает количество вычислений.</a:t>
                </a:r>
              </a:p>
              <a:p>
                <a:r>
                  <a:rPr lang="ru-RU" dirty="0"/>
                  <a:t>Для ядра размера </a:t>
                </a:r>
                <a14:m>
                  <m:oMath xmlns:m="http://schemas.openxmlformats.org/officeDocument/2006/math">
                    <m:r>
                      <a:rPr lang="ru-R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  <m:r>
                      <a:rPr lang="ru-RU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×</m:t>
                    </m:r>
                    <m:r>
                      <a:rPr lang="ru-R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</m:oMath>
                </a14:m>
                <a:r>
                  <a:rPr lang="ru-RU" dirty="0"/>
                  <a:t>:</a:t>
                </a:r>
                <a:r>
                  <a:rPr lang="en-US" baseline="0" dirty="0"/>
                  <a:t> </a:t>
                </a:r>
                <a:r>
                  <a:rPr lang="ru-RU" dirty="0"/>
                  <a:t>обычная двумерная свёртка требует порядка </a:t>
                </a:r>
                <a14:m>
                  <m:oMath xmlns:m="http://schemas.openxmlformats.org/officeDocument/2006/math">
                    <m:r>
                      <a:rPr lang="ru-R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𝑂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e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/>
                  <a:t>операций на пиксель.</a:t>
                </a:r>
              </a:p>
              <a:p>
                <a:endParaRPr lang="en-US" dirty="0"/>
              </a:p>
              <a:p>
                <a:r>
                  <a:rPr lang="ru-RU" dirty="0"/>
                  <a:t>После разложения на две одномерные свёртки сложность уменьшается до </a:t>
                </a:r>
                <a14:m>
                  <m:oMath xmlns:m="http://schemas.openxmlformats.org/officeDocument/2006/math">
                    <m:r>
                      <a:rPr lang="ru-RU" sz="120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  <m:r>
                      <a:rPr lang="ru-R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𝑂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</a:p>
              <a:p>
                <a:endParaRPr lang="en-US" dirty="0"/>
              </a:p>
              <a:p>
                <a:r>
                  <a:rPr lang="ru-RU" dirty="0"/>
                  <a:t>Для больших ядер ускорение оказывается очень существенным.</a:t>
                </a:r>
              </a:p>
              <a:p>
                <a:r>
                  <a:rPr lang="ru-RU" dirty="0"/>
                  <a:t>Именно поэтому </a:t>
                </a:r>
                <a:r>
                  <a:rPr lang="en-US" dirty="0"/>
                  <a:t>Gaussian Blur </a:t>
                </a:r>
                <a:r>
                  <a:rPr lang="ru-RU" dirty="0"/>
                  <a:t>практически всегда реализуется как два последовательных прохода.</a:t>
                </a:r>
              </a:p>
              <a:p>
                <a:endParaRPr lang="en-US" dirty="0"/>
              </a:p>
              <a:p>
                <a:r>
                  <a:rPr lang="ru-RU" dirty="0"/>
                  <a:t>Кроме того, фильтр Гаусса обладает ещё одним полезным свойством:</a:t>
                </a:r>
                <a:r>
                  <a:rPr lang="en-US" baseline="0" dirty="0"/>
                  <a:t> </a:t>
                </a:r>
                <a:r>
                  <a:rPr lang="ru-RU" dirty="0"/>
                  <a:t>последовательное применение нескольких </a:t>
                </a:r>
                <a:r>
                  <a:rPr lang="en-US" dirty="0"/>
                  <a:t>Gaussian Blur </a:t>
                </a:r>
                <a:r>
                  <a:rPr lang="ru-RU" dirty="0"/>
                  <a:t>эквивалентно одному </a:t>
                </a:r>
                <a:r>
                  <a:rPr lang="en-US" dirty="0"/>
                  <a:t>Gaussian Blur </a:t>
                </a:r>
                <a:r>
                  <a:rPr lang="ru-RU" dirty="0"/>
                  <a:t>с большей величиной </a:t>
                </a:r>
                <a14:m>
                  <m:oMath xmlns:m="http://schemas.openxmlformats.org/officeDocument/2006/math">
                    <m:r>
                      <a:rPr lang="ru-RU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𝜎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Это позволяет заменять один дорогой проход несколькими более дешёвыми.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Подобные методы активно используются:</a:t>
                </a:r>
                <a:br>
                  <a:rPr lang="ru-RU" dirty="0"/>
                </a:br>
                <a:r>
                  <a:rPr lang="ru-RU" dirty="0"/>
                  <a:t>в </a:t>
                </a:r>
                <a:r>
                  <a:rPr lang="en-US" dirty="0"/>
                  <a:t>GPU-</a:t>
                </a:r>
                <a:r>
                  <a:rPr lang="ru-RU" dirty="0"/>
                  <a:t>рендеринге,</a:t>
                </a:r>
                <a:br>
                  <a:rPr lang="ru-RU" dirty="0"/>
                </a:br>
                <a:r>
                  <a:rPr lang="en-US" dirty="0"/>
                  <a:t>post-processing,</a:t>
                </a:r>
                <a:br>
                  <a:rPr lang="en-US" dirty="0"/>
                </a:br>
                <a:r>
                  <a:rPr lang="ru-RU" dirty="0"/>
                  <a:t>эффекте </a:t>
                </a:r>
                <a:r>
                  <a:rPr lang="en-US" dirty="0"/>
                  <a:t>bloom,</a:t>
                </a:r>
                <a:br>
                  <a:rPr lang="en-US" dirty="0"/>
                </a:br>
                <a:r>
                  <a:rPr lang="en-US" dirty="0"/>
                  <a:t>depth of field,</a:t>
                </a:r>
                <a:br>
                  <a:rPr lang="en-US" dirty="0"/>
                </a:br>
                <a:r>
                  <a:rPr lang="ru-RU" dirty="0"/>
                  <a:t>и </a:t>
                </a:r>
                <a:r>
                  <a:rPr lang="en-US" dirty="0"/>
                  <a:t>HDR-</a:t>
                </a:r>
                <a:r>
                  <a:rPr lang="ru-RU" dirty="0"/>
                  <a:t>графике.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Фильтр Гаусса обладает очень важным свойством — </a:t>
                </a:r>
                <a:r>
                  <a:rPr lang="ru-RU" dirty="0" err="1"/>
                  <a:t>сепарабельностью</a:t>
                </a:r>
                <a:r>
                  <a:rPr lang="ru-RU" dirty="0"/>
                  <a:t>.</a:t>
                </a:r>
              </a:p>
              <a:p>
                <a:endParaRPr lang="en-US" dirty="0"/>
              </a:p>
              <a:p>
                <a:r>
                  <a:rPr lang="ru-RU" dirty="0"/>
                  <a:t>Это означает, что двумерную свёртку можно заменить двумя одномерными:</a:t>
                </a:r>
                <a:r>
                  <a:rPr lang="en-US" dirty="0"/>
                  <a:t> </a:t>
                </a:r>
                <a:r>
                  <a:rPr lang="ru-RU" dirty="0"/>
                  <a:t>сначала выполнить размытие по горизонтали,</a:t>
                </a:r>
                <a:r>
                  <a:rPr lang="en-US" dirty="0"/>
                  <a:t> </a:t>
                </a:r>
                <a:r>
                  <a:rPr lang="ru-RU" dirty="0"/>
                  <a:t>а затем — по вертикали.</a:t>
                </a:r>
              </a:p>
              <a:p>
                <a:endParaRPr lang="en-US" dirty="0"/>
              </a:p>
              <a:p>
                <a:r>
                  <a:rPr lang="ru-RU" dirty="0"/>
                  <a:t>Такой подход резко уменьшает количество вычислений.</a:t>
                </a:r>
              </a:p>
              <a:p>
                <a:r>
                  <a:rPr lang="ru-RU" dirty="0"/>
                  <a:t>Для ядра размера </a:t>
                </a:r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𝑁×𝑁</a:t>
                </a:r>
                <a:r>
                  <a:rPr lang="ru-RU" dirty="0"/>
                  <a:t>:</a:t>
                </a:r>
                <a:r>
                  <a:rPr lang="en-US" baseline="0" dirty="0"/>
                  <a:t> </a:t>
                </a:r>
                <a:r>
                  <a:rPr lang="ru-RU" dirty="0"/>
                  <a:t>обычная двумерная свёртка требует порядка </a:t>
                </a:r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𝑂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(𝑁^2 )</a:t>
                </a:r>
                <a:r>
                  <a:rPr lang="ru-RU" dirty="0"/>
                  <a:t>операций на пиксель.</a:t>
                </a:r>
              </a:p>
              <a:p>
                <a:endParaRPr lang="en-US" dirty="0"/>
              </a:p>
              <a:p>
                <a:r>
                  <a:rPr lang="ru-RU" dirty="0"/>
                  <a:t>После разложения на две одномерные свёртки сложность уменьшается до </a:t>
                </a:r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2𝑂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(𝑁)</a:t>
                </a:r>
                <a:r>
                  <a:rPr lang="ar-AE" dirty="0"/>
                  <a:t>.</a:t>
                </a:r>
              </a:p>
              <a:p>
                <a:endParaRPr lang="en-US" dirty="0"/>
              </a:p>
              <a:p>
                <a:r>
                  <a:rPr lang="ru-RU" dirty="0"/>
                  <a:t>Для больших ядер ускорение оказывается очень существенным.</a:t>
                </a:r>
              </a:p>
              <a:p>
                <a:r>
                  <a:rPr lang="ru-RU" dirty="0"/>
                  <a:t>Именно поэтому </a:t>
                </a:r>
                <a:r>
                  <a:rPr lang="en-US" dirty="0"/>
                  <a:t>Gaussian Blur </a:t>
                </a:r>
                <a:r>
                  <a:rPr lang="ru-RU" dirty="0"/>
                  <a:t>практически всегда реализуется как два последовательных прохода.</a:t>
                </a:r>
              </a:p>
              <a:p>
                <a:endParaRPr lang="en-US" dirty="0"/>
              </a:p>
              <a:p>
                <a:r>
                  <a:rPr lang="ru-RU" dirty="0"/>
                  <a:t>Кроме того, фильтр Гаусса обладает ещё одним полезным свойством:</a:t>
                </a:r>
                <a:r>
                  <a:rPr lang="en-US" baseline="0" dirty="0"/>
                  <a:t> </a:t>
                </a:r>
                <a:r>
                  <a:rPr lang="ru-RU" dirty="0"/>
                  <a:t>последовательное применение нескольких </a:t>
                </a:r>
                <a:r>
                  <a:rPr lang="en-US" dirty="0"/>
                  <a:t>Gaussian Blur </a:t>
                </a:r>
                <a:r>
                  <a:rPr lang="ru-RU" dirty="0"/>
                  <a:t>эквивалентно одному </a:t>
                </a:r>
                <a:r>
                  <a:rPr lang="en-US" dirty="0"/>
                  <a:t>Gaussian Blur </a:t>
                </a:r>
                <a:r>
                  <a:rPr lang="ru-RU" dirty="0"/>
                  <a:t>с большей величиной </a:t>
                </a:r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𝜎</a:t>
                </a:r>
                <a:r>
                  <a:rPr lang="ru-RU" dirty="0"/>
                  <a:t>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Это позволяет заменять один дорогой проход несколькими более дешёвыми.</a:t>
                </a:r>
                <a:endParaRPr lang="en-US" dirty="0"/>
              </a:p>
              <a:p>
                <a:endParaRPr lang="ru-RU" dirty="0"/>
              </a:p>
              <a:p>
                <a:r>
                  <a:rPr lang="ru-RU" dirty="0"/>
                  <a:t>Подобные методы активно используются:</a:t>
                </a:r>
                <a:br>
                  <a:rPr lang="ru-RU" dirty="0"/>
                </a:br>
                <a:r>
                  <a:rPr lang="ru-RU" dirty="0"/>
                  <a:t>в </a:t>
                </a:r>
                <a:r>
                  <a:rPr lang="en-US" dirty="0"/>
                  <a:t>GPU-</a:t>
                </a:r>
                <a:r>
                  <a:rPr lang="ru-RU" dirty="0"/>
                  <a:t>рендеринге,</a:t>
                </a:r>
                <a:br>
                  <a:rPr lang="ru-RU" dirty="0"/>
                </a:br>
                <a:r>
                  <a:rPr lang="en-US" dirty="0"/>
                  <a:t>post-processing,</a:t>
                </a:r>
                <a:br>
                  <a:rPr lang="en-US" dirty="0"/>
                </a:br>
                <a:r>
                  <a:rPr lang="ru-RU" dirty="0"/>
                  <a:t>эффекте </a:t>
                </a:r>
                <a:r>
                  <a:rPr lang="en-US" dirty="0"/>
                  <a:t>bloom,</a:t>
                </a:r>
                <a:br>
                  <a:rPr lang="en-US" dirty="0"/>
                </a:br>
                <a:r>
                  <a:rPr lang="en-US" dirty="0"/>
                  <a:t>depth of field,</a:t>
                </a:r>
                <a:br>
                  <a:rPr lang="en-US" dirty="0"/>
                </a:br>
                <a:r>
                  <a:rPr lang="ru-RU" dirty="0"/>
                  <a:t>и </a:t>
                </a:r>
                <a:r>
                  <a:rPr lang="en-US" dirty="0"/>
                  <a:t>HDR-</a:t>
                </a:r>
                <a:r>
                  <a:rPr lang="ru-RU" dirty="0"/>
                  <a:t>графике.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2932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Ещё один способ ускорения свёртки основан на преобразовании Фурье.</a:t>
                </a:r>
              </a:p>
              <a:p>
                <a:endParaRPr lang="ru-RU" dirty="0"/>
              </a:p>
              <a:p>
                <a:r>
                  <a:rPr lang="ru-RU" dirty="0"/>
                  <a:t>Согласно теореме свёртки: свёртка в пространственной области эквивалентна умножению спектров в частотной области.</a:t>
                </a:r>
              </a:p>
              <a:p>
                <a:endParaRPr lang="ru-RU" dirty="0"/>
              </a:p>
              <a:p>
                <a:r>
                  <a:rPr lang="ru-RU" dirty="0"/>
                  <a:t>Поэтому вместо прямой свёртки можно: сначала перевести изображение и ядро в частотную область при помощи </a:t>
                </a:r>
                <a:r>
                  <a:rPr lang="en-US" dirty="0"/>
                  <a:t>FFT,</a:t>
                </a:r>
                <a:r>
                  <a:rPr lang="ru-RU" dirty="0"/>
                  <a:t> затем перемножить спектры, и выполнить обратное преобразование Фурье.</a:t>
                </a:r>
              </a:p>
              <a:p>
                <a:endParaRPr lang="ru-RU" dirty="0"/>
              </a:p>
              <a:p>
                <a:r>
                  <a:rPr lang="ru-RU" dirty="0"/>
                  <a:t>Такой подход особенно эффективен для больших ядер.</a:t>
                </a:r>
              </a:p>
              <a:p>
                <a:r>
                  <a:rPr lang="ru-RU" dirty="0"/>
                  <a:t>Прямая свёртка имеет квадратичную сложность, тогда как </a:t>
                </a:r>
                <a:r>
                  <a:rPr lang="en-US" dirty="0"/>
                  <a:t>FFT-</a:t>
                </a:r>
                <a:r>
                  <a:rPr lang="ru-RU" dirty="0"/>
                  <a:t>подход требует порядка: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𝑂</m:t>
                      </m:r>
                      <m:d>
                        <m:d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</m:t>
                          </m:r>
                          <m:func>
                            <m:func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𝑁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ar-AE" dirty="0"/>
              </a:p>
              <a:p>
                <a:endParaRPr lang="ru-RU" dirty="0"/>
              </a:p>
              <a:p>
                <a:r>
                  <a:rPr lang="ru-RU" dirty="0"/>
                  <a:t>Однако </a:t>
                </a:r>
                <a:r>
                  <a:rPr lang="en-US" dirty="0"/>
                  <a:t>FFT </a:t>
                </a:r>
                <a:r>
                  <a:rPr lang="ru-RU" dirty="0"/>
                  <a:t>имеет достаточно большие накладные расходы. Поэтому для маленьких ядер обычная свёртка обычно работает быстрее.</a:t>
                </a:r>
              </a:p>
              <a:p>
                <a:endParaRPr lang="ru-RU" dirty="0"/>
              </a:p>
              <a:p>
                <a:r>
                  <a:rPr lang="ru-RU" dirty="0"/>
                  <a:t>На практике </a:t>
                </a:r>
                <a:r>
                  <a:rPr lang="en-US" dirty="0"/>
                  <a:t>FFT-</a:t>
                </a:r>
                <a:r>
                  <a:rPr lang="ru-RU" dirty="0"/>
                  <a:t>свёртка чаще используется: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dirty="0"/>
                  <a:t>в научных вычислениях;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dirty="0"/>
                  <a:t>обработке больших изображений;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signal processing; </a:t>
                </a:r>
                <a:endParaRPr lang="ru-RU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offline rendering </a:t>
                </a:r>
                <a:r>
                  <a:rPr lang="ru-RU" dirty="0"/>
                  <a:t>и </a:t>
                </a:r>
                <a:r>
                  <a:rPr lang="en-US" dirty="0"/>
                  <a:t>simulation.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ru-RU" dirty="0"/>
                  <a:t>Ещё один способ ускорения свёртки основан на преобразовании Фурье.</a:t>
                </a:r>
              </a:p>
              <a:p>
                <a:endParaRPr lang="ru-RU" dirty="0"/>
              </a:p>
              <a:p>
                <a:r>
                  <a:rPr lang="ru-RU" dirty="0"/>
                  <a:t>Согласно теореме свёртки: свёртка в пространственной области эквивалентна умножению спектров в частотной области.</a:t>
                </a:r>
              </a:p>
              <a:p>
                <a:endParaRPr lang="ru-RU" dirty="0"/>
              </a:p>
              <a:p>
                <a:r>
                  <a:rPr lang="ru-RU" dirty="0"/>
                  <a:t>Поэтому вместо прямой свёртки можно: сначала перевести изображение и ядро в частотную область при помощи </a:t>
                </a:r>
                <a:r>
                  <a:rPr lang="en-US" dirty="0"/>
                  <a:t>FFT,</a:t>
                </a:r>
                <a:r>
                  <a:rPr lang="ru-RU" dirty="0"/>
                  <a:t> затем перемножить спектры, и выполнить обратное преобразование Фурье.</a:t>
                </a:r>
              </a:p>
              <a:p>
                <a:endParaRPr lang="ru-RU" dirty="0"/>
              </a:p>
              <a:p>
                <a:r>
                  <a:rPr lang="ru-RU" dirty="0"/>
                  <a:t>Такой подход особенно эффективен для больших ядер.</a:t>
                </a:r>
              </a:p>
              <a:p>
                <a:r>
                  <a:rPr lang="ru-RU" dirty="0"/>
                  <a:t>Прямая свёртка имеет квадратичную сложность, тогда как </a:t>
                </a:r>
                <a:r>
                  <a:rPr lang="en-US" dirty="0"/>
                  <a:t>FFT-</a:t>
                </a:r>
                <a:r>
                  <a:rPr lang="ru-RU" dirty="0"/>
                  <a:t>подход требует порядка:</a:t>
                </a:r>
              </a:p>
              <a:p>
                <a:r>
                  <a:rPr lang="ru-RU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𝑂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(𝑁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 log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⁡𝑁 )</a:t>
                </a:r>
                <a:endParaRPr lang="ar-AE" dirty="0"/>
              </a:p>
              <a:p>
                <a:endParaRPr lang="ru-RU" dirty="0"/>
              </a:p>
              <a:p>
                <a:r>
                  <a:rPr lang="ru-RU" dirty="0"/>
                  <a:t>Однако </a:t>
                </a:r>
                <a:r>
                  <a:rPr lang="en-US" dirty="0"/>
                  <a:t>FFT </a:t>
                </a:r>
                <a:r>
                  <a:rPr lang="ru-RU" dirty="0"/>
                  <a:t>имеет достаточно большие накладные расходы. Поэтому для маленьких ядер обычная свёртка обычно работает быстрее.</a:t>
                </a:r>
              </a:p>
              <a:p>
                <a:endParaRPr lang="ru-RU" dirty="0"/>
              </a:p>
              <a:p>
                <a:r>
                  <a:rPr lang="ru-RU" dirty="0"/>
                  <a:t>На практике </a:t>
                </a:r>
                <a:r>
                  <a:rPr lang="en-US" dirty="0"/>
                  <a:t>FFT-</a:t>
                </a:r>
                <a:r>
                  <a:rPr lang="ru-RU" dirty="0"/>
                  <a:t>свёртка чаще используется: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dirty="0"/>
                  <a:t>в научных вычислениях;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ru-RU" dirty="0"/>
                  <a:t>обработке больших изображений;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signal processing; </a:t>
                </a:r>
                <a:endParaRPr lang="ru-RU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offline rendering </a:t>
                </a:r>
                <a:r>
                  <a:rPr lang="ru-RU" dirty="0"/>
                  <a:t>и </a:t>
                </a:r>
                <a:r>
                  <a:rPr lang="en-US" dirty="0"/>
                  <a:t>simulation.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808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E7770E42-51F3-E8A3-C433-CEE9212686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2B40909C-2785-FFAF-C1E1-B9F8F78DBD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dirty="0"/>
              <a:t>Motion </a:t>
            </a:r>
            <a:r>
              <a:rPr lang="ru-RU" dirty="0" err="1"/>
              <a:t>Blur</a:t>
            </a:r>
            <a:r>
              <a:rPr lang="ru-RU" dirty="0"/>
              <a:t> моделирует эффект смазывания, возникающий при движении объекта или камеры во время экспозиции.</a:t>
            </a:r>
          </a:p>
          <a:p>
            <a:endParaRPr lang="ru-RU" dirty="0"/>
          </a:p>
          <a:p>
            <a:r>
              <a:rPr lang="ru-RU" dirty="0"/>
              <a:t>В простейшем случае такой эффект реализуется свёрткой изображения с линейным ядром. На данном слайде используется горизонтальное ядро: значения усредняются вдоль одной строки, поэтому изображение размывается по горизонтали.</a:t>
            </a:r>
          </a:p>
          <a:p>
            <a:endParaRPr lang="ru-RU" dirty="0"/>
          </a:p>
          <a:p>
            <a:r>
              <a:rPr lang="ru-RU" dirty="0"/>
              <a:t>Направление размытия определяется формой ядра, а длина линии — силой эффекта. Чем длиннее ядро, тем сильнее воспринимается движение.</a:t>
            </a:r>
          </a:p>
          <a:p>
            <a:endParaRPr lang="ru-RU" dirty="0"/>
          </a:p>
          <a:p>
            <a:r>
              <a:rPr lang="ru-RU" dirty="0"/>
              <a:t>Подобные фильтры широко используются в компьютерной графике и играх для повышения реалистичности анимации и создания ощущения скорости.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BD01C34C-053C-11E6-38C3-BB3A02AC24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003B4FD5-3908-BDEF-39B4-1DBDE4F784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DE0E7703-C60B-7027-EC4E-3A66317B54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7F29866D-9AB6-8619-B8EA-C81576066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ru-RU" dirty="0"/>
              <a:t>Медианный фильтр относится к нелинейным методам обработки изображений. В отличие от свёрточных фильтров, здесь новое значение пикселя вычисляется не как сумма соседей, а как медиана значений внутри локального окна.</a:t>
            </a:r>
          </a:p>
          <a:p>
            <a:endParaRPr lang="ru-RU" dirty="0"/>
          </a:p>
          <a:p>
            <a:r>
              <a:rPr lang="ru-RU" dirty="0"/>
              <a:t>Например, для окна 3×3 берутся девять соседних пикселей, их значения сортируются, и центральный элемент отсортированного массива становится новым значением пикселя.</a:t>
            </a:r>
          </a:p>
          <a:p>
            <a:endParaRPr lang="ru-RU" dirty="0"/>
          </a:p>
          <a:p>
            <a:r>
              <a:rPr lang="ru-RU" dirty="0"/>
              <a:t>Главное преимущество медианного фильтра заключается в эффективном удалении импульсного шума — так называемого шума «соль и перец». При этом границы объектов сохраняются значительно лучше, чем при обычном размытии.</a:t>
            </a:r>
          </a:p>
          <a:p>
            <a:endParaRPr lang="ru-RU" dirty="0"/>
          </a:p>
          <a:p>
            <a:r>
              <a:rPr lang="ru-RU" dirty="0"/>
              <a:t>Размер окна обычно выбирают нечётным, например 3×3 или 5×5, чтобы медиана определялась однозначно. Увеличение окна усиливает подавление шума, но может приводить к потере мелких деталей изображения.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цветных изображений медианный фильтр чаще всего применяется отдельно к каждому каналу RGB.</a:t>
            </a:r>
          </a:p>
          <a:p>
            <a:endParaRPr lang="ru-RU" dirty="0"/>
          </a:p>
          <a:p>
            <a:r>
              <a:rPr lang="ru-RU" dirty="0"/>
              <a:t>Это означает, что значения красного, зелёного и синего каналов сортируются независимо друг от друга, после чего для каждого канала выбирается медиана. Новый пиксель формируется из трёх найденных медианных значений.</a:t>
            </a:r>
          </a:p>
          <a:p>
            <a:endParaRPr lang="ru-RU" dirty="0"/>
          </a:p>
          <a:p>
            <a:r>
              <a:rPr lang="ru-RU" dirty="0"/>
              <a:t>Такой подход прост в реализации и эффективно удаляет шум, поэтому широко используется на практике.</a:t>
            </a:r>
          </a:p>
          <a:p>
            <a:endParaRPr lang="ru-RU" dirty="0"/>
          </a:p>
          <a:p>
            <a:r>
              <a:rPr lang="ru-RU" dirty="0"/>
              <a:t>Однако </a:t>
            </a:r>
            <a:r>
              <a:rPr lang="ru-RU" dirty="0" err="1"/>
              <a:t>поканальная</a:t>
            </a:r>
            <a:r>
              <a:rPr lang="ru-RU" dirty="0"/>
              <a:t> обработка может создавать цветовые комбинации, которых не было в исходном изображении. Поэтому в некоторых задачах применяются более сложные методы — например, медиана по яркости или векторная медиана, где цвет рассматривается как единая точка в пространстве RGB.</a:t>
            </a:r>
          </a:p>
          <a:p>
            <a:endParaRPr lang="ru-RU" dirty="0"/>
          </a:p>
          <a:p>
            <a:r>
              <a:rPr lang="ru-RU" dirty="0"/>
              <a:t>Несмотря на это, именно </a:t>
            </a:r>
            <a:r>
              <a:rPr lang="ru-RU" dirty="0" err="1"/>
              <a:t>поканальный</a:t>
            </a:r>
            <a:r>
              <a:rPr lang="ru-RU" dirty="0"/>
              <a:t> медианный фильтр является стандартным и наиболее распространённым вариантом обработки цветных изображений.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7552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B0A429A7-DA0B-1A8D-4265-A3D782D5BD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3777F43B-BEB2-FCF9-D528-D5344C52FC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Цифровая обработка сигналов изучает методы представления, анализа и преобразования данных, изменяющихся во времени или пространстве.</a:t>
            </a:r>
          </a:p>
          <a:p>
            <a:endParaRPr lang="ru-RU" dirty="0"/>
          </a:p>
          <a:p>
            <a:r>
              <a:rPr lang="ru-RU" dirty="0"/>
              <a:t>Под сигналом понимают функцию, содержащую информацию о некотором физическом процессе или объекте.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Примерами сигналов являются: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звук,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изображения,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видео,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радиосигналы,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данные различных сенсоров.</a:t>
            </a:r>
          </a:p>
          <a:p>
            <a:endParaRPr lang="ru-RU" dirty="0"/>
          </a:p>
          <a:p>
            <a:r>
              <a:rPr lang="ru-RU" dirty="0"/>
              <a:t>В цифровой обработке сигналов над такими данными выполняются математические операции: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фильтрация,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сжатие,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выделение полезной информации,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или подавление шумов.</a:t>
            </a:r>
          </a:p>
          <a:p>
            <a:endParaRPr lang="ru-RU" dirty="0"/>
          </a:p>
          <a:p>
            <a:r>
              <a:rPr lang="ru-RU" dirty="0"/>
              <a:t>Для компьютерной графики особенно важно понимать, что изображение также является сигналом.</a:t>
            </a:r>
          </a:p>
          <a:p>
            <a:r>
              <a:rPr lang="ru-RU" dirty="0"/>
              <a:t>Изображение можно рассматривать как функцию цвета от координат: каждой точке изображения соответствует некоторое значение яркости или цвета.</a:t>
            </a:r>
          </a:p>
          <a:p>
            <a:endParaRPr lang="ru-RU" dirty="0"/>
          </a:p>
          <a:p>
            <a:r>
              <a:rPr lang="ru-RU" dirty="0"/>
              <a:t>Именно поэтому методы цифровой обработки сигналов напрямую применяются: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 обработке изображений,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фильтрации текстур,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anti-aliasing</a:t>
            </a:r>
            <a:r>
              <a:rPr lang="ru-RU" dirty="0"/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сжатию изображений,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постобработке графики.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6844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Сигналы</a:t>
                </a:r>
                <a:r>
                  <a:rPr lang="en-US" dirty="0"/>
                  <a:t> </a:t>
                </a:r>
                <a:r>
                  <a:rPr lang="en-US" dirty="0" err="1"/>
                  <a:t>могут</a:t>
                </a:r>
                <a:r>
                  <a:rPr lang="en-US" dirty="0"/>
                  <a:t> </a:t>
                </a:r>
                <a:r>
                  <a:rPr lang="en-US" dirty="0" err="1"/>
                  <a:t>иметь</a:t>
                </a:r>
                <a:r>
                  <a:rPr lang="en-US" dirty="0"/>
                  <a:t> </a:t>
                </a:r>
                <a:r>
                  <a:rPr lang="en-US" dirty="0" err="1"/>
                  <a:t>различную</a:t>
                </a:r>
                <a:r>
                  <a:rPr lang="en-US" dirty="0"/>
                  <a:t> </a:t>
                </a:r>
                <a:r>
                  <a:rPr lang="en-US" dirty="0" err="1"/>
                  <a:t>размерность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Одномерный</a:t>
                </a:r>
                <a:r>
                  <a:rPr lang="en-US" dirty="0"/>
                  <a:t> </a:t>
                </a:r>
                <a:r>
                  <a:rPr lang="en-US" dirty="0" err="1"/>
                  <a:t>сигнал</a:t>
                </a:r>
                <a:r>
                  <a:rPr lang="en-US" dirty="0"/>
                  <a:t> </a:t>
                </a:r>
                <a:r>
                  <a:rPr lang="en-US" dirty="0" err="1"/>
                  <a:t>зависит</a:t>
                </a:r>
                <a:r>
                  <a:rPr lang="en-US" dirty="0"/>
                  <a:t> </a:t>
                </a:r>
                <a:r>
                  <a:rPr lang="en-US" dirty="0" err="1"/>
                  <a:t>от</a:t>
                </a:r>
                <a:r>
                  <a:rPr lang="en-US" dirty="0"/>
                  <a:t> </a:t>
                </a:r>
                <a:r>
                  <a:rPr lang="en-US" dirty="0" err="1"/>
                  <a:t>одной</a:t>
                </a:r>
                <a:r>
                  <a:rPr lang="en-US" dirty="0"/>
                  <a:t> </a:t>
                </a:r>
                <a:r>
                  <a:rPr lang="en-US" dirty="0" err="1"/>
                  <a:t>независимой</a:t>
                </a:r>
                <a:r>
                  <a:rPr lang="en-US" dirty="0"/>
                  <a:t> </a:t>
                </a:r>
                <a:r>
                  <a:rPr lang="en-US" dirty="0" err="1"/>
                  <a:t>переменной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звуковой</a:t>
                </a:r>
                <a:r>
                  <a:rPr lang="en-US" dirty="0"/>
                  <a:t> </a:t>
                </a:r>
                <a:r>
                  <a:rPr lang="en-US" dirty="0" err="1"/>
                  <a:t>сигнал</a:t>
                </a:r>
                <a:r>
                  <a:rPr lang="en-US" dirty="0"/>
                  <a:t> </a:t>
                </a:r>
                <a:r>
                  <a:rPr lang="en-US" dirty="0" err="1"/>
                  <a:t>описывает</a:t>
                </a:r>
                <a:r>
                  <a:rPr lang="en-US" dirty="0"/>
                  <a:t> </a:t>
                </a:r>
                <a:r>
                  <a:rPr lang="en-US" dirty="0" err="1"/>
                  <a:t>изменение</a:t>
                </a:r>
                <a:r>
                  <a:rPr lang="en-US" dirty="0"/>
                  <a:t> </a:t>
                </a:r>
                <a:r>
                  <a:rPr lang="en-US" dirty="0" err="1"/>
                  <a:t>амплитуды</a:t>
                </a:r>
                <a:r>
                  <a:rPr lang="en-US" dirty="0"/>
                  <a:t> </a:t>
                </a:r>
                <a:r>
                  <a:rPr lang="en-US" dirty="0" err="1"/>
                  <a:t>колебаний</a:t>
                </a:r>
                <a:r>
                  <a:rPr lang="en-US" dirty="0"/>
                  <a:t> </a:t>
                </a:r>
                <a:r>
                  <a:rPr lang="en-US" dirty="0" err="1"/>
                  <a:t>воздуха</a:t>
                </a:r>
                <a:r>
                  <a:rPr lang="en-US" dirty="0"/>
                  <a:t> </a:t>
                </a:r>
                <a:r>
                  <a:rPr lang="en-US" dirty="0" err="1"/>
                  <a:t>во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Изображение</a:t>
                </a:r>
                <a:r>
                  <a:rPr lang="en-US" dirty="0"/>
                  <a:t> </a:t>
                </a:r>
                <a:r>
                  <a:rPr lang="en-US" dirty="0" err="1"/>
                  <a:t>является</a:t>
                </a:r>
                <a:r>
                  <a:rPr lang="en-US" dirty="0"/>
                  <a:t> </a:t>
                </a:r>
                <a:r>
                  <a:rPr lang="en-US" dirty="0" err="1"/>
                  <a:t>двумерным</a:t>
                </a:r>
                <a:r>
                  <a:rPr lang="en-US" dirty="0"/>
                  <a:t> </a:t>
                </a:r>
                <a:r>
                  <a:rPr lang="en-US" dirty="0" err="1"/>
                  <a:t>сигналом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/>
                  <a:t>В </a:t>
                </a:r>
                <a:r>
                  <a:rPr lang="en-US" dirty="0" err="1"/>
                  <a:t>этом</a:t>
                </a:r>
                <a:r>
                  <a:rPr lang="en-US" dirty="0"/>
                  <a:t> </a:t>
                </a:r>
                <a:r>
                  <a:rPr lang="en-US" dirty="0" err="1"/>
                  <a:t>случае</a:t>
                </a:r>
                <a:r>
                  <a:rPr lang="en-US" dirty="0"/>
                  <a:t> </a:t>
                </a:r>
                <a:r>
                  <a:rPr lang="en-US" dirty="0" err="1"/>
                  <a:t>значение</a:t>
                </a:r>
                <a:r>
                  <a:rPr lang="en-US" dirty="0"/>
                  <a:t> </a:t>
                </a:r>
                <a:r>
                  <a:rPr lang="en-US" dirty="0" err="1"/>
                  <a:t>сигнала</a:t>
                </a:r>
                <a:r>
                  <a:rPr lang="en-US" dirty="0"/>
                  <a:t> </a:t>
                </a:r>
                <a:r>
                  <a:rPr lang="en-US" dirty="0" err="1"/>
                  <a:t>зависит</a:t>
                </a:r>
                <a:r>
                  <a:rPr lang="en-US" dirty="0"/>
                  <a:t> </a:t>
                </a:r>
                <a:r>
                  <a:rPr lang="en-US" dirty="0" err="1"/>
                  <a:t>уже</a:t>
                </a:r>
                <a:r>
                  <a:rPr lang="en-US" dirty="0"/>
                  <a:t> </a:t>
                </a:r>
                <a:r>
                  <a:rPr lang="en-US" dirty="0" err="1"/>
                  <a:t>от</a:t>
                </a:r>
                <a:r>
                  <a:rPr lang="en-US" dirty="0"/>
                  <a:t> </a:t>
                </a:r>
                <a:r>
                  <a:rPr lang="en-US" dirty="0" err="1"/>
                  <a:t>двух</a:t>
                </a:r>
                <a:r>
                  <a:rPr lang="en-US" dirty="0"/>
                  <a:t> </a:t>
                </a:r>
                <a:r>
                  <a:rPr lang="en-US" dirty="0" err="1"/>
                  <a:t>координат</a:t>
                </a:r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 err="1"/>
                  <a:t>горизонтальной</a:t>
                </a:r>
                <a:r>
                  <a:rPr lang="en-US" dirty="0"/>
                  <a:t> и </a:t>
                </a:r>
                <a:r>
                  <a:rPr lang="en-US" dirty="0" err="1"/>
                  <a:t>вертикальной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чёрно-белого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</a:t>
                </a:r>
                <a:r>
                  <a:rPr lang="en-US" dirty="0" err="1"/>
                  <a:t>функция</a:t>
                </a:r>
                <a:r>
                  <a:rPr lang="en-US" dirty="0"/>
                  <a:t> </a:t>
                </a:r>
                <a:r>
                  <a:rPr lang="en-US" dirty="0" err="1"/>
                  <a:t>задаёт</a:t>
                </a:r>
                <a:r>
                  <a:rPr lang="en-US" dirty="0"/>
                  <a:t> </a:t>
                </a:r>
                <a:r>
                  <a:rPr lang="en-US" dirty="0" err="1"/>
                  <a:t>яркость</a:t>
                </a:r>
                <a:r>
                  <a:rPr lang="en-US" dirty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𝐼</m:t>
                      </m:r>
                      <m:d>
                        <m:dPr>
                          <m:sepChr m:val=","/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цветного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в </a:t>
                </a:r>
                <a:r>
                  <a:rPr lang="en-US" dirty="0" err="1"/>
                  <a:t>каждой</a:t>
                </a:r>
                <a:r>
                  <a:rPr lang="en-US" dirty="0"/>
                  <a:t> </a:t>
                </a:r>
                <a:r>
                  <a:rPr lang="en-US" dirty="0" err="1"/>
                  <a:t>точке</a:t>
                </a:r>
                <a:r>
                  <a:rPr lang="en-US" dirty="0"/>
                  <a:t> </a:t>
                </a:r>
                <a:r>
                  <a:rPr lang="en-US" dirty="0" err="1"/>
                  <a:t>хранится</a:t>
                </a:r>
                <a:r>
                  <a:rPr lang="en-US" dirty="0"/>
                  <a:t> </a:t>
                </a:r>
                <a:r>
                  <a:rPr lang="en-US" dirty="0" err="1"/>
                  <a:t>несколько</a:t>
                </a:r>
                <a:r>
                  <a:rPr lang="en-US" dirty="0"/>
                  <a:t> </a:t>
                </a:r>
                <a:r>
                  <a:rPr lang="en-US" dirty="0" err="1"/>
                  <a:t>компонент</a:t>
                </a:r>
                <a:r>
                  <a:rPr lang="en-US" dirty="0"/>
                  <a:t> </a:t>
                </a:r>
                <a:r>
                  <a:rPr lang="en-US" dirty="0" err="1"/>
                  <a:t>цвета</a:t>
                </a:r>
                <a:r>
                  <a:rPr lang="en-US" dirty="0"/>
                  <a:t>, </a:t>
                </a:r>
                <a:r>
                  <a:rPr lang="en-US" dirty="0" err="1"/>
                  <a:t>например</a:t>
                </a:r>
                <a:r>
                  <a:rPr lang="en-US" dirty="0"/>
                  <a:t> RGB.</a:t>
                </a:r>
              </a:p>
              <a:p>
                <a:r>
                  <a:rPr lang="en-US" dirty="0" err="1"/>
                  <a:t>Таким</a:t>
                </a:r>
                <a:r>
                  <a:rPr lang="en-US" dirty="0"/>
                  <a:t> </a:t>
                </a:r>
                <a:r>
                  <a:rPr lang="en-US" dirty="0" err="1"/>
                  <a:t>образом</a:t>
                </a:r>
                <a:r>
                  <a:rPr lang="en-US" dirty="0"/>
                  <a:t>, </a:t>
                </a:r>
                <a:r>
                  <a:rPr lang="en-US" dirty="0" err="1"/>
                  <a:t>изображение</a:t>
                </a:r>
                <a:r>
                  <a:rPr lang="en-US" dirty="0"/>
                  <a:t>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рассматривать</a:t>
                </a:r>
                <a:r>
                  <a:rPr lang="en-US" dirty="0"/>
                  <a:t> </a:t>
                </a:r>
                <a:r>
                  <a:rPr lang="en-US" dirty="0" err="1"/>
                  <a:t>как</a:t>
                </a:r>
                <a:r>
                  <a:rPr lang="en-US" dirty="0"/>
                  <a:t> </a:t>
                </a:r>
                <a:r>
                  <a:rPr lang="en-US" dirty="0" err="1"/>
                  <a:t>математическую</a:t>
                </a:r>
                <a:r>
                  <a:rPr lang="en-US" dirty="0"/>
                  <a:t> </a:t>
                </a:r>
                <a:r>
                  <a:rPr lang="en-US" dirty="0" err="1"/>
                  <a:t>функцию</a:t>
                </a:r>
                <a:r>
                  <a:rPr lang="en-US" dirty="0"/>
                  <a:t>, </a:t>
                </a:r>
                <a:r>
                  <a:rPr lang="en-US" dirty="0" err="1"/>
                  <a:t>определённую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плоскости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очень</a:t>
                </a:r>
                <a:r>
                  <a:rPr lang="en-US" dirty="0"/>
                  <a:t> </a:t>
                </a:r>
                <a:r>
                  <a:rPr lang="en-US" dirty="0" err="1"/>
                  <a:t>важная</a:t>
                </a:r>
                <a:r>
                  <a:rPr lang="en-US" dirty="0"/>
                  <a:t> </a:t>
                </a:r>
                <a:r>
                  <a:rPr lang="en-US" dirty="0" err="1"/>
                  <a:t>идея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Благодаря</a:t>
                </a:r>
                <a:r>
                  <a:rPr lang="en-US" dirty="0"/>
                  <a:t> </a:t>
                </a:r>
                <a:r>
                  <a:rPr lang="en-US" dirty="0" err="1"/>
                  <a:t>такому</a:t>
                </a:r>
                <a:r>
                  <a:rPr lang="en-US" dirty="0"/>
                  <a:t> </a:t>
                </a:r>
                <a:r>
                  <a:rPr lang="en-US" dirty="0" err="1"/>
                  <a:t>представлению</a:t>
                </a:r>
                <a:r>
                  <a:rPr lang="en-US" dirty="0"/>
                  <a:t> к </a:t>
                </a:r>
                <a:r>
                  <a:rPr lang="en-US" dirty="0" err="1"/>
                  <a:t>изображениям</a:t>
                </a:r>
                <a:r>
                  <a:rPr lang="en-US" dirty="0"/>
                  <a:t>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применять</a:t>
                </a:r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 err="1"/>
                  <a:t>фильтрацию</a:t>
                </a:r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 err="1"/>
                  <a:t>частотный</a:t>
                </a:r>
                <a:r>
                  <a:rPr lang="en-US" dirty="0"/>
                  <a:t> </a:t>
                </a:r>
                <a:r>
                  <a:rPr lang="en-US" dirty="0" err="1"/>
                  <a:t>анализ</a:t>
                </a:r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 err="1"/>
                  <a:t>преобразование</a:t>
                </a:r>
                <a:r>
                  <a:rPr lang="en-US" dirty="0"/>
                  <a:t> </a:t>
                </a:r>
                <a:r>
                  <a:rPr lang="en-US" dirty="0" err="1"/>
                  <a:t>Фурье</a:t>
                </a:r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и </a:t>
                </a:r>
                <a:r>
                  <a:rPr lang="en-US" dirty="0" err="1"/>
                  <a:t>другие</a:t>
                </a:r>
                <a:r>
                  <a:rPr lang="en-US" dirty="0"/>
                  <a:t> </a:t>
                </a:r>
                <a:r>
                  <a:rPr lang="en-US" dirty="0" err="1"/>
                  <a:t>методы</a:t>
                </a:r>
                <a:r>
                  <a:rPr lang="en-US" dirty="0"/>
                  <a:t> </a:t>
                </a:r>
                <a:r>
                  <a:rPr lang="en-US" dirty="0" err="1"/>
                  <a:t>обработки</a:t>
                </a:r>
                <a:r>
                  <a:rPr lang="en-US" dirty="0"/>
                  <a:t> </a:t>
                </a:r>
                <a:r>
                  <a:rPr lang="en-US" dirty="0" err="1"/>
                  <a:t>сигналов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Фактически</a:t>
                </a:r>
                <a:r>
                  <a:rPr lang="en-US" dirty="0"/>
                  <a:t> </a:t>
                </a:r>
                <a:r>
                  <a:rPr lang="en-US" dirty="0" err="1"/>
                  <a:t>значительная</a:t>
                </a:r>
                <a:r>
                  <a:rPr lang="en-US" dirty="0"/>
                  <a:t> </a:t>
                </a:r>
                <a:r>
                  <a:rPr lang="en-US" dirty="0" err="1"/>
                  <a:t>часть</a:t>
                </a:r>
                <a:r>
                  <a:rPr lang="en-US" dirty="0"/>
                  <a:t> </a:t>
                </a:r>
                <a:r>
                  <a:rPr lang="en-US" dirty="0" err="1"/>
                  <a:t>современной</a:t>
                </a:r>
                <a:r>
                  <a:rPr lang="en-US" dirty="0"/>
                  <a:t> </a:t>
                </a:r>
                <a:r>
                  <a:rPr lang="en-US" dirty="0" err="1"/>
                  <a:t>компьютерной</a:t>
                </a:r>
                <a:r>
                  <a:rPr lang="en-US" dirty="0"/>
                  <a:t> </a:t>
                </a:r>
                <a:r>
                  <a:rPr lang="en-US" dirty="0" err="1"/>
                  <a:t>графики</a:t>
                </a:r>
                <a:r>
                  <a:rPr lang="en-US" dirty="0"/>
                  <a:t> </a:t>
                </a:r>
                <a:r>
                  <a:rPr lang="en-US" dirty="0" err="1"/>
                  <a:t>основана</a:t>
                </a:r>
                <a:r>
                  <a:rPr lang="en-US" dirty="0"/>
                  <a:t> </a:t>
                </a:r>
                <a:r>
                  <a:rPr lang="en-US" dirty="0" err="1"/>
                  <a:t>именно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этой</a:t>
                </a:r>
                <a:r>
                  <a:rPr lang="en-US" dirty="0"/>
                  <a:t> </a:t>
                </a:r>
                <a:r>
                  <a:rPr lang="en-US" dirty="0" err="1"/>
                  <a:t>связи</a:t>
                </a:r>
                <a:r>
                  <a:rPr lang="en-US" dirty="0"/>
                  <a:t> </a:t>
                </a:r>
                <a:r>
                  <a:rPr lang="en-US" dirty="0" err="1"/>
                  <a:t>между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изображениями</a:t>
                </a:r>
                <a:r>
                  <a:rPr lang="en-US" dirty="0"/>
                  <a:t> и DSP.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Сигналы</a:t>
                </a:r>
                <a:r>
                  <a:rPr lang="en-US" dirty="0"/>
                  <a:t> </a:t>
                </a:r>
                <a:r>
                  <a:rPr lang="en-US" dirty="0" err="1"/>
                  <a:t>могут</a:t>
                </a:r>
                <a:r>
                  <a:rPr lang="en-US" dirty="0"/>
                  <a:t> </a:t>
                </a:r>
                <a:r>
                  <a:rPr lang="en-US" dirty="0" err="1"/>
                  <a:t>иметь</a:t>
                </a:r>
                <a:r>
                  <a:rPr lang="en-US" dirty="0"/>
                  <a:t> </a:t>
                </a:r>
                <a:r>
                  <a:rPr lang="en-US" dirty="0" err="1"/>
                  <a:t>различную</a:t>
                </a:r>
                <a:r>
                  <a:rPr lang="en-US" dirty="0"/>
                  <a:t> </a:t>
                </a:r>
                <a:r>
                  <a:rPr lang="en-US" dirty="0" err="1"/>
                  <a:t>размерность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Одномерный</a:t>
                </a:r>
                <a:r>
                  <a:rPr lang="en-US" dirty="0"/>
                  <a:t> </a:t>
                </a:r>
                <a:r>
                  <a:rPr lang="en-US" dirty="0" err="1"/>
                  <a:t>сигнал</a:t>
                </a:r>
                <a:r>
                  <a:rPr lang="en-US" dirty="0"/>
                  <a:t> </a:t>
                </a:r>
                <a:r>
                  <a:rPr lang="en-US" dirty="0" err="1"/>
                  <a:t>зависит</a:t>
                </a:r>
                <a:r>
                  <a:rPr lang="en-US" dirty="0"/>
                  <a:t> </a:t>
                </a:r>
                <a:r>
                  <a:rPr lang="en-US" dirty="0" err="1"/>
                  <a:t>от</a:t>
                </a:r>
                <a:r>
                  <a:rPr lang="en-US" dirty="0"/>
                  <a:t> </a:t>
                </a:r>
                <a:r>
                  <a:rPr lang="en-US" dirty="0" err="1"/>
                  <a:t>одной</a:t>
                </a:r>
                <a:r>
                  <a:rPr lang="en-US" dirty="0"/>
                  <a:t> </a:t>
                </a:r>
                <a:r>
                  <a:rPr lang="en-US" dirty="0" err="1"/>
                  <a:t>независимой</a:t>
                </a:r>
                <a:r>
                  <a:rPr lang="en-US" dirty="0"/>
                  <a:t> </a:t>
                </a:r>
                <a:r>
                  <a:rPr lang="en-US" dirty="0" err="1"/>
                  <a:t>переменной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, </a:t>
                </a:r>
                <a:r>
                  <a:rPr lang="en-US" dirty="0" err="1"/>
                  <a:t>звуковой</a:t>
                </a:r>
                <a:r>
                  <a:rPr lang="en-US" dirty="0"/>
                  <a:t> </a:t>
                </a:r>
                <a:r>
                  <a:rPr lang="en-US" dirty="0" err="1"/>
                  <a:t>сигнал</a:t>
                </a:r>
                <a:r>
                  <a:rPr lang="en-US" dirty="0"/>
                  <a:t> </a:t>
                </a:r>
                <a:r>
                  <a:rPr lang="en-US" dirty="0" err="1"/>
                  <a:t>описывает</a:t>
                </a:r>
                <a:r>
                  <a:rPr lang="en-US" dirty="0"/>
                  <a:t> </a:t>
                </a:r>
                <a:r>
                  <a:rPr lang="en-US" dirty="0" err="1"/>
                  <a:t>изменение</a:t>
                </a:r>
                <a:r>
                  <a:rPr lang="en-US" dirty="0"/>
                  <a:t> </a:t>
                </a:r>
                <a:r>
                  <a:rPr lang="en-US" dirty="0" err="1"/>
                  <a:t>амплитуды</a:t>
                </a:r>
                <a:r>
                  <a:rPr lang="en-US" dirty="0"/>
                  <a:t> </a:t>
                </a:r>
                <a:r>
                  <a:rPr lang="en-US" dirty="0" err="1"/>
                  <a:t>колебаний</a:t>
                </a:r>
                <a:r>
                  <a:rPr lang="en-US" dirty="0"/>
                  <a:t> </a:t>
                </a:r>
                <a:r>
                  <a:rPr lang="en-US" dirty="0" err="1"/>
                  <a:t>воздуха</a:t>
                </a:r>
                <a:r>
                  <a:rPr lang="en-US" dirty="0"/>
                  <a:t> </a:t>
                </a:r>
                <a:r>
                  <a:rPr lang="en-US" dirty="0" err="1"/>
                  <a:t>во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Изображение</a:t>
                </a:r>
                <a:r>
                  <a:rPr lang="en-US" dirty="0"/>
                  <a:t> </a:t>
                </a:r>
                <a:r>
                  <a:rPr lang="en-US" dirty="0" err="1"/>
                  <a:t>является</a:t>
                </a:r>
                <a:r>
                  <a:rPr lang="en-US" dirty="0"/>
                  <a:t> </a:t>
                </a:r>
                <a:r>
                  <a:rPr lang="en-US" dirty="0" err="1"/>
                  <a:t>двумерным</a:t>
                </a:r>
                <a:r>
                  <a:rPr lang="en-US" dirty="0"/>
                  <a:t> </a:t>
                </a:r>
                <a:r>
                  <a:rPr lang="en-US" dirty="0" err="1"/>
                  <a:t>сигналом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/>
                  <a:t>В </a:t>
                </a:r>
                <a:r>
                  <a:rPr lang="en-US" dirty="0" err="1"/>
                  <a:t>этом</a:t>
                </a:r>
                <a:r>
                  <a:rPr lang="en-US" dirty="0"/>
                  <a:t> </a:t>
                </a:r>
                <a:r>
                  <a:rPr lang="en-US" dirty="0" err="1"/>
                  <a:t>случае</a:t>
                </a:r>
                <a:r>
                  <a:rPr lang="en-US" dirty="0"/>
                  <a:t> </a:t>
                </a:r>
                <a:r>
                  <a:rPr lang="en-US" dirty="0" err="1"/>
                  <a:t>значение</a:t>
                </a:r>
                <a:r>
                  <a:rPr lang="en-US" dirty="0"/>
                  <a:t> </a:t>
                </a:r>
                <a:r>
                  <a:rPr lang="en-US" dirty="0" err="1"/>
                  <a:t>сигнала</a:t>
                </a:r>
                <a:r>
                  <a:rPr lang="en-US" dirty="0"/>
                  <a:t> </a:t>
                </a:r>
                <a:r>
                  <a:rPr lang="en-US" dirty="0" err="1"/>
                  <a:t>зависит</a:t>
                </a:r>
                <a:r>
                  <a:rPr lang="en-US" dirty="0"/>
                  <a:t> </a:t>
                </a:r>
                <a:r>
                  <a:rPr lang="en-US" dirty="0" err="1"/>
                  <a:t>уже</a:t>
                </a:r>
                <a:r>
                  <a:rPr lang="en-US" dirty="0"/>
                  <a:t> </a:t>
                </a:r>
                <a:r>
                  <a:rPr lang="en-US" dirty="0" err="1"/>
                  <a:t>от</a:t>
                </a:r>
                <a:r>
                  <a:rPr lang="en-US" dirty="0"/>
                  <a:t> </a:t>
                </a:r>
                <a:r>
                  <a:rPr lang="en-US" dirty="0" err="1"/>
                  <a:t>двух</a:t>
                </a:r>
                <a:r>
                  <a:rPr lang="en-US" dirty="0"/>
                  <a:t> </a:t>
                </a:r>
                <a:r>
                  <a:rPr lang="en-US" dirty="0" err="1"/>
                  <a:t>координат</a:t>
                </a:r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 err="1"/>
                  <a:t>горизонтальной</a:t>
                </a:r>
                <a:r>
                  <a:rPr lang="en-US" dirty="0"/>
                  <a:t> и </a:t>
                </a:r>
                <a:r>
                  <a:rPr lang="en-US" dirty="0" err="1"/>
                  <a:t>вертикальной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чёрно-белого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</a:t>
                </a:r>
                <a:r>
                  <a:rPr lang="en-US" dirty="0" err="1"/>
                  <a:t>функция</a:t>
                </a:r>
                <a:r>
                  <a:rPr lang="en-US" dirty="0"/>
                  <a:t> </a:t>
                </a:r>
                <a:r>
                  <a:rPr lang="en-US" dirty="0" err="1"/>
                  <a:t>задаёт</a:t>
                </a:r>
                <a:r>
                  <a:rPr lang="en-US" dirty="0"/>
                  <a:t> </a:t>
                </a:r>
                <a:r>
                  <a:rPr lang="en-US" dirty="0" err="1"/>
                  <a:t>яркость</a:t>
                </a:r>
                <a:r>
                  <a:rPr lang="en-US" dirty="0"/>
                  <a:t>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𝐼(𝑥ⓜ,𝑦)</a:t>
                </a:r>
                <a:endParaRPr lang="en-US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цветного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в </a:t>
                </a:r>
                <a:r>
                  <a:rPr lang="en-US" dirty="0" err="1"/>
                  <a:t>каждой</a:t>
                </a:r>
                <a:r>
                  <a:rPr lang="en-US" dirty="0"/>
                  <a:t> </a:t>
                </a:r>
                <a:r>
                  <a:rPr lang="en-US" dirty="0" err="1"/>
                  <a:t>точке</a:t>
                </a:r>
                <a:r>
                  <a:rPr lang="en-US" dirty="0"/>
                  <a:t> </a:t>
                </a:r>
                <a:r>
                  <a:rPr lang="en-US" dirty="0" err="1"/>
                  <a:t>хранится</a:t>
                </a:r>
                <a:r>
                  <a:rPr lang="en-US" dirty="0"/>
                  <a:t> </a:t>
                </a:r>
                <a:r>
                  <a:rPr lang="en-US" dirty="0" err="1"/>
                  <a:t>несколько</a:t>
                </a:r>
                <a:r>
                  <a:rPr lang="en-US" dirty="0"/>
                  <a:t> </a:t>
                </a:r>
                <a:r>
                  <a:rPr lang="en-US" dirty="0" err="1"/>
                  <a:t>компонент</a:t>
                </a:r>
                <a:r>
                  <a:rPr lang="en-US" dirty="0"/>
                  <a:t> </a:t>
                </a:r>
                <a:r>
                  <a:rPr lang="en-US" dirty="0" err="1"/>
                  <a:t>цвета</a:t>
                </a:r>
                <a:r>
                  <a:rPr lang="en-US" dirty="0"/>
                  <a:t>, </a:t>
                </a:r>
                <a:r>
                  <a:rPr lang="en-US" dirty="0" err="1"/>
                  <a:t>например</a:t>
                </a:r>
                <a:r>
                  <a:rPr lang="en-US" dirty="0"/>
                  <a:t> RGB.</a:t>
                </a:r>
              </a:p>
              <a:p>
                <a:r>
                  <a:rPr lang="en-US" dirty="0" err="1"/>
                  <a:t>Таким</a:t>
                </a:r>
                <a:r>
                  <a:rPr lang="en-US" dirty="0"/>
                  <a:t> </a:t>
                </a:r>
                <a:r>
                  <a:rPr lang="en-US" dirty="0" err="1"/>
                  <a:t>образом</a:t>
                </a:r>
                <a:r>
                  <a:rPr lang="en-US" dirty="0"/>
                  <a:t>, </a:t>
                </a:r>
                <a:r>
                  <a:rPr lang="en-US" dirty="0" err="1"/>
                  <a:t>изображение</a:t>
                </a:r>
                <a:r>
                  <a:rPr lang="en-US" dirty="0"/>
                  <a:t>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рассматривать</a:t>
                </a:r>
                <a:r>
                  <a:rPr lang="en-US" dirty="0"/>
                  <a:t> </a:t>
                </a:r>
                <a:r>
                  <a:rPr lang="en-US" dirty="0" err="1"/>
                  <a:t>как</a:t>
                </a:r>
                <a:r>
                  <a:rPr lang="en-US" dirty="0"/>
                  <a:t> </a:t>
                </a:r>
                <a:r>
                  <a:rPr lang="en-US" dirty="0" err="1"/>
                  <a:t>математическую</a:t>
                </a:r>
                <a:r>
                  <a:rPr lang="en-US" dirty="0"/>
                  <a:t> </a:t>
                </a:r>
                <a:r>
                  <a:rPr lang="en-US" dirty="0" err="1"/>
                  <a:t>функцию</a:t>
                </a:r>
                <a:r>
                  <a:rPr lang="en-US" dirty="0"/>
                  <a:t>, </a:t>
                </a:r>
                <a:r>
                  <a:rPr lang="en-US" dirty="0" err="1"/>
                  <a:t>определённую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плоскости</a:t>
                </a:r>
                <a:r>
                  <a:rPr lang="en-US" dirty="0"/>
                  <a:t>.</a:t>
                </a:r>
              </a:p>
              <a:p>
                <a:endParaRPr lang="ru-RU" dirty="0"/>
              </a:p>
              <a:p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очень</a:t>
                </a:r>
                <a:r>
                  <a:rPr lang="en-US" dirty="0"/>
                  <a:t> </a:t>
                </a:r>
                <a:r>
                  <a:rPr lang="en-US" dirty="0" err="1"/>
                  <a:t>важная</a:t>
                </a:r>
                <a:r>
                  <a:rPr lang="en-US" dirty="0"/>
                  <a:t> </a:t>
                </a:r>
                <a:r>
                  <a:rPr lang="en-US" dirty="0" err="1"/>
                  <a:t>идея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Благодаря</a:t>
                </a:r>
                <a:r>
                  <a:rPr lang="en-US" dirty="0"/>
                  <a:t> </a:t>
                </a:r>
                <a:r>
                  <a:rPr lang="en-US" dirty="0" err="1"/>
                  <a:t>такому</a:t>
                </a:r>
                <a:r>
                  <a:rPr lang="en-US" dirty="0"/>
                  <a:t> </a:t>
                </a:r>
                <a:r>
                  <a:rPr lang="en-US" dirty="0" err="1"/>
                  <a:t>представлению</a:t>
                </a:r>
                <a:r>
                  <a:rPr lang="en-US" dirty="0"/>
                  <a:t> к </a:t>
                </a:r>
                <a:r>
                  <a:rPr lang="en-US" dirty="0" err="1"/>
                  <a:t>изображениям</a:t>
                </a:r>
                <a:r>
                  <a:rPr lang="en-US" dirty="0"/>
                  <a:t>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применять</a:t>
                </a:r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 err="1"/>
                  <a:t>фильтрацию</a:t>
                </a:r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 err="1"/>
                  <a:t>частотный</a:t>
                </a:r>
                <a:r>
                  <a:rPr lang="en-US" dirty="0"/>
                  <a:t> </a:t>
                </a:r>
                <a:r>
                  <a:rPr lang="en-US" dirty="0" err="1"/>
                  <a:t>анализ</a:t>
                </a:r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 err="1"/>
                  <a:t>преобразование</a:t>
                </a:r>
                <a:r>
                  <a:rPr lang="en-US" dirty="0"/>
                  <a:t> </a:t>
                </a:r>
                <a:r>
                  <a:rPr lang="en-US" dirty="0" err="1"/>
                  <a:t>Фурье</a:t>
                </a:r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и </a:t>
                </a:r>
                <a:r>
                  <a:rPr lang="en-US" dirty="0" err="1"/>
                  <a:t>другие</a:t>
                </a:r>
                <a:r>
                  <a:rPr lang="en-US" dirty="0"/>
                  <a:t> </a:t>
                </a:r>
                <a:r>
                  <a:rPr lang="en-US" dirty="0" err="1"/>
                  <a:t>методы</a:t>
                </a:r>
                <a:r>
                  <a:rPr lang="en-US" dirty="0"/>
                  <a:t> </a:t>
                </a:r>
                <a:r>
                  <a:rPr lang="en-US" dirty="0" err="1"/>
                  <a:t>обработки</a:t>
                </a:r>
                <a:r>
                  <a:rPr lang="en-US" dirty="0"/>
                  <a:t> </a:t>
                </a:r>
                <a:r>
                  <a:rPr lang="en-US" dirty="0" err="1"/>
                  <a:t>сигналов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Фактически</a:t>
                </a:r>
                <a:r>
                  <a:rPr lang="en-US" dirty="0"/>
                  <a:t> </a:t>
                </a:r>
                <a:r>
                  <a:rPr lang="en-US" dirty="0" err="1"/>
                  <a:t>значительная</a:t>
                </a:r>
                <a:r>
                  <a:rPr lang="en-US" dirty="0"/>
                  <a:t> </a:t>
                </a:r>
                <a:r>
                  <a:rPr lang="en-US" dirty="0" err="1"/>
                  <a:t>часть</a:t>
                </a:r>
                <a:r>
                  <a:rPr lang="en-US" dirty="0"/>
                  <a:t> </a:t>
                </a:r>
                <a:r>
                  <a:rPr lang="en-US" dirty="0" err="1"/>
                  <a:t>современной</a:t>
                </a:r>
                <a:r>
                  <a:rPr lang="en-US" dirty="0"/>
                  <a:t> </a:t>
                </a:r>
                <a:r>
                  <a:rPr lang="en-US" dirty="0" err="1"/>
                  <a:t>компьютерной</a:t>
                </a:r>
                <a:r>
                  <a:rPr lang="en-US" dirty="0"/>
                  <a:t> </a:t>
                </a:r>
                <a:r>
                  <a:rPr lang="en-US" dirty="0" err="1"/>
                  <a:t>графики</a:t>
                </a:r>
                <a:r>
                  <a:rPr lang="en-US" dirty="0"/>
                  <a:t> </a:t>
                </a:r>
                <a:r>
                  <a:rPr lang="en-US" dirty="0" err="1"/>
                  <a:t>основана</a:t>
                </a:r>
                <a:r>
                  <a:rPr lang="en-US" dirty="0"/>
                  <a:t> </a:t>
                </a:r>
                <a:r>
                  <a:rPr lang="en-US" dirty="0" err="1"/>
                  <a:t>именно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этой</a:t>
                </a:r>
                <a:r>
                  <a:rPr lang="en-US" dirty="0"/>
                  <a:t> </a:t>
                </a:r>
                <a:r>
                  <a:rPr lang="en-US" dirty="0" err="1"/>
                  <a:t>связи</a:t>
                </a:r>
                <a:r>
                  <a:rPr lang="en-US" dirty="0"/>
                  <a:t> </a:t>
                </a:r>
                <a:r>
                  <a:rPr lang="en-US" dirty="0" err="1"/>
                  <a:t>между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изображениями</a:t>
                </a:r>
                <a:r>
                  <a:rPr lang="en-US" dirty="0"/>
                  <a:t> и DSP.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3232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реальном</a:t>
            </a:r>
            <a:r>
              <a:rPr lang="en-US" dirty="0"/>
              <a:t> </a:t>
            </a:r>
            <a:r>
              <a:rPr lang="en-US" dirty="0" err="1"/>
              <a:t>мире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непрерывным</a:t>
            </a:r>
            <a:r>
              <a:rPr lang="en-US" dirty="0"/>
              <a:t> </a:t>
            </a:r>
            <a:r>
              <a:rPr lang="en-US" dirty="0" err="1"/>
              <a:t>сигналом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Яркость</a:t>
            </a:r>
            <a:r>
              <a:rPr lang="en-US" dirty="0"/>
              <a:t> и </a:t>
            </a:r>
            <a:r>
              <a:rPr lang="en-US" dirty="0" err="1"/>
              <a:t>цвет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непрерывно</a:t>
            </a:r>
            <a:r>
              <a:rPr lang="en-US" dirty="0"/>
              <a:t> в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точке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.</a:t>
            </a:r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 </a:t>
            </a:r>
            <a:r>
              <a:rPr lang="en-US" dirty="0" err="1"/>
              <a:t>точную</a:t>
            </a:r>
            <a:r>
              <a:rPr lang="en-US" dirty="0"/>
              <a:t> </a:t>
            </a:r>
            <a:r>
              <a:rPr lang="en-US" dirty="0" err="1"/>
              <a:t>непрерывную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дискретизируется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</a:t>
            </a:r>
            <a:r>
              <a:rPr lang="en-US" dirty="0" err="1"/>
              <a:t>разбивается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конечную</a:t>
            </a:r>
            <a:r>
              <a:rPr lang="en-US" dirty="0"/>
              <a:t> </a:t>
            </a:r>
            <a:r>
              <a:rPr lang="en-US" dirty="0" err="1"/>
              <a:t>сетку</a:t>
            </a:r>
            <a:r>
              <a:rPr lang="en-US" dirty="0"/>
              <a:t> </a:t>
            </a:r>
            <a:r>
              <a:rPr lang="en-US" dirty="0" err="1"/>
              <a:t>пикселей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пиксель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 sample — </a:t>
            </a:r>
            <a:r>
              <a:rPr lang="en-US" dirty="0" err="1"/>
              <a:t>измерение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 в </a:t>
            </a:r>
            <a:r>
              <a:rPr lang="en-US" dirty="0" err="1"/>
              <a:t>определённой</a:t>
            </a:r>
            <a:r>
              <a:rPr lang="en-US" dirty="0"/>
              <a:t> </a:t>
            </a:r>
            <a:r>
              <a:rPr lang="en-US" dirty="0" err="1"/>
              <a:t>точке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непрерывное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превращается</a:t>
            </a:r>
            <a:r>
              <a:rPr lang="en-US" dirty="0"/>
              <a:t> в </a:t>
            </a:r>
            <a:r>
              <a:rPr lang="en-US" dirty="0" err="1"/>
              <a:t>дискретную</a:t>
            </a:r>
            <a:r>
              <a:rPr lang="en-US" dirty="0"/>
              <a:t> </a:t>
            </a:r>
            <a:r>
              <a:rPr lang="en-US" dirty="0" err="1"/>
              <a:t>матрицу</a:t>
            </a:r>
            <a:r>
              <a:rPr lang="en-US" dirty="0"/>
              <a:t> </a:t>
            </a:r>
            <a:r>
              <a:rPr lang="en-US" dirty="0" err="1"/>
              <a:t>значений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dirty="0" err="1"/>
              <a:t>дискретизацией</a:t>
            </a:r>
            <a:r>
              <a:rPr lang="en-US" dirty="0"/>
              <a:t>.</a:t>
            </a:r>
          </a:p>
          <a:p>
            <a:r>
              <a:rPr lang="en-US" dirty="0" err="1"/>
              <a:t>Дискретизация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потере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информации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частота</a:t>
            </a:r>
            <a:r>
              <a:rPr lang="en-US" dirty="0"/>
              <a:t> </a:t>
            </a:r>
            <a:r>
              <a:rPr lang="en-US" dirty="0" err="1"/>
              <a:t>дискретизации</a:t>
            </a:r>
            <a:r>
              <a:rPr lang="en-US" dirty="0"/>
              <a:t> </a:t>
            </a:r>
            <a:r>
              <a:rPr lang="en-US" dirty="0" err="1"/>
              <a:t>недостаточна</a:t>
            </a:r>
            <a:r>
              <a:rPr lang="en-US" dirty="0"/>
              <a:t>: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мелкие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исчезать</a:t>
            </a:r>
            <a:r>
              <a:rPr lang="en-US" dirty="0"/>
              <a:t>,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артефакты</a:t>
            </a:r>
            <a:r>
              <a:rPr lang="en-US" dirty="0"/>
              <a:t>,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aliasing,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искажения</a:t>
            </a:r>
            <a:r>
              <a:rPr lang="en-US" dirty="0"/>
              <a:t> </a:t>
            </a:r>
            <a:r>
              <a:rPr lang="en-US" dirty="0" err="1"/>
              <a:t>структуры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Разрешение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samples и </a:t>
            </a:r>
            <a:r>
              <a:rPr lang="en-US" dirty="0" err="1"/>
              <a:t>степень</a:t>
            </a:r>
            <a:r>
              <a:rPr lang="en-US" dirty="0"/>
              <a:t> </a:t>
            </a:r>
            <a:r>
              <a:rPr lang="en-US" dirty="0" err="1"/>
              <a:t>детализации</a:t>
            </a:r>
            <a:r>
              <a:rPr lang="en-US" dirty="0"/>
              <a:t> </a:t>
            </a:r>
            <a:r>
              <a:rPr lang="en-US" dirty="0" err="1"/>
              <a:t>сцены</a:t>
            </a:r>
            <a:r>
              <a:rPr lang="en-US" dirty="0"/>
              <a:t>.</a:t>
            </a:r>
          </a:p>
          <a:p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лежит</a:t>
            </a:r>
            <a:r>
              <a:rPr lang="en-US" dirty="0"/>
              <a:t> в </a:t>
            </a:r>
            <a:r>
              <a:rPr lang="en-US" dirty="0" err="1"/>
              <a:t>основе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растровой</a:t>
            </a:r>
            <a:r>
              <a:rPr lang="en-US" dirty="0"/>
              <a:t> </a:t>
            </a:r>
            <a:r>
              <a:rPr lang="en-US" dirty="0" err="1"/>
              <a:t>графики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рендеринга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текстурирования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и anti-aliasing.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2846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081E641E-DFA0-7D86-13F5-C33A514835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BAD7172A-8EC5-5269-357D-62A6EC0E12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5BDA0ADD-B168-92B4-144B-78CCC04AD3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87577698-2625-8681-C3C6-12EB652C4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дискретизации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в </a:t>
            </a:r>
            <a:r>
              <a:rPr lang="en-US" dirty="0" err="1"/>
              <a:t>цифровой</a:t>
            </a:r>
            <a:r>
              <a:rPr lang="en-US" dirty="0"/>
              <a:t> </a:t>
            </a:r>
            <a:r>
              <a:rPr lang="en-US" dirty="0" err="1"/>
              <a:t>форме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непрерывные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яркости</a:t>
            </a:r>
            <a:r>
              <a:rPr lang="en-US" dirty="0"/>
              <a:t> и </a:t>
            </a:r>
            <a:r>
              <a:rPr lang="en-US" dirty="0" err="1"/>
              <a:t>цвета</a:t>
            </a:r>
            <a:r>
              <a:rPr lang="en-US" dirty="0"/>
              <a:t> </a:t>
            </a:r>
            <a:r>
              <a:rPr lang="en-US" dirty="0" err="1"/>
              <a:t>заменяются</a:t>
            </a:r>
            <a:r>
              <a:rPr lang="en-US" dirty="0"/>
              <a:t> </a:t>
            </a:r>
            <a:r>
              <a:rPr lang="en-US" dirty="0" err="1"/>
              <a:t>конечным</a:t>
            </a:r>
            <a:r>
              <a:rPr lang="en-US" dirty="0"/>
              <a:t> </a:t>
            </a:r>
            <a:r>
              <a:rPr lang="en-US" dirty="0" err="1"/>
              <a:t>набором</a:t>
            </a:r>
            <a:r>
              <a:rPr lang="en-US" dirty="0"/>
              <a:t> </a:t>
            </a:r>
            <a:r>
              <a:rPr lang="en-US" dirty="0" err="1"/>
              <a:t>допустимых</a:t>
            </a:r>
            <a:r>
              <a:rPr lang="en-US" dirty="0"/>
              <a:t> </a:t>
            </a:r>
            <a:r>
              <a:rPr lang="en-US" dirty="0" err="1"/>
              <a:t>уровней</a:t>
            </a:r>
            <a:r>
              <a:rPr lang="en-US" dirty="0"/>
              <a:t>.</a:t>
            </a:r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dirty="0" err="1"/>
              <a:t>квантованием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использовании</a:t>
            </a:r>
            <a:r>
              <a:rPr lang="en-US" dirty="0"/>
              <a:t> 8 </a:t>
            </a:r>
            <a:r>
              <a:rPr lang="en-US" dirty="0" err="1"/>
              <a:t>бит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канал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ru-RU" dirty="0"/>
              <a:t> </a:t>
            </a:r>
            <a:r>
              <a:rPr lang="en-US" dirty="0"/>
              <a:t>256 </a:t>
            </a:r>
            <a:r>
              <a:rPr lang="en-US" dirty="0" err="1"/>
              <a:t>различных</a:t>
            </a:r>
            <a:r>
              <a:rPr lang="en-US" dirty="0"/>
              <a:t> </a:t>
            </a:r>
            <a:r>
              <a:rPr lang="en-US" dirty="0" err="1"/>
              <a:t>уровней</a:t>
            </a:r>
            <a:r>
              <a:rPr lang="en-US" dirty="0"/>
              <a:t> </a:t>
            </a:r>
            <a:r>
              <a:rPr lang="en-US" dirty="0" err="1"/>
              <a:t>яркости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Любое</a:t>
            </a:r>
            <a:r>
              <a:rPr lang="en-US" dirty="0"/>
              <a:t> </a:t>
            </a:r>
            <a:r>
              <a:rPr lang="en-US" dirty="0" err="1"/>
              <a:t>реальное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округляется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ближайшего</a:t>
            </a:r>
            <a:r>
              <a:rPr lang="en-US" dirty="0"/>
              <a:t> </a:t>
            </a:r>
            <a:r>
              <a:rPr lang="en-US" dirty="0" err="1"/>
              <a:t>допустимого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.</a:t>
            </a:r>
          </a:p>
          <a:p>
            <a:r>
              <a:rPr lang="en-US" dirty="0" err="1"/>
              <a:t>Квантование</a:t>
            </a:r>
            <a:r>
              <a:rPr lang="en-US" dirty="0"/>
              <a:t> </a:t>
            </a:r>
            <a:r>
              <a:rPr lang="en-US" dirty="0" err="1"/>
              <a:t>неизбежно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ошибкам</a:t>
            </a:r>
            <a:r>
              <a:rPr lang="en-US" dirty="0"/>
              <a:t> </a:t>
            </a:r>
            <a:r>
              <a:rPr lang="en-US" dirty="0" err="1"/>
              <a:t>округления</a:t>
            </a:r>
            <a:r>
              <a:rPr lang="en-US" dirty="0"/>
              <a:t> и </a:t>
            </a:r>
            <a:r>
              <a:rPr lang="en-US" dirty="0" err="1"/>
              <a:t>потере</a:t>
            </a:r>
            <a:r>
              <a:rPr lang="en-US" dirty="0"/>
              <a:t> </a:t>
            </a:r>
            <a:r>
              <a:rPr lang="en-US" dirty="0" err="1"/>
              <a:t>точности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недостаточной</a:t>
            </a:r>
            <a:r>
              <a:rPr lang="en-US" dirty="0"/>
              <a:t> </a:t>
            </a:r>
            <a:r>
              <a:rPr lang="en-US" dirty="0" err="1"/>
              <a:t>глубине</a:t>
            </a:r>
            <a:r>
              <a:rPr lang="en-US" dirty="0"/>
              <a:t> </a:t>
            </a:r>
            <a:r>
              <a:rPr lang="en-US" dirty="0" err="1"/>
              <a:t>цвета</a:t>
            </a:r>
            <a:r>
              <a:rPr lang="en-US" dirty="0"/>
              <a:t> </a:t>
            </a:r>
            <a:r>
              <a:rPr lang="en-US" dirty="0" err="1"/>
              <a:t>становятся</a:t>
            </a:r>
            <a:r>
              <a:rPr lang="en-US" dirty="0"/>
              <a:t> </a:t>
            </a:r>
            <a:r>
              <a:rPr lang="en-US" dirty="0" err="1"/>
              <a:t>заметны</a:t>
            </a:r>
            <a:r>
              <a:rPr lang="en-US" dirty="0"/>
              <a:t> </a:t>
            </a:r>
            <a:r>
              <a:rPr lang="en-US" dirty="0" err="1"/>
              <a:t>артефакты</a:t>
            </a:r>
            <a:r>
              <a:rPr lang="en-US" dirty="0"/>
              <a:t> </a:t>
            </a:r>
            <a:r>
              <a:rPr lang="en-US" dirty="0" err="1"/>
              <a:t>квантования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известный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— banding:</a:t>
            </a:r>
            <a:r>
              <a:rPr lang="ru-RU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плавного</a:t>
            </a:r>
            <a:r>
              <a:rPr lang="en-US" dirty="0"/>
              <a:t> </a:t>
            </a:r>
            <a:r>
              <a:rPr lang="en-US" dirty="0" err="1"/>
              <a:t>градиента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резкие</a:t>
            </a:r>
            <a:r>
              <a:rPr lang="en-US" dirty="0"/>
              <a:t> </a:t>
            </a:r>
            <a:r>
              <a:rPr lang="en-US" dirty="0" err="1"/>
              <a:t>переходы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уровнями</a:t>
            </a:r>
            <a:r>
              <a:rPr lang="en-US" dirty="0"/>
              <a:t> </a:t>
            </a:r>
            <a:r>
              <a:rPr lang="en-US" dirty="0" err="1"/>
              <a:t>яркости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рендеринга</a:t>
            </a:r>
            <a:r>
              <a:rPr lang="en-US" dirty="0"/>
              <a:t> и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изображений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16-битные </a:t>
            </a:r>
            <a:r>
              <a:rPr lang="en-US" dirty="0" err="1"/>
              <a:t>форматы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floating-point </a:t>
            </a:r>
            <a:r>
              <a:rPr lang="en-US" dirty="0" err="1"/>
              <a:t>представление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HDR,</a:t>
            </a:r>
            <a:br>
              <a:rPr lang="en-US" dirty="0"/>
            </a:br>
            <a:r>
              <a:rPr lang="en-US" dirty="0"/>
              <a:t>и dithering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уменьшения</a:t>
            </a:r>
            <a:r>
              <a:rPr lang="en-US" dirty="0"/>
              <a:t> </a:t>
            </a:r>
            <a:r>
              <a:rPr lang="en-US" dirty="0" err="1"/>
              <a:t>подобных</a:t>
            </a:r>
            <a:r>
              <a:rPr lang="en-US" dirty="0"/>
              <a:t> </a:t>
            </a:r>
            <a:r>
              <a:rPr lang="en-US" dirty="0" err="1"/>
              <a:t>артефактов</a:t>
            </a:r>
            <a:r>
              <a:rPr lang="en-US" dirty="0"/>
              <a:t>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Dithering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имитации</a:t>
            </a:r>
            <a:r>
              <a:rPr lang="en-US" dirty="0"/>
              <a:t> </a:t>
            </a:r>
            <a:r>
              <a:rPr lang="en-US" dirty="0" err="1"/>
              <a:t>большего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оттенков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ограниченной</a:t>
            </a:r>
            <a:r>
              <a:rPr lang="en-US" dirty="0"/>
              <a:t> </a:t>
            </a:r>
            <a:r>
              <a:rPr lang="en-US" dirty="0" err="1"/>
              <a:t>палитре</a:t>
            </a:r>
            <a:r>
              <a:rPr lang="en-US" dirty="0"/>
              <a:t> </a:t>
            </a:r>
            <a:r>
              <a:rPr lang="en-US" dirty="0" err="1"/>
              <a:t>цветов</a:t>
            </a:r>
            <a:endParaRPr lang="en-US" dirty="0"/>
          </a:p>
          <a:p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точного</a:t>
            </a:r>
            <a:r>
              <a:rPr lang="en-US" dirty="0"/>
              <a:t> </a:t>
            </a:r>
            <a:r>
              <a:rPr lang="en-US" dirty="0" err="1"/>
              <a:t>цвета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соседние</a:t>
            </a:r>
            <a:r>
              <a:rPr lang="en-US" dirty="0"/>
              <a:t> </a:t>
            </a:r>
            <a:r>
              <a:rPr lang="en-US" dirty="0" err="1"/>
              <a:t>пиксели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цветов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визуально</a:t>
            </a:r>
            <a:r>
              <a:rPr lang="en-US" dirty="0"/>
              <a:t> </a:t>
            </a:r>
            <a:r>
              <a:rPr lang="en-US" dirty="0" err="1"/>
              <a:t>смешиваются</a:t>
            </a:r>
            <a:r>
              <a:rPr lang="en-US" dirty="0"/>
              <a:t> </a:t>
            </a:r>
            <a:r>
              <a:rPr lang="en-US" dirty="0" err="1"/>
              <a:t>человеческим</a:t>
            </a:r>
            <a:r>
              <a:rPr lang="en-US" dirty="0"/>
              <a:t> </a:t>
            </a:r>
            <a:r>
              <a:rPr lang="en-US" dirty="0" err="1"/>
              <a:t>глазом</a:t>
            </a:r>
            <a:r>
              <a:rPr lang="en-US" dirty="0"/>
              <a:t>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показаны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алгоритмы</a:t>
            </a:r>
            <a:r>
              <a:rPr lang="en-US" dirty="0"/>
              <a:t> </a:t>
            </a:r>
            <a:r>
              <a:rPr lang="en-US" dirty="0" err="1"/>
              <a:t>дизеринга</a:t>
            </a:r>
            <a:r>
              <a:rPr lang="en-US" dirty="0"/>
              <a:t>.</a:t>
            </a:r>
          </a:p>
          <a:p>
            <a:br>
              <a:rPr lang="en-US" dirty="0"/>
            </a:br>
            <a:r>
              <a:rPr lang="en-US" dirty="0" err="1"/>
              <a:t>Слева</a:t>
            </a:r>
            <a:r>
              <a:rPr lang="en-US" dirty="0"/>
              <a:t> — </a:t>
            </a:r>
            <a:r>
              <a:rPr lang="en-US" dirty="0" err="1"/>
              <a:t>оригинальное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, </a:t>
            </a:r>
            <a:r>
              <a:rPr lang="en-US" dirty="0" err="1"/>
              <a:t>справа</a:t>
            </a:r>
            <a:r>
              <a:rPr lang="en-US" dirty="0"/>
              <a:t> —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уменьшения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цветов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подхода</a:t>
            </a:r>
            <a:r>
              <a:rPr lang="en-US" dirty="0"/>
              <a:t>:</a:t>
            </a:r>
          </a:p>
          <a:p>
            <a:r>
              <a:rPr lang="en-US" b="1" dirty="0" err="1"/>
              <a:t>Упорядоченный</a:t>
            </a:r>
            <a:r>
              <a:rPr lang="en-US" b="1" dirty="0"/>
              <a:t> dithering</a:t>
            </a:r>
            <a:r>
              <a:rPr lang="en-US" dirty="0"/>
              <a:t> —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заданные</a:t>
            </a:r>
            <a:r>
              <a:rPr lang="en-US" dirty="0"/>
              <a:t> </a:t>
            </a:r>
            <a:r>
              <a:rPr lang="en-US" dirty="0" err="1"/>
              <a:t>шаблоны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Bayer.</a:t>
            </a:r>
            <a:br>
              <a:rPr lang="en-US" dirty="0"/>
            </a:b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заметный</a:t>
            </a:r>
            <a:r>
              <a:rPr lang="en-US" dirty="0"/>
              <a:t> </a:t>
            </a:r>
            <a:r>
              <a:rPr lang="en-US" dirty="0" err="1"/>
              <a:t>регулярный</a:t>
            </a:r>
            <a:r>
              <a:rPr lang="en-US" dirty="0"/>
              <a:t> </a:t>
            </a:r>
            <a:r>
              <a:rPr lang="en-US" dirty="0" err="1"/>
              <a:t>узор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b="1" dirty="0"/>
              <a:t>Error diffusion dithering</a:t>
            </a:r>
            <a:r>
              <a:rPr lang="en-US" dirty="0"/>
              <a:t> — </a:t>
            </a:r>
            <a:r>
              <a:rPr lang="en-US" dirty="0" err="1"/>
              <a:t>алгоритмы</a:t>
            </a:r>
            <a:r>
              <a:rPr lang="en-US" dirty="0"/>
              <a:t> Floyd–Steinberg, Atkinson, Jarvis–Judice–Ninke.</a:t>
            </a:r>
          </a:p>
          <a:p>
            <a:br>
              <a:rPr lang="en-US" dirty="0"/>
            </a:br>
            <a:r>
              <a:rPr lang="en-US" dirty="0" err="1"/>
              <a:t>Ошибка</a:t>
            </a:r>
            <a:r>
              <a:rPr lang="en-US" dirty="0"/>
              <a:t> </a:t>
            </a:r>
            <a:r>
              <a:rPr lang="en-US" dirty="0" err="1"/>
              <a:t>округления</a:t>
            </a:r>
            <a:r>
              <a:rPr lang="en-US" dirty="0"/>
              <a:t> </a:t>
            </a:r>
            <a:r>
              <a:rPr lang="en-US" dirty="0" err="1"/>
              <a:t>распределяется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соседним</a:t>
            </a:r>
            <a:r>
              <a:rPr lang="en-US" dirty="0"/>
              <a:t> </a:t>
            </a:r>
            <a:r>
              <a:rPr lang="en-US" dirty="0" err="1"/>
              <a:t>пикселям</a:t>
            </a:r>
            <a:r>
              <a:rPr lang="en-US" dirty="0"/>
              <a:t>,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чему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естественным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Dithering </a:t>
            </a:r>
            <a:r>
              <a:rPr lang="en-US" dirty="0" err="1"/>
              <a:t>активно</a:t>
            </a:r>
            <a:r>
              <a:rPr lang="en-US" dirty="0"/>
              <a:t> </a:t>
            </a:r>
            <a:r>
              <a:rPr lang="en-US" dirty="0" err="1"/>
              <a:t>использовался</a:t>
            </a:r>
            <a:r>
              <a:rPr lang="en-US" dirty="0"/>
              <a:t>:</a:t>
            </a:r>
          </a:p>
          <a:p>
            <a:r>
              <a:rPr lang="en-US" dirty="0"/>
              <a:t>в </a:t>
            </a:r>
            <a:r>
              <a:rPr lang="en-US" dirty="0" err="1"/>
              <a:t>старых</a:t>
            </a:r>
            <a:r>
              <a:rPr lang="en-US" dirty="0"/>
              <a:t> </a:t>
            </a:r>
            <a:r>
              <a:rPr lang="en-US" dirty="0" err="1"/>
              <a:t>видеокартах</a:t>
            </a:r>
            <a:r>
              <a:rPr lang="en-US" dirty="0"/>
              <a:t> и </a:t>
            </a:r>
            <a:r>
              <a:rPr lang="en-US" dirty="0" err="1"/>
              <a:t>игровых</a:t>
            </a:r>
            <a:r>
              <a:rPr lang="en-US" dirty="0"/>
              <a:t> </a:t>
            </a:r>
            <a:r>
              <a:rPr lang="en-US" dirty="0" err="1"/>
              <a:t>приставках</a:t>
            </a:r>
            <a:r>
              <a:rPr lang="en-US" dirty="0"/>
              <a:t>, 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печати</a:t>
            </a:r>
            <a:r>
              <a:rPr lang="en-US" dirty="0"/>
              <a:t> </a:t>
            </a:r>
            <a:r>
              <a:rPr lang="en-US" dirty="0" err="1"/>
              <a:t>изображений</a:t>
            </a:r>
            <a:r>
              <a:rPr lang="en-US" dirty="0"/>
              <a:t>, </a:t>
            </a:r>
          </a:p>
          <a:p>
            <a:r>
              <a:rPr lang="en-US" dirty="0"/>
              <a:t>в GIF и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форматах</a:t>
            </a:r>
            <a:r>
              <a:rPr lang="en-US" dirty="0"/>
              <a:t> с </a:t>
            </a:r>
            <a:r>
              <a:rPr lang="en-US" dirty="0" err="1"/>
              <a:t>ограниченной</a:t>
            </a:r>
            <a:r>
              <a:rPr lang="en-US" dirty="0"/>
              <a:t> </a:t>
            </a:r>
            <a:r>
              <a:rPr lang="en-US" dirty="0" err="1"/>
              <a:t>палитрой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dithering </a:t>
            </a:r>
            <a:r>
              <a:rPr lang="en-US" dirty="0" err="1"/>
              <a:t>применяется</a:t>
            </a:r>
            <a:r>
              <a:rPr lang="en-US" dirty="0"/>
              <a:t> в </a:t>
            </a:r>
            <a:r>
              <a:rPr lang="en-US" dirty="0" err="1"/>
              <a:t>графике</a:t>
            </a:r>
            <a:r>
              <a:rPr lang="en-US" dirty="0"/>
              <a:t> и </a:t>
            </a:r>
            <a:r>
              <a:rPr lang="en-US" dirty="0" err="1"/>
              <a:t>обработке</a:t>
            </a:r>
            <a:r>
              <a:rPr lang="en-US" dirty="0"/>
              <a:t> </a:t>
            </a:r>
            <a:r>
              <a:rPr lang="en-US" dirty="0" err="1"/>
              <a:t>изображений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уменьшения</a:t>
            </a:r>
            <a:r>
              <a:rPr lang="en-US" dirty="0"/>
              <a:t> </a:t>
            </a:r>
            <a:r>
              <a:rPr lang="en-US" dirty="0" err="1"/>
              <a:t>заметности</a:t>
            </a:r>
            <a:r>
              <a:rPr lang="en-US" dirty="0"/>
              <a:t> </a:t>
            </a:r>
            <a:r>
              <a:rPr lang="en-US" dirty="0" err="1"/>
              <a:t>квантования</a:t>
            </a:r>
            <a:r>
              <a:rPr lang="en-US" dirty="0"/>
              <a:t> и </a:t>
            </a:r>
            <a:r>
              <a:rPr lang="en-US" dirty="0" err="1"/>
              <a:t>цветовых</a:t>
            </a:r>
            <a:r>
              <a:rPr lang="en-US" dirty="0"/>
              <a:t> </a:t>
            </a:r>
            <a:r>
              <a:rPr lang="en-US" dirty="0" err="1"/>
              <a:t>полос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1025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Любое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в </a:t>
            </a:r>
            <a:r>
              <a:rPr lang="en-US" dirty="0" err="1"/>
              <a:t>реальном</a:t>
            </a:r>
            <a:r>
              <a:rPr lang="en-US" dirty="0"/>
              <a:t> </a:t>
            </a:r>
            <a:r>
              <a:rPr lang="en-US" dirty="0" err="1"/>
              <a:t>мире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непрерывным</a:t>
            </a:r>
            <a:r>
              <a:rPr lang="en-US" dirty="0"/>
              <a:t> </a:t>
            </a:r>
            <a:r>
              <a:rPr lang="en-US" dirty="0" err="1"/>
              <a:t>сигналом</a:t>
            </a:r>
            <a:r>
              <a:rPr lang="en-US" dirty="0"/>
              <a:t>.</a:t>
            </a:r>
          </a:p>
          <a:p>
            <a:br>
              <a:rPr lang="en-US" dirty="0"/>
            </a:b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экран</a:t>
            </a:r>
            <a:r>
              <a:rPr lang="en-US" dirty="0"/>
              <a:t>, </a:t>
            </a:r>
            <a:r>
              <a:rPr lang="en-US" dirty="0" err="1"/>
              <a:t>текстура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framebuffer </a:t>
            </a:r>
            <a:r>
              <a:rPr lang="en-US" dirty="0" err="1"/>
              <a:t>состоят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пикселей</a:t>
            </a:r>
            <a:r>
              <a:rPr lang="en-US" dirty="0"/>
              <a:t> — </a:t>
            </a:r>
            <a:r>
              <a:rPr lang="en-US" dirty="0" err="1"/>
              <a:t>дискретных</a:t>
            </a:r>
            <a:r>
              <a:rPr lang="en-US" dirty="0"/>
              <a:t> </a:t>
            </a:r>
            <a:r>
              <a:rPr lang="en-US" dirty="0" err="1"/>
              <a:t>отсчётов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отображении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выполняем</a:t>
            </a:r>
            <a:r>
              <a:rPr lang="en-US" dirty="0"/>
              <a:t> </a:t>
            </a:r>
            <a:r>
              <a:rPr lang="en-US" dirty="0" err="1"/>
              <a:t>сэмплинг</a:t>
            </a:r>
            <a:r>
              <a:rPr lang="en-US" dirty="0"/>
              <a:t> — </a:t>
            </a:r>
            <a:r>
              <a:rPr lang="en-US" dirty="0" err="1"/>
              <a:t>выбираем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 в </a:t>
            </a:r>
            <a:r>
              <a:rPr lang="en-US" dirty="0" err="1"/>
              <a:t>определённых</a:t>
            </a:r>
            <a:r>
              <a:rPr lang="en-US" dirty="0"/>
              <a:t> </a:t>
            </a:r>
            <a:r>
              <a:rPr lang="en-US" dirty="0" err="1"/>
              <a:t>точках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Сэмплинг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везде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растеризации</a:t>
            </a:r>
            <a:r>
              <a:rPr lang="en-US" dirty="0"/>
              <a:t> </a:t>
            </a:r>
            <a:r>
              <a:rPr lang="en-US" dirty="0" err="1"/>
              <a:t>треугольников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чтении</a:t>
            </a:r>
            <a:r>
              <a:rPr lang="en-US" dirty="0"/>
              <a:t> </a:t>
            </a:r>
            <a:r>
              <a:rPr lang="en-US" dirty="0" err="1"/>
              <a:t>текстур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вычислении</a:t>
            </a:r>
            <a:r>
              <a:rPr lang="en-US" dirty="0"/>
              <a:t> </a:t>
            </a:r>
            <a:r>
              <a:rPr lang="en-US" dirty="0" err="1"/>
              <a:t>освещения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тенях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постобработке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дискретное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идеально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</a:t>
            </a:r>
            <a:r>
              <a:rPr lang="en-US" dirty="0" err="1"/>
              <a:t>непрерывного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3533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Теорема</a:t>
            </a:r>
            <a:r>
              <a:rPr lang="en-US" dirty="0"/>
              <a:t> </a:t>
            </a:r>
            <a:r>
              <a:rPr lang="en-US" dirty="0" err="1"/>
              <a:t>Котельникова</a:t>
            </a:r>
            <a:r>
              <a:rPr lang="en-US" dirty="0"/>
              <a:t> — </a:t>
            </a:r>
            <a:r>
              <a:rPr lang="en-US" dirty="0" err="1"/>
              <a:t>фундамент</a:t>
            </a:r>
            <a:r>
              <a:rPr lang="en-US" dirty="0"/>
              <a:t> </a:t>
            </a:r>
            <a:r>
              <a:rPr lang="en-US" dirty="0" err="1"/>
              <a:t>цифровой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говорит</a:t>
            </a:r>
            <a:r>
              <a:rPr lang="en-US" dirty="0"/>
              <a:t>: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,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брать</a:t>
            </a:r>
            <a:r>
              <a:rPr lang="en-US" dirty="0"/>
              <a:t> </a:t>
            </a:r>
            <a:r>
              <a:rPr lang="en-US" dirty="0" err="1"/>
              <a:t>отсчёты</a:t>
            </a:r>
            <a:r>
              <a:rPr lang="en-US" dirty="0"/>
              <a:t> </a:t>
            </a:r>
            <a:r>
              <a:rPr lang="en-US" dirty="0" err="1"/>
              <a:t>минимум</a:t>
            </a:r>
            <a:r>
              <a:rPr lang="en-US" dirty="0"/>
              <a:t> в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раза</a:t>
            </a:r>
            <a:r>
              <a:rPr lang="en-US" dirty="0"/>
              <a:t> </a:t>
            </a:r>
            <a:r>
              <a:rPr lang="en-US" dirty="0" err="1"/>
              <a:t>чаще</a:t>
            </a:r>
            <a:r>
              <a:rPr lang="en-US" dirty="0"/>
              <a:t> </a:t>
            </a:r>
            <a:r>
              <a:rPr lang="en-US" dirty="0" err="1"/>
              <a:t>максимальной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частота</a:t>
            </a:r>
            <a:r>
              <a:rPr lang="en-US" dirty="0"/>
              <a:t> </a:t>
            </a:r>
            <a:r>
              <a:rPr lang="en-US" dirty="0" err="1"/>
              <a:t>дискретизации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мала</a:t>
            </a:r>
            <a:r>
              <a:rPr lang="en-US" dirty="0"/>
              <a:t>, </a:t>
            </a:r>
            <a:r>
              <a:rPr lang="en-US" dirty="0" err="1"/>
              <a:t>высокие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 </a:t>
            </a:r>
            <a:r>
              <a:rPr lang="en-US" dirty="0" err="1"/>
              <a:t>начинают</a:t>
            </a:r>
            <a:r>
              <a:rPr lang="en-US" dirty="0"/>
              <a:t> «</a:t>
            </a:r>
            <a:r>
              <a:rPr lang="en-US" dirty="0" err="1"/>
              <a:t>маскироваться</a:t>
            </a:r>
            <a:r>
              <a:rPr lang="en-US" dirty="0"/>
              <a:t>»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низкие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графике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проявляется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лесенки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муар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мерцание</a:t>
            </a:r>
            <a:r>
              <a:rPr lang="en-US" dirty="0"/>
              <a:t> </a:t>
            </a:r>
            <a:r>
              <a:rPr lang="en-US" dirty="0" err="1"/>
              <a:t>тонких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шум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текстурах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9252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Алиасинг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</a:t>
            </a:r>
            <a:r>
              <a:rPr lang="en-US" dirty="0" err="1"/>
              <a:t>мельче</a:t>
            </a:r>
            <a:r>
              <a:rPr lang="en-US" dirty="0"/>
              <a:t> </a:t>
            </a:r>
            <a:r>
              <a:rPr lang="en-US" dirty="0" err="1"/>
              <a:t>размера</a:t>
            </a:r>
            <a:r>
              <a:rPr lang="en-US" dirty="0"/>
              <a:t> </a:t>
            </a:r>
            <a:r>
              <a:rPr lang="en-US" dirty="0" err="1"/>
              <a:t>пикселя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наклонная</a:t>
            </a:r>
            <a:r>
              <a:rPr lang="en-US" dirty="0"/>
              <a:t> </a:t>
            </a:r>
            <a:r>
              <a:rPr lang="en-US" dirty="0" err="1"/>
              <a:t>линия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идеально</a:t>
            </a:r>
            <a:r>
              <a:rPr lang="en-US" dirty="0"/>
              <a:t> </a:t>
            </a:r>
            <a:r>
              <a:rPr lang="en-US" dirty="0" err="1"/>
              <a:t>представлена</a:t>
            </a:r>
            <a:r>
              <a:rPr lang="en-US" dirty="0"/>
              <a:t> </a:t>
            </a:r>
            <a:r>
              <a:rPr lang="en-US" dirty="0" err="1"/>
              <a:t>квадратными</a:t>
            </a:r>
            <a:r>
              <a:rPr lang="en-US" dirty="0"/>
              <a:t> </a:t>
            </a:r>
            <a:r>
              <a:rPr lang="en-US" dirty="0" err="1"/>
              <a:t>пикселями</a:t>
            </a:r>
            <a:r>
              <a:rPr lang="en-US" dirty="0"/>
              <a:t> —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ступеньки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текстурах</a:t>
            </a:r>
            <a:r>
              <a:rPr lang="en-US" dirty="0"/>
              <a:t> aliasing </a:t>
            </a:r>
            <a:r>
              <a:rPr lang="en-US" dirty="0" err="1"/>
              <a:t>проявляется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:</a:t>
            </a:r>
          </a:p>
          <a:p>
            <a:r>
              <a:rPr lang="en-US" dirty="0" err="1"/>
              <a:t>мерцание</a:t>
            </a:r>
            <a:r>
              <a:rPr lang="en-US" dirty="0"/>
              <a:t>, </a:t>
            </a:r>
          </a:p>
          <a:p>
            <a:r>
              <a:rPr lang="en-US" dirty="0" err="1"/>
              <a:t>дрожание</a:t>
            </a:r>
            <a:r>
              <a:rPr lang="en-US" dirty="0"/>
              <a:t>, </a:t>
            </a:r>
          </a:p>
          <a:p>
            <a:r>
              <a:rPr lang="en-US" dirty="0" err="1"/>
              <a:t>повторяющиеся</a:t>
            </a:r>
            <a:r>
              <a:rPr lang="en-US" dirty="0"/>
              <a:t> </a:t>
            </a:r>
            <a:r>
              <a:rPr lang="en-US" dirty="0" err="1"/>
              <a:t>узоры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сильно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заметна</a:t>
            </a:r>
            <a:r>
              <a:rPr lang="en-US" dirty="0"/>
              <a:t> в </a:t>
            </a:r>
            <a:r>
              <a:rPr lang="en-US" dirty="0" err="1"/>
              <a:t>движении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5566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Антиалиасинг</a:t>
            </a:r>
            <a:r>
              <a:rPr lang="en-US" dirty="0"/>
              <a:t> </a:t>
            </a:r>
            <a:r>
              <a:rPr lang="en-US" dirty="0" err="1"/>
              <a:t>уменьшает</a:t>
            </a:r>
            <a:r>
              <a:rPr lang="en-US" dirty="0"/>
              <a:t> </a:t>
            </a:r>
            <a:r>
              <a:rPr lang="en-US" dirty="0" err="1"/>
              <a:t>визуальные</a:t>
            </a:r>
            <a:r>
              <a:rPr lang="en-US" dirty="0"/>
              <a:t> </a:t>
            </a:r>
            <a:r>
              <a:rPr lang="en-US" dirty="0" err="1"/>
              <a:t>артефакты</a:t>
            </a:r>
            <a:r>
              <a:rPr lang="en-US" dirty="0"/>
              <a:t> </a:t>
            </a:r>
            <a:r>
              <a:rPr lang="en-US" dirty="0" err="1"/>
              <a:t>дискретизации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— SSAA.</a:t>
            </a:r>
            <a:br>
              <a:rPr lang="en-US" dirty="0"/>
            </a:br>
            <a:r>
              <a:rPr lang="en-US" dirty="0" err="1"/>
              <a:t>Сцена</a:t>
            </a:r>
            <a:r>
              <a:rPr lang="en-US" dirty="0"/>
              <a:t> </a:t>
            </a:r>
            <a:r>
              <a:rPr lang="en-US" dirty="0" err="1"/>
              <a:t>рендерится</a:t>
            </a:r>
            <a:r>
              <a:rPr lang="en-US" dirty="0"/>
              <a:t> в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высоком</a:t>
            </a:r>
            <a:r>
              <a:rPr lang="en-US" dirty="0"/>
              <a:t> </a:t>
            </a:r>
            <a:r>
              <a:rPr lang="en-US" dirty="0" err="1"/>
              <a:t>разрешении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уменьшается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Качество</a:t>
            </a:r>
            <a:r>
              <a:rPr lang="en-US" dirty="0"/>
              <a:t> </a:t>
            </a:r>
            <a:r>
              <a:rPr lang="en-US" dirty="0" err="1"/>
              <a:t>отличное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вычислительно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дорого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MSAA </a:t>
            </a:r>
            <a:r>
              <a:rPr lang="en-US" dirty="0" err="1"/>
              <a:t>оптимизирует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и </a:t>
            </a:r>
            <a:r>
              <a:rPr lang="en-US" dirty="0" err="1"/>
              <a:t>сглаживает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полигонов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FXAA и SMAA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постобработка</a:t>
            </a:r>
            <a:r>
              <a:rPr lang="en-US" dirty="0"/>
              <a:t> — </a:t>
            </a:r>
            <a:r>
              <a:rPr lang="en-US" dirty="0" err="1"/>
              <a:t>анализируют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готовое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TAA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предыдущих</a:t>
            </a:r>
            <a:r>
              <a:rPr lang="en-US" dirty="0"/>
              <a:t> </a:t>
            </a:r>
            <a:r>
              <a:rPr lang="en-US" dirty="0" err="1"/>
              <a:t>кадров</a:t>
            </a:r>
            <a:r>
              <a:rPr lang="en-US" dirty="0"/>
              <a:t> и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активно</a:t>
            </a:r>
            <a:r>
              <a:rPr lang="en-US" dirty="0"/>
              <a:t> </a:t>
            </a:r>
            <a:r>
              <a:rPr lang="en-US" dirty="0" err="1"/>
              <a:t>применяется</a:t>
            </a:r>
            <a:r>
              <a:rPr lang="en-US" dirty="0"/>
              <a:t> в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игровых</a:t>
            </a:r>
            <a:r>
              <a:rPr lang="en-US" dirty="0"/>
              <a:t> </a:t>
            </a:r>
            <a:r>
              <a:rPr lang="en-US" dirty="0" err="1"/>
              <a:t>движках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4095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удаляется</a:t>
            </a:r>
            <a:r>
              <a:rPr lang="en-US" dirty="0"/>
              <a:t>,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texel’ей</a:t>
            </a:r>
            <a:r>
              <a:rPr lang="en-US" dirty="0"/>
              <a:t> </a:t>
            </a:r>
            <a:r>
              <a:rPr lang="en-US" dirty="0" err="1"/>
              <a:t>текстуры</a:t>
            </a:r>
            <a:r>
              <a:rPr lang="en-US" dirty="0"/>
              <a:t> </a:t>
            </a:r>
            <a:r>
              <a:rPr lang="en-US" dirty="0" err="1"/>
              <a:t>начинают</a:t>
            </a:r>
            <a:r>
              <a:rPr lang="en-US" dirty="0"/>
              <a:t> </a:t>
            </a:r>
            <a:r>
              <a:rPr lang="en-US" dirty="0" err="1"/>
              <a:t>попадать</a:t>
            </a:r>
            <a:r>
              <a:rPr lang="en-US" dirty="0"/>
              <a:t> в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пиксель</a:t>
            </a:r>
            <a:r>
              <a:rPr lang="en-US" dirty="0"/>
              <a:t> </a:t>
            </a:r>
            <a:r>
              <a:rPr lang="en-US" dirty="0" err="1"/>
              <a:t>экрана</a:t>
            </a:r>
            <a:r>
              <a:rPr lang="en-US" dirty="0"/>
              <a:t>.</a:t>
            </a:r>
          </a:p>
          <a:p>
            <a:r>
              <a:rPr lang="en-US" dirty="0" err="1"/>
              <a:t>Без</a:t>
            </a:r>
            <a:r>
              <a:rPr lang="en-US" dirty="0"/>
              <a:t> mipmaps </a:t>
            </a:r>
            <a:r>
              <a:rPr lang="en-US" dirty="0" err="1"/>
              <a:t>возникают</a:t>
            </a:r>
            <a:r>
              <a:rPr lang="en-US" dirty="0"/>
              <a:t>:</a:t>
            </a:r>
          </a:p>
          <a:p>
            <a:r>
              <a:rPr lang="en-US" dirty="0" err="1"/>
              <a:t>мерцание</a:t>
            </a:r>
            <a:r>
              <a:rPr lang="en-US" dirty="0"/>
              <a:t>, </a:t>
            </a:r>
          </a:p>
          <a:p>
            <a:r>
              <a:rPr lang="en-US" dirty="0" err="1"/>
              <a:t>шум</a:t>
            </a:r>
            <a:r>
              <a:rPr lang="en-US" dirty="0"/>
              <a:t>, </a:t>
            </a:r>
          </a:p>
          <a:p>
            <a:r>
              <a:rPr lang="en-US" dirty="0" err="1"/>
              <a:t>муар</a:t>
            </a:r>
            <a:r>
              <a:rPr lang="en-US" dirty="0"/>
              <a:t>. </a:t>
            </a:r>
          </a:p>
          <a:p>
            <a:r>
              <a:rPr lang="en-US" dirty="0"/>
              <a:t>Mipmaps </a:t>
            </a:r>
            <a:r>
              <a:rPr lang="en-US" dirty="0" err="1"/>
              <a:t>решают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создавая</a:t>
            </a:r>
            <a:r>
              <a:rPr lang="en-US" dirty="0"/>
              <a:t> </a:t>
            </a:r>
            <a:r>
              <a:rPr lang="en-US" dirty="0" err="1"/>
              <a:t>уменьшенные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</a:t>
            </a:r>
            <a:r>
              <a:rPr lang="en-US" dirty="0" err="1"/>
              <a:t>текстуры</a:t>
            </a:r>
            <a:r>
              <a:rPr lang="en-US" dirty="0"/>
              <a:t>.</a:t>
            </a:r>
          </a:p>
          <a:p>
            <a:r>
              <a:rPr lang="en-US" dirty="0"/>
              <a:t>GPU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подходящий</a:t>
            </a:r>
            <a:r>
              <a:rPr lang="en-US" dirty="0"/>
              <a:t> </a:t>
            </a:r>
            <a:r>
              <a:rPr lang="en-US" dirty="0" err="1"/>
              <a:t>mip-уровень</a:t>
            </a:r>
            <a:r>
              <a:rPr lang="en-US" dirty="0"/>
              <a:t> в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размера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</a:t>
            </a:r>
          </a:p>
          <a:p>
            <a:r>
              <a:rPr lang="en-US" dirty="0" err="1"/>
              <a:t>Это</a:t>
            </a:r>
            <a:r>
              <a:rPr lang="en-US" dirty="0"/>
              <a:t>:</a:t>
            </a:r>
          </a:p>
          <a:p>
            <a:r>
              <a:rPr lang="en-US" dirty="0" err="1"/>
              <a:t>уменьшает</a:t>
            </a:r>
            <a:r>
              <a:rPr lang="en-US" dirty="0"/>
              <a:t> aliasing, </a:t>
            </a:r>
          </a:p>
          <a:p>
            <a:r>
              <a:rPr lang="en-US" dirty="0" err="1"/>
              <a:t>улучшает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, </a:t>
            </a:r>
          </a:p>
          <a:p>
            <a:r>
              <a:rPr lang="en-US" dirty="0" err="1"/>
              <a:t>снижает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выборок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8831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выбора</a:t>
            </a:r>
            <a:r>
              <a:rPr lang="en-US" dirty="0"/>
              <a:t> </a:t>
            </a:r>
            <a:r>
              <a:rPr lang="en-US" dirty="0" err="1"/>
              <a:t>mip-уровня</a:t>
            </a:r>
            <a:r>
              <a:rPr lang="en-US" dirty="0"/>
              <a:t> GPU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вычислить</a:t>
            </a:r>
            <a:r>
              <a:rPr lang="en-US" dirty="0"/>
              <a:t> </a:t>
            </a:r>
            <a:r>
              <a:rPr lang="en-US" dirty="0" err="1"/>
              <a:t>итоговый</a:t>
            </a:r>
            <a:r>
              <a:rPr lang="en-US" dirty="0"/>
              <a:t> </a:t>
            </a:r>
            <a:r>
              <a:rPr lang="en-US" dirty="0" err="1"/>
              <a:t>цвет</a:t>
            </a:r>
            <a:r>
              <a:rPr lang="en-US" dirty="0"/>
              <a:t> </a:t>
            </a:r>
            <a:r>
              <a:rPr lang="en-US" dirty="0" err="1"/>
              <a:t>texel’а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Nearest filtering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ближайший</a:t>
            </a:r>
            <a:r>
              <a:rPr lang="en-US" dirty="0"/>
              <a:t> texel — </a:t>
            </a:r>
            <a:r>
              <a:rPr lang="en-US" dirty="0" err="1"/>
              <a:t>получается</a:t>
            </a:r>
            <a:r>
              <a:rPr lang="en-US" dirty="0"/>
              <a:t> «</a:t>
            </a:r>
            <a:r>
              <a:rPr lang="en-US" dirty="0" err="1"/>
              <a:t>пиксельная</a:t>
            </a:r>
            <a:r>
              <a:rPr lang="en-US" dirty="0"/>
              <a:t>» </a:t>
            </a:r>
            <a:r>
              <a:rPr lang="en-US" dirty="0" err="1"/>
              <a:t>картинка</a:t>
            </a:r>
            <a:r>
              <a:rPr lang="en-US" dirty="0"/>
              <a:t>.</a:t>
            </a:r>
          </a:p>
          <a:p>
            <a:r>
              <a:rPr lang="en-US" dirty="0"/>
              <a:t>Bilinear filtering </a:t>
            </a:r>
            <a:r>
              <a:rPr lang="en-US" dirty="0" err="1"/>
              <a:t>интерполирует</a:t>
            </a:r>
            <a:r>
              <a:rPr lang="en-US" dirty="0"/>
              <a:t> </a:t>
            </a:r>
            <a:r>
              <a:rPr lang="en-US" dirty="0" err="1"/>
              <a:t>соседние</a:t>
            </a:r>
            <a:r>
              <a:rPr lang="en-US" dirty="0"/>
              <a:t> </a:t>
            </a:r>
            <a:r>
              <a:rPr lang="en-US" dirty="0" err="1"/>
              <a:t>texel’ы</a:t>
            </a:r>
            <a:r>
              <a:rPr lang="en-US" dirty="0"/>
              <a:t> и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плавным</a:t>
            </a:r>
            <a:r>
              <a:rPr lang="en-US" dirty="0"/>
              <a:t>.</a:t>
            </a:r>
          </a:p>
          <a:p>
            <a:r>
              <a:rPr lang="en-US" dirty="0"/>
              <a:t>Trilinear filtering </a:t>
            </a:r>
            <a:r>
              <a:rPr lang="en-US" dirty="0" err="1"/>
              <a:t>дополнительно</a:t>
            </a:r>
            <a:r>
              <a:rPr lang="en-US" dirty="0"/>
              <a:t> </a:t>
            </a:r>
            <a:r>
              <a:rPr lang="en-US" dirty="0" err="1"/>
              <a:t>интерполирует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mip-уровнями</a:t>
            </a:r>
            <a:r>
              <a:rPr lang="en-US" dirty="0"/>
              <a:t>, </a:t>
            </a:r>
            <a:r>
              <a:rPr lang="en-US" dirty="0" err="1"/>
              <a:t>устраняя</a:t>
            </a:r>
            <a:r>
              <a:rPr lang="en-US" dirty="0"/>
              <a:t> </a:t>
            </a:r>
            <a:r>
              <a:rPr lang="en-US" dirty="0" err="1"/>
              <a:t>резкие</a:t>
            </a:r>
            <a:r>
              <a:rPr lang="en-US" dirty="0"/>
              <a:t> </a:t>
            </a:r>
            <a:r>
              <a:rPr lang="en-US" dirty="0" err="1"/>
              <a:t>переходы</a:t>
            </a:r>
            <a:r>
              <a:rPr lang="en-US" dirty="0"/>
              <a:t>.</a:t>
            </a:r>
          </a:p>
          <a:p>
            <a:r>
              <a:rPr lang="en-US" dirty="0"/>
              <a:t>Anisotropic filtering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чёткость</a:t>
            </a:r>
            <a:r>
              <a:rPr lang="en-US" dirty="0"/>
              <a:t> </a:t>
            </a:r>
            <a:r>
              <a:rPr lang="en-US" dirty="0" err="1"/>
              <a:t>текстур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острыми</a:t>
            </a:r>
            <a:r>
              <a:rPr lang="en-US" dirty="0"/>
              <a:t> </a:t>
            </a:r>
            <a:r>
              <a:rPr lang="en-US" dirty="0" err="1"/>
              <a:t>углами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дороге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полу</a:t>
            </a:r>
            <a:r>
              <a:rPr lang="en-US" dirty="0"/>
              <a:t>, </a:t>
            </a:r>
            <a:r>
              <a:rPr lang="en-US" dirty="0" err="1"/>
              <a:t>уходящих</a:t>
            </a:r>
            <a:r>
              <a:rPr lang="en-US" dirty="0"/>
              <a:t> </a:t>
            </a:r>
            <a:r>
              <a:rPr lang="en-US" dirty="0" err="1"/>
              <a:t>вдаль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0442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рассматривали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пикселей</a:t>
            </a:r>
            <a:r>
              <a:rPr lang="en-US" dirty="0"/>
              <a:t> в </a:t>
            </a:r>
            <a:r>
              <a:rPr lang="en-US" dirty="0" err="1"/>
              <a:t>пространстве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анализировать</a:t>
            </a:r>
            <a:r>
              <a:rPr lang="en-US" dirty="0"/>
              <a:t> и </a:t>
            </a:r>
            <a:r>
              <a:rPr lang="en-US" dirty="0" err="1"/>
              <a:t>иначе</a:t>
            </a:r>
            <a:r>
              <a:rPr lang="en-US" dirty="0"/>
              <a:t> —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сумму</a:t>
            </a:r>
            <a:r>
              <a:rPr lang="en-US" dirty="0"/>
              <a:t> </a:t>
            </a:r>
            <a:r>
              <a:rPr lang="en-US" dirty="0" err="1"/>
              <a:t>пространственных</a:t>
            </a:r>
            <a:r>
              <a:rPr lang="en-US" dirty="0"/>
              <a:t> </a:t>
            </a:r>
            <a:r>
              <a:rPr lang="en-US" dirty="0" err="1"/>
              <a:t>частот</a:t>
            </a:r>
            <a:r>
              <a:rPr lang="en-US" dirty="0"/>
              <a:t>.</a:t>
            </a:r>
          </a:p>
          <a:p>
            <a:r>
              <a:rPr lang="en-US" dirty="0" err="1"/>
              <a:t>Плавные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</a:t>
            </a:r>
            <a:r>
              <a:rPr lang="en-US" dirty="0" err="1"/>
              <a:t>соответствуют</a:t>
            </a:r>
            <a:r>
              <a:rPr lang="en-US" dirty="0"/>
              <a:t> </a:t>
            </a:r>
            <a:r>
              <a:rPr lang="en-US" dirty="0" err="1"/>
              <a:t>низким</a:t>
            </a:r>
            <a:r>
              <a:rPr lang="en-US" dirty="0"/>
              <a:t> </a:t>
            </a:r>
            <a:r>
              <a:rPr lang="en-US" dirty="0" err="1"/>
              <a:t>частотам</a:t>
            </a:r>
            <a:r>
              <a:rPr lang="en-US" dirty="0"/>
              <a:t>.</a:t>
            </a:r>
            <a:endParaRPr lang="ru-RU" dirty="0"/>
          </a:p>
          <a:p>
            <a:br>
              <a:rPr lang="en-US" dirty="0"/>
            </a:br>
            <a:r>
              <a:rPr lang="en-US" dirty="0" err="1"/>
              <a:t>Резкие</a:t>
            </a:r>
            <a:r>
              <a:rPr lang="en-US" dirty="0"/>
              <a:t> </a:t>
            </a:r>
            <a:r>
              <a:rPr lang="en-US" dirty="0" err="1"/>
              <a:t>переходы</a:t>
            </a:r>
            <a:r>
              <a:rPr lang="en-US" dirty="0"/>
              <a:t>, </a:t>
            </a:r>
            <a:r>
              <a:rPr lang="en-US" dirty="0" err="1"/>
              <a:t>текстуры</a:t>
            </a:r>
            <a:r>
              <a:rPr lang="en-US" dirty="0"/>
              <a:t> и </a:t>
            </a:r>
            <a:r>
              <a:rPr lang="en-US" dirty="0" err="1"/>
              <a:t>шум</a:t>
            </a:r>
            <a:r>
              <a:rPr lang="en-US" dirty="0"/>
              <a:t> — </a:t>
            </a:r>
            <a:r>
              <a:rPr lang="en-US" dirty="0" err="1"/>
              <a:t>высоким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Фурье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перейти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пространственного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 к </a:t>
            </a:r>
            <a:r>
              <a:rPr lang="en-US" dirty="0" err="1"/>
              <a:t>частотному</a:t>
            </a:r>
            <a:r>
              <a:rPr lang="en-US" dirty="0"/>
              <a:t> и </a:t>
            </a:r>
            <a:r>
              <a:rPr lang="en-US" dirty="0" err="1"/>
              <a:t>анализировать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 </a:t>
            </a:r>
            <a:r>
              <a:rPr lang="en-US" dirty="0" err="1"/>
              <a:t>присутствуют</a:t>
            </a:r>
            <a:r>
              <a:rPr lang="en-US" dirty="0"/>
              <a:t> в </a:t>
            </a:r>
            <a:r>
              <a:rPr lang="en-US" dirty="0" err="1"/>
              <a:t>изображении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1782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</a:t>
                </a:r>
                <a:r>
                  <a:rPr lang="en-US" dirty="0" err="1"/>
                  <a:t>используется</a:t>
                </a:r>
                <a:r>
                  <a:rPr lang="en-US" dirty="0"/>
                  <a:t> </a:t>
                </a:r>
                <a:r>
                  <a:rPr lang="en-US" dirty="0" err="1"/>
                  <a:t>двумерное</a:t>
                </a:r>
                <a:r>
                  <a:rPr lang="en-US" dirty="0"/>
                  <a:t> </a:t>
                </a:r>
                <a:r>
                  <a:rPr lang="en-US" dirty="0" err="1"/>
                  <a:t>дискретное</a:t>
                </a:r>
                <a:r>
                  <a:rPr lang="en-US" dirty="0"/>
                  <a:t> </a:t>
                </a:r>
                <a:r>
                  <a:rPr lang="en-US" dirty="0" err="1"/>
                  <a:t>преобразование</a:t>
                </a:r>
                <a:r>
                  <a:rPr lang="en-US" dirty="0"/>
                  <a:t> </a:t>
                </a:r>
                <a:r>
                  <a:rPr lang="en-US" dirty="0" err="1"/>
                  <a:t>Фурье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Идея</a:t>
                </a:r>
                <a:r>
                  <a:rPr lang="en-US" dirty="0"/>
                  <a:t> </a:t>
                </a:r>
                <a:r>
                  <a:rPr lang="en-US" dirty="0" err="1"/>
                  <a:t>очень</a:t>
                </a:r>
                <a:r>
                  <a:rPr lang="en-US" dirty="0"/>
                  <a:t> </a:t>
                </a:r>
                <a:r>
                  <a:rPr lang="en-US" dirty="0" err="1"/>
                  <a:t>похожа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одномерный</a:t>
                </a:r>
                <a:r>
                  <a:rPr lang="en-US" dirty="0"/>
                  <a:t> </a:t>
                </a:r>
                <a:r>
                  <a:rPr lang="en-US" dirty="0" err="1"/>
                  <a:t>случай</a:t>
                </a:r>
                <a:r>
                  <a:rPr lang="en-US" dirty="0"/>
                  <a:t> </a:t>
                </a:r>
                <a:r>
                  <a:rPr lang="en-US" dirty="0" err="1"/>
                  <a:t>со</a:t>
                </a:r>
                <a:r>
                  <a:rPr lang="en-US" dirty="0"/>
                  <a:t> </a:t>
                </a:r>
                <a:r>
                  <a:rPr lang="en-US" dirty="0" err="1"/>
                  <a:t>звуком</a:t>
                </a:r>
                <a:r>
                  <a:rPr lang="en-US" dirty="0"/>
                  <a:t>, </a:t>
                </a:r>
                <a:r>
                  <a:rPr lang="en-US" dirty="0" err="1"/>
                  <a:t>только</a:t>
                </a:r>
                <a:r>
                  <a:rPr lang="en-US" dirty="0"/>
                  <a:t> </a:t>
                </a:r>
                <a:r>
                  <a:rPr lang="en-US" dirty="0" err="1"/>
                  <a:t>теперь</a:t>
                </a:r>
                <a:r>
                  <a:rPr lang="en-US" dirty="0"/>
                  <a:t> </a:t>
                </a:r>
                <a:r>
                  <a:rPr lang="en-US" dirty="0" err="1"/>
                  <a:t>сигнал</a:t>
                </a:r>
                <a:r>
                  <a:rPr lang="en-US" dirty="0"/>
                  <a:t> </a:t>
                </a:r>
                <a:r>
                  <a:rPr lang="en-US" dirty="0" err="1"/>
                  <a:t>зависит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от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, а </a:t>
                </a:r>
                <a:r>
                  <a:rPr lang="en-US" dirty="0" err="1"/>
                  <a:t>от</a:t>
                </a:r>
                <a:r>
                  <a:rPr lang="en-US" dirty="0"/>
                  <a:t> </a:t>
                </a:r>
                <a:r>
                  <a:rPr lang="en-US" dirty="0" err="1"/>
                  <a:t>двух</a:t>
                </a:r>
                <a:r>
                  <a:rPr lang="en-US" dirty="0"/>
                  <a:t> </a:t>
                </a:r>
                <a:r>
                  <a:rPr lang="en-US" dirty="0" err="1"/>
                  <a:t>координат</a:t>
                </a:r>
                <a:r>
                  <a:rPr lang="en-US" dirty="0"/>
                  <a:t> —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/>
                  <a:t>и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Практически</a:t>
                </a:r>
                <a:r>
                  <a:rPr lang="en-US" dirty="0"/>
                  <a:t> </a:t>
                </a:r>
                <a:r>
                  <a:rPr lang="en-US" dirty="0" err="1"/>
                  <a:t>двумерное</a:t>
                </a:r>
                <a:r>
                  <a:rPr lang="en-US" dirty="0"/>
                  <a:t> </a:t>
                </a:r>
                <a:r>
                  <a:rPr lang="en-US" dirty="0" err="1"/>
                  <a:t>преобразование</a:t>
                </a:r>
                <a:r>
                  <a:rPr lang="en-US" dirty="0"/>
                  <a:t> </a:t>
                </a:r>
                <a:r>
                  <a:rPr lang="en-US" dirty="0" err="1"/>
                  <a:t>обычно</a:t>
                </a:r>
                <a:r>
                  <a:rPr lang="en-US" dirty="0"/>
                  <a:t> </a:t>
                </a:r>
                <a:r>
                  <a:rPr lang="en-US" dirty="0" err="1"/>
                  <a:t>выполняют</a:t>
                </a:r>
                <a:r>
                  <a:rPr lang="en-US" dirty="0"/>
                  <a:t> в </a:t>
                </a:r>
                <a:r>
                  <a:rPr lang="en-US" dirty="0" err="1"/>
                  <a:t>два</a:t>
                </a:r>
                <a:r>
                  <a:rPr lang="en-US" dirty="0"/>
                  <a:t> </a:t>
                </a:r>
                <a:r>
                  <a:rPr lang="en-US" dirty="0" err="1"/>
                  <a:t>этапа</a:t>
                </a:r>
                <a:r>
                  <a:rPr lang="en-US" dirty="0"/>
                  <a:t>: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Сначала</a:t>
                </a:r>
                <a:r>
                  <a:rPr lang="en-US" dirty="0"/>
                  <a:t> </a:t>
                </a:r>
                <a:r>
                  <a:rPr lang="en-US" dirty="0" err="1"/>
                  <a:t>одномерное</a:t>
                </a:r>
                <a:r>
                  <a:rPr lang="en-US" dirty="0"/>
                  <a:t> DFT </a:t>
                </a:r>
                <a:r>
                  <a:rPr lang="en-US" dirty="0" err="1"/>
                  <a:t>применяется</a:t>
                </a:r>
                <a:r>
                  <a:rPr lang="en-US" dirty="0"/>
                  <a:t> </a:t>
                </a:r>
                <a:r>
                  <a:rPr lang="en-US" dirty="0" err="1"/>
                  <a:t>ко</a:t>
                </a:r>
                <a:r>
                  <a:rPr lang="en-US" dirty="0"/>
                  <a:t> </a:t>
                </a:r>
                <a:r>
                  <a:rPr lang="en-US" dirty="0" err="1"/>
                  <a:t>всем</a:t>
                </a:r>
                <a:r>
                  <a:rPr lang="en-US" dirty="0"/>
                  <a:t> </a:t>
                </a:r>
                <a:r>
                  <a:rPr lang="en-US" dirty="0" err="1"/>
                  <a:t>строкам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. </a:t>
                </a:r>
              </a:p>
              <a:p>
                <a:r>
                  <a:rPr lang="en-US" dirty="0" err="1"/>
                  <a:t>Затем</a:t>
                </a:r>
                <a:r>
                  <a:rPr lang="en-US" dirty="0"/>
                  <a:t> DFT </a:t>
                </a:r>
                <a:r>
                  <a:rPr lang="en-US" dirty="0" err="1"/>
                  <a:t>применяется</a:t>
                </a:r>
                <a:r>
                  <a:rPr lang="en-US" dirty="0"/>
                  <a:t> </a:t>
                </a:r>
                <a:r>
                  <a:rPr lang="en-US" dirty="0" err="1"/>
                  <a:t>ко</a:t>
                </a:r>
                <a:r>
                  <a:rPr lang="en-US" dirty="0"/>
                  <a:t> </a:t>
                </a:r>
                <a:r>
                  <a:rPr lang="en-US" dirty="0" err="1"/>
                  <a:t>всем</a:t>
                </a:r>
                <a:r>
                  <a:rPr lang="en-US" dirty="0"/>
                  <a:t> </a:t>
                </a:r>
                <a:r>
                  <a:rPr lang="en-US" dirty="0" err="1"/>
                  <a:t>столбцам</a:t>
                </a:r>
                <a:r>
                  <a:rPr lang="en-US" dirty="0"/>
                  <a:t> </a:t>
                </a:r>
                <a:r>
                  <a:rPr lang="en-US" dirty="0" err="1"/>
                  <a:t>полученного</a:t>
                </a:r>
                <a:r>
                  <a:rPr lang="en-US" dirty="0"/>
                  <a:t> </a:t>
                </a:r>
                <a:r>
                  <a:rPr lang="en-US" dirty="0" err="1"/>
                  <a:t>результата</a:t>
                </a:r>
                <a:r>
                  <a:rPr lang="en-US" dirty="0"/>
                  <a:t>. 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То</a:t>
                </a:r>
                <a:r>
                  <a:rPr lang="en-US" dirty="0"/>
                  <a:t> </a:t>
                </a:r>
                <a:r>
                  <a:rPr lang="en-US" dirty="0" err="1"/>
                  <a:t>есть</a:t>
                </a:r>
                <a:r>
                  <a:rPr lang="en-US" dirty="0"/>
                  <a:t>:</a:t>
                </a:r>
              </a:p>
              <a:p>
                <a:r>
                  <a:rPr lang="en-US" dirty="0" err="1"/>
                  <a:t>каждая</a:t>
                </a:r>
                <a:r>
                  <a:rPr lang="en-US" dirty="0"/>
                  <a:t> </a:t>
                </a:r>
                <a:r>
                  <a:rPr lang="en-US" dirty="0" err="1"/>
                  <a:t>строка</a:t>
                </a:r>
                <a:r>
                  <a:rPr lang="en-US" dirty="0"/>
                  <a:t> </a:t>
                </a:r>
                <a:r>
                  <a:rPr lang="en-US" dirty="0" err="1"/>
                  <a:t>раскладывается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горизонтальные</a:t>
                </a:r>
                <a:r>
                  <a:rPr lang="en-US" dirty="0"/>
                  <a:t> </a:t>
                </a:r>
                <a:r>
                  <a:rPr lang="en-US" dirty="0" err="1"/>
                  <a:t>частоты</a:t>
                </a:r>
                <a:r>
                  <a:rPr lang="en-US" dirty="0"/>
                  <a:t>, </a:t>
                </a:r>
              </a:p>
              <a:p>
                <a:r>
                  <a:rPr lang="en-US" dirty="0" err="1"/>
                  <a:t>затем</a:t>
                </a:r>
                <a:r>
                  <a:rPr lang="en-US" dirty="0"/>
                  <a:t> </a:t>
                </a:r>
                <a:r>
                  <a:rPr lang="en-US" dirty="0" err="1"/>
                  <a:t>каждый</a:t>
                </a:r>
                <a:r>
                  <a:rPr lang="en-US" dirty="0"/>
                  <a:t> </a:t>
                </a:r>
                <a:r>
                  <a:rPr lang="en-US" dirty="0" err="1"/>
                  <a:t>столбец</a:t>
                </a:r>
                <a:r>
                  <a:rPr lang="en-US" dirty="0"/>
                  <a:t> —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вертикальные</a:t>
                </a:r>
                <a:r>
                  <a:rPr lang="en-US" dirty="0"/>
                  <a:t>. 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Благодаря</a:t>
                </a:r>
                <a:r>
                  <a:rPr lang="en-US" dirty="0"/>
                  <a:t> </a:t>
                </a:r>
                <a:r>
                  <a:rPr lang="en-US" dirty="0" err="1"/>
                  <a:t>этому</a:t>
                </a:r>
                <a:r>
                  <a:rPr lang="en-US" dirty="0"/>
                  <a:t> </a:t>
                </a:r>
                <a:r>
                  <a:rPr lang="en-US" dirty="0" err="1"/>
                  <a:t>двумерное</a:t>
                </a:r>
                <a:r>
                  <a:rPr lang="en-US" dirty="0"/>
                  <a:t> </a:t>
                </a:r>
                <a:r>
                  <a:rPr lang="en-US" dirty="0" err="1"/>
                  <a:t>преобразование</a:t>
                </a:r>
                <a:r>
                  <a:rPr lang="en-US" dirty="0"/>
                  <a:t>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реализовать</a:t>
                </a:r>
                <a:r>
                  <a:rPr lang="en-US" dirty="0"/>
                  <a:t> </a:t>
                </a:r>
                <a:r>
                  <a:rPr lang="en-US" dirty="0" err="1"/>
                  <a:t>через</a:t>
                </a:r>
                <a:r>
                  <a:rPr lang="en-US" dirty="0"/>
                  <a:t> </a:t>
                </a:r>
                <a:r>
                  <a:rPr lang="en-US" dirty="0" err="1"/>
                  <a:t>последовательность</a:t>
                </a:r>
                <a:r>
                  <a:rPr lang="en-US" dirty="0"/>
                  <a:t> </a:t>
                </a:r>
                <a:r>
                  <a:rPr lang="en-US" dirty="0" err="1"/>
                  <a:t>одномерных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существенно</a:t>
                </a:r>
                <a:r>
                  <a:rPr lang="en-US" dirty="0"/>
                  <a:t> </a:t>
                </a:r>
                <a:r>
                  <a:rPr lang="en-US" dirty="0" err="1"/>
                  <a:t>упрощает</a:t>
                </a:r>
                <a:r>
                  <a:rPr lang="en-US" dirty="0"/>
                  <a:t> </a:t>
                </a:r>
                <a:r>
                  <a:rPr lang="en-US" dirty="0" err="1"/>
                  <a:t>вычисления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После</a:t>
                </a:r>
                <a:r>
                  <a:rPr lang="en-US" dirty="0"/>
                  <a:t> </a:t>
                </a:r>
                <a:r>
                  <a:rPr lang="en-US" dirty="0" err="1"/>
                  <a:t>преобразования</a:t>
                </a:r>
                <a:r>
                  <a:rPr lang="en-US" dirty="0"/>
                  <a:t>:</a:t>
                </a:r>
              </a:p>
              <a:p>
                <a:r>
                  <a:rPr lang="en-US" dirty="0" err="1"/>
                  <a:t>каждая</a:t>
                </a:r>
                <a:r>
                  <a:rPr lang="en-US" dirty="0"/>
                  <a:t> </a:t>
                </a:r>
                <a:r>
                  <a:rPr lang="en-US" dirty="0" err="1"/>
                  <a:t>точка</a:t>
                </a:r>
                <a:r>
                  <a:rPr lang="en-US" dirty="0"/>
                  <a:t> </a:t>
                </a:r>
                <a:r>
                  <a:rPr lang="en-US" dirty="0" err="1"/>
                  <a:t>спектра</a:t>
                </a:r>
                <a:r>
                  <a:rPr lang="en-US" dirty="0"/>
                  <a:t> </a:t>
                </a:r>
                <a:r>
                  <a:rPr lang="en-US" dirty="0" err="1"/>
                  <a:t>соответствует</a:t>
                </a:r>
                <a:r>
                  <a:rPr lang="en-US" dirty="0"/>
                  <a:t> </a:t>
                </a:r>
                <a:r>
                  <a:rPr lang="en-US" dirty="0" err="1"/>
                  <a:t>определённой</a:t>
                </a:r>
                <a:r>
                  <a:rPr lang="en-US" dirty="0"/>
                  <a:t> </a:t>
                </a:r>
                <a:r>
                  <a:rPr lang="en-US" dirty="0" err="1"/>
                  <a:t>пространственной</a:t>
                </a:r>
                <a:r>
                  <a:rPr lang="en-US" dirty="0"/>
                  <a:t> </a:t>
                </a:r>
                <a:r>
                  <a:rPr lang="en-US" dirty="0" err="1"/>
                  <a:t>частоте</a:t>
                </a:r>
                <a:r>
                  <a:rPr lang="en-US" dirty="0"/>
                  <a:t>, </a:t>
                </a:r>
              </a:p>
              <a:p>
                <a:r>
                  <a:rPr lang="en-US" dirty="0" err="1"/>
                  <a:t>яркость</a:t>
                </a:r>
                <a:r>
                  <a:rPr lang="en-US" dirty="0"/>
                  <a:t> </a:t>
                </a:r>
                <a:r>
                  <a:rPr lang="en-US" dirty="0" err="1"/>
                  <a:t>точки</a:t>
                </a:r>
                <a:r>
                  <a:rPr lang="en-US" dirty="0"/>
                  <a:t> </a:t>
                </a:r>
                <a:r>
                  <a:rPr lang="en-US" dirty="0" err="1"/>
                  <a:t>показывает</a:t>
                </a:r>
                <a:r>
                  <a:rPr lang="en-US" dirty="0"/>
                  <a:t> </a:t>
                </a:r>
                <a:r>
                  <a:rPr lang="en-US" dirty="0" err="1"/>
                  <a:t>силу</a:t>
                </a:r>
                <a:r>
                  <a:rPr lang="en-US" dirty="0"/>
                  <a:t> </a:t>
                </a:r>
                <a:r>
                  <a:rPr lang="en-US" dirty="0" err="1"/>
                  <a:t>этой</a:t>
                </a:r>
                <a:r>
                  <a:rPr lang="en-US" dirty="0"/>
                  <a:t> </a:t>
                </a:r>
                <a:r>
                  <a:rPr lang="en-US" dirty="0" err="1"/>
                  <a:t>частоты</a:t>
                </a:r>
                <a:r>
                  <a:rPr lang="en-US" dirty="0"/>
                  <a:t>, </a:t>
                </a:r>
              </a:p>
              <a:p>
                <a:r>
                  <a:rPr lang="en-US" dirty="0"/>
                  <a:t>а </a:t>
                </a:r>
                <a:r>
                  <a:rPr lang="en-US" dirty="0" err="1"/>
                  <a:t>фаза</a:t>
                </a:r>
                <a:r>
                  <a:rPr lang="en-US" dirty="0"/>
                  <a:t> </a:t>
                </a:r>
                <a:r>
                  <a:rPr lang="en-US" dirty="0" err="1"/>
                  <a:t>хранит</a:t>
                </a:r>
                <a:r>
                  <a:rPr lang="en-US" dirty="0"/>
                  <a:t> </a:t>
                </a:r>
                <a:r>
                  <a:rPr lang="en-US" dirty="0" err="1"/>
                  <a:t>информацию</a:t>
                </a:r>
                <a:r>
                  <a:rPr lang="en-US" dirty="0"/>
                  <a:t> о </a:t>
                </a:r>
                <a:r>
                  <a:rPr lang="en-US" dirty="0" err="1"/>
                  <a:t>расположении</a:t>
                </a:r>
                <a:r>
                  <a:rPr lang="en-US" dirty="0"/>
                  <a:t> </a:t>
                </a:r>
                <a:r>
                  <a:rPr lang="en-US" dirty="0" err="1"/>
                  <a:t>структур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. </a:t>
                </a:r>
              </a:p>
              <a:p>
                <a:endParaRPr lang="ru-RU" dirty="0"/>
              </a:p>
              <a:p>
                <a:r>
                  <a:rPr lang="en-US" dirty="0" err="1"/>
                  <a:t>Обычно</a:t>
                </a:r>
                <a:r>
                  <a:rPr lang="en-US" dirty="0"/>
                  <a:t> </a:t>
                </a:r>
                <a:r>
                  <a:rPr lang="en-US" dirty="0" err="1"/>
                  <a:t>низкие</a:t>
                </a:r>
                <a:r>
                  <a:rPr lang="en-US" dirty="0"/>
                  <a:t> </a:t>
                </a:r>
                <a:r>
                  <a:rPr lang="en-US" dirty="0" err="1"/>
                  <a:t>частоты</a:t>
                </a:r>
                <a:r>
                  <a:rPr lang="en-US" dirty="0"/>
                  <a:t> </a:t>
                </a:r>
                <a:r>
                  <a:rPr lang="en-US" dirty="0" err="1"/>
                  <a:t>располагают</a:t>
                </a:r>
                <a:r>
                  <a:rPr lang="en-US" dirty="0"/>
                  <a:t> в </a:t>
                </a:r>
                <a:r>
                  <a:rPr lang="en-US" dirty="0" err="1"/>
                  <a:t>центре</a:t>
                </a:r>
                <a:r>
                  <a:rPr lang="en-US" dirty="0"/>
                  <a:t> </a:t>
                </a:r>
                <a:r>
                  <a:rPr lang="en-US" dirty="0" err="1"/>
                  <a:t>спектра</a:t>
                </a:r>
                <a:r>
                  <a:rPr lang="en-US" dirty="0"/>
                  <a:t>:</a:t>
                </a:r>
              </a:p>
              <a:p>
                <a:r>
                  <a:rPr lang="en-US" dirty="0" err="1"/>
                  <a:t>центр</a:t>
                </a:r>
                <a:r>
                  <a:rPr lang="en-US" dirty="0"/>
                  <a:t> </a:t>
                </a:r>
                <a:r>
                  <a:rPr lang="en-US" dirty="0" err="1"/>
                  <a:t>соответствует</a:t>
                </a:r>
                <a:r>
                  <a:rPr lang="en-US" dirty="0"/>
                  <a:t> </a:t>
                </a:r>
                <a:r>
                  <a:rPr lang="en-US" dirty="0" err="1"/>
                  <a:t>плавным</a:t>
                </a:r>
                <a:r>
                  <a:rPr lang="en-US" dirty="0"/>
                  <a:t> </a:t>
                </a:r>
                <a:r>
                  <a:rPr lang="en-US" dirty="0" err="1"/>
                  <a:t>изменениям</a:t>
                </a:r>
                <a:r>
                  <a:rPr lang="en-US" dirty="0"/>
                  <a:t> </a:t>
                </a:r>
                <a:r>
                  <a:rPr lang="en-US" dirty="0" err="1"/>
                  <a:t>яркости</a:t>
                </a:r>
                <a:r>
                  <a:rPr lang="en-US" dirty="0"/>
                  <a:t>, </a:t>
                </a:r>
              </a:p>
              <a:p>
                <a:r>
                  <a:rPr lang="en-US" dirty="0" err="1"/>
                  <a:t>края</a:t>
                </a:r>
                <a:r>
                  <a:rPr lang="en-US" dirty="0"/>
                  <a:t> — </a:t>
                </a:r>
                <a:r>
                  <a:rPr lang="en-US" dirty="0" err="1"/>
                  <a:t>резким</a:t>
                </a:r>
                <a:r>
                  <a:rPr lang="en-US" dirty="0"/>
                  <a:t> </a:t>
                </a:r>
                <a:r>
                  <a:rPr lang="en-US" dirty="0" err="1"/>
                  <a:t>деталям</a:t>
                </a:r>
                <a:r>
                  <a:rPr lang="en-US" dirty="0"/>
                  <a:t> и </a:t>
                </a:r>
                <a:r>
                  <a:rPr lang="en-US" dirty="0" err="1"/>
                  <a:t>шуму</a:t>
                </a:r>
                <a:r>
                  <a:rPr lang="en-US" dirty="0"/>
                  <a:t>. </a:t>
                </a:r>
              </a:p>
              <a:p>
                <a:endParaRPr lang="ru-RU" dirty="0"/>
              </a:p>
              <a:p>
                <a:r>
                  <a:rPr lang="en-US" dirty="0" err="1"/>
                  <a:t>Именно</a:t>
                </a:r>
                <a:r>
                  <a:rPr lang="en-US" dirty="0"/>
                  <a:t> </a:t>
                </a:r>
                <a:r>
                  <a:rPr lang="en-US" dirty="0" err="1"/>
                  <a:t>поэтому</a:t>
                </a:r>
                <a:r>
                  <a:rPr lang="en-US" dirty="0"/>
                  <a:t> </a:t>
                </a:r>
                <a:r>
                  <a:rPr lang="en-US" dirty="0" err="1"/>
                  <a:t>после</a:t>
                </a:r>
                <a:r>
                  <a:rPr lang="en-US" dirty="0"/>
                  <a:t> FFT:</a:t>
                </a:r>
              </a:p>
              <a:p>
                <a:r>
                  <a:rPr lang="en-US" dirty="0" err="1"/>
                  <a:t>размытие</a:t>
                </a:r>
                <a:r>
                  <a:rPr lang="en-US" dirty="0"/>
                  <a:t>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реализовать</a:t>
                </a:r>
                <a:r>
                  <a:rPr lang="en-US" dirty="0"/>
                  <a:t> </a:t>
                </a:r>
                <a:r>
                  <a:rPr lang="en-US" dirty="0" err="1"/>
                  <a:t>подавлением</a:t>
                </a:r>
                <a:r>
                  <a:rPr lang="en-US" dirty="0"/>
                  <a:t> </a:t>
                </a:r>
                <a:r>
                  <a:rPr lang="en-US" dirty="0" err="1"/>
                  <a:t>высоких</a:t>
                </a:r>
                <a:r>
                  <a:rPr lang="en-US" dirty="0"/>
                  <a:t> </a:t>
                </a:r>
                <a:r>
                  <a:rPr lang="en-US" dirty="0" err="1"/>
                  <a:t>частот</a:t>
                </a:r>
                <a:r>
                  <a:rPr lang="en-US" dirty="0"/>
                  <a:t>, </a:t>
                </a:r>
              </a:p>
              <a:p>
                <a:r>
                  <a:rPr lang="en-US" dirty="0"/>
                  <a:t>а </a:t>
                </a:r>
                <a:r>
                  <a:rPr lang="en-US" dirty="0" err="1"/>
                  <a:t>выделение</a:t>
                </a:r>
                <a:r>
                  <a:rPr lang="en-US" dirty="0"/>
                  <a:t> </a:t>
                </a:r>
                <a:r>
                  <a:rPr lang="en-US" dirty="0" err="1"/>
                  <a:t>границ</a:t>
                </a:r>
                <a:r>
                  <a:rPr lang="en-US" dirty="0"/>
                  <a:t> — </a:t>
                </a:r>
                <a:r>
                  <a:rPr lang="en-US" dirty="0" err="1"/>
                  <a:t>наоборот</a:t>
                </a:r>
                <a:r>
                  <a:rPr lang="en-US" dirty="0"/>
                  <a:t> </a:t>
                </a:r>
                <a:r>
                  <a:rPr lang="en-US" dirty="0" err="1"/>
                  <a:t>усилением</a:t>
                </a:r>
                <a:r>
                  <a:rPr lang="en-US" dirty="0"/>
                  <a:t> </a:t>
                </a:r>
                <a:r>
                  <a:rPr lang="en-US" dirty="0" err="1"/>
                  <a:t>высоких</a:t>
                </a:r>
                <a:r>
                  <a:rPr lang="en-US" dirty="0"/>
                  <a:t> </a:t>
                </a:r>
                <a:r>
                  <a:rPr lang="en-US" dirty="0" err="1"/>
                  <a:t>частот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</a:t>
                </a:r>
                <a:r>
                  <a:rPr lang="en-US" dirty="0" err="1"/>
                  <a:t>используется</a:t>
                </a:r>
                <a:r>
                  <a:rPr lang="en-US" dirty="0"/>
                  <a:t> </a:t>
                </a:r>
                <a:r>
                  <a:rPr lang="en-US" dirty="0" err="1"/>
                  <a:t>двумерное</a:t>
                </a:r>
                <a:r>
                  <a:rPr lang="en-US" dirty="0"/>
                  <a:t> </a:t>
                </a:r>
                <a:r>
                  <a:rPr lang="en-US" dirty="0" err="1"/>
                  <a:t>дискретное</a:t>
                </a:r>
                <a:r>
                  <a:rPr lang="en-US" dirty="0"/>
                  <a:t> </a:t>
                </a:r>
                <a:r>
                  <a:rPr lang="en-US" dirty="0" err="1"/>
                  <a:t>преобразование</a:t>
                </a:r>
                <a:r>
                  <a:rPr lang="en-US" dirty="0"/>
                  <a:t> </a:t>
                </a:r>
                <a:r>
                  <a:rPr lang="en-US" dirty="0" err="1"/>
                  <a:t>Фурье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Идея</a:t>
                </a:r>
                <a:r>
                  <a:rPr lang="en-US" dirty="0"/>
                  <a:t> </a:t>
                </a:r>
                <a:r>
                  <a:rPr lang="en-US" dirty="0" err="1"/>
                  <a:t>очень</a:t>
                </a:r>
                <a:r>
                  <a:rPr lang="en-US" dirty="0"/>
                  <a:t> </a:t>
                </a:r>
                <a:r>
                  <a:rPr lang="en-US" dirty="0" err="1"/>
                  <a:t>похожа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одномерный</a:t>
                </a:r>
                <a:r>
                  <a:rPr lang="en-US" dirty="0"/>
                  <a:t> </a:t>
                </a:r>
                <a:r>
                  <a:rPr lang="en-US" dirty="0" err="1"/>
                  <a:t>случай</a:t>
                </a:r>
                <a:r>
                  <a:rPr lang="en-US" dirty="0"/>
                  <a:t> </a:t>
                </a:r>
                <a:r>
                  <a:rPr lang="en-US" dirty="0" err="1"/>
                  <a:t>со</a:t>
                </a:r>
                <a:r>
                  <a:rPr lang="en-US" dirty="0"/>
                  <a:t> </a:t>
                </a:r>
                <a:r>
                  <a:rPr lang="en-US" dirty="0" err="1"/>
                  <a:t>звуком</a:t>
                </a:r>
                <a:r>
                  <a:rPr lang="en-US" dirty="0"/>
                  <a:t>, </a:t>
                </a:r>
                <a:r>
                  <a:rPr lang="en-US" dirty="0" err="1"/>
                  <a:t>только</a:t>
                </a:r>
                <a:r>
                  <a:rPr lang="en-US" dirty="0"/>
                  <a:t> </a:t>
                </a:r>
                <a:r>
                  <a:rPr lang="en-US" dirty="0" err="1"/>
                  <a:t>теперь</a:t>
                </a:r>
                <a:r>
                  <a:rPr lang="en-US" dirty="0"/>
                  <a:t> </a:t>
                </a:r>
                <a:r>
                  <a:rPr lang="en-US" dirty="0" err="1"/>
                  <a:t>сигнал</a:t>
                </a:r>
                <a:r>
                  <a:rPr lang="en-US" dirty="0"/>
                  <a:t> </a:t>
                </a:r>
                <a:r>
                  <a:rPr lang="en-US" dirty="0" err="1"/>
                  <a:t>зависит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от</a:t>
                </a:r>
                <a:r>
                  <a:rPr lang="en-US" dirty="0"/>
                  <a:t> </a:t>
                </a:r>
                <a:r>
                  <a:rPr lang="en-US" dirty="0" err="1"/>
                  <a:t>времени</a:t>
                </a:r>
                <a:r>
                  <a:rPr lang="en-US" dirty="0"/>
                  <a:t>, а </a:t>
                </a:r>
                <a:r>
                  <a:rPr lang="en-US" dirty="0" err="1"/>
                  <a:t>от</a:t>
                </a:r>
                <a:r>
                  <a:rPr lang="en-US" dirty="0"/>
                  <a:t> </a:t>
                </a:r>
                <a:r>
                  <a:rPr lang="en-US" dirty="0" err="1"/>
                  <a:t>двух</a:t>
                </a:r>
                <a:r>
                  <a:rPr lang="en-US" dirty="0"/>
                  <a:t> </a:t>
                </a:r>
                <a:r>
                  <a:rPr lang="en-US" dirty="0" err="1"/>
                  <a:t>координат</a:t>
                </a:r>
                <a:r>
                  <a:rPr lang="en-US" dirty="0"/>
                  <a:t> —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/>
                  <a:t>и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Практически</a:t>
                </a:r>
                <a:r>
                  <a:rPr lang="en-US" dirty="0"/>
                  <a:t> </a:t>
                </a:r>
                <a:r>
                  <a:rPr lang="en-US" dirty="0" err="1"/>
                  <a:t>двумерное</a:t>
                </a:r>
                <a:r>
                  <a:rPr lang="en-US" dirty="0"/>
                  <a:t> </a:t>
                </a:r>
                <a:r>
                  <a:rPr lang="en-US" dirty="0" err="1"/>
                  <a:t>преобразование</a:t>
                </a:r>
                <a:r>
                  <a:rPr lang="en-US" dirty="0"/>
                  <a:t> </a:t>
                </a:r>
                <a:r>
                  <a:rPr lang="en-US" dirty="0" err="1"/>
                  <a:t>обычно</a:t>
                </a:r>
                <a:r>
                  <a:rPr lang="en-US" dirty="0"/>
                  <a:t> </a:t>
                </a:r>
                <a:r>
                  <a:rPr lang="en-US" dirty="0" err="1"/>
                  <a:t>выполняют</a:t>
                </a:r>
                <a:r>
                  <a:rPr lang="en-US" dirty="0"/>
                  <a:t> в </a:t>
                </a:r>
                <a:r>
                  <a:rPr lang="en-US" dirty="0" err="1"/>
                  <a:t>два</a:t>
                </a:r>
                <a:r>
                  <a:rPr lang="en-US" dirty="0"/>
                  <a:t> </a:t>
                </a:r>
                <a:r>
                  <a:rPr lang="en-US" dirty="0" err="1"/>
                  <a:t>этапа</a:t>
                </a:r>
                <a:r>
                  <a:rPr lang="en-US" dirty="0"/>
                  <a:t>: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Сначала</a:t>
                </a:r>
                <a:r>
                  <a:rPr lang="en-US" dirty="0"/>
                  <a:t> </a:t>
                </a:r>
                <a:r>
                  <a:rPr lang="en-US" dirty="0" err="1"/>
                  <a:t>одномерное</a:t>
                </a:r>
                <a:r>
                  <a:rPr lang="en-US" dirty="0"/>
                  <a:t> DFT </a:t>
                </a:r>
                <a:r>
                  <a:rPr lang="en-US" dirty="0" err="1"/>
                  <a:t>применяется</a:t>
                </a:r>
                <a:r>
                  <a:rPr lang="en-US" dirty="0"/>
                  <a:t> </a:t>
                </a:r>
                <a:r>
                  <a:rPr lang="en-US" dirty="0" err="1"/>
                  <a:t>ко</a:t>
                </a:r>
                <a:r>
                  <a:rPr lang="en-US" dirty="0"/>
                  <a:t> </a:t>
                </a:r>
                <a:r>
                  <a:rPr lang="en-US" dirty="0" err="1"/>
                  <a:t>всем</a:t>
                </a:r>
                <a:r>
                  <a:rPr lang="en-US" dirty="0"/>
                  <a:t> </a:t>
                </a:r>
                <a:r>
                  <a:rPr lang="en-US" dirty="0" err="1"/>
                  <a:t>строкам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. </a:t>
                </a:r>
              </a:p>
              <a:p>
                <a:r>
                  <a:rPr lang="en-US" dirty="0" err="1"/>
                  <a:t>Затем</a:t>
                </a:r>
                <a:r>
                  <a:rPr lang="en-US" dirty="0"/>
                  <a:t> DFT </a:t>
                </a:r>
                <a:r>
                  <a:rPr lang="en-US" dirty="0" err="1"/>
                  <a:t>применяется</a:t>
                </a:r>
                <a:r>
                  <a:rPr lang="en-US" dirty="0"/>
                  <a:t> </a:t>
                </a:r>
                <a:r>
                  <a:rPr lang="en-US" dirty="0" err="1"/>
                  <a:t>ко</a:t>
                </a:r>
                <a:r>
                  <a:rPr lang="en-US" dirty="0"/>
                  <a:t> </a:t>
                </a:r>
                <a:r>
                  <a:rPr lang="en-US" dirty="0" err="1"/>
                  <a:t>всем</a:t>
                </a:r>
                <a:r>
                  <a:rPr lang="en-US" dirty="0"/>
                  <a:t> </a:t>
                </a:r>
                <a:r>
                  <a:rPr lang="en-US" dirty="0" err="1"/>
                  <a:t>столбцам</a:t>
                </a:r>
                <a:r>
                  <a:rPr lang="en-US" dirty="0"/>
                  <a:t> </a:t>
                </a:r>
                <a:r>
                  <a:rPr lang="en-US" dirty="0" err="1"/>
                  <a:t>полученного</a:t>
                </a:r>
                <a:r>
                  <a:rPr lang="en-US" dirty="0"/>
                  <a:t> </a:t>
                </a:r>
                <a:r>
                  <a:rPr lang="en-US" dirty="0" err="1"/>
                  <a:t>результата</a:t>
                </a:r>
                <a:r>
                  <a:rPr lang="en-US" dirty="0"/>
                  <a:t>. 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То</a:t>
                </a:r>
                <a:r>
                  <a:rPr lang="en-US" dirty="0"/>
                  <a:t> </a:t>
                </a:r>
                <a:r>
                  <a:rPr lang="en-US" dirty="0" err="1"/>
                  <a:t>есть</a:t>
                </a:r>
                <a:r>
                  <a:rPr lang="en-US" dirty="0"/>
                  <a:t>:</a:t>
                </a:r>
              </a:p>
              <a:p>
                <a:r>
                  <a:rPr lang="en-US" dirty="0" err="1"/>
                  <a:t>каждая</a:t>
                </a:r>
                <a:r>
                  <a:rPr lang="en-US" dirty="0"/>
                  <a:t> </a:t>
                </a:r>
                <a:r>
                  <a:rPr lang="en-US" dirty="0" err="1"/>
                  <a:t>строка</a:t>
                </a:r>
                <a:r>
                  <a:rPr lang="en-US" dirty="0"/>
                  <a:t> </a:t>
                </a:r>
                <a:r>
                  <a:rPr lang="en-US" dirty="0" err="1"/>
                  <a:t>раскладывается</a:t>
                </a:r>
                <a:r>
                  <a:rPr lang="en-US" dirty="0"/>
                  <a:t>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горизонтальные</a:t>
                </a:r>
                <a:r>
                  <a:rPr lang="en-US" dirty="0"/>
                  <a:t> </a:t>
                </a:r>
                <a:r>
                  <a:rPr lang="en-US" dirty="0" err="1"/>
                  <a:t>частоты</a:t>
                </a:r>
                <a:r>
                  <a:rPr lang="en-US" dirty="0"/>
                  <a:t>, </a:t>
                </a:r>
              </a:p>
              <a:p>
                <a:r>
                  <a:rPr lang="en-US" dirty="0" err="1"/>
                  <a:t>затем</a:t>
                </a:r>
                <a:r>
                  <a:rPr lang="en-US" dirty="0"/>
                  <a:t> </a:t>
                </a:r>
                <a:r>
                  <a:rPr lang="en-US" dirty="0" err="1"/>
                  <a:t>каждый</a:t>
                </a:r>
                <a:r>
                  <a:rPr lang="en-US" dirty="0"/>
                  <a:t> </a:t>
                </a:r>
                <a:r>
                  <a:rPr lang="en-US" dirty="0" err="1"/>
                  <a:t>столбец</a:t>
                </a:r>
                <a:r>
                  <a:rPr lang="en-US" dirty="0"/>
                  <a:t> —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вертикальные</a:t>
                </a:r>
                <a:r>
                  <a:rPr lang="en-US" dirty="0"/>
                  <a:t>. 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Благодаря</a:t>
                </a:r>
                <a:r>
                  <a:rPr lang="en-US" dirty="0"/>
                  <a:t> </a:t>
                </a:r>
                <a:r>
                  <a:rPr lang="en-US" dirty="0" err="1"/>
                  <a:t>этому</a:t>
                </a:r>
                <a:r>
                  <a:rPr lang="en-US" dirty="0"/>
                  <a:t> </a:t>
                </a:r>
                <a:r>
                  <a:rPr lang="en-US" dirty="0" err="1"/>
                  <a:t>двумерное</a:t>
                </a:r>
                <a:r>
                  <a:rPr lang="en-US" dirty="0"/>
                  <a:t> </a:t>
                </a:r>
                <a:r>
                  <a:rPr lang="en-US" dirty="0" err="1"/>
                  <a:t>преобразование</a:t>
                </a:r>
                <a:r>
                  <a:rPr lang="en-US" dirty="0"/>
                  <a:t>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реализовать</a:t>
                </a:r>
                <a:r>
                  <a:rPr lang="en-US" dirty="0"/>
                  <a:t> </a:t>
                </a:r>
                <a:r>
                  <a:rPr lang="en-US" dirty="0" err="1"/>
                  <a:t>через</a:t>
                </a:r>
                <a:r>
                  <a:rPr lang="en-US" dirty="0"/>
                  <a:t> </a:t>
                </a:r>
                <a:r>
                  <a:rPr lang="en-US" dirty="0" err="1"/>
                  <a:t>последовательность</a:t>
                </a:r>
                <a:r>
                  <a:rPr lang="en-US" dirty="0"/>
                  <a:t> </a:t>
                </a:r>
                <a:r>
                  <a:rPr lang="en-US" dirty="0" err="1"/>
                  <a:t>одномерных</a:t>
                </a:r>
                <a:r>
                  <a:rPr lang="en-US" dirty="0"/>
                  <a:t>, </a:t>
                </a:r>
                <a:r>
                  <a:rPr lang="en-US" dirty="0" err="1"/>
                  <a:t>что</a:t>
                </a:r>
                <a:r>
                  <a:rPr lang="en-US" dirty="0"/>
                  <a:t> </a:t>
                </a:r>
                <a:r>
                  <a:rPr lang="en-US" dirty="0" err="1"/>
                  <a:t>существенно</a:t>
                </a:r>
                <a:r>
                  <a:rPr lang="en-US" dirty="0"/>
                  <a:t> </a:t>
                </a:r>
                <a:r>
                  <a:rPr lang="en-US" dirty="0" err="1"/>
                  <a:t>упрощает</a:t>
                </a:r>
                <a:r>
                  <a:rPr lang="en-US" dirty="0"/>
                  <a:t> </a:t>
                </a:r>
                <a:r>
                  <a:rPr lang="en-US" dirty="0" err="1"/>
                  <a:t>вычисления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После</a:t>
                </a:r>
                <a:r>
                  <a:rPr lang="en-US" dirty="0"/>
                  <a:t> </a:t>
                </a:r>
                <a:r>
                  <a:rPr lang="en-US" dirty="0" err="1"/>
                  <a:t>преобразования</a:t>
                </a:r>
                <a:r>
                  <a:rPr lang="en-US" dirty="0"/>
                  <a:t>:</a:t>
                </a:r>
              </a:p>
              <a:p>
                <a:r>
                  <a:rPr lang="en-US" dirty="0" err="1"/>
                  <a:t>каждая</a:t>
                </a:r>
                <a:r>
                  <a:rPr lang="en-US" dirty="0"/>
                  <a:t> </a:t>
                </a:r>
                <a:r>
                  <a:rPr lang="en-US" dirty="0" err="1"/>
                  <a:t>точка</a:t>
                </a:r>
                <a:r>
                  <a:rPr lang="en-US" dirty="0"/>
                  <a:t> </a:t>
                </a:r>
                <a:r>
                  <a:rPr lang="en-US" dirty="0" err="1"/>
                  <a:t>спектра</a:t>
                </a:r>
                <a:r>
                  <a:rPr lang="en-US" dirty="0"/>
                  <a:t> </a:t>
                </a:r>
                <a:r>
                  <a:rPr lang="en-US" dirty="0" err="1"/>
                  <a:t>соответствует</a:t>
                </a:r>
                <a:r>
                  <a:rPr lang="en-US" dirty="0"/>
                  <a:t> </a:t>
                </a:r>
                <a:r>
                  <a:rPr lang="en-US" dirty="0" err="1"/>
                  <a:t>определённой</a:t>
                </a:r>
                <a:r>
                  <a:rPr lang="en-US" dirty="0"/>
                  <a:t> </a:t>
                </a:r>
                <a:r>
                  <a:rPr lang="en-US" dirty="0" err="1"/>
                  <a:t>пространственной</a:t>
                </a:r>
                <a:r>
                  <a:rPr lang="en-US" dirty="0"/>
                  <a:t> </a:t>
                </a:r>
                <a:r>
                  <a:rPr lang="en-US" dirty="0" err="1"/>
                  <a:t>частоте</a:t>
                </a:r>
                <a:r>
                  <a:rPr lang="en-US" dirty="0"/>
                  <a:t>, </a:t>
                </a:r>
              </a:p>
              <a:p>
                <a:r>
                  <a:rPr lang="en-US" dirty="0" err="1"/>
                  <a:t>яркость</a:t>
                </a:r>
                <a:r>
                  <a:rPr lang="en-US" dirty="0"/>
                  <a:t> </a:t>
                </a:r>
                <a:r>
                  <a:rPr lang="en-US" dirty="0" err="1"/>
                  <a:t>точки</a:t>
                </a:r>
                <a:r>
                  <a:rPr lang="en-US" dirty="0"/>
                  <a:t> </a:t>
                </a:r>
                <a:r>
                  <a:rPr lang="en-US" dirty="0" err="1"/>
                  <a:t>показывает</a:t>
                </a:r>
                <a:r>
                  <a:rPr lang="en-US" dirty="0"/>
                  <a:t> </a:t>
                </a:r>
                <a:r>
                  <a:rPr lang="en-US" dirty="0" err="1"/>
                  <a:t>силу</a:t>
                </a:r>
                <a:r>
                  <a:rPr lang="en-US" dirty="0"/>
                  <a:t> </a:t>
                </a:r>
                <a:r>
                  <a:rPr lang="en-US" dirty="0" err="1"/>
                  <a:t>этой</a:t>
                </a:r>
                <a:r>
                  <a:rPr lang="en-US" dirty="0"/>
                  <a:t> </a:t>
                </a:r>
                <a:r>
                  <a:rPr lang="en-US" dirty="0" err="1"/>
                  <a:t>частоты</a:t>
                </a:r>
                <a:r>
                  <a:rPr lang="en-US" dirty="0"/>
                  <a:t>, </a:t>
                </a:r>
              </a:p>
              <a:p>
                <a:r>
                  <a:rPr lang="en-US" dirty="0"/>
                  <a:t>а </a:t>
                </a:r>
                <a:r>
                  <a:rPr lang="en-US" dirty="0" err="1"/>
                  <a:t>фаза</a:t>
                </a:r>
                <a:r>
                  <a:rPr lang="en-US" dirty="0"/>
                  <a:t> </a:t>
                </a:r>
                <a:r>
                  <a:rPr lang="en-US" dirty="0" err="1"/>
                  <a:t>хранит</a:t>
                </a:r>
                <a:r>
                  <a:rPr lang="en-US" dirty="0"/>
                  <a:t> </a:t>
                </a:r>
                <a:r>
                  <a:rPr lang="en-US" dirty="0" err="1"/>
                  <a:t>информацию</a:t>
                </a:r>
                <a:r>
                  <a:rPr lang="en-US" dirty="0"/>
                  <a:t> о </a:t>
                </a:r>
                <a:r>
                  <a:rPr lang="en-US" dirty="0" err="1"/>
                  <a:t>расположении</a:t>
                </a:r>
                <a:r>
                  <a:rPr lang="en-US" dirty="0"/>
                  <a:t> </a:t>
                </a:r>
                <a:r>
                  <a:rPr lang="en-US" dirty="0" err="1"/>
                  <a:t>структур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. </a:t>
                </a:r>
              </a:p>
              <a:p>
                <a:endParaRPr lang="ru-RU" dirty="0"/>
              </a:p>
              <a:p>
                <a:r>
                  <a:rPr lang="en-US" dirty="0" err="1"/>
                  <a:t>Обычно</a:t>
                </a:r>
                <a:r>
                  <a:rPr lang="en-US" dirty="0"/>
                  <a:t> </a:t>
                </a:r>
                <a:r>
                  <a:rPr lang="en-US" dirty="0" err="1"/>
                  <a:t>низкие</a:t>
                </a:r>
                <a:r>
                  <a:rPr lang="en-US" dirty="0"/>
                  <a:t> </a:t>
                </a:r>
                <a:r>
                  <a:rPr lang="en-US" dirty="0" err="1"/>
                  <a:t>частоты</a:t>
                </a:r>
                <a:r>
                  <a:rPr lang="en-US" dirty="0"/>
                  <a:t> </a:t>
                </a:r>
                <a:r>
                  <a:rPr lang="en-US" dirty="0" err="1"/>
                  <a:t>располагают</a:t>
                </a:r>
                <a:r>
                  <a:rPr lang="en-US" dirty="0"/>
                  <a:t> в </a:t>
                </a:r>
                <a:r>
                  <a:rPr lang="en-US" dirty="0" err="1"/>
                  <a:t>центре</a:t>
                </a:r>
                <a:r>
                  <a:rPr lang="en-US" dirty="0"/>
                  <a:t> </a:t>
                </a:r>
                <a:r>
                  <a:rPr lang="en-US" dirty="0" err="1"/>
                  <a:t>спектра</a:t>
                </a:r>
                <a:r>
                  <a:rPr lang="en-US" dirty="0"/>
                  <a:t>:</a:t>
                </a:r>
              </a:p>
              <a:p>
                <a:r>
                  <a:rPr lang="en-US" dirty="0" err="1"/>
                  <a:t>центр</a:t>
                </a:r>
                <a:r>
                  <a:rPr lang="en-US" dirty="0"/>
                  <a:t> </a:t>
                </a:r>
                <a:r>
                  <a:rPr lang="en-US" dirty="0" err="1"/>
                  <a:t>соответствует</a:t>
                </a:r>
                <a:r>
                  <a:rPr lang="en-US" dirty="0"/>
                  <a:t> </a:t>
                </a:r>
                <a:r>
                  <a:rPr lang="en-US" dirty="0" err="1"/>
                  <a:t>плавным</a:t>
                </a:r>
                <a:r>
                  <a:rPr lang="en-US" dirty="0"/>
                  <a:t> </a:t>
                </a:r>
                <a:r>
                  <a:rPr lang="en-US" dirty="0" err="1"/>
                  <a:t>изменениям</a:t>
                </a:r>
                <a:r>
                  <a:rPr lang="en-US" dirty="0"/>
                  <a:t> </a:t>
                </a:r>
                <a:r>
                  <a:rPr lang="en-US" dirty="0" err="1"/>
                  <a:t>яркости</a:t>
                </a:r>
                <a:r>
                  <a:rPr lang="en-US" dirty="0"/>
                  <a:t>, </a:t>
                </a:r>
              </a:p>
              <a:p>
                <a:r>
                  <a:rPr lang="en-US" dirty="0" err="1"/>
                  <a:t>края</a:t>
                </a:r>
                <a:r>
                  <a:rPr lang="en-US" dirty="0"/>
                  <a:t> — </a:t>
                </a:r>
                <a:r>
                  <a:rPr lang="en-US" dirty="0" err="1"/>
                  <a:t>резким</a:t>
                </a:r>
                <a:r>
                  <a:rPr lang="en-US" dirty="0"/>
                  <a:t> </a:t>
                </a:r>
                <a:r>
                  <a:rPr lang="en-US" dirty="0" err="1"/>
                  <a:t>деталям</a:t>
                </a:r>
                <a:r>
                  <a:rPr lang="en-US" dirty="0"/>
                  <a:t> и </a:t>
                </a:r>
                <a:r>
                  <a:rPr lang="en-US" dirty="0" err="1"/>
                  <a:t>шуму</a:t>
                </a:r>
                <a:r>
                  <a:rPr lang="en-US" dirty="0"/>
                  <a:t>. </a:t>
                </a:r>
              </a:p>
              <a:p>
                <a:endParaRPr lang="ru-RU" dirty="0"/>
              </a:p>
              <a:p>
                <a:r>
                  <a:rPr lang="en-US" dirty="0" err="1"/>
                  <a:t>Именно</a:t>
                </a:r>
                <a:r>
                  <a:rPr lang="en-US" dirty="0"/>
                  <a:t> </a:t>
                </a:r>
                <a:r>
                  <a:rPr lang="en-US" dirty="0" err="1"/>
                  <a:t>поэтому</a:t>
                </a:r>
                <a:r>
                  <a:rPr lang="en-US" dirty="0"/>
                  <a:t> </a:t>
                </a:r>
                <a:r>
                  <a:rPr lang="en-US" dirty="0" err="1"/>
                  <a:t>после</a:t>
                </a:r>
                <a:r>
                  <a:rPr lang="en-US" dirty="0"/>
                  <a:t> FFT:</a:t>
                </a:r>
              </a:p>
              <a:p>
                <a:r>
                  <a:rPr lang="en-US" dirty="0" err="1"/>
                  <a:t>размытие</a:t>
                </a:r>
                <a:r>
                  <a:rPr lang="en-US" dirty="0"/>
                  <a:t>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en-US" dirty="0" err="1"/>
                  <a:t>реализовать</a:t>
                </a:r>
                <a:r>
                  <a:rPr lang="en-US" dirty="0"/>
                  <a:t> </a:t>
                </a:r>
                <a:r>
                  <a:rPr lang="en-US" dirty="0" err="1"/>
                  <a:t>подавлением</a:t>
                </a:r>
                <a:r>
                  <a:rPr lang="en-US" dirty="0"/>
                  <a:t> </a:t>
                </a:r>
                <a:r>
                  <a:rPr lang="en-US" dirty="0" err="1"/>
                  <a:t>высоких</a:t>
                </a:r>
                <a:r>
                  <a:rPr lang="en-US" dirty="0"/>
                  <a:t> </a:t>
                </a:r>
                <a:r>
                  <a:rPr lang="en-US" dirty="0" err="1"/>
                  <a:t>частот</a:t>
                </a:r>
                <a:r>
                  <a:rPr lang="en-US" dirty="0"/>
                  <a:t>, </a:t>
                </a:r>
              </a:p>
              <a:p>
                <a:r>
                  <a:rPr lang="en-US" dirty="0"/>
                  <a:t>а </a:t>
                </a:r>
                <a:r>
                  <a:rPr lang="en-US" dirty="0" err="1"/>
                  <a:t>выделение</a:t>
                </a:r>
                <a:r>
                  <a:rPr lang="en-US" dirty="0"/>
                  <a:t> </a:t>
                </a:r>
                <a:r>
                  <a:rPr lang="en-US" dirty="0" err="1"/>
                  <a:t>границ</a:t>
                </a:r>
                <a:r>
                  <a:rPr lang="en-US" dirty="0"/>
                  <a:t> — </a:t>
                </a:r>
                <a:r>
                  <a:rPr lang="en-US" dirty="0" err="1"/>
                  <a:t>наоборот</a:t>
                </a:r>
                <a:r>
                  <a:rPr lang="en-US" dirty="0"/>
                  <a:t> </a:t>
                </a:r>
                <a:r>
                  <a:rPr lang="en-US" dirty="0" err="1"/>
                  <a:t>усилением</a:t>
                </a:r>
                <a:r>
                  <a:rPr lang="en-US" dirty="0"/>
                  <a:t> </a:t>
                </a:r>
                <a:r>
                  <a:rPr lang="en-US" dirty="0" err="1"/>
                  <a:t>высоких</a:t>
                </a:r>
                <a:r>
                  <a:rPr lang="en-US" dirty="0"/>
                  <a:t> </a:t>
                </a:r>
                <a:r>
                  <a:rPr lang="en-US" dirty="0" err="1"/>
                  <a:t>частот</a:t>
                </a:r>
                <a:r>
                  <a:rPr lang="en-US" dirty="0"/>
                  <a:t>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8114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в </a:t>
            </a:r>
            <a:r>
              <a:rPr lang="en-US" dirty="0" err="1"/>
              <a:t>частотной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обратное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Фурье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обычное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Обратное</a:t>
            </a:r>
            <a:r>
              <a:rPr lang="en-US" dirty="0"/>
              <a:t> 2D DFT </a:t>
            </a:r>
            <a:r>
              <a:rPr lang="en-US" dirty="0" err="1"/>
              <a:t>объединяет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синусоидальные</a:t>
            </a:r>
            <a:r>
              <a:rPr lang="en-US" dirty="0"/>
              <a:t> </a:t>
            </a:r>
            <a:r>
              <a:rPr lang="en-US" dirty="0" err="1"/>
              <a:t>компоненты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в </a:t>
            </a:r>
            <a:r>
              <a:rPr lang="en-US" dirty="0" err="1"/>
              <a:t>пространственное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Как</a:t>
            </a:r>
            <a:r>
              <a:rPr lang="en-US" dirty="0"/>
              <a:t> и </a:t>
            </a:r>
            <a:r>
              <a:rPr lang="en-US" dirty="0" err="1"/>
              <a:t>прямое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, </a:t>
            </a:r>
            <a:r>
              <a:rPr lang="en-US" dirty="0" err="1"/>
              <a:t>обратное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в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этапа</a:t>
            </a:r>
            <a:r>
              <a:rPr lang="en-US" dirty="0"/>
              <a:t>:</a:t>
            </a:r>
          </a:p>
          <a:p>
            <a:r>
              <a:rPr lang="en-US" dirty="0" err="1"/>
              <a:t>обратное</a:t>
            </a:r>
            <a:r>
              <a:rPr lang="en-US" dirty="0"/>
              <a:t> DFT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строкам</a:t>
            </a:r>
            <a:r>
              <a:rPr lang="en-US" dirty="0"/>
              <a:t>, 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столбцам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спектра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:</a:t>
            </a:r>
          </a:p>
          <a:p>
            <a:r>
              <a:rPr lang="en-US" dirty="0" err="1"/>
              <a:t>удалять</a:t>
            </a:r>
            <a:r>
              <a:rPr lang="en-US" dirty="0"/>
              <a:t> </a:t>
            </a:r>
            <a:r>
              <a:rPr lang="en-US" dirty="0" err="1"/>
              <a:t>высокие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размытия</a:t>
            </a:r>
            <a:r>
              <a:rPr lang="en-US" dirty="0"/>
              <a:t>, </a:t>
            </a:r>
          </a:p>
          <a:p>
            <a:r>
              <a:rPr lang="en-US" dirty="0" err="1"/>
              <a:t>усиливать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повышения</a:t>
            </a:r>
            <a:r>
              <a:rPr lang="en-US" dirty="0"/>
              <a:t> </a:t>
            </a:r>
            <a:r>
              <a:rPr lang="en-US" dirty="0" err="1"/>
              <a:t>резкости</a:t>
            </a:r>
            <a:r>
              <a:rPr lang="en-US" dirty="0"/>
              <a:t>, </a:t>
            </a:r>
          </a:p>
          <a:p>
            <a:r>
              <a:rPr lang="en-US" dirty="0" err="1"/>
              <a:t>подавлять</a:t>
            </a:r>
            <a:r>
              <a:rPr lang="en-US" dirty="0"/>
              <a:t> </a:t>
            </a:r>
            <a:r>
              <a:rPr lang="en-US" dirty="0" err="1"/>
              <a:t>шум</a:t>
            </a:r>
            <a:r>
              <a:rPr lang="en-US" dirty="0"/>
              <a:t>, </a:t>
            </a:r>
          </a:p>
          <a:p>
            <a:r>
              <a:rPr lang="en-US" dirty="0" err="1"/>
              <a:t>применять</a:t>
            </a:r>
            <a:r>
              <a:rPr lang="en-US" dirty="0"/>
              <a:t> </a:t>
            </a:r>
            <a:r>
              <a:rPr lang="en-US" dirty="0" err="1"/>
              <a:t>частотные</a:t>
            </a:r>
            <a:r>
              <a:rPr lang="en-US" dirty="0"/>
              <a:t> </a:t>
            </a:r>
            <a:r>
              <a:rPr lang="en-US" dirty="0" err="1"/>
              <a:t>фильтры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обратного</a:t>
            </a:r>
            <a:r>
              <a:rPr lang="en-US" dirty="0"/>
              <a:t> </a:t>
            </a:r>
            <a:r>
              <a:rPr lang="en-US" dirty="0" err="1"/>
              <a:t>преобразования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обычным</a:t>
            </a:r>
            <a:r>
              <a:rPr lang="en-US" dirty="0"/>
              <a:t> </a:t>
            </a:r>
            <a:r>
              <a:rPr lang="en-US" dirty="0" err="1"/>
              <a:t>изображением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пикселей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важна</a:t>
            </a:r>
            <a:r>
              <a:rPr lang="en-US" dirty="0"/>
              <a:t> </a:t>
            </a:r>
            <a:r>
              <a:rPr lang="en-US" dirty="0" err="1"/>
              <a:t>фаза</a:t>
            </a:r>
            <a:r>
              <a:rPr lang="en-US" dirty="0"/>
              <a:t> </a:t>
            </a:r>
            <a:r>
              <a:rPr lang="en-US" dirty="0" err="1"/>
              <a:t>спектра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Амплитуда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силу</a:t>
            </a:r>
            <a:r>
              <a:rPr lang="en-US" dirty="0"/>
              <a:t> </a:t>
            </a:r>
            <a:r>
              <a:rPr lang="en-US" dirty="0" err="1"/>
              <a:t>частот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фаза</a:t>
            </a:r>
            <a:r>
              <a:rPr lang="en-US" dirty="0"/>
              <a:t> в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расположение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и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амплитуду</a:t>
            </a:r>
            <a:r>
              <a:rPr lang="en-US" dirty="0"/>
              <a:t> и </a:t>
            </a:r>
            <a:r>
              <a:rPr lang="en-US" dirty="0" err="1"/>
              <a:t>потерять</a:t>
            </a:r>
            <a:r>
              <a:rPr lang="en-US" dirty="0"/>
              <a:t> </a:t>
            </a:r>
            <a:r>
              <a:rPr lang="en-US" dirty="0" err="1"/>
              <a:t>фазу</a:t>
            </a:r>
            <a:r>
              <a:rPr lang="en-US" dirty="0"/>
              <a:t>,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неузнаваемым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62355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убрать</a:t>
            </a:r>
            <a:r>
              <a:rPr lang="en-US" dirty="0"/>
              <a:t> </a:t>
            </a:r>
            <a:r>
              <a:rPr lang="en-US" dirty="0" err="1"/>
              <a:t>высокие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,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плавным</a:t>
            </a:r>
            <a:r>
              <a:rPr lang="en-US" dirty="0"/>
              <a:t>.</a:t>
            </a:r>
          </a:p>
          <a:p>
            <a:r>
              <a:rPr lang="en-US" dirty="0" err="1"/>
              <a:t>Исчезают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шум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мелкие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резкие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фильтры</a:t>
            </a:r>
            <a:r>
              <a:rPr lang="en-US" dirty="0"/>
              <a:t> </a:t>
            </a:r>
            <a:r>
              <a:rPr lang="en-US" dirty="0" err="1"/>
              <a:t>размытия</a:t>
            </a:r>
            <a:r>
              <a:rPr lang="en-US" dirty="0"/>
              <a:t>. Gaussian Blur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низкочастотным</a:t>
            </a:r>
            <a:r>
              <a:rPr lang="en-US" dirty="0"/>
              <a:t> </a:t>
            </a:r>
            <a:r>
              <a:rPr lang="en-US" dirty="0" err="1"/>
              <a:t>фильтром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3591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Высокочастотные</a:t>
            </a:r>
            <a:r>
              <a:rPr lang="en-US" dirty="0"/>
              <a:t> </a:t>
            </a:r>
            <a:r>
              <a:rPr lang="en-US" dirty="0" err="1"/>
              <a:t>фильтры</a:t>
            </a:r>
            <a:r>
              <a:rPr lang="en-US" dirty="0"/>
              <a:t> </a:t>
            </a:r>
            <a:r>
              <a:rPr lang="en-US" dirty="0" err="1"/>
              <a:t>делают</a:t>
            </a:r>
            <a:r>
              <a:rPr lang="en-US" dirty="0"/>
              <a:t> </a:t>
            </a:r>
            <a:r>
              <a:rPr lang="en-US" dirty="0" err="1"/>
              <a:t>противоположное</a:t>
            </a:r>
            <a:r>
              <a:rPr lang="en-US" dirty="0"/>
              <a:t> — </a:t>
            </a:r>
            <a:r>
              <a:rPr lang="en-US" dirty="0" err="1"/>
              <a:t>усиливают</a:t>
            </a:r>
            <a:r>
              <a:rPr lang="en-US" dirty="0"/>
              <a:t> </a:t>
            </a:r>
            <a:r>
              <a:rPr lang="en-US" dirty="0" err="1"/>
              <a:t>резкие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яркости</a:t>
            </a:r>
            <a:r>
              <a:rPr lang="en-US" dirty="0"/>
              <a:t>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находить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выделять</a:t>
            </a:r>
            <a:r>
              <a:rPr lang="en-US" dirty="0"/>
              <a:t> </a:t>
            </a:r>
            <a:r>
              <a:rPr lang="en-US" dirty="0" err="1"/>
              <a:t>контуры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увеличивать</a:t>
            </a:r>
            <a:r>
              <a:rPr lang="en-US" dirty="0"/>
              <a:t> </a:t>
            </a:r>
            <a:r>
              <a:rPr lang="en-US" dirty="0" err="1"/>
              <a:t>резкость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сути</a:t>
            </a:r>
            <a:r>
              <a:rPr lang="en-US" dirty="0"/>
              <a:t> </a:t>
            </a:r>
            <a:r>
              <a:rPr lang="en-US" dirty="0" err="1"/>
              <a:t>оператор</a:t>
            </a:r>
            <a:r>
              <a:rPr lang="en-US" dirty="0"/>
              <a:t> </a:t>
            </a:r>
            <a:r>
              <a:rPr lang="en-US" dirty="0" err="1"/>
              <a:t>Собеля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приближённым</a:t>
            </a:r>
            <a:r>
              <a:rPr lang="en-US" dirty="0"/>
              <a:t> </a:t>
            </a:r>
            <a:r>
              <a:rPr lang="en-US" dirty="0" err="1"/>
              <a:t>вычислением</a:t>
            </a:r>
            <a:r>
              <a:rPr lang="en-US" dirty="0"/>
              <a:t> </a:t>
            </a:r>
            <a:r>
              <a:rPr lang="en-US" dirty="0" err="1"/>
              <a:t>высоких</a:t>
            </a:r>
            <a:r>
              <a:rPr lang="en-US" dirty="0"/>
              <a:t> </a:t>
            </a:r>
            <a:r>
              <a:rPr lang="en-US" dirty="0" err="1"/>
              <a:t>пространственных</a:t>
            </a:r>
            <a:r>
              <a:rPr lang="en-US" dirty="0"/>
              <a:t> </a:t>
            </a:r>
            <a:r>
              <a:rPr lang="en-US" dirty="0" err="1"/>
              <a:t>частот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90253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Обычное</a:t>
                </a:r>
                <a:r>
                  <a:rPr lang="en-US" dirty="0"/>
                  <a:t> </a:t>
                </a:r>
                <a:r>
                  <a:rPr lang="en-US" dirty="0" err="1"/>
                  <a:t>дискретное</a:t>
                </a:r>
                <a:r>
                  <a:rPr lang="en-US" dirty="0"/>
                  <a:t> </a:t>
                </a:r>
                <a:r>
                  <a:rPr lang="en-US" dirty="0" err="1"/>
                  <a:t>преобразование</a:t>
                </a:r>
                <a:r>
                  <a:rPr lang="en-US" dirty="0"/>
                  <a:t> </a:t>
                </a:r>
                <a:r>
                  <a:rPr lang="en-US" dirty="0" err="1"/>
                  <a:t>Фурье</a:t>
                </a:r>
                <a:r>
                  <a:rPr lang="en-US" dirty="0"/>
                  <a:t> </a:t>
                </a:r>
                <a:r>
                  <a:rPr lang="en-US" dirty="0" err="1"/>
                  <a:t>вычисляется</a:t>
                </a:r>
                <a:r>
                  <a:rPr lang="en-US" dirty="0"/>
                  <a:t> </a:t>
                </a:r>
                <a:r>
                  <a:rPr lang="en-US" dirty="0" err="1"/>
                  <a:t>довольно</a:t>
                </a:r>
                <a:r>
                  <a:rPr lang="en-US" dirty="0"/>
                  <a:t> </a:t>
                </a:r>
                <a:r>
                  <a:rPr lang="en-US" dirty="0" err="1"/>
                  <a:t>медленно</a:t>
                </a:r>
                <a:endParaRPr lang="ru-RU" dirty="0"/>
              </a:p>
              <a:p>
                <a:r>
                  <a:rPr lang="en-US" dirty="0"/>
                  <a:t>.</a:t>
                </a:r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</a:t>
                </a:r>
                <a:r>
                  <a:rPr lang="en-US" dirty="0" err="1"/>
                  <a:t>размером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𝑁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×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𝑁</m:t>
                    </m:r>
                  </m:oMath>
                </a14:m>
                <a:r>
                  <a:rPr lang="en-US" dirty="0" err="1"/>
                  <a:t>сложность</a:t>
                </a:r>
                <a:r>
                  <a:rPr lang="en-US" dirty="0"/>
                  <a:t> </a:t>
                </a:r>
                <a:r>
                  <a:rPr lang="en-US" dirty="0" err="1"/>
                  <a:t>прямого</a:t>
                </a:r>
                <a:r>
                  <a:rPr lang="en-US" dirty="0"/>
                  <a:t> DFT </a:t>
                </a:r>
                <a:r>
                  <a:rPr lang="en-US" dirty="0" err="1"/>
                  <a:t>составляет</a:t>
                </a:r>
                <a:r>
                  <a:rPr lang="en-US" dirty="0"/>
                  <a:t> </a:t>
                </a:r>
                <a:r>
                  <a:rPr lang="en-US" dirty="0" err="1"/>
                  <a:t>примерно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𝑂</m:t>
                    </m:r>
                    <m:d>
                      <m:d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𝑁</m:t>
                            </m:r>
                          </m:e>
                          <m:sup>
                            <m:r>
                              <a:rPr lang="en-US" sz="1200" i="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одномерного</a:t>
                </a:r>
                <a:r>
                  <a:rPr lang="en-US" dirty="0"/>
                  <a:t> </a:t>
                </a:r>
                <a:r>
                  <a:rPr lang="en-US" dirty="0" err="1"/>
                  <a:t>случая</a:t>
                </a:r>
                <a:r>
                  <a:rPr lang="en-US" dirty="0"/>
                  <a:t> и </a:t>
                </a:r>
                <a:r>
                  <a:rPr lang="en-US" dirty="0" err="1"/>
                  <a:t>ещё</a:t>
                </a:r>
                <a:r>
                  <a:rPr lang="en-US" dirty="0"/>
                  <a:t> </a:t>
                </a:r>
                <a:r>
                  <a:rPr lang="en-US" dirty="0" err="1"/>
                  <a:t>больше</a:t>
                </a:r>
                <a:r>
                  <a:rPr lang="en-US" dirty="0"/>
                  <a:t> 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двумерного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/>
                  <a:t>FFT —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алгоритм</a:t>
                </a:r>
                <a:r>
                  <a:rPr lang="en-US" dirty="0"/>
                  <a:t>, </a:t>
                </a:r>
                <a:r>
                  <a:rPr lang="en-US" dirty="0" err="1"/>
                  <a:t>который</a:t>
                </a:r>
                <a:r>
                  <a:rPr lang="en-US" dirty="0"/>
                  <a:t> </a:t>
                </a:r>
                <a:r>
                  <a:rPr lang="en-US" dirty="0" err="1"/>
                  <a:t>позволяет</a:t>
                </a:r>
                <a:r>
                  <a:rPr lang="en-US" dirty="0"/>
                  <a:t> </a:t>
                </a:r>
                <a:r>
                  <a:rPr lang="en-US" dirty="0" err="1"/>
                  <a:t>вычислять</a:t>
                </a:r>
                <a:r>
                  <a:rPr lang="en-US" dirty="0"/>
                  <a:t> </a:t>
                </a:r>
                <a:r>
                  <a:rPr lang="en-US" dirty="0" err="1"/>
                  <a:t>преобразование</a:t>
                </a:r>
                <a:r>
                  <a:rPr lang="en-US" dirty="0"/>
                  <a:t> </a:t>
                </a:r>
                <a:r>
                  <a:rPr lang="en-US" dirty="0" err="1"/>
                  <a:t>Фурье</a:t>
                </a:r>
                <a:r>
                  <a:rPr lang="en-US" dirty="0"/>
                  <a:t> </a:t>
                </a:r>
                <a:r>
                  <a:rPr lang="en-US" dirty="0" err="1"/>
                  <a:t>значительно</a:t>
                </a:r>
                <a:r>
                  <a:rPr lang="en-US" dirty="0"/>
                  <a:t> </a:t>
                </a:r>
                <a:r>
                  <a:rPr lang="en-US" dirty="0" err="1"/>
                  <a:t>быстрее</a:t>
                </a:r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 err="1"/>
                  <a:t>сложность</a:t>
                </a:r>
                <a:r>
                  <a:rPr lang="en-US" dirty="0"/>
                  <a:t> </a:t>
                </a:r>
                <a:r>
                  <a:rPr lang="en-US" dirty="0" err="1"/>
                  <a:t>уменьшается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𝑂</m:t>
                    </m:r>
                    <m:d>
                      <m:d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𝑁</m:t>
                        </m:r>
                        <m:func>
                          <m:funcPr>
                            <m:ctrlP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200" i="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1200" i="1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rPr>
                              <m:t>𝑁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 err="1"/>
                  <a:t>Именно</a:t>
                </a:r>
                <a:r>
                  <a:rPr lang="en-US" dirty="0"/>
                  <a:t> </a:t>
                </a:r>
                <a:r>
                  <a:rPr lang="en-US" dirty="0" err="1"/>
                  <a:t>благодаря</a:t>
                </a:r>
                <a:r>
                  <a:rPr lang="en-US" dirty="0"/>
                  <a:t> FFT </a:t>
                </a:r>
                <a:r>
                  <a:rPr lang="en-US" dirty="0" err="1"/>
                  <a:t>частотная</a:t>
                </a:r>
                <a:r>
                  <a:rPr lang="en-US" dirty="0"/>
                  <a:t> </a:t>
                </a:r>
                <a:r>
                  <a:rPr lang="en-US" dirty="0" err="1"/>
                  <a:t>обработка</a:t>
                </a:r>
                <a:r>
                  <a:rPr lang="en-US" dirty="0"/>
                  <a:t> </a:t>
                </a:r>
                <a:r>
                  <a:rPr lang="en-US" dirty="0" err="1"/>
                  <a:t>изображений</a:t>
                </a:r>
                <a:r>
                  <a:rPr lang="en-US" dirty="0"/>
                  <a:t> </a:t>
                </a:r>
                <a:r>
                  <a:rPr lang="en-US" dirty="0" err="1"/>
                  <a:t>стала</a:t>
                </a:r>
                <a:r>
                  <a:rPr lang="en-US" dirty="0"/>
                  <a:t> </a:t>
                </a:r>
                <a:r>
                  <a:rPr lang="en-US" dirty="0" err="1"/>
                  <a:t>практически</a:t>
                </a:r>
                <a:r>
                  <a:rPr lang="en-US" dirty="0"/>
                  <a:t> </a:t>
                </a:r>
                <a:r>
                  <a:rPr lang="en-US" dirty="0" err="1"/>
                  <a:t>применимой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двумерного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FFT </a:t>
                </a:r>
                <a:r>
                  <a:rPr lang="en-US" dirty="0" err="1"/>
                  <a:t>обычно</a:t>
                </a:r>
                <a:r>
                  <a:rPr lang="en-US" dirty="0"/>
                  <a:t> </a:t>
                </a:r>
                <a:r>
                  <a:rPr lang="en-US" dirty="0" err="1"/>
                  <a:t>выполняется</a:t>
                </a:r>
                <a:r>
                  <a:rPr lang="en-US" dirty="0"/>
                  <a:t> </a:t>
                </a:r>
                <a:r>
                  <a:rPr lang="en-US" dirty="0" err="1"/>
                  <a:t>так</a:t>
                </a:r>
                <a:r>
                  <a:rPr lang="en-US" dirty="0"/>
                  <a:t>:</a:t>
                </a:r>
              </a:p>
              <a:p>
                <a:r>
                  <a:rPr lang="en-US" dirty="0" err="1"/>
                  <a:t>сначала</a:t>
                </a:r>
                <a:r>
                  <a:rPr lang="en-US" dirty="0"/>
                  <a:t> </a:t>
                </a:r>
                <a:r>
                  <a:rPr lang="en-US" dirty="0" err="1"/>
                  <a:t>быстрое</a:t>
                </a:r>
                <a:r>
                  <a:rPr lang="en-US" dirty="0"/>
                  <a:t> </a:t>
                </a:r>
                <a:r>
                  <a:rPr lang="en-US" dirty="0" err="1"/>
                  <a:t>преобразование</a:t>
                </a:r>
                <a:r>
                  <a:rPr lang="en-US" dirty="0"/>
                  <a:t> </a:t>
                </a:r>
                <a:r>
                  <a:rPr lang="en-US" dirty="0" err="1"/>
                  <a:t>применяется</a:t>
                </a:r>
                <a:r>
                  <a:rPr lang="en-US" dirty="0"/>
                  <a:t> </a:t>
                </a:r>
                <a:r>
                  <a:rPr lang="en-US" dirty="0" err="1"/>
                  <a:t>ко</a:t>
                </a:r>
                <a:r>
                  <a:rPr lang="en-US" dirty="0"/>
                  <a:t> </a:t>
                </a:r>
                <a:r>
                  <a:rPr lang="en-US" dirty="0" err="1"/>
                  <a:t>всем</a:t>
                </a:r>
                <a:r>
                  <a:rPr lang="en-US" dirty="0"/>
                  <a:t> </a:t>
                </a:r>
                <a:r>
                  <a:rPr lang="en-US" dirty="0" err="1"/>
                  <a:t>строкам</a:t>
                </a:r>
                <a:r>
                  <a:rPr lang="en-US" dirty="0"/>
                  <a:t>, </a:t>
                </a:r>
              </a:p>
              <a:p>
                <a:r>
                  <a:rPr lang="en-US" dirty="0" err="1"/>
                  <a:t>затем</a:t>
                </a:r>
                <a:r>
                  <a:rPr lang="en-US" dirty="0"/>
                  <a:t> — </a:t>
                </a:r>
                <a:r>
                  <a:rPr lang="en-US" dirty="0" err="1"/>
                  <a:t>ко</a:t>
                </a:r>
                <a:r>
                  <a:rPr lang="en-US" dirty="0"/>
                  <a:t> </a:t>
                </a:r>
                <a:r>
                  <a:rPr lang="en-US" dirty="0" err="1"/>
                  <a:t>всем</a:t>
                </a:r>
                <a:r>
                  <a:rPr lang="en-US" dirty="0"/>
                  <a:t> </a:t>
                </a:r>
                <a:r>
                  <a:rPr lang="en-US" dirty="0" err="1"/>
                  <a:t>столбцам</a:t>
                </a:r>
                <a:r>
                  <a:rPr lang="en-US" dirty="0"/>
                  <a:t>. 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Классический</a:t>
                </a:r>
                <a:r>
                  <a:rPr lang="en-US" dirty="0"/>
                  <a:t> </a:t>
                </a:r>
                <a:r>
                  <a:rPr lang="en-US" dirty="0" err="1"/>
                  <a:t>алгоритм</a:t>
                </a:r>
                <a:r>
                  <a:rPr lang="en-US" dirty="0"/>
                  <a:t> Cooley–Tukey </a:t>
                </a:r>
                <a:r>
                  <a:rPr lang="en-US" dirty="0" err="1"/>
                  <a:t>наиболее</a:t>
                </a:r>
                <a:r>
                  <a:rPr lang="en-US" dirty="0"/>
                  <a:t> </a:t>
                </a:r>
                <a:r>
                  <a:rPr lang="en-US" dirty="0" err="1"/>
                  <a:t>эффективен</a:t>
                </a:r>
                <a:r>
                  <a:rPr lang="en-US" dirty="0"/>
                  <a:t>, </a:t>
                </a:r>
                <a:r>
                  <a:rPr lang="en-US" dirty="0" err="1"/>
                  <a:t>когда</a:t>
                </a:r>
                <a:r>
                  <a:rPr lang="en-US" dirty="0"/>
                  <a:t> </a:t>
                </a:r>
                <a:r>
                  <a:rPr lang="en-US" dirty="0" err="1"/>
                  <a:t>размер</a:t>
                </a:r>
                <a:r>
                  <a:rPr lang="en-US" dirty="0"/>
                  <a:t> </a:t>
                </a:r>
                <a:r>
                  <a:rPr lang="en-US" dirty="0" err="1"/>
                  <a:t>сигнала</a:t>
                </a:r>
                <a:r>
                  <a:rPr lang="en-US" dirty="0"/>
                  <a:t> </a:t>
                </a:r>
                <a:r>
                  <a:rPr lang="en-US" dirty="0" err="1"/>
                  <a:t>является</a:t>
                </a:r>
                <a:r>
                  <a:rPr lang="en-US" dirty="0"/>
                  <a:t> </a:t>
                </a:r>
                <a:r>
                  <a:rPr lang="en-US" dirty="0" err="1"/>
                  <a:t>степенью</a:t>
                </a:r>
                <a:r>
                  <a:rPr lang="en-US" dirty="0"/>
                  <a:t> </a:t>
                </a:r>
                <a:r>
                  <a:rPr lang="en-US" dirty="0" err="1"/>
                  <a:t>двойки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256, </a:t>
                </a:r>
              </a:p>
              <a:p>
                <a:r>
                  <a:rPr lang="en-US" dirty="0"/>
                  <a:t>512, </a:t>
                </a:r>
              </a:p>
              <a:p>
                <a:r>
                  <a:rPr lang="en-US" dirty="0"/>
                  <a:t>1024 и </a:t>
                </a:r>
                <a:r>
                  <a:rPr lang="en-US" dirty="0" err="1"/>
                  <a:t>так</a:t>
                </a:r>
                <a:r>
                  <a:rPr lang="en-US" dirty="0"/>
                  <a:t> </a:t>
                </a:r>
                <a:r>
                  <a:rPr lang="en-US" dirty="0" err="1"/>
                  <a:t>далее</a:t>
                </a:r>
                <a:r>
                  <a:rPr lang="en-US" dirty="0"/>
                  <a:t>. 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Поэтому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</a:t>
                </a:r>
                <a:r>
                  <a:rPr lang="en-US" dirty="0" err="1"/>
                  <a:t>перед</a:t>
                </a:r>
                <a:r>
                  <a:rPr lang="en-US" dirty="0"/>
                  <a:t> FFT </a:t>
                </a:r>
                <a:r>
                  <a:rPr lang="en-US" dirty="0" err="1"/>
                  <a:t>часто</a:t>
                </a:r>
                <a:r>
                  <a:rPr lang="en-US" dirty="0"/>
                  <a:t> </a:t>
                </a:r>
                <a:r>
                  <a:rPr lang="en-US" dirty="0" err="1"/>
                  <a:t>расширяют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ближайшего</a:t>
                </a:r>
                <a:r>
                  <a:rPr lang="en-US" dirty="0"/>
                  <a:t> </a:t>
                </a:r>
                <a:r>
                  <a:rPr lang="en-US" dirty="0" err="1"/>
                  <a:t>такого</a:t>
                </a:r>
                <a:r>
                  <a:rPr lang="en-US" dirty="0"/>
                  <a:t> </a:t>
                </a:r>
                <a:r>
                  <a:rPr lang="en-US" dirty="0" err="1"/>
                  <a:t>размера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Обычно</a:t>
                </a:r>
                <a:r>
                  <a:rPr lang="en-US" dirty="0"/>
                  <a:t>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делается</a:t>
                </a:r>
                <a:r>
                  <a:rPr lang="en-US" dirty="0"/>
                  <a:t> </a:t>
                </a:r>
                <a:r>
                  <a:rPr lang="en-US" dirty="0" err="1"/>
                  <a:t>через</a:t>
                </a:r>
                <a:r>
                  <a:rPr lang="en-US" dirty="0"/>
                  <a:t> padding — </a:t>
                </a:r>
                <a:r>
                  <a:rPr lang="en-US" dirty="0" err="1"/>
                  <a:t>дополнение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</a:t>
                </a:r>
                <a:r>
                  <a:rPr lang="en-US" dirty="0" err="1"/>
                  <a:t>нулями</a:t>
                </a:r>
                <a:r>
                  <a:rPr lang="en-US" dirty="0"/>
                  <a:t>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чёрными</a:t>
                </a:r>
                <a:r>
                  <a:rPr lang="en-US" dirty="0"/>
                  <a:t> </a:t>
                </a:r>
                <a:r>
                  <a:rPr lang="en-US" dirty="0" err="1"/>
                  <a:t>пикселями</a:t>
                </a:r>
                <a:r>
                  <a:rPr lang="en-US" dirty="0"/>
                  <a:t> </a:t>
                </a:r>
                <a:r>
                  <a:rPr lang="en-US" dirty="0" err="1"/>
                  <a:t>по</a:t>
                </a:r>
                <a:r>
                  <a:rPr lang="en-US" dirty="0"/>
                  <a:t> </a:t>
                </a:r>
                <a:r>
                  <a:rPr lang="en-US" dirty="0" err="1"/>
                  <a:t>краям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 err="1"/>
                  <a:t>изображение</a:t>
                </a:r>
                <a:r>
                  <a:rPr lang="en-US" dirty="0"/>
                  <a:t> 1000×700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быть</a:t>
                </a:r>
                <a:r>
                  <a:rPr lang="en-US" dirty="0"/>
                  <a:t> </a:t>
                </a:r>
                <a:r>
                  <a:rPr lang="en-US" dirty="0" err="1"/>
                  <a:t>расширено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1024×1024.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Современные</a:t>
                </a:r>
                <a:r>
                  <a:rPr lang="en-US" dirty="0"/>
                  <a:t> </a:t>
                </a:r>
                <a:r>
                  <a:rPr lang="en-US" dirty="0" err="1"/>
                  <a:t>библиотеки</a:t>
                </a:r>
                <a:r>
                  <a:rPr lang="en-US" dirty="0"/>
                  <a:t> FFT </a:t>
                </a:r>
                <a:r>
                  <a:rPr lang="en-US" dirty="0" err="1"/>
                  <a:t>умеют</a:t>
                </a:r>
                <a:r>
                  <a:rPr lang="en-US" dirty="0"/>
                  <a:t> </a:t>
                </a:r>
                <a:r>
                  <a:rPr lang="en-US" dirty="0" err="1"/>
                  <a:t>работать</a:t>
                </a:r>
                <a:r>
                  <a:rPr lang="en-US" dirty="0"/>
                  <a:t> и с </a:t>
                </a:r>
                <a:r>
                  <a:rPr lang="en-US" dirty="0" err="1"/>
                  <a:t>произвольными</a:t>
                </a:r>
                <a:r>
                  <a:rPr lang="en-US" dirty="0"/>
                  <a:t> </a:t>
                </a:r>
                <a:r>
                  <a:rPr lang="en-US" dirty="0" err="1"/>
                  <a:t>размерами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степени</a:t>
                </a:r>
                <a:r>
                  <a:rPr lang="en-US" dirty="0"/>
                  <a:t> </a:t>
                </a:r>
                <a:r>
                  <a:rPr lang="en-US" dirty="0" err="1"/>
                  <a:t>двойки</a:t>
                </a:r>
                <a:r>
                  <a:rPr lang="en-US" dirty="0"/>
                  <a:t> </a:t>
                </a:r>
                <a:r>
                  <a:rPr lang="en-US" dirty="0" err="1"/>
                  <a:t>всё</a:t>
                </a:r>
                <a:r>
                  <a:rPr lang="en-US" dirty="0"/>
                  <a:t> </a:t>
                </a:r>
                <a:r>
                  <a:rPr lang="en-US" dirty="0" err="1"/>
                  <a:t>ещё</a:t>
                </a:r>
                <a:r>
                  <a:rPr lang="en-US" dirty="0"/>
                  <a:t> </a:t>
                </a:r>
                <a:r>
                  <a:rPr lang="en-US" dirty="0" err="1"/>
                  <a:t>дают</a:t>
                </a:r>
                <a:r>
                  <a:rPr lang="en-US" dirty="0"/>
                  <a:t> </a:t>
                </a:r>
                <a:r>
                  <a:rPr lang="en-US" dirty="0" err="1"/>
                  <a:t>наилучшую</a:t>
                </a:r>
                <a:r>
                  <a:rPr lang="en-US" dirty="0"/>
                  <a:t> </a:t>
                </a:r>
                <a:r>
                  <a:rPr lang="en-US" dirty="0" err="1"/>
                  <a:t>производительность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Обычное</a:t>
                </a:r>
                <a:r>
                  <a:rPr lang="en-US" dirty="0"/>
                  <a:t> </a:t>
                </a:r>
                <a:r>
                  <a:rPr lang="en-US" dirty="0" err="1"/>
                  <a:t>дискретное</a:t>
                </a:r>
                <a:r>
                  <a:rPr lang="en-US" dirty="0"/>
                  <a:t> </a:t>
                </a:r>
                <a:r>
                  <a:rPr lang="en-US" dirty="0" err="1"/>
                  <a:t>преобразование</a:t>
                </a:r>
                <a:r>
                  <a:rPr lang="en-US" dirty="0"/>
                  <a:t> </a:t>
                </a:r>
                <a:r>
                  <a:rPr lang="en-US" dirty="0" err="1"/>
                  <a:t>Фурье</a:t>
                </a:r>
                <a:r>
                  <a:rPr lang="en-US" dirty="0"/>
                  <a:t> </a:t>
                </a:r>
                <a:r>
                  <a:rPr lang="en-US" dirty="0" err="1"/>
                  <a:t>вычисляется</a:t>
                </a:r>
                <a:r>
                  <a:rPr lang="en-US" dirty="0"/>
                  <a:t> </a:t>
                </a:r>
                <a:r>
                  <a:rPr lang="en-US" dirty="0" err="1"/>
                  <a:t>довольно</a:t>
                </a:r>
                <a:r>
                  <a:rPr lang="en-US" dirty="0"/>
                  <a:t> </a:t>
                </a:r>
                <a:r>
                  <a:rPr lang="en-US" dirty="0" err="1"/>
                  <a:t>медленно</a:t>
                </a:r>
                <a:endParaRPr lang="ru-RU" dirty="0"/>
              </a:p>
              <a:p>
                <a:r>
                  <a:rPr lang="en-US" dirty="0"/>
                  <a:t>.</a:t>
                </a:r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</a:t>
                </a:r>
                <a:r>
                  <a:rPr lang="en-US" dirty="0" err="1"/>
                  <a:t>размером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𝑁×𝑁</a:t>
                </a:r>
                <a:r>
                  <a:rPr lang="en-US" dirty="0" err="1"/>
                  <a:t>сложность</a:t>
                </a:r>
                <a:r>
                  <a:rPr lang="en-US" dirty="0"/>
                  <a:t> </a:t>
                </a:r>
                <a:r>
                  <a:rPr lang="en-US" dirty="0" err="1"/>
                  <a:t>прямого</a:t>
                </a:r>
                <a:r>
                  <a:rPr lang="en-US" dirty="0"/>
                  <a:t> DFT </a:t>
                </a:r>
                <a:r>
                  <a:rPr lang="en-US" dirty="0" err="1"/>
                  <a:t>составляет</a:t>
                </a:r>
                <a:r>
                  <a:rPr lang="en-US" dirty="0"/>
                  <a:t> </a:t>
                </a:r>
                <a:r>
                  <a:rPr lang="en-US" dirty="0" err="1"/>
                  <a:t>примерно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𝑂(𝑁^2 )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одномерного</a:t>
                </a:r>
                <a:r>
                  <a:rPr lang="en-US" dirty="0"/>
                  <a:t> </a:t>
                </a:r>
                <a:r>
                  <a:rPr lang="en-US" dirty="0" err="1"/>
                  <a:t>случая</a:t>
                </a:r>
                <a:r>
                  <a:rPr lang="en-US" dirty="0"/>
                  <a:t> и </a:t>
                </a:r>
                <a:r>
                  <a:rPr lang="en-US" dirty="0" err="1"/>
                  <a:t>ещё</a:t>
                </a:r>
                <a:r>
                  <a:rPr lang="en-US" dirty="0"/>
                  <a:t> </a:t>
                </a:r>
                <a:r>
                  <a:rPr lang="en-US" dirty="0" err="1"/>
                  <a:t>больше</a:t>
                </a:r>
                <a:r>
                  <a:rPr lang="en-US" dirty="0"/>
                  <a:t> 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двумерного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/>
                  <a:t>FFT —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алгоритм</a:t>
                </a:r>
                <a:r>
                  <a:rPr lang="en-US" dirty="0"/>
                  <a:t>, </a:t>
                </a:r>
                <a:r>
                  <a:rPr lang="en-US" dirty="0" err="1"/>
                  <a:t>который</a:t>
                </a:r>
                <a:r>
                  <a:rPr lang="en-US" dirty="0"/>
                  <a:t> </a:t>
                </a:r>
                <a:r>
                  <a:rPr lang="en-US" dirty="0" err="1"/>
                  <a:t>позволяет</a:t>
                </a:r>
                <a:r>
                  <a:rPr lang="en-US" dirty="0"/>
                  <a:t> </a:t>
                </a:r>
                <a:r>
                  <a:rPr lang="en-US" dirty="0" err="1"/>
                  <a:t>вычислять</a:t>
                </a:r>
                <a:r>
                  <a:rPr lang="en-US" dirty="0"/>
                  <a:t> </a:t>
                </a:r>
                <a:r>
                  <a:rPr lang="en-US" dirty="0" err="1"/>
                  <a:t>преобразование</a:t>
                </a:r>
                <a:r>
                  <a:rPr lang="en-US" dirty="0"/>
                  <a:t> </a:t>
                </a:r>
                <a:r>
                  <a:rPr lang="en-US" dirty="0" err="1"/>
                  <a:t>Фурье</a:t>
                </a:r>
                <a:r>
                  <a:rPr lang="en-US" dirty="0"/>
                  <a:t> </a:t>
                </a:r>
                <a:r>
                  <a:rPr lang="en-US" dirty="0" err="1"/>
                  <a:t>значительно</a:t>
                </a:r>
                <a:r>
                  <a:rPr lang="en-US" dirty="0"/>
                  <a:t> </a:t>
                </a:r>
                <a:r>
                  <a:rPr lang="en-US" dirty="0" err="1"/>
                  <a:t>быстрее</a:t>
                </a:r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 err="1"/>
                  <a:t>сложность</a:t>
                </a:r>
                <a:r>
                  <a:rPr lang="en-US" dirty="0"/>
                  <a:t> </a:t>
                </a:r>
                <a:r>
                  <a:rPr lang="en-US" dirty="0" err="1"/>
                  <a:t>уменьшается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𝑂(𝑁 log⁡𝑁 )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Именно</a:t>
                </a:r>
                <a:r>
                  <a:rPr lang="en-US" dirty="0"/>
                  <a:t> </a:t>
                </a:r>
                <a:r>
                  <a:rPr lang="en-US" dirty="0" err="1"/>
                  <a:t>благодаря</a:t>
                </a:r>
                <a:r>
                  <a:rPr lang="en-US" dirty="0"/>
                  <a:t> FFT </a:t>
                </a:r>
                <a:r>
                  <a:rPr lang="en-US" dirty="0" err="1"/>
                  <a:t>частотная</a:t>
                </a:r>
                <a:r>
                  <a:rPr lang="en-US" dirty="0"/>
                  <a:t> </a:t>
                </a:r>
                <a:r>
                  <a:rPr lang="en-US" dirty="0" err="1"/>
                  <a:t>обработка</a:t>
                </a:r>
                <a:r>
                  <a:rPr lang="en-US" dirty="0"/>
                  <a:t> </a:t>
                </a:r>
                <a:r>
                  <a:rPr lang="en-US" dirty="0" err="1"/>
                  <a:t>изображений</a:t>
                </a:r>
                <a:r>
                  <a:rPr lang="en-US" dirty="0"/>
                  <a:t> </a:t>
                </a:r>
                <a:r>
                  <a:rPr lang="en-US" dirty="0" err="1"/>
                  <a:t>стала</a:t>
                </a:r>
                <a:r>
                  <a:rPr lang="en-US" dirty="0"/>
                  <a:t> </a:t>
                </a:r>
                <a:r>
                  <a:rPr lang="en-US" dirty="0" err="1"/>
                  <a:t>практически</a:t>
                </a:r>
                <a:r>
                  <a:rPr lang="en-US" dirty="0"/>
                  <a:t> </a:t>
                </a:r>
                <a:r>
                  <a:rPr lang="en-US" dirty="0" err="1"/>
                  <a:t>применимой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двумерного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FFT </a:t>
                </a:r>
                <a:r>
                  <a:rPr lang="en-US" dirty="0" err="1"/>
                  <a:t>обычно</a:t>
                </a:r>
                <a:r>
                  <a:rPr lang="en-US" dirty="0"/>
                  <a:t> </a:t>
                </a:r>
                <a:r>
                  <a:rPr lang="en-US" dirty="0" err="1"/>
                  <a:t>выполняется</a:t>
                </a:r>
                <a:r>
                  <a:rPr lang="en-US" dirty="0"/>
                  <a:t> </a:t>
                </a:r>
                <a:r>
                  <a:rPr lang="en-US" dirty="0" err="1"/>
                  <a:t>так</a:t>
                </a:r>
                <a:r>
                  <a:rPr lang="en-US" dirty="0"/>
                  <a:t>:</a:t>
                </a:r>
              </a:p>
              <a:p>
                <a:r>
                  <a:rPr lang="en-US" dirty="0" err="1"/>
                  <a:t>сначала</a:t>
                </a:r>
                <a:r>
                  <a:rPr lang="en-US" dirty="0"/>
                  <a:t> </a:t>
                </a:r>
                <a:r>
                  <a:rPr lang="en-US" dirty="0" err="1"/>
                  <a:t>быстрое</a:t>
                </a:r>
                <a:r>
                  <a:rPr lang="en-US" dirty="0"/>
                  <a:t> </a:t>
                </a:r>
                <a:r>
                  <a:rPr lang="en-US" dirty="0" err="1"/>
                  <a:t>преобразование</a:t>
                </a:r>
                <a:r>
                  <a:rPr lang="en-US" dirty="0"/>
                  <a:t> </a:t>
                </a:r>
                <a:r>
                  <a:rPr lang="en-US" dirty="0" err="1"/>
                  <a:t>применяется</a:t>
                </a:r>
                <a:r>
                  <a:rPr lang="en-US" dirty="0"/>
                  <a:t> </a:t>
                </a:r>
                <a:r>
                  <a:rPr lang="en-US" dirty="0" err="1"/>
                  <a:t>ко</a:t>
                </a:r>
                <a:r>
                  <a:rPr lang="en-US" dirty="0"/>
                  <a:t> </a:t>
                </a:r>
                <a:r>
                  <a:rPr lang="en-US" dirty="0" err="1"/>
                  <a:t>всем</a:t>
                </a:r>
                <a:r>
                  <a:rPr lang="en-US" dirty="0"/>
                  <a:t> </a:t>
                </a:r>
                <a:r>
                  <a:rPr lang="en-US" dirty="0" err="1"/>
                  <a:t>строкам</a:t>
                </a:r>
                <a:r>
                  <a:rPr lang="en-US" dirty="0"/>
                  <a:t>, </a:t>
                </a:r>
              </a:p>
              <a:p>
                <a:r>
                  <a:rPr lang="en-US" dirty="0" err="1"/>
                  <a:t>затем</a:t>
                </a:r>
                <a:r>
                  <a:rPr lang="en-US" dirty="0"/>
                  <a:t> — </a:t>
                </a:r>
                <a:r>
                  <a:rPr lang="en-US" dirty="0" err="1"/>
                  <a:t>ко</a:t>
                </a:r>
                <a:r>
                  <a:rPr lang="en-US" dirty="0"/>
                  <a:t> </a:t>
                </a:r>
                <a:r>
                  <a:rPr lang="en-US" dirty="0" err="1"/>
                  <a:t>всем</a:t>
                </a:r>
                <a:r>
                  <a:rPr lang="en-US" dirty="0"/>
                  <a:t> </a:t>
                </a:r>
                <a:r>
                  <a:rPr lang="en-US" dirty="0" err="1"/>
                  <a:t>столбцам</a:t>
                </a:r>
                <a:r>
                  <a:rPr lang="en-US" dirty="0"/>
                  <a:t>. 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Классический</a:t>
                </a:r>
                <a:r>
                  <a:rPr lang="en-US" dirty="0"/>
                  <a:t> </a:t>
                </a:r>
                <a:r>
                  <a:rPr lang="en-US" dirty="0" err="1"/>
                  <a:t>алгоритм</a:t>
                </a:r>
                <a:r>
                  <a:rPr lang="en-US" dirty="0"/>
                  <a:t> Cooley–Tukey </a:t>
                </a:r>
                <a:r>
                  <a:rPr lang="en-US" dirty="0" err="1"/>
                  <a:t>наиболее</a:t>
                </a:r>
                <a:r>
                  <a:rPr lang="en-US" dirty="0"/>
                  <a:t> </a:t>
                </a:r>
                <a:r>
                  <a:rPr lang="en-US" dirty="0" err="1"/>
                  <a:t>эффективен</a:t>
                </a:r>
                <a:r>
                  <a:rPr lang="en-US" dirty="0"/>
                  <a:t>, </a:t>
                </a:r>
                <a:r>
                  <a:rPr lang="en-US" dirty="0" err="1"/>
                  <a:t>когда</a:t>
                </a:r>
                <a:r>
                  <a:rPr lang="en-US" dirty="0"/>
                  <a:t> </a:t>
                </a:r>
                <a:r>
                  <a:rPr lang="en-US" dirty="0" err="1"/>
                  <a:t>размер</a:t>
                </a:r>
                <a:r>
                  <a:rPr lang="en-US" dirty="0"/>
                  <a:t> </a:t>
                </a:r>
                <a:r>
                  <a:rPr lang="en-US" dirty="0" err="1"/>
                  <a:t>сигнала</a:t>
                </a:r>
                <a:r>
                  <a:rPr lang="en-US" dirty="0"/>
                  <a:t> </a:t>
                </a:r>
                <a:r>
                  <a:rPr lang="en-US" dirty="0" err="1"/>
                  <a:t>является</a:t>
                </a:r>
                <a:r>
                  <a:rPr lang="en-US" dirty="0"/>
                  <a:t> </a:t>
                </a:r>
                <a:r>
                  <a:rPr lang="en-US" dirty="0" err="1"/>
                  <a:t>степенью</a:t>
                </a:r>
                <a:r>
                  <a:rPr lang="en-US" dirty="0"/>
                  <a:t> </a:t>
                </a:r>
                <a:r>
                  <a:rPr lang="en-US" dirty="0" err="1"/>
                  <a:t>двойки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256, </a:t>
                </a:r>
              </a:p>
              <a:p>
                <a:r>
                  <a:rPr lang="en-US" dirty="0"/>
                  <a:t>512, </a:t>
                </a:r>
              </a:p>
              <a:p>
                <a:r>
                  <a:rPr lang="en-US" dirty="0"/>
                  <a:t>1024 и </a:t>
                </a:r>
                <a:r>
                  <a:rPr lang="en-US" dirty="0" err="1"/>
                  <a:t>так</a:t>
                </a:r>
                <a:r>
                  <a:rPr lang="en-US" dirty="0"/>
                  <a:t> </a:t>
                </a:r>
                <a:r>
                  <a:rPr lang="en-US" dirty="0" err="1"/>
                  <a:t>далее</a:t>
                </a:r>
                <a:r>
                  <a:rPr lang="en-US" dirty="0"/>
                  <a:t>. 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Поэтому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</a:t>
                </a:r>
                <a:r>
                  <a:rPr lang="en-US" dirty="0" err="1"/>
                  <a:t>перед</a:t>
                </a:r>
                <a:r>
                  <a:rPr lang="en-US" dirty="0"/>
                  <a:t> FFT </a:t>
                </a:r>
                <a:r>
                  <a:rPr lang="en-US" dirty="0" err="1"/>
                  <a:t>часто</a:t>
                </a:r>
                <a:r>
                  <a:rPr lang="en-US" dirty="0"/>
                  <a:t> </a:t>
                </a:r>
                <a:r>
                  <a:rPr lang="en-US" dirty="0" err="1"/>
                  <a:t>расширяют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ближайшего</a:t>
                </a:r>
                <a:r>
                  <a:rPr lang="en-US" dirty="0"/>
                  <a:t> </a:t>
                </a:r>
                <a:r>
                  <a:rPr lang="en-US" dirty="0" err="1"/>
                  <a:t>такого</a:t>
                </a:r>
                <a:r>
                  <a:rPr lang="en-US" dirty="0"/>
                  <a:t> </a:t>
                </a:r>
                <a:r>
                  <a:rPr lang="en-US" dirty="0" err="1"/>
                  <a:t>размера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Обычно</a:t>
                </a:r>
                <a:r>
                  <a:rPr lang="en-US" dirty="0"/>
                  <a:t> </a:t>
                </a:r>
                <a:r>
                  <a:rPr lang="en-US" dirty="0" err="1"/>
                  <a:t>это</a:t>
                </a:r>
                <a:r>
                  <a:rPr lang="en-US" dirty="0"/>
                  <a:t> </a:t>
                </a:r>
                <a:r>
                  <a:rPr lang="en-US" dirty="0" err="1"/>
                  <a:t>делается</a:t>
                </a:r>
                <a:r>
                  <a:rPr lang="en-US" dirty="0"/>
                  <a:t> </a:t>
                </a:r>
                <a:r>
                  <a:rPr lang="en-US" dirty="0" err="1"/>
                  <a:t>через</a:t>
                </a:r>
                <a:r>
                  <a:rPr lang="en-US" dirty="0"/>
                  <a:t> padding — </a:t>
                </a:r>
                <a:r>
                  <a:rPr lang="en-US" dirty="0" err="1"/>
                  <a:t>дополнение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</a:t>
                </a:r>
                <a:r>
                  <a:rPr lang="en-US" dirty="0" err="1"/>
                  <a:t>нулями</a:t>
                </a:r>
                <a:r>
                  <a:rPr lang="en-US" dirty="0"/>
                  <a:t>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чёрными</a:t>
                </a:r>
                <a:r>
                  <a:rPr lang="en-US" dirty="0"/>
                  <a:t> </a:t>
                </a:r>
                <a:r>
                  <a:rPr lang="en-US" dirty="0" err="1"/>
                  <a:t>пикселями</a:t>
                </a:r>
                <a:r>
                  <a:rPr lang="en-US" dirty="0"/>
                  <a:t> </a:t>
                </a:r>
                <a:r>
                  <a:rPr lang="en-US" dirty="0" err="1"/>
                  <a:t>по</a:t>
                </a:r>
                <a:r>
                  <a:rPr lang="en-US" dirty="0"/>
                  <a:t> </a:t>
                </a:r>
                <a:r>
                  <a:rPr lang="en-US" dirty="0" err="1"/>
                  <a:t>краям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Например</a:t>
                </a:r>
                <a:r>
                  <a:rPr lang="en-US" dirty="0"/>
                  <a:t>:</a:t>
                </a:r>
                <a:br>
                  <a:rPr lang="en-US" dirty="0"/>
                </a:br>
                <a:r>
                  <a:rPr lang="en-US" dirty="0" err="1"/>
                  <a:t>изображение</a:t>
                </a:r>
                <a:r>
                  <a:rPr lang="en-US" dirty="0"/>
                  <a:t> 1000×700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быть</a:t>
                </a:r>
                <a:r>
                  <a:rPr lang="en-US" dirty="0"/>
                  <a:t> </a:t>
                </a:r>
                <a:r>
                  <a:rPr lang="en-US" dirty="0" err="1"/>
                  <a:t>расширено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1024×1024.</a:t>
                </a:r>
                <a:endParaRPr lang="ru-RU" dirty="0"/>
              </a:p>
              <a:p>
                <a:endParaRPr lang="en-US" dirty="0"/>
              </a:p>
              <a:p>
                <a:r>
                  <a:rPr lang="en-US" dirty="0" err="1"/>
                  <a:t>Современные</a:t>
                </a:r>
                <a:r>
                  <a:rPr lang="en-US" dirty="0"/>
                  <a:t> </a:t>
                </a:r>
                <a:r>
                  <a:rPr lang="en-US" dirty="0" err="1"/>
                  <a:t>библиотеки</a:t>
                </a:r>
                <a:r>
                  <a:rPr lang="en-US" dirty="0"/>
                  <a:t> FFT </a:t>
                </a:r>
                <a:r>
                  <a:rPr lang="en-US" dirty="0" err="1"/>
                  <a:t>умеют</a:t>
                </a:r>
                <a:r>
                  <a:rPr lang="en-US" dirty="0"/>
                  <a:t> </a:t>
                </a:r>
                <a:r>
                  <a:rPr lang="en-US" dirty="0" err="1"/>
                  <a:t>работать</a:t>
                </a:r>
                <a:r>
                  <a:rPr lang="en-US" dirty="0"/>
                  <a:t> и с </a:t>
                </a:r>
                <a:r>
                  <a:rPr lang="en-US" dirty="0" err="1"/>
                  <a:t>произвольными</a:t>
                </a:r>
                <a:r>
                  <a:rPr lang="en-US" dirty="0"/>
                  <a:t> </a:t>
                </a:r>
                <a:r>
                  <a:rPr lang="en-US" dirty="0" err="1"/>
                  <a:t>размерами</a:t>
                </a:r>
                <a:r>
                  <a:rPr lang="en-US" dirty="0"/>
                  <a:t>, </a:t>
                </a:r>
                <a:r>
                  <a:rPr lang="en-US" dirty="0" err="1"/>
                  <a:t>но</a:t>
                </a:r>
                <a:r>
                  <a:rPr lang="en-US" dirty="0"/>
                  <a:t> </a:t>
                </a:r>
                <a:r>
                  <a:rPr lang="en-US" dirty="0" err="1"/>
                  <a:t>степени</a:t>
                </a:r>
                <a:r>
                  <a:rPr lang="en-US" dirty="0"/>
                  <a:t> </a:t>
                </a:r>
                <a:r>
                  <a:rPr lang="en-US" dirty="0" err="1"/>
                  <a:t>двойки</a:t>
                </a:r>
                <a:r>
                  <a:rPr lang="en-US" dirty="0"/>
                  <a:t> </a:t>
                </a:r>
                <a:r>
                  <a:rPr lang="en-US" dirty="0" err="1"/>
                  <a:t>всё</a:t>
                </a:r>
                <a:r>
                  <a:rPr lang="en-US" dirty="0"/>
                  <a:t> </a:t>
                </a:r>
                <a:r>
                  <a:rPr lang="en-US" dirty="0" err="1"/>
                  <a:t>ещё</a:t>
                </a:r>
                <a:r>
                  <a:rPr lang="en-US" dirty="0"/>
                  <a:t> </a:t>
                </a:r>
                <a:r>
                  <a:rPr lang="en-US" dirty="0" err="1"/>
                  <a:t>дают</a:t>
                </a:r>
                <a:r>
                  <a:rPr lang="en-US" dirty="0"/>
                  <a:t> </a:t>
                </a:r>
                <a:r>
                  <a:rPr lang="en-US" dirty="0" err="1"/>
                  <a:t>наилучшую</a:t>
                </a:r>
                <a:r>
                  <a:rPr lang="en-US" dirty="0"/>
                  <a:t> </a:t>
                </a:r>
                <a:r>
                  <a:rPr lang="en-US" dirty="0" err="1"/>
                  <a:t>производительность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8549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EC8C315C-6B73-2D1E-F341-58A5C96720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0FE07796-EB4B-AE3B-AFCD-00C461D84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 err="1"/>
              <a:t>Частотный</a:t>
            </a:r>
            <a:r>
              <a:rPr lang="en-US" dirty="0"/>
              <a:t> </a:t>
            </a:r>
            <a:r>
              <a:rPr lang="en-US" dirty="0" err="1"/>
              <a:t>анализ</a:t>
            </a:r>
            <a:r>
              <a:rPr lang="en-US" dirty="0"/>
              <a:t> </a:t>
            </a:r>
            <a:r>
              <a:rPr lang="en-US" dirty="0" err="1"/>
              <a:t>активно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сжатия</a:t>
            </a:r>
            <a:r>
              <a:rPr lang="en-US" dirty="0"/>
              <a:t> </a:t>
            </a:r>
            <a:r>
              <a:rPr lang="en-US" dirty="0" err="1"/>
              <a:t>изображений</a:t>
            </a:r>
            <a:r>
              <a:rPr lang="en-US" dirty="0"/>
              <a:t> и </a:t>
            </a:r>
            <a:r>
              <a:rPr lang="en-US" dirty="0" err="1"/>
              <a:t>видео</a:t>
            </a:r>
            <a:r>
              <a:rPr lang="en-US" dirty="0"/>
              <a:t>.</a:t>
            </a:r>
          </a:p>
          <a:p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переводится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пространственной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в </a:t>
            </a:r>
            <a:r>
              <a:rPr lang="en-US" dirty="0" err="1"/>
              <a:t>частотную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преобразования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важны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восприятия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Человеческое</a:t>
            </a:r>
            <a:r>
              <a:rPr lang="en-US" dirty="0"/>
              <a:t> </a:t>
            </a:r>
            <a:r>
              <a:rPr lang="en-US" dirty="0" err="1"/>
              <a:t>зрение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чувствительнее</a:t>
            </a:r>
            <a:r>
              <a:rPr lang="en-US" dirty="0"/>
              <a:t>: к </a:t>
            </a:r>
            <a:r>
              <a:rPr lang="en-US" dirty="0" err="1"/>
              <a:t>плавным</a:t>
            </a:r>
            <a:r>
              <a:rPr lang="en-US" dirty="0"/>
              <a:t> </a:t>
            </a:r>
            <a:r>
              <a:rPr lang="en-US" dirty="0" err="1"/>
              <a:t>изменениям</a:t>
            </a:r>
            <a:r>
              <a:rPr lang="en-US" dirty="0"/>
              <a:t> </a:t>
            </a:r>
            <a:r>
              <a:rPr lang="en-US" dirty="0" err="1"/>
              <a:t>яркости</a:t>
            </a:r>
            <a:r>
              <a:rPr lang="en-US" dirty="0"/>
              <a:t>, </a:t>
            </a:r>
            <a:r>
              <a:rPr lang="en-US" dirty="0" err="1"/>
              <a:t>крупным</a:t>
            </a:r>
            <a:r>
              <a:rPr lang="en-US" dirty="0"/>
              <a:t> </a:t>
            </a:r>
            <a:r>
              <a:rPr lang="en-US" dirty="0" err="1"/>
              <a:t>структурам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и </a:t>
            </a:r>
            <a:r>
              <a:rPr lang="en-US" dirty="0" err="1"/>
              <a:t>низким</a:t>
            </a:r>
            <a:r>
              <a:rPr lang="en-US" dirty="0"/>
              <a:t> </a:t>
            </a:r>
            <a:r>
              <a:rPr lang="en-US" dirty="0" err="1"/>
              <a:t>частотам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Высокочастотные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: </a:t>
            </a:r>
            <a:r>
              <a:rPr lang="en-US" dirty="0" err="1"/>
              <a:t>мелкий</a:t>
            </a:r>
            <a:r>
              <a:rPr lang="en-US" dirty="0"/>
              <a:t> </a:t>
            </a:r>
            <a:r>
              <a:rPr lang="en-US" dirty="0" err="1"/>
              <a:t>шум</a:t>
            </a:r>
            <a:r>
              <a:rPr lang="en-US" dirty="0"/>
              <a:t>, </a:t>
            </a:r>
            <a:r>
              <a:rPr lang="en-US" dirty="0" err="1"/>
              <a:t>небольшие</a:t>
            </a:r>
            <a:r>
              <a:rPr lang="en-US" dirty="0"/>
              <a:t> </a:t>
            </a:r>
            <a:r>
              <a:rPr lang="en-US" dirty="0" err="1"/>
              <a:t>текстуры</a:t>
            </a:r>
            <a:r>
              <a:rPr lang="en-US" dirty="0"/>
              <a:t>, и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тонкие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цвета</a:t>
            </a:r>
            <a:r>
              <a:rPr lang="en-US" dirty="0"/>
              <a:t> </a:t>
            </a:r>
            <a:r>
              <a:rPr lang="en-US" dirty="0" err="1"/>
              <a:t>воспринимаются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хуже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высоких</a:t>
            </a:r>
            <a:r>
              <a:rPr lang="en-US" dirty="0"/>
              <a:t> </a:t>
            </a:r>
            <a:r>
              <a:rPr lang="en-US" dirty="0" err="1"/>
              <a:t>частот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удалить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с </a:t>
            </a:r>
            <a:r>
              <a:rPr lang="en-US" dirty="0" err="1"/>
              <a:t>меньшей</a:t>
            </a:r>
            <a:r>
              <a:rPr lang="en-US" dirty="0"/>
              <a:t> </a:t>
            </a:r>
            <a:r>
              <a:rPr lang="en-US" dirty="0" err="1"/>
              <a:t>точностью</a:t>
            </a:r>
            <a:r>
              <a:rPr lang="en-US" dirty="0"/>
              <a:t>,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ухудшая</a:t>
            </a:r>
            <a:r>
              <a:rPr lang="en-US" dirty="0"/>
              <a:t> </a:t>
            </a:r>
            <a:r>
              <a:rPr lang="en-US" dirty="0" err="1"/>
              <a:t>визуальное</a:t>
            </a:r>
            <a:r>
              <a:rPr lang="en-US" dirty="0"/>
              <a:t> </a:t>
            </a:r>
            <a:r>
              <a:rPr lang="en-US" dirty="0" err="1"/>
              <a:t>качество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основано</a:t>
            </a:r>
            <a:r>
              <a:rPr lang="en-US" dirty="0"/>
              <a:t> </a:t>
            </a:r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алгоритмов</a:t>
            </a:r>
            <a:r>
              <a:rPr lang="en-US" dirty="0"/>
              <a:t> </a:t>
            </a:r>
            <a:r>
              <a:rPr lang="en-US" dirty="0" err="1"/>
              <a:t>сжатия</a:t>
            </a:r>
            <a:r>
              <a:rPr lang="en-US" dirty="0"/>
              <a:t>.</a:t>
            </a:r>
          </a:p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JPEG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дискретное</a:t>
            </a:r>
            <a:r>
              <a:rPr lang="en-US" dirty="0"/>
              <a:t> </a:t>
            </a:r>
            <a:r>
              <a:rPr lang="en-US" dirty="0" err="1"/>
              <a:t>косинусное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— DCT.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похоже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Фурье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компрессии</a:t>
            </a:r>
            <a:r>
              <a:rPr lang="en-US" dirty="0"/>
              <a:t> </a:t>
            </a:r>
            <a:r>
              <a:rPr lang="en-US" dirty="0" err="1"/>
              <a:t>изображений</a:t>
            </a:r>
            <a:r>
              <a:rPr lang="en-US" dirty="0"/>
              <a:t> и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артефактов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границах</a:t>
            </a:r>
            <a:r>
              <a:rPr lang="en-US" dirty="0"/>
              <a:t> </a:t>
            </a:r>
            <a:r>
              <a:rPr lang="en-US" dirty="0" err="1"/>
              <a:t>блоков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переводится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RGB в </a:t>
            </a:r>
            <a:r>
              <a:rPr lang="en-US" dirty="0" err="1"/>
              <a:t>YCbCr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цветность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дополнительно</a:t>
            </a:r>
            <a:r>
              <a:rPr lang="en-US" dirty="0"/>
              <a:t> </a:t>
            </a:r>
            <a:r>
              <a:rPr lang="en-US" dirty="0" err="1"/>
              <a:t>уменьшается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chroma subsampling.</a:t>
            </a:r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разбивается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блоки</a:t>
            </a:r>
            <a:r>
              <a:rPr lang="en-US" dirty="0"/>
              <a:t> </a:t>
            </a:r>
            <a:r>
              <a:rPr lang="en-US" dirty="0" err="1"/>
              <a:t>размером</a:t>
            </a:r>
            <a:r>
              <a:rPr lang="en-US" dirty="0"/>
              <a:t> 8×8 </a:t>
            </a:r>
            <a:r>
              <a:rPr lang="en-US" dirty="0" err="1"/>
              <a:t>пикселей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блока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DCT,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раскладывает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пространственных</a:t>
            </a:r>
            <a:r>
              <a:rPr lang="en-US" dirty="0"/>
              <a:t> </a:t>
            </a:r>
            <a:r>
              <a:rPr lang="en-US" dirty="0" err="1"/>
              <a:t>частот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коэффициенты</a:t>
            </a:r>
            <a:r>
              <a:rPr lang="en-US" dirty="0"/>
              <a:t> </a:t>
            </a:r>
            <a:r>
              <a:rPr lang="en-US" dirty="0" err="1"/>
              <a:t>квантуются</a:t>
            </a:r>
            <a:r>
              <a:rPr lang="en-US" dirty="0"/>
              <a:t>.</a:t>
            </a:r>
          </a:p>
          <a:p>
            <a:r>
              <a:rPr lang="en-US" dirty="0" err="1"/>
              <a:t>Низкие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 </a:t>
            </a:r>
            <a:r>
              <a:rPr lang="en-US" dirty="0" err="1"/>
              <a:t>сохраняются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точно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восприятия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Высокие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 </a:t>
            </a:r>
            <a:r>
              <a:rPr lang="en-US" dirty="0" err="1"/>
              <a:t>квантуются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сильнее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отбрасываются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этап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основное</a:t>
            </a:r>
            <a:r>
              <a:rPr lang="en-US" dirty="0"/>
              <a:t> </a:t>
            </a:r>
            <a:r>
              <a:rPr lang="en-US" dirty="0" err="1"/>
              <a:t>сжатие</a:t>
            </a:r>
            <a:r>
              <a:rPr lang="en-US" dirty="0"/>
              <a:t> JPEG.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сильном</a:t>
            </a:r>
            <a:r>
              <a:rPr lang="en-US" dirty="0"/>
              <a:t> </a:t>
            </a:r>
            <a:r>
              <a:rPr lang="en-US" dirty="0" err="1"/>
              <a:t>сжатии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характерные</a:t>
            </a:r>
            <a:r>
              <a:rPr lang="en-US" dirty="0"/>
              <a:t> </a:t>
            </a:r>
            <a:r>
              <a:rPr lang="en-US" dirty="0" err="1"/>
              <a:t>артефакты</a:t>
            </a:r>
            <a:r>
              <a:rPr lang="en-US" dirty="0"/>
              <a:t>:</a:t>
            </a:r>
          </a:p>
          <a:p>
            <a:r>
              <a:rPr lang="en-US" dirty="0" err="1"/>
              <a:t>квадраты</a:t>
            </a:r>
            <a:r>
              <a:rPr lang="en-US" dirty="0"/>
              <a:t> 8×8, </a:t>
            </a:r>
          </a:p>
          <a:p>
            <a:r>
              <a:rPr lang="en-US" dirty="0"/>
              <a:t>ringing, </a:t>
            </a:r>
          </a:p>
          <a:p>
            <a:r>
              <a:rPr lang="en-US" dirty="0" err="1"/>
              <a:t>потеря</a:t>
            </a:r>
            <a:r>
              <a:rPr lang="en-US" dirty="0"/>
              <a:t> </a:t>
            </a:r>
            <a:r>
              <a:rPr lang="en-US" dirty="0" err="1"/>
              <a:t>мелких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9234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Помимо</a:t>
            </a:r>
            <a:r>
              <a:rPr lang="en-US" dirty="0"/>
              <a:t> DCT </a:t>
            </a:r>
            <a:r>
              <a:rPr lang="en-US" dirty="0" err="1"/>
              <a:t>существуют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частотные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компрессии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известных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wavelet transform — </a:t>
            </a:r>
            <a:r>
              <a:rPr lang="en-US" dirty="0" err="1"/>
              <a:t>вейвлет-преобразование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DCT,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фиксированными</a:t>
            </a:r>
            <a:r>
              <a:rPr lang="en-US" dirty="0"/>
              <a:t> </a:t>
            </a:r>
            <a:r>
              <a:rPr lang="en-US" dirty="0" err="1"/>
              <a:t>блоками</a:t>
            </a:r>
            <a:r>
              <a:rPr lang="en-US" dirty="0"/>
              <a:t> 8×8, wavelet-</a:t>
            </a:r>
            <a:r>
              <a:rPr lang="en-US" dirty="0" err="1"/>
              <a:t>анализ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:</a:t>
            </a:r>
          </a:p>
          <a:p>
            <a:r>
              <a:rPr lang="en-US" dirty="0" err="1"/>
              <a:t>частоту</a:t>
            </a:r>
            <a:r>
              <a:rPr lang="en-US" dirty="0"/>
              <a:t>, </a:t>
            </a:r>
          </a:p>
          <a:p>
            <a:r>
              <a:rPr lang="en-US" dirty="0"/>
              <a:t>и </a:t>
            </a:r>
            <a:r>
              <a:rPr lang="en-US" dirty="0" err="1"/>
              <a:t>пространственное</a:t>
            </a:r>
            <a:r>
              <a:rPr lang="en-US" dirty="0"/>
              <a:t> </a:t>
            </a:r>
            <a:r>
              <a:rPr lang="en-US" dirty="0" err="1"/>
              <a:t>расположение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преимуществ</a:t>
            </a:r>
            <a:r>
              <a:rPr lang="en-US" dirty="0"/>
              <a:t>.</a:t>
            </a:r>
          </a:p>
          <a:p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уменьшается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block artifacts.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качество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сильном</a:t>
            </a:r>
            <a:r>
              <a:rPr lang="en-US" dirty="0"/>
              <a:t> </a:t>
            </a:r>
            <a:r>
              <a:rPr lang="en-US" dirty="0" err="1"/>
              <a:t>сжатии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оказывается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.</a:t>
            </a:r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wavelet-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progressive loading — </a:t>
            </a:r>
            <a:r>
              <a:rPr lang="en-US" dirty="0" err="1"/>
              <a:t>постепенной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грубого</a:t>
            </a:r>
            <a:r>
              <a:rPr lang="en-US" dirty="0"/>
              <a:t> </a:t>
            </a:r>
            <a:r>
              <a:rPr lang="en-US" dirty="0" err="1"/>
              <a:t>варианта</a:t>
            </a:r>
            <a:r>
              <a:rPr lang="en-US" dirty="0"/>
              <a:t> к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детальному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wavelet-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в JPEG2000,</a:t>
            </a:r>
            <a:br>
              <a:rPr lang="en-US" dirty="0"/>
            </a:br>
            <a:r>
              <a:rPr lang="en-US" dirty="0"/>
              <a:t>HDR imaging,</a:t>
            </a:r>
            <a:br>
              <a:rPr lang="en-US" dirty="0"/>
            </a:br>
            <a:r>
              <a:rPr lang="en-US" dirty="0" err="1"/>
              <a:t>научной</a:t>
            </a:r>
            <a:r>
              <a:rPr lang="en-US" dirty="0"/>
              <a:t> </a:t>
            </a:r>
            <a:r>
              <a:rPr lang="en-US" dirty="0" err="1"/>
              <a:t>визуализации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и </a:t>
            </a:r>
            <a:r>
              <a:rPr lang="en-US" dirty="0" err="1"/>
              <a:t>медицинской</a:t>
            </a:r>
            <a:r>
              <a:rPr lang="en-US" dirty="0"/>
              <a:t> </a:t>
            </a:r>
            <a:r>
              <a:rPr lang="en-US" dirty="0" err="1"/>
              <a:t>обработке</a:t>
            </a:r>
            <a:r>
              <a:rPr lang="en-US" dirty="0"/>
              <a:t> </a:t>
            </a:r>
            <a:r>
              <a:rPr lang="en-US" dirty="0" err="1"/>
              <a:t>изображений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Однако</a:t>
            </a:r>
            <a:r>
              <a:rPr lang="en-US" dirty="0"/>
              <a:t> </a:t>
            </a:r>
            <a:r>
              <a:rPr lang="en-US" dirty="0" err="1"/>
              <a:t>классический</a:t>
            </a:r>
            <a:r>
              <a:rPr lang="en-US" dirty="0"/>
              <a:t> JPEG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чрезвычайно</a:t>
            </a:r>
            <a:r>
              <a:rPr lang="en-US" dirty="0"/>
              <a:t> </a:t>
            </a:r>
            <a:r>
              <a:rPr lang="en-US" dirty="0" err="1"/>
              <a:t>популярным</a:t>
            </a:r>
            <a:r>
              <a:rPr lang="en-US" dirty="0"/>
              <a:t>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своей</a:t>
            </a:r>
            <a:r>
              <a:rPr lang="en-US" dirty="0"/>
              <a:t> </a:t>
            </a:r>
            <a:r>
              <a:rPr lang="en-US" dirty="0" err="1"/>
              <a:t>простоте</a:t>
            </a:r>
            <a:r>
              <a:rPr lang="en-US" dirty="0"/>
              <a:t> и </a:t>
            </a:r>
            <a:r>
              <a:rPr lang="en-US" dirty="0" err="1"/>
              <a:t>высокой</a:t>
            </a:r>
            <a:r>
              <a:rPr lang="en-US" dirty="0"/>
              <a:t> </a:t>
            </a:r>
            <a:r>
              <a:rPr lang="en-US" dirty="0" err="1"/>
              <a:t>скорости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19834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фундаментальные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цифровой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изображений</a:t>
            </a:r>
            <a:r>
              <a:rPr lang="en-US" dirty="0"/>
              <a:t> и </a:t>
            </a:r>
            <a:r>
              <a:rPr lang="en-US" dirty="0" err="1"/>
              <a:t>сигналов</a:t>
            </a:r>
            <a:r>
              <a:rPr lang="en-US" dirty="0"/>
              <a:t>, </a:t>
            </a:r>
            <a:r>
              <a:rPr lang="en-US" dirty="0" err="1"/>
              <a:t>лежащие</a:t>
            </a:r>
            <a:r>
              <a:rPr lang="en-US" dirty="0"/>
              <a:t> в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современной</a:t>
            </a:r>
            <a:r>
              <a:rPr lang="en-US" dirty="0"/>
              <a:t> </a:t>
            </a:r>
            <a:r>
              <a:rPr lang="en-US" dirty="0" err="1"/>
              <a:t>компьютерной</a:t>
            </a:r>
            <a:r>
              <a:rPr lang="en-US" dirty="0"/>
              <a:t> </a:t>
            </a:r>
            <a:r>
              <a:rPr lang="en-US" dirty="0" err="1"/>
              <a:t>графики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изучили</a:t>
            </a:r>
            <a:r>
              <a:rPr lang="en-US" dirty="0"/>
              <a:t> </a:t>
            </a:r>
            <a:r>
              <a:rPr lang="en-US" dirty="0" err="1"/>
              <a:t>различные</a:t>
            </a:r>
            <a:r>
              <a:rPr lang="en-US" dirty="0"/>
              <a:t> </a:t>
            </a:r>
            <a:r>
              <a:rPr lang="en-US" dirty="0" err="1"/>
              <a:t>цветовые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и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компрессии</a:t>
            </a:r>
            <a:r>
              <a:rPr lang="en-US" dirty="0"/>
              <a:t> и </a:t>
            </a:r>
            <a:r>
              <a:rPr lang="en-US" dirty="0" err="1"/>
              <a:t>анализа</a:t>
            </a:r>
            <a:r>
              <a:rPr lang="en-US" dirty="0"/>
              <a:t> </a:t>
            </a:r>
            <a:r>
              <a:rPr lang="en-US" dirty="0" err="1"/>
              <a:t>цвета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пространственную</a:t>
            </a:r>
            <a:r>
              <a:rPr lang="en-US" dirty="0"/>
              <a:t> </a:t>
            </a:r>
            <a:r>
              <a:rPr lang="en-US" dirty="0" err="1"/>
              <a:t>обработку</a:t>
            </a:r>
            <a:r>
              <a:rPr lang="en-US" dirty="0"/>
              <a:t> </a:t>
            </a:r>
            <a:r>
              <a:rPr lang="en-US" dirty="0" err="1"/>
              <a:t>изображений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свёртки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фильтры</a:t>
            </a:r>
            <a:r>
              <a:rPr lang="en-US" dirty="0"/>
              <a:t> </a:t>
            </a:r>
            <a:r>
              <a:rPr lang="en-US" dirty="0" err="1"/>
              <a:t>размытия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повышение</a:t>
            </a:r>
            <a:r>
              <a:rPr lang="en-US" dirty="0"/>
              <a:t> </a:t>
            </a:r>
            <a:r>
              <a:rPr lang="en-US" dirty="0" err="1"/>
              <a:t>резкости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выделение</a:t>
            </a:r>
            <a:r>
              <a:rPr lang="en-US" dirty="0"/>
              <a:t> </a:t>
            </a:r>
            <a:r>
              <a:rPr lang="en-US" dirty="0" err="1"/>
              <a:t>границ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и </a:t>
            </a:r>
            <a:r>
              <a:rPr lang="en-US" dirty="0" err="1"/>
              <a:t>подавление</a:t>
            </a:r>
            <a:r>
              <a:rPr lang="en-US" dirty="0"/>
              <a:t> </a:t>
            </a:r>
            <a:r>
              <a:rPr lang="en-US" dirty="0" err="1"/>
              <a:t>шумов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перешли</a:t>
            </a:r>
            <a:r>
              <a:rPr lang="en-US" dirty="0"/>
              <a:t> к </a:t>
            </a:r>
            <a:r>
              <a:rPr lang="en-US" dirty="0" err="1"/>
              <a:t>цифровой</a:t>
            </a:r>
            <a:r>
              <a:rPr lang="en-US" dirty="0"/>
              <a:t> </a:t>
            </a:r>
            <a:r>
              <a:rPr lang="en-US" dirty="0" err="1"/>
              <a:t>обработке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 и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двумерный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позволило</a:t>
            </a:r>
            <a:r>
              <a:rPr lang="en-US" dirty="0"/>
              <a:t> </a:t>
            </a:r>
            <a:r>
              <a:rPr lang="ru-RU" dirty="0"/>
              <a:t>рассмотреть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дискретизацию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sampling,</a:t>
            </a:r>
            <a:br>
              <a:rPr lang="en-US" dirty="0"/>
            </a:br>
            <a:r>
              <a:rPr lang="en-US" dirty="0"/>
              <a:t>aliasing,</a:t>
            </a:r>
            <a:br>
              <a:rPr lang="en-US" dirty="0"/>
            </a:br>
            <a:r>
              <a:rPr lang="en-US" dirty="0"/>
              <a:t>anti-aliasing,</a:t>
            </a:r>
            <a:br>
              <a:rPr lang="en-US" dirty="0"/>
            </a:br>
            <a:r>
              <a:rPr lang="en-US" dirty="0" err="1"/>
              <a:t>частотный</a:t>
            </a:r>
            <a:r>
              <a:rPr lang="en-US" dirty="0"/>
              <a:t> </a:t>
            </a:r>
            <a:r>
              <a:rPr lang="en-US" dirty="0" err="1"/>
              <a:t>анализ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и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Фурье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частотные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применяются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фильтрации</a:t>
            </a:r>
            <a:r>
              <a:rPr lang="en-US" dirty="0"/>
              <a:t> </a:t>
            </a:r>
            <a:r>
              <a:rPr lang="en-US" dirty="0" err="1"/>
              <a:t>изображений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ускорения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и </a:t>
            </a:r>
            <a:r>
              <a:rPr lang="en-US" dirty="0" err="1"/>
              <a:t>компрессии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графических</a:t>
            </a:r>
            <a:r>
              <a:rPr lang="en-US" dirty="0"/>
              <a:t> </a:t>
            </a:r>
            <a:r>
              <a:rPr lang="en-US" dirty="0" err="1"/>
              <a:t>технологий</a:t>
            </a:r>
            <a:r>
              <a:rPr lang="en-US" dirty="0"/>
              <a:t> —</a:t>
            </a:r>
            <a:r>
              <a:rPr lang="ru-RU" dirty="0"/>
              <a:t> </a:t>
            </a:r>
            <a:r>
              <a:rPr lang="en-US" dirty="0" err="1"/>
              <a:t>рендеринг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постобработка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JPEG,</a:t>
            </a:r>
            <a:r>
              <a:rPr lang="ru-RU" dirty="0"/>
              <a:t> </a:t>
            </a:r>
            <a:r>
              <a:rPr lang="en-US" dirty="0" err="1"/>
              <a:t>видеокодеки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GPU-</a:t>
            </a:r>
            <a:r>
              <a:rPr lang="en-US" dirty="0" err="1"/>
              <a:t>фильтрация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и machine learning —</a:t>
            </a:r>
            <a:r>
              <a:rPr lang="ru-RU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 </a:t>
            </a:r>
            <a:r>
              <a:rPr lang="en-US" dirty="0" err="1"/>
              <a:t>основаны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идеях</a:t>
            </a:r>
            <a:r>
              <a:rPr lang="en-US" dirty="0"/>
              <a:t> </a:t>
            </a:r>
            <a:r>
              <a:rPr lang="en-US" dirty="0" err="1"/>
              <a:t>цифровой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 и </a:t>
            </a:r>
            <a:r>
              <a:rPr lang="en-US" dirty="0" err="1"/>
              <a:t>изображений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Понимание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принципов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компьютерной</a:t>
            </a:r>
            <a:r>
              <a:rPr lang="en-US" dirty="0"/>
              <a:t> </a:t>
            </a:r>
            <a:r>
              <a:rPr lang="en-US" dirty="0" err="1"/>
              <a:t>графики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для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компьютерного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видео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нейросетей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и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мультимедийных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в </a:t>
            </a:r>
            <a:r>
              <a:rPr lang="en-US" dirty="0" err="1"/>
              <a:t>целом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23D5B-7383-46CD-9583-7E6A0047D958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715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3286-C3C8-2128-40EC-911AD08766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B1E07-DBF3-1F46-CCD9-662D50844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831BE-FA28-04B4-B551-E90E9721E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51F07-19C4-4F39-90DA-1253C2E43DB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0BA87-307C-316F-734F-CDF6B010F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5F0E3-F16E-851E-C669-1FFCBB33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561C-9AC4-45BB-BD6F-F5DD5016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92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6F67-43F9-FF61-48F5-15533DDA7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285A5-1E4D-CA6E-134F-D34DBB30C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C0C87-E76B-8154-BF0F-0442AD5D7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51F07-19C4-4F39-90DA-1253C2E43DB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CBBCA-1702-159D-0DD0-47967A397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DAD75-B5EB-ACB4-7924-9E370043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561C-9AC4-45BB-BD6F-F5DD5016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08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4AC9-4355-D694-BA17-62D64CCFF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8BDD1-2483-97D0-DF8F-7C13B25BD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66C84-39F3-94AC-79F9-ED39C8F47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51F07-19C4-4F39-90DA-1253C2E43DB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0C379-A4F0-542B-09C5-C1CED37C1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C2510-2474-56DD-B669-6DD81D283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561C-9AC4-45BB-BD6F-F5DD5016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78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9EF40-90DB-F4DA-7214-E0C7C757F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AAE16-9CC9-52D3-4861-DB457DBE2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E9DC4D-2842-3A49-19E0-A2563A1D6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E9BCD-1991-02C3-C18E-52ED81388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51F07-19C4-4F39-90DA-1253C2E43DB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EB027-4AFE-5181-6B99-B0CA1C0E9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79566-E8E4-5EE3-7D89-1C7EBF57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561C-9AC4-45BB-BD6F-F5DD5016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59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6D7F-FEE1-AA44-7822-5FADC5532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1E918-FA70-7CD6-4317-7FC6AA70A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23E9C-2A38-B040-3FAE-ED6D0305B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B30CB-E2A5-A6F7-5271-78AF2FC9D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E827A-AF32-0423-4CD5-DACDE516E0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8E63F-A03D-7542-3DED-61771D280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51F07-19C4-4F39-90DA-1253C2E43DB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F38AA8-0D80-71BA-E6DB-DB0DCC58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632C3C-5E06-705C-4752-3AB1FE91B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561C-9AC4-45BB-BD6F-F5DD5016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749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DA49D-538C-EF7A-9A7E-E0EFF14C8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7A11B2-EAC2-15F2-6A4A-7662FD3F3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51F07-19C4-4F39-90DA-1253C2E43DB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2A2AA-5164-BCFC-3AF3-571946FCC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2A01B-3867-8ADB-D3BF-9629B742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561C-9AC4-45BB-BD6F-F5DD5016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41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EDC38-AC4A-CA3F-566E-0E86CA61B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51F07-19C4-4F39-90DA-1253C2E43DB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BC870B-80DC-DCC9-B0E5-04B782D74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6BEC1-00CE-915D-E947-6FA5B48A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561C-9AC4-45BB-BD6F-F5DD5016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35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0CBF9-A586-7939-2977-417EC9437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34E16-D016-B327-453A-0DE4C22B2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A4BD0-007D-3373-08EE-5455A9396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0A9EA-C894-73B0-3C79-7C9D4EC0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51F07-19C4-4F39-90DA-1253C2E43DB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6BC9E-FD63-EA0D-ED66-0C27BBBD3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9E587-8A35-3FC8-D60F-F8E5FB41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561C-9AC4-45BB-BD6F-F5DD5016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73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CA1D-4CD0-1F8D-19FD-273316EDF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B9DFF9-C2DC-AFA0-DEF1-6F7A9873D3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BAF06-6BD1-77C9-F176-4E87EF147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81918-BE0E-5F8D-B495-23DB2807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51F07-19C4-4F39-90DA-1253C2E43DB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E9997-9B28-18AC-9897-428F652D8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F2EB76-3D21-8749-8B75-29C8FC407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561C-9AC4-45BB-BD6F-F5DD5016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34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E3098-6623-9904-50A1-8C007A44B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B9278-4C9A-D647-D7A1-FA2AD3B3A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EEDD5-418E-62B5-2598-3594AE52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51F07-19C4-4F39-90DA-1253C2E43DB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1A895-7E76-5B54-C42B-9D95D566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DED26-1438-CDF0-231F-9F3C2DB7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561C-9AC4-45BB-BD6F-F5DD5016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01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E02D3-E6E0-675F-D523-5BE2C3B373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BBEEC-B37B-8CE4-D200-673D4E093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E1950-F5F2-6F0A-123A-8FBF984C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51F07-19C4-4F39-90DA-1253C2E43DB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42A23-1362-2D2A-BB11-10578F68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79FDD-5606-630F-242F-36A4BD32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561C-9AC4-45BB-BD6F-F5DD5016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13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Заголовок и текст над объек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10363200" cy="198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1576917" y="4151313"/>
            <a:ext cx="10363200" cy="1981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9">
            <a:extLst>
              <a:ext uri="{FF2B5EF4-FFF2-40B4-BE49-F238E27FC236}">
                <a16:creationId xmlns:a16="http://schemas.microsoft.com/office/drawing/2014/main" id="{7D75E3D6-18C8-92EC-70DC-2FB1478A1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21">
            <a:extLst>
              <a:ext uri="{FF2B5EF4-FFF2-40B4-BE49-F238E27FC236}">
                <a16:creationId xmlns:a16="http://schemas.microsoft.com/office/drawing/2014/main" id="{D9988479-AE81-1A40-C16C-086D76FC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17">
            <a:extLst>
              <a:ext uri="{FF2B5EF4-FFF2-40B4-BE49-F238E27FC236}">
                <a16:creationId xmlns:a16="http://schemas.microsoft.com/office/drawing/2014/main" id="{A398EF77-E628-D7B7-A41F-B8D11CD18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34EBD-0F60-4C61-8166-38AE8E3C467F}" type="slidenum">
              <a:rPr lang="ru-RU" altLang="en-US"/>
              <a:pPr>
                <a:defRPr/>
              </a:pPr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964724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8866A2-2330-398B-E924-E1D9C87E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63219-B778-4B79-3637-B5373AC8C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9BCCC-B405-34B7-E118-B93F93AB0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51F07-19C4-4F39-90DA-1253C2E43DB3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DACCA-0746-620C-B59E-B33394446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1D7A4-9AD7-EB6E-E7C6-8AAA01FD5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7561C-9AC4-45BB-BD6F-F5DD5016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1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1.jp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0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0.png"/><Relationship Id="rId5" Type="http://schemas.openxmlformats.org/officeDocument/2006/relationships/image" Target="../media/image68.png"/><Relationship Id="rId4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1.png"/><Relationship Id="rId4" Type="http://schemas.openxmlformats.org/officeDocument/2006/relationships/image" Target="../media/image6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jpeg"/><Relationship Id="rId4" Type="http://schemas.openxmlformats.org/officeDocument/2006/relationships/image" Target="../media/image6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gi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vincmazet.github.io/bip/filtering/fourier.html" TargetMode="External"/><Relationship Id="rId4" Type="http://schemas.openxmlformats.org/officeDocument/2006/relationships/image" Target="../media/image9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demofox.org/2020/11/04/frequency-domain-image-compression-and-filtering/" TargetMode="Externa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BB7F3-E6FC-EF8E-16C8-12161E9145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Цифровая обработка изображений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E07205-B380-86D1-7D12-1DD0065AC9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6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1DED7-AB17-BDF4-F747-395830B1E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Цифровое растровое изображение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B5661-FCEC-2B37-D49A-17736599B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186353" cy="4351338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Цифровое изображение</a:t>
            </a:r>
            <a:r>
              <a:rPr lang="ru-RU" dirty="0"/>
              <a:t> — это дискретное представление визуальной информации в виде двумерной матрицы пикселей.</a:t>
            </a:r>
          </a:p>
          <a:p>
            <a:r>
              <a:rPr lang="ru-RU" dirty="0"/>
              <a:t>Каждый пиксель хранит: яркость, цвет, дополнительные данные (например, прозрачность). </a:t>
            </a:r>
          </a:p>
          <a:p>
            <a:r>
              <a:rPr lang="ru-RU" b="1" dirty="0"/>
              <a:t>Разрешение – к</a:t>
            </a:r>
            <a:r>
              <a:rPr lang="ru-RU" dirty="0"/>
              <a:t>оличество пикселей по горизонтали и вертикали.</a:t>
            </a:r>
          </a:p>
          <a:p>
            <a:pPr lvl="1"/>
            <a:r>
              <a:rPr lang="ru-RU" dirty="0"/>
              <a:t>Примеры: 1920×1080, 3840×2160 </a:t>
            </a:r>
          </a:p>
          <a:p>
            <a:pPr lvl="1"/>
            <a:r>
              <a:rPr lang="ru-RU" dirty="0"/>
              <a:t>Определяет уровень детализации изображения.</a:t>
            </a:r>
          </a:p>
          <a:p>
            <a:r>
              <a:rPr lang="ru-RU" b="1" dirty="0"/>
              <a:t>Глубина цвета – к</a:t>
            </a:r>
            <a:r>
              <a:rPr lang="ru-RU" dirty="0"/>
              <a:t>оличество бит, используемых для хранения одного пикселя.</a:t>
            </a:r>
          </a:p>
          <a:p>
            <a:pPr lvl="1"/>
            <a:r>
              <a:rPr lang="ru-RU" dirty="0"/>
              <a:t>Примеры: 8 бит — 256 уровней яркости, 24 бита RGB — более 16 млн цветов. </a:t>
            </a:r>
          </a:p>
          <a:p>
            <a:pPr lvl="1"/>
            <a:r>
              <a:rPr lang="ru-RU" dirty="0"/>
              <a:t>Определяет точность передачи цвета и плавность градиентов.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84CC5B3-AF72-B067-9C96-7ABE8393E7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4553" y="1825625"/>
            <a:ext cx="3505200" cy="3810000"/>
          </a:xfrm>
        </p:spPr>
      </p:pic>
    </p:spTree>
    <p:extLst>
      <p:ext uri="{BB962C8B-B14F-4D97-AF65-F5344CB8AC3E}">
        <p14:creationId xmlns:p14="http://schemas.microsoft.com/office/powerpoint/2010/main" val="3368970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51D66E-300E-0B03-19B6-CB8893D03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цифровой обработка изображений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878E4-E8D8-2E71-19E1-8C3D35EB1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61364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Улучшение качества изображений </a:t>
            </a:r>
          </a:p>
          <a:p>
            <a:pPr lvl="1"/>
            <a:r>
              <a:rPr lang="ru-RU" dirty="0"/>
              <a:t>шумоподавление; </a:t>
            </a:r>
          </a:p>
          <a:p>
            <a:pPr lvl="1"/>
            <a:r>
              <a:rPr lang="ru-RU" dirty="0"/>
              <a:t>повышение резкости; </a:t>
            </a:r>
          </a:p>
          <a:p>
            <a:pPr lvl="1"/>
            <a:r>
              <a:rPr lang="ru-RU" dirty="0"/>
              <a:t>коррекция яркости и контраста. </a:t>
            </a:r>
          </a:p>
          <a:p>
            <a:r>
              <a:rPr lang="ru-RU" dirty="0"/>
              <a:t>Выделение и анализ объектов </a:t>
            </a:r>
          </a:p>
          <a:p>
            <a:pPr lvl="1"/>
            <a:r>
              <a:rPr lang="ru-RU" dirty="0"/>
              <a:t>обнаружение границ; </a:t>
            </a:r>
          </a:p>
          <a:p>
            <a:pPr lvl="1"/>
            <a:r>
              <a:rPr lang="ru-RU" dirty="0"/>
              <a:t>сегментация; </a:t>
            </a:r>
          </a:p>
          <a:p>
            <a:pPr lvl="1"/>
            <a:r>
              <a:rPr lang="ru-RU" dirty="0"/>
              <a:t>распознавание объектов. </a:t>
            </a:r>
          </a:p>
          <a:p>
            <a:r>
              <a:rPr lang="ru-RU" dirty="0"/>
              <a:t>Подготовка данных для компьютерного зрения и ИИ </a:t>
            </a:r>
          </a:p>
          <a:p>
            <a:r>
              <a:rPr lang="ru-RU" dirty="0"/>
              <a:t>Сжатие и восстановление изображений</a:t>
            </a:r>
          </a:p>
        </p:txBody>
      </p:sp>
      <p:pic>
        <p:nvPicPr>
          <p:cNvPr id="1026" name="Picture 2" descr="preview">
            <a:extLst>
              <a:ext uri="{FF2B5EF4-FFF2-40B4-BE49-F238E27FC236}">
                <a16:creationId xmlns:a16="http://schemas.microsoft.com/office/drawing/2014/main" id="{112C077B-106D-A53C-D3EC-01190F77BA8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486" y="1690688"/>
            <a:ext cx="5137950" cy="2371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nvas showing effect of Sharpen filter">
            <a:extLst>
              <a:ext uri="{FF2B5EF4-FFF2-40B4-BE49-F238E27FC236}">
                <a16:creationId xmlns:a16="http://schemas.microsoft.com/office/drawing/2014/main" id="{CEE59748-F990-7584-D4BB-528CF7EC5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485" y="4329602"/>
            <a:ext cx="5137950" cy="167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9917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3559-AB48-E87A-5190-B441B5E18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Области применения цифровой обработки изображений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722EE-A0E5-51EF-C3B8-3572DDD30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743007" cy="4351338"/>
          </a:xfrm>
        </p:spPr>
        <p:txBody>
          <a:bodyPr/>
          <a:lstStyle/>
          <a:p>
            <a:r>
              <a:rPr lang="ru-RU" dirty="0"/>
              <a:t>Цифровая фотография; </a:t>
            </a:r>
          </a:p>
          <a:p>
            <a:r>
              <a:rPr lang="ru-RU" dirty="0"/>
              <a:t>Медицина; </a:t>
            </a:r>
          </a:p>
          <a:p>
            <a:r>
              <a:rPr lang="ru-RU" dirty="0"/>
              <a:t>Системы видеонаблюдения; </a:t>
            </a:r>
          </a:p>
          <a:p>
            <a:r>
              <a:rPr lang="ru-RU" dirty="0"/>
              <a:t>Автономный транспорт; </a:t>
            </a:r>
          </a:p>
          <a:p>
            <a:r>
              <a:rPr lang="ru-RU" dirty="0"/>
              <a:t>Компьютерная графика; </a:t>
            </a:r>
          </a:p>
          <a:p>
            <a:r>
              <a:rPr lang="ru-RU" dirty="0"/>
              <a:t>Спутниковые и научные изображения.</a:t>
            </a:r>
          </a:p>
          <a:p>
            <a:endParaRPr lang="en-US" dirty="0"/>
          </a:p>
        </p:txBody>
      </p:sp>
      <p:pic>
        <p:nvPicPr>
          <p:cNvPr id="3074" name="Picture 2" descr="Autonomous vehicle graphic">
            <a:extLst>
              <a:ext uri="{FF2B5EF4-FFF2-40B4-BE49-F238E27FC236}">
                <a16:creationId xmlns:a16="http://schemas.microsoft.com/office/drawing/2014/main" id="{22E91687-858B-2B6A-4286-3F5B03BAD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9476" y="1690688"/>
            <a:ext cx="3332133" cy="221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B3FF7F7-817B-852D-FA77-0B81E4A95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9476" y="4044005"/>
            <a:ext cx="3332133" cy="218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0673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F99018-F402-CF0D-73BE-4DADF9F9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методы обработки изображений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53F0227-F254-48EA-7482-48D2D3A3B4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2093372"/>
              </p:ext>
            </p:extLst>
          </p:nvPr>
        </p:nvGraphicFramePr>
        <p:xfrm>
          <a:off x="838200" y="1825625"/>
          <a:ext cx="52578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389">
                  <a:extLst>
                    <a:ext uri="{9D8B030D-6E8A-4147-A177-3AD203B41FA5}">
                      <a16:colId xmlns:a16="http://schemas.microsoft.com/office/drawing/2014/main" val="1461211824"/>
                    </a:ext>
                  </a:extLst>
                </a:gridCol>
                <a:gridCol w="2837411">
                  <a:extLst>
                    <a:ext uri="{9D8B030D-6E8A-4147-A177-3AD203B41FA5}">
                      <a16:colId xmlns:a16="http://schemas.microsoft.com/office/drawing/2014/main" val="2146138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Метод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Примеры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074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Геометрические преобразования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масштабирование, поворот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824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Фильтрация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blur, sharpen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635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Цветовые преобразования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RGB ↔ HSV, </a:t>
                      </a:r>
                      <a:r>
                        <a:rPr lang="en-US" dirty="0" err="1"/>
                        <a:t>YCbCr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938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Морфологическая обработка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бинарные изображения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875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Частотная обработка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FFT, фильтрация в спектральной области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749939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47FFD6AF-C059-51AA-6FC2-2C6AE7EC58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0" r="7145"/>
          <a:stretch>
            <a:fillRect/>
          </a:stretch>
        </p:blipFill>
        <p:spPr bwMode="auto">
          <a:xfrm>
            <a:off x="7780713" y="1825625"/>
            <a:ext cx="3707476" cy="219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922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95DCBC-F798-CE4E-86BA-6E0926D7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Цветовые модели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3DC03-6EAB-E0AE-43A0-4A149D828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35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FC610F-CCB0-7F81-7480-F25EF5DA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Цветовая модель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25034B-C281-A7B1-115F-65C85C407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Цветовая модель</a:t>
            </a:r>
            <a:r>
              <a:rPr lang="ru-RU" dirty="0"/>
              <a:t> — это способ численного представления цвета.</a:t>
            </a:r>
          </a:p>
          <a:p>
            <a:r>
              <a:rPr lang="ru-RU" dirty="0"/>
              <a:t>Разные модели используются для разных задач:</a:t>
            </a:r>
          </a:p>
          <a:p>
            <a:pPr lvl="1"/>
            <a:r>
              <a:rPr lang="ru-RU" dirty="0"/>
              <a:t>отображение изображения; </a:t>
            </a:r>
          </a:p>
          <a:p>
            <a:pPr lvl="1"/>
            <a:r>
              <a:rPr lang="ru-RU" dirty="0"/>
              <a:t>печать; </a:t>
            </a:r>
          </a:p>
          <a:p>
            <a:pPr lvl="1"/>
            <a:r>
              <a:rPr lang="ru-RU" dirty="0"/>
              <a:t>обработка и анализ; </a:t>
            </a:r>
          </a:p>
          <a:p>
            <a:pPr lvl="1"/>
            <a:r>
              <a:rPr lang="ru-RU" dirty="0"/>
              <a:t>хранение и сжатие данных.</a:t>
            </a:r>
          </a:p>
        </p:txBody>
      </p:sp>
    </p:spTree>
    <p:extLst>
      <p:ext uri="{BB962C8B-B14F-4D97-AF65-F5344CB8AC3E}">
        <p14:creationId xmlns:p14="http://schemas.microsoft.com/office/powerpoint/2010/main" val="4255062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9240-71D1-2EDA-23DD-988660CD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цветовые модели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DF6B1B-2B4C-8972-45DC-572CA2FA698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41095811"/>
              </p:ext>
            </p:extLst>
          </p:nvPr>
        </p:nvGraphicFramePr>
        <p:xfrm>
          <a:off x="838200" y="1825625"/>
          <a:ext cx="10515600" cy="2392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5124">
                  <a:extLst>
                    <a:ext uri="{9D8B030D-6E8A-4147-A177-3AD203B41FA5}">
                      <a16:colId xmlns:a16="http://schemas.microsoft.com/office/drawing/2014/main" val="2172681167"/>
                    </a:ext>
                  </a:extLst>
                </a:gridCol>
                <a:gridCol w="3807230">
                  <a:extLst>
                    <a:ext uri="{9D8B030D-6E8A-4147-A177-3AD203B41FA5}">
                      <a16:colId xmlns:a16="http://schemas.microsoft.com/office/drawing/2014/main" val="105948580"/>
                    </a:ext>
                  </a:extLst>
                </a:gridCol>
                <a:gridCol w="4853246">
                  <a:extLst>
                    <a:ext uri="{9D8B030D-6E8A-4147-A177-3AD203B41FA5}">
                      <a16:colId xmlns:a16="http://schemas.microsoft.com/office/drawing/2014/main" val="112355543"/>
                    </a:ext>
                  </a:extLst>
                </a:gridCol>
              </a:tblGrid>
              <a:tr h="325352">
                <a:tc>
                  <a:txBody>
                    <a:bodyPr/>
                    <a:lstStyle/>
                    <a:p>
                      <a:r>
                        <a:rPr lang="ru-RU" dirty="0"/>
                        <a:t>Модель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Назначение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Особенности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02838"/>
                  </a:ext>
                </a:extLst>
              </a:tr>
              <a:tr h="325352">
                <a:tc>
                  <a:txBody>
                    <a:bodyPr/>
                    <a:lstStyle/>
                    <a:p>
                      <a:r>
                        <a:rPr lang="en-US" dirty="0"/>
                        <a:t>RGB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Экраны, графика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Аддитивное смешение света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3675548"/>
                  </a:ext>
                </a:extLst>
              </a:tr>
              <a:tr h="325352">
                <a:tc>
                  <a:txBody>
                    <a:bodyPr/>
                    <a:lstStyle/>
                    <a:p>
                      <a:r>
                        <a:rPr lang="en-US" dirty="0"/>
                        <a:t>CMYK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Полиграфия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Субтрактивное смешение красок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114710"/>
                  </a:ext>
                </a:extLst>
              </a:tr>
              <a:tr h="464789">
                <a:tc>
                  <a:txBody>
                    <a:bodyPr/>
                    <a:lstStyle/>
                    <a:p>
                      <a:r>
                        <a:rPr lang="en-US" dirty="0"/>
                        <a:t>HSV / HSL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Анализ и редактирование цвета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Удобны для человека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652315"/>
                  </a:ext>
                </a:extLst>
              </a:tr>
              <a:tr h="325352">
                <a:tc>
                  <a:txBody>
                    <a:bodyPr/>
                    <a:lstStyle/>
                    <a:p>
                      <a:r>
                        <a:rPr lang="en-US" dirty="0" err="1"/>
                        <a:t>YCbCr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Видео, </a:t>
                      </a:r>
                      <a:r>
                        <a:rPr lang="en-US" dirty="0"/>
                        <a:t>JPEG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Разделение яркости и цветности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086893"/>
                  </a:ext>
                </a:extLst>
              </a:tr>
              <a:tr h="464789">
                <a:tc>
                  <a:txBody>
                    <a:bodyPr/>
                    <a:lstStyle/>
                    <a:p>
                      <a:r>
                        <a:rPr lang="en-US" dirty="0"/>
                        <a:t>CIELAB / 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Цветометрия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Аппаратно-независимые модели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209294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D92DDA-B162-372F-6401-3816962EE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522123"/>
            <a:ext cx="10515600" cy="165483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Ключевая идея: один и тот же цвет может быть представлен разными наборами чисел в разных моделях	</a:t>
            </a:r>
          </a:p>
          <a:p>
            <a:pPr lvl="1"/>
            <a:r>
              <a:rPr lang="en-US" dirty="0"/>
              <a:t>🔴RGB = (255, 0, 0)</a:t>
            </a:r>
          </a:p>
          <a:p>
            <a:pPr lvl="1"/>
            <a:r>
              <a:rPr lang="en-US" dirty="0"/>
              <a:t>🔴HSV = (0, 100%, 100%)</a:t>
            </a:r>
          </a:p>
          <a:p>
            <a:pPr lvl="1"/>
            <a:r>
              <a:rPr lang="en-US" dirty="0"/>
              <a:t>🔴CMYK = (0, 100, 100, 0)</a:t>
            </a:r>
          </a:p>
        </p:txBody>
      </p:sp>
    </p:spTree>
    <p:extLst>
      <p:ext uri="{BB962C8B-B14F-4D97-AF65-F5344CB8AC3E}">
        <p14:creationId xmlns:p14="http://schemas.microsoft.com/office/powerpoint/2010/main" val="3688781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62CE2-278E-4466-AFAE-4244FAEB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Цветовая модель </a:t>
            </a:r>
            <a:r>
              <a:rPr lang="en-US" dirty="0"/>
              <a:t>RGB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AD00-3498-DAB7-D156-E1B224FB3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81126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Цвет задаётся интенсивностью трёх световых каналов</a:t>
            </a:r>
          </a:p>
          <a:p>
            <a:pPr lvl="1"/>
            <a:r>
              <a:rPr lang="ru-RU" dirty="0"/>
              <a:t>R — Red (красный) </a:t>
            </a:r>
          </a:p>
          <a:p>
            <a:pPr lvl="1"/>
            <a:r>
              <a:rPr lang="ru-RU" dirty="0"/>
              <a:t>G — Green (зелёный) </a:t>
            </a:r>
          </a:p>
          <a:p>
            <a:pPr lvl="1"/>
            <a:r>
              <a:rPr lang="ru-RU" dirty="0"/>
              <a:t>B — Blue (синий) </a:t>
            </a:r>
          </a:p>
          <a:p>
            <a:r>
              <a:rPr lang="ru-RU" dirty="0"/>
              <a:t>Это аддитивная модель</a:t>
            </a:r>
          </a:p>
          <a:p>
            <a:pPr lvl="1"/>
            <a:r>
              <a:rPr lang="ru-RU" dirty="0"/>
              <a:t>R + G + B = White</a:t>
            </a:r>
          </a:p>
          <a:p>
            <a:pPr lvl="1"/>
            <a:r>
              <a:rPr lang="ru-RU" dirty="0"/>
              <a:t>0 + 0 + 0 = Black</a:t>
            </a:r>
          </a:p>
          <a:p>
            <a:pPr lvl="1"/>
            <a:r>
              <a:rPr lang="en-US" dirty="0"/>
              <a:t>G + B = Cyan</a:t>
            </a:r>
            <a:endParaRPr lang="ru-RU" dirty="0"/>
          </a:p>
          <a:p>
            <a:r>
              <a:rPr lang="ru-RU" dirty="0"/>
              <a:t>Форматы:</a:t>
            </a:r>
          </a:p>
          <a:p>
            <a:pPr lvl="1"/>
            <a:r>
              <a:rPr lang="en-US" dirty="0"/>
              <a:t>RGB8, RGB16, RGB32F</a:t>
            </a:r>
          </a:p>
          <a:p>
            <a:r>
              <a:rPr lang="ru-RU" dirty="0"/>
              <a:t>Описывает не реальный цвет, а параметры излучаемого света</a:t>
            </a:r>
          </a:p>
          <a:p>
            <a:endParaRPr lang="ru-RU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794D7D41-7457-E5BF-6052-84623FE4E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96905" y="1825625"/>
            <a:ext cx="3302550" cy="2476607"/>
          </a:xfrm>
          <a:prstGeom prst="rect">
            <a:avLst/>
          </a:prstGeom>
          <a:noFill/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96B7FA8F-12DE-3EF9-FFC1-37DFFB8C7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34"/>
          <a:stretch>
            <a:fillRect/>
          </a:stretch>
        </p:blipFill>
        <p:spPr>
          <a:xfrm>
            <a:off x="10239375" y="4437169"/>
            <a:ext cx="1660080" cy="16689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32517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5" name="Picture 11">
            <a:extLst>
              <a:ext uri="{FF2B5EF4-FFF2-40B4-BE49-F238E27FC236}">
                <a16:creationId xmlns:a16="http://schemas.microsoft.com/office/drawing/2014/main" id="{5A15C0D0-C030-DF00-56D0-BD13D9DA8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4464050" cy="334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6" name="Picture 12">
            <a:extLst>
              <a:ext uri="{FF2B5EF4-FFF2-40B4-BE49-F238E27FC236}">
                <a16:creationId xmlns:a16="http://schemas.microsoft.com/office/drawing/2014/main" id="{F0AC406D-977D-73E8-C09C-CD9C85C70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1"/>
            <a:ext cx="4464050" cy="333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7" name="Picture 13">
            <a:extLst>
              <a:ext uri="{FF2B5EF4-FFF2-40B4-BE49-F238E27FC236}">
                <a16:creationId xmlns:a16="http://schemas.microsoft.com/office/drawing/2014/main" id="{B505DF31-9960-F48B-BCA8-5E6905BFD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975" y="3517900"/>
            <a:ext cx="4464050" cy="334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4" name="Picture 10">
            <a:extLst>
              <a:ext uri="{FF2B5EF4-FFF2-40B4-BE49-F238E27FC236}">
                <a16:creationId xmlns:a16="http://schemas.microsoft.com/office/drawing/2014/main" id="{242DB190-FFF7-1B73-AEF3-2D50AB72B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975" y="1763714"/>
            <a:ext cx="4464050" cy="333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1.48148E-6 L 0.19193 0.2564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96" y="12824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4.07407E-6 L -0.19193 0.25718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596" y="12847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48148E-6 L 0 -0.25648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824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0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20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BA762E-8F34-8824-8BE2-521F9D7BC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Ограниченность цветовой модели </a:t>
            </a:r>
            <a:r>
              <a:rPr lang="en-US"/>
              <a:t>RGB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DA7AD0-AFCF-A02E-B503-801F0A3C3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649985" cy="4351338"/>
          </a:xfrm>
        </p:spPr>
        <p:txBody>
          <a:bodyPr/>
          <a:lstStyle/>
          <a:p>
            <a:r>
              <a:rPr lang="ru-RU" dirty="0"/>
              <a:t>RGB не охватывает все видимые человеком цвета</a:t>
            </a:r>
          </a:p>
          <a:p>
            <a:r>
              <a:rPr lang="ru-RU" dirty="0"/>
              <a:t>Ограниченный цветовой охват (</a:t>
            </a:r>
            <a:r>
              <a:rPr lang="en-US" dirty="0"/>
              <a:t>gamut)</a:t>
            </a:r>
          </a:p>
          <a:p>
            <a:r>
              <a:rPr lang="ru-RU" dirty="0"/>
              <a:t>Зависимость от устройства</a:t>
            </a:r>
            <a:endParaRPr lang="en-US" dirty="0"/>
          </a:p>
          <a:p>
            <a:r>
              <a:rPr lang="ru-RU" dirty="0"/>
              <a:t>RGB не соответствует человеческому восприятию</a:t>
            </a:r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84807705-74D4-6CD2-6BD6-65C8FD7E07E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588" y="1608137"/>
            <a:ext cx="2827291" cy="3124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8DE486-CD97-94CE-F517-59F137521C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282" y="1608137"/>
            <a:ext cx="2343118" cy="312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58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343C-E11A-B6BC-ABC0-E2436FC92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Цветовая модель </a:t>
            </a:r>
            <a:r>
              <a:rPr lang="en-US" dirty="0"/>
              <a:t>CMYK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09A94-CCAB-8E40-C045-484A3C530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Компоненты</a:t>
            </a:r>
          </a:p>
          <a:p>
            <a:pPr lvl="1"/>
            <a:r>
              <a:rPr lang="en-US" dirty="0"/>
              <a:t>C — Cyan </a:t>
            </a:r>
          </a:p>
          <a:p>
            <a:pPr lvl="1"/>
            <a:r>
              <a:rPr lang="en-US" dirty="0"/>
              <a:t>M — Magenta </a:t>
            </a:r>
          </a:p>
          <a:p>
            <a:pPr lvl="1"/>
            <a:r>
              <a:rPr lang="en-US" dirty="0"/>
              <a:t>Y — Yellow </a:t>
            </a:r>
          </a:p>
          <a:p>
            <a:pPr lvl="1"/>
            <a:r>
              <a:rPr lang="en-US" dirty="0"/>
              <a:t>K — Key / Black</a:t>
            </a:r>
            <a:endParaRPr lang="ru-RU" dirty="0"/>
          </a:p>
          <a:p>
            <a:r>
              <a:rPr lang="ru-RU" dirty="0"/>
              <a:t>Особенности – цвет формируется поглощением света красками</a:t>
            </a:r>
          </a:p>
          <a:p>
            <a:pPr lvl="1"/>
            <a:r>
              <a:rPr lang="ru-RU" dirty="0"/>
              <a:t>C + M + Y → тёмный цвет</a:t>
            </a:r>
            <a:endParaRPr lang="en-US" dirty="0"/>
          </a:p>
          <a:p>
            <a:pPr lvl="1"/>
            <a:r>
              <a:rPr lang="ru-RU" dirty="0"/>
              <a:t>Отсутствие красок → белый</a:t>
            </a:r>
            <a:endParaRPr lang="en-US" dirty="0"/>
          </a:p>
          <a:p>
            <a:r>
              <a:rPr lang="ru-RU" dirty="0"/>
              <a:t>Основное применение</a:t>
            </a:r>
          </a:p>
          <a:p>
            <a:pPr lvl="1"/>
            <a:r>
              <a:rPr lang="ru-RU" dirty="0"/>
              <a:t>полиграфия; </a:t>
            </a:r>
          </a:p>
          <a:p>
            <a:pPr lvl="1"/>
            <a:r>
              <a:rPr lang="ru-RU" dirty="0"/>
              <a:t>принтеры; </a:t>
            </a:r>
          </a:p>
          <a:p>
            <a:pPr lvl="1"/>
            <a:r>
              <a:rPr lang="ru-RU" dirty="0"/>
              <a:t>печатная продукция</a:t>
            </a:r>
            <a:endParaRPr lang="en-US" dirty="0"/>
          </a:p>
          <a:p>
            <a:r>
              <a:rPr lang="ru-RU" dirty="0"/>
              <a:t>Важная особенность</a:t>
            </a:r>
          </a:p>
          <a:p>
            <a:pPr lvl="1"/>
            <a:r>
              <a:rPr lang="ru-RU" dirty="0"/>
              <a:t>RGB ≠ CMYK</a:t>
            </a:r>
          </a:p>
          <a:p>
            <a:pPr lvl="1"/>
            <a:r>
              <a:rPr lang="ru-RU" dirty="0"/>
              <a:t>Не все цвета RGB могут быть точно напечатаны.</a:t>
            </a:r>
          </a:p>
          <a:p>
            <a:pPr lvl="1"/>
            <a:endParaRPr lang="ru-RU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78DAA1-ECA8-F7AE-AF85-33F1D6C6C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735" y="1690688"/>
            <a:ext cx="2523343" cy="24050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716BE9-FFB1-FD2B-5D62-9531D6787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712" y="1825625"/>
            <a:ext cx="2364298" cy="358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5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1" name="Picture 5">
            <a:extLst>
              <a:ext uri="{FF2B5EF4-FFF2-40B4-BE49-F238E27FC236}">
                <a16:creationId xmlns:a16="http://schemas.microsoft.com/office/drawing/2014/main" id="{F7F02BA6-098B-6757-7B8E-319033C3B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13" y="1807370"/>
            <a:ext cx="4343400" cy="324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6">
            <a:extLst>
              <a:ext uri="{FF2B5EF4-FFF2-40B4-BE49-F238E27FC236}">
                <a16:creationId xmlns:a16="http://schemas.microsoft.com/office/drawing/2014/main" id="{CF65B27E-64D8-2B3E-3BB6-867BFF078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13" y="3614738"/>
            <a:ext cx="4343400" cy="324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7">
            <a:extLst>
              <a:ext uri="{FF2B5EF4-FFF2-40B4-BE49-F238E27FC236}">
                <a16:creationId xmlns:a16="http://schemas.microsoft.com/office/drawing/2014/main" id="{73149312-C25A-2DD3-0127-973B2D9CB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"/>
            <a:ext cx="4343400" cy="324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4" name="Picture 8">
            <a:extLst>
              <a:ext uri="{FF2B5EF4-FFF2-40B4-BE49-F238E27FC236}">
                <a16:creationId xmlns:a16="http://schemas.microsoft.com/office/drawing/2014/main" id="{9900F94B-6EB7-1339-1D0D-035132D14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"/>
            <a:ext cx="4343400" cy="324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59259E-6 L 0.19688 0.2636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844" y="1317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4.07407E-6 L -0.00091 -0.2634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94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1317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59259E-6 L -0.19688 0.2636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44" y="1317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0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2DFE7-1D6B-9072-03BF-3356C4E56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err="1"/>
              <a:t>Цветовая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HSL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1586B-0AE6-C5E7-919B-F2AED998A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004389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ru-RU" dirty="0"/>
              <a:t>Компоненты цвета:</a:t>
            </a:r>
            <a:endParaRPr lang="en-US" dirty="0"/>
          </a:p>
          <a:p>
            <a:pPr lvl="1"/>
            <a:r>
              <a:rPr lang="en-US" dirty="0"/>
              <a:t>H: Hue (</a:t>
            </a:r>
            <a:r>
              <a:rPr lang="en-US" dirty="0" err="1"/>
              <a:t>оттенок</a:t>
            </a:r>
            <a:r>
              <a:rPr lang="en-US" dirty="0"/>
              <a:t>, 0–360°)</a:t>
            </a:r>
          </a:p>
          <a:p>
            <a:pPr lvl="2"/>
            <a:r>
              <a:rPr lang="en-US" dirty="0"/>
              <a:t>H=0° — </a:t>
            </a:r>
            <a:r>
              <a:rPr lang="en-US" dirty="0" err="1"/>
              <a:t>красный</a:t>
            </a:r>
            <a:r>
              <a:rPr lang="en-US" dirty="0"/>
              <a:t>, H=120° — </a:t>
            </a:r>
            <a:r>
              <a:rPr lang="en-US" dirty="0" err="1"/>
              <a:t>зелёный</a:t>
            </a:r>
            <a:r>
              <a:rPr lang="en-US" dirty="0"/>
              <a:t>, H=240° — </a:t>
            </a:r>
            <a:r>
              <a:rPr lang="en-US" dirty="0" err="1"/>
              <a:t>синий</a:t>
            </a:r>
            <a:endParaRPr lang="en-US" dirty="0"/>
          </a:p>
          <a:p>
            <a:pPr lvl="1"/>
            <a:r>
              <a:rPr lang="en-US" dirty="0"/>
              <a:t>S: Saturation (</a:t>
            </a:r>
            <a:r>
              <a:rPr lang="en-US" dirty="0" err="1"/>
              <a:t>насыщенность</a:t>
            </a:r>
            <a:r>
              <a:rPr lang="en-US" dirty="0"/>
              <a:t>),</a:t>
            </a:r>
          </a:p>
          <a:p>
            <a:pPr lvl="1"/>
            <a:r>
              <a:rPr lang="en-US" dirty="0"/>
              <a:t>L: Lightness (</a:t>
            </a:r>
            <a:r>
              <a:rPr lang="en-US" dirty="0" err="1"/>
              <a:t>светлота</a:t>
            </a:r>
            <a:r>
              <a:rPr lang="en-US" dirty="0"/>
              <a:t>)</a:t>
            </a:r>
          </a:p>
          <a:p>
            <a:r>
              <a:rPr lang="en-US" dirty="0"/>
              <a:t>Более </a:t>
            </a:r>
            <a:r>
              <a:rPr lang="en-US" dirty="0" err="1"/>
              <a:t>интуитивна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человека</a:t>
            </a:r>
            <a:r>
              <a:rPr lang="ru-RU" dirty="0"/>
              <a:t>, чем </a:t>
            </a:r>
            <a:r>
              <a:rPr lang="en-US" dirty="0"/>
              <a:t>RGB</a:t>
            </a:r>
          </a:p>
          <a:p>
            <a:r>
              <a:rPr lang="ru-RU" dirty="0"/>
              <a:t>Применение:</a:t>
            </a:r>
          </a:p>
          <a:p>
            <a:pPr lvl="1"/>
            <a:r>
              <a:rPr lang="en-US" dirty="0"/>
              <a:t>Color picker,</a:t>
            </a:r>
          </a:p>
          <a:p>
            <a:pPr lvl="1"/>
            <a:r>
              <a:rPr lang="ru-RU" dirty="0"/>
              <a:t>Настройка оттенка и насыщенности</a:t>
            </a:r>
          </a:p>
          <a:p>
            <a:pPr lvl="1"/>
            <a:r>
              <a:rPr lang="ru-RU" dirty="0"/>
              <a:t>Обработка и анализ изображения</a:t>
            </a:r>
            <a:endParaRPr lang="en-US" dirty="0"/>
          </a:p>
        </p:txBody>
      </p:sp>
      <p:pic>
        <p:nvPicPr>
          <p:cNvPr id="5" name="Picture 7" descr="564px-Color_cones">
            <a:extLst>
              <a:ext uri="{FF2B5EF4-FFF2-40B4-BE49-F238E27FC236}">
                <a16:creationId xmlns:a16="http://schemas.microsoft.com/office/drawing/2014/main" id="{26C2B454-F38E-11E3-4197-D27F7EAA5D0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673" y="1825625"/>
            <a:ext cx="2671127" cy="2841625"/>
          </a:xfrm>
          <a:noFill/>
        </p:spPr>
      </p:pic>
    </p:spTree>
    <p:extLst>
      <p:ext uri="{BB962C8B-B14F-4D97-AF65-F5344CB8AC3E}">
        <p14:creationId xmlns:p14="http://schemas.microsoft.com/office/powerpoint/2010/main" val="2858731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>
            <a:extLst>
              <a:ext uri="{FF2B5EF4-FFF2-40B4-BE49-F238E27FC236}">
                <a16:creationId xmlns:a16="http://schemas.microsoft.com/office/drawing/2014/main" id="{32DE0143-6D5E-5FD0-9AD5-64E57ED57C28}"/>
              </a:ext>
            </a:extLst>
          </p:cNvPr>
          <p:cNvGrpSpPr>
            <a:grpSpLocks/>
          </p:cNvGrpSpPr>
          <p:nvPr/>
        </p:nvGrpSpPr>
        <p:grpSpPr bwMode="auto">
          <a:xfrm>
            <a:off x="4151313" y="1989139"/>
            <a:ext cx="3854450" cy="2859087"/>
            <a:chOff x="1655" y="1253"/>
            <a:chExt cx="2428" cy="1801"/>
          </a:xfrm>
        </p:grpSpPr>
        <p:pic>
          <p:nvPicPr>
            <p:cNvPr id="44042" name="Picture 11">
              <a:extLst>
                <a:ext uri="{FF2B5EF4-FFF2-40B4-BE49-F238E27FC236}">
                  <a16:creationId xmlns:a16="http://schemas.microsoft.com/office/drawing/2014/main" id="{559474D2-9713-0290-A21B-FDA2C1AD11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7" y="1266"/>
              <a:ext cx="2406" cy="1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43" name="Text Box 12">
              <a:extLst>
                <a:ext uri="{FF2B5EF4-FFF2-40B4-BE49-F238E27FC236}">
                  <a16:creationId xmlns:a16="http://schemas.microsoft.com/office/drawing/2014/main" id="{654B49E0-51FB-2865-2C93-20B6333B6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1253"/>
              <a:ext cx="240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3200"/>
                <a:t>S</a:t>
              </a:r>
              <a:endParaRPr lang="ru-RU" altLang="en-US" sz="3200"/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B97D70EF-6F94-AD93-8A43-B06DF973E3ED}"/>
              </a:ext>
            </a:extLst>
          </p:cNvPr>
          <p:cNvGrpSpPr>
            <a:grpSpLocks/>
          </p:cNvGrpSpPr>
          <p:nvPr/>
        </p:nvGrpSpPr>
        <p:grpSpPr bwMode="auto">
          <a:xfrm>
            <a:off x="4186239" y="2005014"/>
            <a:ext cx="3819525" cy="2847975"/>
            <a:chOff x="1677" y="1263"/>
            <a:chExt cx="2406" cy="1794"/>
          </a:xfrm>
        </p:grpSpPr>
        <p:pic>
          <p:nvPicPr>
            <p:cNvPr id="44040" name="Picture 5">
              <a:extLst>
                <a:ext uri="{FF2B5EF4-FFF2-40B4-BE49-F238E27FC236}">
                  <a16:creationId xmlns:a16="http://schemas.microsoft.com/office/drawing/2014/main" id="{5F196038-8FDC-0B50-F9D7-B8259B14E7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7" y="1263"/>
              <a:ext cx="2406" cy="1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41" name="Text Box 6">
              <a:extLst>
                <a:ext uri="{FF2B5EF4-FFF2-40B4-BE49-F238E27FC236}">
                  <a16:creationId xmlns:a16="http://schemas.microsoft.com/office/drawing/2014/main" id="{BC2C7B68-F0E7-47FA-A5A5-EE04CC8FEF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1298"/>
              <a:ext cx="235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200">
                  <a:solidFill>
                    <a:srgbClr val="FFFFFF"/>
                  </a:solidFill>
                </a:rPr>
                <a:t>H</a:t>
              </a:r>
              <a:endParaRPr lang="ru-RU" altLang="en-US" sz="3200">
                <a:solidFill>
                  <a:srgbClr val="FFFFFF"/>
                </a:solidFill>
              </a:endParaRPr>
            </a:p>
          </p:txBody>
        </p:sp>
      </p:grpSp>
      <p:grpSp>
        <p:nvGrpSpPr>
          <p:cNvPr id="4" name="Group 16">
            <a:extLst>
              <a:ext uri="{FF2B5EF4-FFF2-40B4-BE49-F238E27FC236}">
                <a16:creationId xmlns:a16="http://schemas.microsoft.com/office/drawing/2014/main" id="{92593CBD-DFB6-1250-5620-9D35167C87AB}"/>
              </a:ext>
            </a:extLst>
          </p:cNvPr>
          <p:cNvGrpSpPr>
            <a:grpSpLocks/>
          </p:cNvGrpSpPr>
          <p:nvPr/>
        </p:nvGrpSpPr>
        <p:grpSpPr bwMode="auto">
          <a:xfrm>
            <a:off x="4151313" y="1989139"/>
            <a:ext cx="3854450" cy="2854325"/>
            <a:chOff x="1655" y="1253"/>
            <a:chExt cx="2428" cy="1798"/>
          </a:xfrm>
        </p:grpSpPr>
        <p:pic>
          <p:nvPicPr>
            <p:cNvPr id="44038" name="Picture 14">
              <a:extLst>
                <a:ext uri="{FF2B5EF4-FFF2-40B4-BE49-F238E27FC236}">
                  <a16:creationId xmlns:a16="http://schemas.microsoft.com/office/drawing/2014/main" id="{EABF6152-2CAA-ABD5-9DB7-5A8952A4AC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7" y="1269"/>
              <a:ext cx="2406" cy="1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39" name="Text Box 15">
              <a:extLst>
                <a:ext uri="{FF2B5EF4-FFF2-40B4-BE49-F238E27FC236}">
                  <a16:creationId xmlns:a16="http://schemas.microsoft.com/office/drawing/2014/main" id="{91D818C7-2A1B-FAD3-3E56-CB5E41D9C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1253"/>
              <a:ext cx="240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3200">
                  <a:solidFill>
                    <a:srgbClr val="FFFFFF"/>
                  </a:solidFill>
                </a:rPr>
                <a:t>L</a:t>
              </a:r>
              <a:endParaRPr lang="ru-RU" altLang="en-US" sz="3200">
                <a:solidFill>
                  <a:srgbClr val="FFFFFF"/>
                </a:solidFill>
              </a:endParaRPr>
            </a:p>
          </p:txBody>
        </p:sp>
      </p:grpSp>
      <p:pic>
        <p:nvPicPr>
          <p:cNvPr id="50180" name="Picture 4">
            <a:extLst>
              <a:ext uri="{FF2B5EF4-FFF2-40B4-BE49-F238E27FC236}">
                <a16:creationId xmlns:a16="http://schemas.microsoft.com/office/drawing/2014/main" id="{CD5D46F2-B803-8599-4339-1FC3C9A81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239" y="2000250"/>
            <a:ext cx="381952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9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3.48128E-6 L -0.29132 -0.29358 " pathEditMode="relative" rAng="0" ptsTypes="AA">
                                      <p:cBhvr>
                                        <p:cTn id="15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66" y="-14679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6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77778E-7 1.60425E-6 L 0.29323 -0.29196 " pathEditMode="relative" rAng="0" ptsTypes="AA">
                                      <p:cBhvr>
                                        <p:cTn id="17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53" y="-14609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77778E-7 2.76468E-6 L 0.00191 0.29542 " pathEditMode="relative" rAng="0" ptsTypes="AA">
                                      <p:cBhvr>
                                        <p:cTn id="19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1477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40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3999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2000" fill="hold"/>
                                        <p:tgtEl>
                                          <p:spTgt spid="50180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92A42C09-B0D9-35CA-B579-F4823999A4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en-US"/>
              <a:t>Преобразование из</a:t>
            </a:r>
            <a:r>
              <a:rPr lang="en-US" altLang="en-US"/>
              <a:t> RGB </a:t>
            </a:r>
            <a:r>
              <a:rPr lang="ru-RU" altLang="en-US"/>
              <a:t>в </a:t>
            </a:r>
            <a:r>
              <a:rPr lang="en-US" altLang="en-US"/>
              <a:t>HSL</a:t>
            </a:r>
            <a:endParaRPr lang="ru-RU" altLang="en-US"/>
          </a:p>
        </p:txBody>
      </p:sp>
      <p:sp>
        <p:nvSpPr>
          <p:cNvPr id="46083" name="Rectangle 7">
            <a:extLst>
              <a:ext uri="{FF2B5EF4-FFF2-40B4-BE49-F238E27FC236}">
                <a16:creationId xmlns:a16="http://schemas.microsoft.com/office/drawing/2014/main" id="{8E4B6146-B6D6-BCC5-5411-F67B44E98D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R, G, B </a:t>
            </a:r>
            <a:r>
              <a:rPr lang="ru-RU" altLang="en-US" sz="2400"/>
              <a:t>находятся в диапазоне </a:t>
            </a:r>
            <a:r>
              <a:rPr lang="en-US" altLang="en-US" sz="2400"/>
              <a:t>0 … 1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MAX = max(R, G, B)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MIN = min(R, G, B)</a:t>
            </a:r>
            <a:endParaRPr lang="ru-RU" altLang="en-US" sz="2400" dirty="0"/>
          </a:p>
        </p:txBody>
      </p:sp>
      <p:pic>
        <p:nvPicPr>
          <p:cNvPr id="46084" name="Picture 4">
            <a:extLst>
              <a:ext uri="{FF2B5EF4-FFF2-40B4-BE49-F238E27FC236}">
                <a16:creationId xmlns:a16="http://schemas.microsoft.com/office/drawing/2014/main" id="{FB70C724-8637-4EC9-B02E-E2E6C5F1F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8" y="3141664"/>
            <a:ext cx="5111750" cy="241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5" name="Picture 5">
            <a:extLst>
              <a:ext uri="{FF2B5EF4-FFF2-40B4-BE49-F238E27FC236}">
                <a16:creationId xmlns:a16="http://schemas.microsoft.com/office/drawing/2014/main" id="{A69EE1B3-0828-C2F4-85C8-D0F504E34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842000"/>
            <a:ext cx="52197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6" name="Picture 6">
            <a:extLst>
              <a:ext uri="{FF2B5EF4-FFF2-40B4-BE49-F238E27FC236}">
                <a16:creationId xmlns:a16="http://schemas.microsoft.com/office/drawing/2014/main" id="{9922EA90-FA75-6C2B-03EC-99B52B503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788" y="6427788"/>
            <a:ext cx="309721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64962FC-12C8-19DE-11C7-F263BAE2E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en-US"/>
              <a:t>Преобразование </a:t>
            </a:r>
            <a:r>
              <a:rPr lang="en-US" altLang="en-US"/>
              <a:t>HSL </a:t>
            </a:r>
            <a:r>
              <a:rPr lang="ru-RU" altLang="en-US"/>
              <a:t>в </a:t>
            </a:r>
            <a:r>
              <a:rPr lang="en-US" altLang="en-US"/>
              <a:t>RGB</a:t>
            </a:r>
            <a:endParaRPr lang="ru-RU" alt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770C26FA-F504-72B5-2046-D3650CC373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H: [0, 360);	S, L: [0, 1];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R, G, B: [0, 1]</a:t>
            </a:r>
          </a:p>
          <a:p>
            <a:pPr eaLnBrk="1" hangingPunct="1">
              <a:lnSpc>
                <a:spcPct val="80000"/>
              </a:lnSpc>
            </a:pPr>
            <a:r>
              <a:rPr lang="ru-RU" altLang="en-US" sz="2400"/>
              <a:t>Если </a:t>
            </a:r>
            <a:r>
              <a:rPr lang="en-US" altLang="en-US" sz="2400"/>
              <a:t>S=0; </a:t>
            </a:r>
            <a:r>
              <a:rPr lang="ru-RU" altLang="en-US" sz="2400"/>
              <a:t>то </a:t>
            </a:r>
            <a:r>
              <a:rPr lang="en-US" altLang="en-US" sz="2400"/>
              <a:t>R=G=B=L</a:t>
            </a:r>
          </a:p>
        </p:txBody>
      </p:sp>
      <p:pic>
        <p:nvPicPr>
          <p:cNvPr id="47108" name="Picture 4">
            <a:extLst>
              <a:ext uri="{FF2B5EF4-FFF2-40B4-BE49-F238E27FC236}">
                <a16:creationId xmlns:a16="http://schemas.microsoft.com/office/drawing/2014/main" id="{6B3AF61B-72AB-8646-5E40-E948798DA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3141664"/>
            <a:ext cx="3305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9" name="Picture 5">
            <a:extLst>
              <a:ext uri="{FF2B5EF4-FFF2-40B4-BE49-F238E27FC236}">
                <a16:creationId xmlns:a16="http://schemas.microsoft.com/office/drawing/2014/main" id="{3CA8313B-B333-6D12-A0B6-457B96775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3862388"/>
            <a:ext cx="21145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0" name="Picture 6">
            <a:extLst>
              <a:ext uri="{FF2B5EF4-FFF2-40B4-BE49-F238E27FC236}">
                <a16:creationId xmlns:a16="http://schemas.microsoft.com/office/drawing/2014/main" id="{F2E8671E-4923-30A6-236E-08AC48BBB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4222751"/>
            <a:ext cx="8096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1" name="Picture 7">
            <a:extLst>
              <a:ext uri="{FF2B5EF4-FFF2-40B4-BE49-F238E27FC236}">
                <a16:creationId xmlns:a16="http://schemas.microsoft.com/office/drawing/2014/main" id="{C9E06AB3-5E83-D0D7-01D4-740FEF648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1" y="3141664"/>
            <a:ext cx="14763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2" name="Picture 8">
            <a:extLst>
              <a:ext uri="{FF2B5EF4-FFF2-40B4-BE49-F238E27FC236}">
                <a16:creationId xmlns:a16="http://schemas.microsoft.com/office/drawing/2014/main" id="{3B4489BC-0576-CAC7-E0FB-73A4F979A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0" y="3573463"/>
            <a:ext cx="11430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3" name="Picture 9">
            <a:extLst>
              <a:ext uri="{FF2B5EF4-FFF2-40B4-BE49-F238E27FC236}">
                <a16:creationId xmlns:a16="http://schemas.microsoft.com/office/drawing/2014/main" id="{F2DADB11-6106-60A0-DB61-2903B4EAB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801" y="3789364"/>
            <a:ext cx="14763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4" name="Picture 10">
            <a:extLst>
              <a:ext uri="{FF2B5EF4-FFF2-40B4-BE49-F238E27FC236}">
                <a16:creationId xmlns:a16="http://schemas.microsoft.com/office/drawing/2014/main" id="{BFC1DD1D-D38C-8126-5BA8-A8CF3DC70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4797425"/>
            <a:ext cx="50768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5" name="Picture 11">
            <a:extLst>
              <a:ext uri="{FF2B5EF4-FFF2-40B4-BE49-F238E27FC236}">
                <a16:creationId xmlns:a16="http://schemas.microsoft.com/office/drawing/2014/main" id="{D80C38AA-6DA1-8737-D3CC-AA801F03E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5084763"/>
            <a:ext cx="50768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16" name="Picture 12">
            <a:extLst>
              <a:ext uri="{FF2B5EF4-FFF2-40B4-BE49-F238E27FC236}">
                <a16:creationId xmlns:a16="http://schemas.microsoft.com/office/drawing/2014/main" id="{9BE72BA3-A406-0CE2-7031-1DA0EA94F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5791200"/>
            <a:ext cx="66675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7" name="Text Box 13">
            <a:extLst>
              <a:ext uri="{FF2B5EF4-FFF2-40B4-BE49-F238E27FC236}">
                <a16:creationId xmlns:a16="http://schemas.microsoft.com/office/drawing/2014/main" id="{8C775197-A741-80EF-73AF-DC95727BA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5373688"/>
            <a:ext cx="28344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en-US"/>
              <a:t>Для каждого </a:t>
            </a:r>
            <a:r>
              <a:rPr lang="en-US" altLang="en-US"/>
              <a:t>c = R, G, B:</a:t>
            </a:r>
            <a:endParaRPr lang="ru-RU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DDA52-7D16-FD7B-3512-02AE95E2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AEBF-80E4-A3E5-6716-2CF073B7F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55760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Компоненты:</a:t>
            </a:r>
          </a:p>
          <a:p>
            <a:pPr lvl="1"/>
            <a:r>
              <a:rPr lang="ru-RU" dirty="0"/>
              <a:t>H: </a:t>
            </a:r>
            <a:r>
              <a:rPr lang="ru-RU" dirty="0" err="1"/>
              <a:t>Hue</a:t>
            </a:r>
            <a:r>
              <a:rPr lang="ru-RU" dirty="0"/>
              <a:t> (оттенок)</a:t>
            </a:r>
          </a:p>
          <a:p>
            <a:pPr lvl="1"/>
            <a:r>
              <a:rPr lang="ru-RU" dirty="0"/>
              <a:t>S: </a:t>
            </a:r>
            <a:r>
              <a:rPr lang="ru-RU" dirty="0" err="1"/>
              <a:t>Saturation</a:t>
            </a:r>
            <a:r>
              <a:rPr lang="ru-RU" dirty="0"/>
              <a:t> (насыщенность)</a:t>
            </a:r>
          </a:p>
          <a:p>
            <a:pPr lvl="1"/>
            <a:r>
              <a:rPr lang="ru-RU" dirty="0"/>
              <a:t>V: Value (яркость)</a:t>
            </a:r>
          </a:p>
          <a:p>
            <a:r>
              <a:rPr lang="ru-RU" dirty="0"/>
              <a:t>Близка к HSL, но яркость (Value) отличается от светлоты (</a:t>
            </a:r>
            <a:r>
              <a:rPr lang="ru-RU" dirty="0" err="1"/>
              <a:t>Lightness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 HSV яркость определяется максимальной интенсивностью RGB-компонент.</a:t>
            </a:r>
          </a:p>
          <a:p>
            <a:r>
              <a:rPr lang="ru-RU" dirty="0"/>
              <a:t>Часто используется при сегментации по цвету</a:t>
            </a:r>
          </a:p>
        </p:txBody>
      </p:sp>
      <p:pic>
        <p:nvPicPr>
          <p:cNvPr id="37891" name="Picture 5" descr="750px-HSV_cylinder">
            <a:extLst>
              <a:ext uri="{FF2B5EF4-FFF2-40B4-BE49-F238E27FC236}">
                <a16:creationId xmlns:a16="http://schemas.microsoft.com/office/drawing/2014/main" id="{C15C60AF-7221-D159-8248-0FAB3A0EC01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64524" y="2157573"/>
            <a:ext cx="4609302" cy="3687442"/>
          </a:xfrm>
          <a:noFill/>
        </p:spPr>
      </p:pic>
    </p:spTree>
    <p:extLst>
      <p:ext uri="{BB962C8B-B14F-4D97-AF65-F5344CB8AC3E}">
        <p14:creationId xmlns:p14="http://schemas.microsoft.com/office/powerpoint/2010/main" val="1433492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BFAEDC2D-E37B-09FB-BE1F-38B1312B6866}"/>
              </a:ext>
            </a:extLst>
          </p:cNvPr>
          <p:cNvGrpSpPr>
            <a:grpSpLocks/>
          </p:cNvGrpSpPr>
          <p:nvPr/>
        </p:nvGrpSpPr>
        <p:grpSpPr bwMode="auto">
          <a:xfrm>
            <a:off x="3648075" y="1600200"/>
            <a:ext cx="4895850" cy="3657600"/>
            <a:chOff x="1338" y="1008"/>
            <a:chExt cx="3084" cy="2304"/>
          </a:xfrm>
        </p:grpSpPr>
        <p:pic>
          <p:nvPicPr>
            <p:cNvPr id="35850" name="Picture 7">
              <a:extLst>
                <a:ext uri="{FF2B5EF4-FFF2-40B4-BE49-F238E27FC236}">
                  <a16:creationId xmlns:a16="http://schemas.microsoft.com/office/drawing/2014/main" id="{044EA4E5-D31E-75B3-DFE2-7AA17650FC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" y="1008"/>
              <a:ext cx="3072" cy="2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1" name="Text Box 11">
              <a:extLst>
                <a:ext uri="{FF2B5EF4-FFF2-40B4-BE49-F238E27FC236}">
                  <a16:creationId xmlns:a16="http://schemas.microsoft.com/office/drawing/2014/main" id="{2871CFE9-A971-CC59-A2A0-C17725E77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026"/>
              <a:ext cx="30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200"/>
                <a:t>S</a:t>
              </a:r>
              <a:endParaRPr lang="ru-RU" altLang="en-US" sz="3200"/>
            </a:p>
          </p:txBody>
        </p:sp>
      </p:grpSp>
      <p:grpSp>
        <p:nvGrpSpPr>
          <p:cNvPr id="3" name="Group 10">
            <a:extLst>
              <a:ext uri="{FF2B5EF4-FFF2-40B4-BE49-F238E27FC236}">
                <a16:creationId xmlns:a16="http://schemas.microsoft.com/office/drawing/2014/main" id="{F26BE129-9E1B-FE5B-C48C-90D995BAB74E}"/>
              </a:ext>
            </a:extLst>
          </p:cNvPr>
          <p:cNvGrpSpPr>
            <a:grpSpLocks/>
          </p:cNvGrpSpPr>
          <p:nvPr/>
        </p:nvGrpSpPr>
        <p:grpSpPr bwMode="auto">
          <a:xfrm>
            <a:off x="3648075" y="1604964"/>
            <a:ext cx="4895850" cy="3648075"/>
            <a:chOff x="1338" y="1011"/>
            <a:chExt cx="3084" cy="2298"/>
          </a:xfrm>
        </p:grpSpPr>
        <p:pic>
          <p:nvPicPr>
            <p:cNvPr id="35848" name="Picture 8">
              <a:extLst>
                <a:ext uri="{FF2B5EF4-FFF2-40B4-BE49-F238E27FC236}">
                  <a16:creationId xmlns:a16="http://schemas.microsoft.com/office/drawing/2014/main" id="{182AE9C9-6525-ADE4-97DD-250331052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" y="1011"/>
              <a:ext cx="3072" cy="2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49" name="Text Box 9">
              <a:extLst>
                <a:ext uri="{FF2B5EF4-FFF2-40B4-BE49-F238E27FC236}">
                  <a16:creationId xmlns:a16="http://schemas.microsoft.com/office/drawing/2014/main" id="{424DC5B8-4E5A-B8AA-61C2-53EC03177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026"/>
              <a:ext cx="30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800">
                  <a:solidFill>
                    <a:srgbClr val="FFFFFF"/>
                  </a:solidFill>
                </a:rPr>
                <a:t>V</a:t>
              </a:r>
              <a:endParaRPr lang="ru-RU" altLang="en-US" sz="2800">
                <a:solidFill>
                  <a:srgbClr val="FFFFFF"/>
                </a:solidFill>
              </a:endParaRPr>
            </a:p>
          </p:txBody>
        </p:sp>
      </p:grpSp>
      <p:grpSp>
        <p:nvGrpSpPr>
          <p:cNvPr id="4" name="Group 14">
            <a:extLst>
              <a:ext uri="{FF2B5EF4-FFF2-40B4-BE49-F238E27FC236}">
                <a16:creationId xmlns:a16="http://schemas.microsoft.com/office/drawing/2014/main" id="{06D5F227-7988-9A9B-2DF4-7C7946FDEF89}"/>
              </a:ext>
            </a:extLst>
          </p:cNvPr>
          <p:cNvGrpSpPr>
            <a:grpSpLocks/>
          </p:cNvGrpSpPr>
          <p:nvPr/>
        </p:nvGrpSpPr>
        <p:grpSpPr bwMode="auto">
          <a:xfrm>
            <a:off x="3648075" y="1600200"/>
            <a:ext cx="4895850" cy="3657600"/>
            <a:chOff x="1338" y="1008"/>
            <a:chExt cx="3084" cy="2304"/>
          </a:xfrm>
        </p:grpSpPr>
        <p:pic>
          <p:nvPicPr>
            <p:cNvPr id="35846" name="Picture 5">
              <a:extLst>
                <a:ext uri="{FF2B5EF4-FFF2-40B4-BE49-F238E27FC236}">
                  <a16:creationId xmlns:a16="http://schemas.microsoft.com/office/drawing/2014/main" id="{0100E571-B71C-CE0A-2C0B-6C6EB0471B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" y="1008"/>
              <a:ext cx="3072" cy="2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47" name="Text Box 13">
              <a:extLst>
                <a:ext uri="{FF2B5EF4-FFF2-40B4-BE49-F238E27FC236}">
                  <a16:creationId xmlns:a16="http://schemas.microsoft.com/office/drawing/2014/main" id="{CAB93879-995C-B5CD-18C3-22D922FC3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026"/>
              <a:ext cx="30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3200"/>
                <a:t>H</a:t>
              </a:r>
              <a:endParaRPr lang="ru-RU" altLang="en-US" sz="3200"/>
            </a:p>
          </p:txBody>
        </p:sp>
      </p:grpSp>
      <p:pic>
        <p:nvPicPr>
          <p:cNvPr id="49156" name="Picture 4">
            <a:extLst>
              <a:ext uri="{FF2B5EF4-FFF2-40B4-BE49-F238E27FC236}">
                <a16:creationId xmlns:a16="http://schemas.microsoft.com/office/drawing/2014/main" id="{488B6B66-2EFB-D837-5F47-A3DFCD3F5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604964"/>
            <a:ext cx="4876800" cy="364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6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3.48128E-6 L 0.23628 -0.2411 " pathEditMode="relative" rAng="0" ptsTypes="AA">
                                      <p:cBhvr>
                                        <p:cTn id="15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06" y="-12067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9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3.48128E-6 L -0.2283 -0.2411 " pathEditMode="relative" rAng="0" ptsTypes="AA">
                                      <p:cBhvr>
                                        <p:cTn id="17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24" y="-12067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3.48128E-6 L 0 0.23069 " pathEditMode="relative" rAng="0" ptsTypes="AA">
                                      <p:cBhvr>
                                        <p:cTn id="19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535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40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3999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2000" fill="hold"/>
                                        <p:tgtEl>
                                          <p:spTgt spid="4915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90D318F6-22F9-38F9-271E-346994905E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/>
              <a:t>Преобразование из цветовой модели </a:t>
            </a:r>
            <a:r>
              <a:rPr lang="en-US"/>
              <a:t>RGB </a:t>
            </a:r>
            <a:r>
              <a:rPr lang="ru-RU"/>
              <a:t>в </a:t>
            </a:r>
            <a:r>
              <a:rPr lang="en-US"/>
              <a:t>HSV</a:t>
            </a:r>
            <a:endParaRPr lang="ru-RU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1A99F35-0494-4B8C-0E2A-94940137BB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en-US"/>
              <a:t>H [</a:t>
            </a:r>
            <a:r>
              <a:rPr lang="ru-RU" altLang="en-US"/>
              <a:t>0</a:t>
            </a:r>
            <a:r>
              <a:rPr lang="en-US" altLang="en-US"/>
              <a:t>, 360)</a:t>
            </a:r>
          </a:p>
          <a:p>
            <a:r>
              <a:rPr lang="en-US" altLang="en-US"/>
              <a:t>S,V,R,G,B [0, 1]</a:t>
            </a:r>
          </a:p>
          <a:p>
            <a:r>
              <a:rPr lang="en-US" altLang="en-US"/>
              <a:t>MAX = max(R, G, B); MIN = min(R, G, B)</a:t>
            </a:r>
            <a:endParaRPr lang="ru-RU" altLang="en-US"/>
          </a:p>
        </p:txBody>
      </p:sp>
      <p:pic>
        <p:nvPicPr>
          <p:cNvPr id="39940" name="Picture 4">
            <a:extLst>
              <a:ext uri="{FF2B5EF4-FFF2-40B4-BE49-F238E27FC236}">
                <a16:creationId xmlns:a16="http://schemas.microsoft.com/office/drawing/2014/main" id="{22814F5D-EB71-EFC6-D3F9-1BD620BAA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3789364"/>
            <a:ext cx="5364163" cy="262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5">
            <a:extLst>
              <a:ext uri="{FF2B5EF4-FFF2-40B4-BE49-F238E27FC236}">
                <a16:creationId xmlns:a16="http://schemas.microsoft.com/office/drawing/2014/main" id="{337E24FA-EE9C-1A7E-4491-FDBA0A36D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26" y="3716339"/>
            <a:ext cx="3635375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Picture 8">
            <a:extLst>
              <a:ext uri="{FF2B5EF4-FFF2-40B4-BE49-F238E27FC236}">
                <a16:creationId xmlns:a16="http://schemas.microsoft.com/office/drawing/2014/main" id="{DB5200F1-F81C-8D3A-AD58-5959A64BF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064" y="4941888"/>
            <a:ext cx="20161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15A9166B-D8A4-2309-CBB1-8C2D3DE2B3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en-US"/>
              <a:t>Преобразование из </a:t>
            </a:r>
            <a:r>
              <a:rPr lang="en-US" altLang="en-US"/>
              <a:t>HSV </a:t>
            </a:r>
            <a:r>
              <a:rPr lang="ru-RU" altLang="en-US"/>
              <a:t>в </a:t>
            </a:r>
            <a:r>
              <a:rPr lang="en-US" altLang="en-US"/>
              <a:t>RGB</a:t>
            </a:r>
            <a:endParaRPr lang="ru-RU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Rectangle 8">
                <a:extLst>
                  <a:ext uri="{FF2B5EF4-FFF2-40B4-BE49-F238E27FC236}">
                    <a16:creationId xmlns:a16="http://schemas.microsoft.com/office/drawing/2014/main" id="{C0C981F4-387B-E31C-51F5-7433365CD32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274320" indent="-274320">
                  <a:buClr>
                    <a:schemeClr val="accent3"/>
                  </a:buClr>
                  <a:buFont typeface="Wingdings 2"/>
                  <a:buChar char="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dirty="0"/>
              </a:p>
              <a:p>
                <a:pPr marL="274320" indent="-274320">
                  <a:buClr>
                    <a:schemeClr val="accent3"/>
                  </a:buClr>
                  <a:buFont typeface="Wingdings 2"/>
                  <a:buChar char=""/>
                  <a:defRPr/>
                </a:pPr>
                <a:r>
                  <a:rPr lang="en-US" i="1" dirty="0"/>
                  <a:t>f</a:t>
                </a:r>
                <a:r>
                  <a:rPr lang="en-US" dirty="0"/>
                  <a:t> = H/60 – H</a:t>
                </a:r>
                <a:r>
                  <a:rPr lang="en-US" baseline="-25000" dirty="0"/>
                  <a:t>i</a:t>
                </a:r>
              </a:p>
              <a:p>
                <a:pPr marL="274320" indent="-274320">
                  <a:buClr>
                    <a:schemeClr val="accent3"/>
                  </a:buClr>
                  <a:buFont typeface="Wingdings 2"/>
                  <a:buChar char=""/>
                  <a:defRPr/>
                </a:pPr>
                <a:r>
                  <a:rPr lang="en-US" i="1" dirty="0"/>
                  <a:t>p=</a:t>
                </a:r>
                <a:r>
                  <a:rPr lang="en-US" dirty="0"/>
                  <a:t>V*(1-S)</a:t>
                </a:r>
              </a:p>
              <a:p>
                <a:pPr marL="274320" indent="-274320">
                  <a:buClr>
                    <a:schemeClr val="accent3"/>
                  </a:buClr>
                  <a:buFont typeface="Wingdings 2"/>
                  <a:buChar char=""/>
                  <a:defRPr/>
                </a:pPr>
                <a:r>
                  <a:rPr lang="en-US" dirty="0"/>
                  <a:t>q=V*(1-</a:t>
                </a:r>
                <a:r>
                  <a:rPr lang="en-US" i="1" dirty="0"/>
                  <a:t>f*</a:t>
                </a:r>
                <a:r>
                  <a:rPr lang="en-US" dirty="0"/>
                  <a:t>S)</a:t>
                </a:r>
              </a:p>
              <a:p>
                <a:pPr marL="274320" indent="-274320">
                  <a:buClr>
                    <a:schemeClr val="accent3"/>
                  </a:buClr>
                  <a:buFont typeface="Wingdings 2"/>
                  <a:buChar char=""/>
                  <a:defRPr/>
                </a:pPr>
                <a:r>
                  <a:rPr lang="en-US" dirty="0"/>
                  <a:t>t=V*(1-(1-</a:t>
                </a:r>
                <a:r>
                  <a:rPr lang="en-US" i="1" dirty="0"/>
                  <a:t>f</a:t>
                </a:r>
                <a:r>
                  <a:rPr lang="en-US" dirty="0"/>
                  <a:t>)*S)</a:t>
                </a:r>
              </a:p>
              <a:p>
                <a:pPr marL="274320" indent="-274320">
                  <a:buClr>
                    <a:schemeClr val="accent3"/>
                  </a:buClr>
                  <a:buFont typeface="Wingdings 2"/>
                  <a:buChar char=""/>
                  <a:defRPr/>
                </a:pPr>
                <a:r>
                  <a:rPr lang="en-US" dirty="0"/>
                  <a:t>If H</a:t>
                </a:r>
                <a:r>
                  <a:rPr lang="en-US" baseline="-25000" dirty="0"/>
                  <a:t>i </a:t>
                </a:r>
                <a:r>
                  <a:rPr lang="en-US" dirty="0"/>
                  <a:t>= 0	-&gt;	R=V,	G=t,	B=p</a:t>
                </a:r>
              </a:p>
              <a:p>
                <a:pPr marL="182880" indent="-246888">
                  <a:buFont typeface="Wingdings 2"/>
                  <a:buChar char=""/>
                  <a:defRPr/>
                </a:pPr>
                <a:r>
                  <a:rPr lang="en-US" dirty="0"/>
                  <a:t>If H</a:t>
                </a:r>
                <a:r>
                  <a:rPr lang="en-US" baseline="-25000" dirty="0"/>
                  <a:t>i </a:t>
                </a:r>
                <a:r>
                  <a:rPr lang="en-US" dirty="0"/>
                  <a:t>= 1	-&gt;	R=q,	G=V,	B=p</a:t>
                </a:r>
              </a:p>
              <a:p>
                <a:pPr marL="182880" indent="-246888">
                  <a:buFont typeface="Wingdings 2"/>
                  <a:buChar char=""/>
                  <a:defRPr/>
                </a:pPr>
                <a:r>
                  <a:rPr lang="en-US" dirty="0"/>
                  <a:t>If H</a:t>
                </a:r>
                <a:r>
                  <a:rPr lang="en-US" baseline="-25000" dirty="0"/>
                  <a:t>i </a:t>
                </a:r>
                <a:r>
                  <a:rPr lang="en-US" dirty="0"/>
                  <a:t>= 2	-&gt;	R=p,	G=V,	B=t</a:t>
                </a:r>
              </a:p>
              <a:p>
                <a:pPr marL="182880" indent="-246888">
                  <a:buFont typeface="Wingdings 2"/>
                  <a:buChar char=""/>
                  <a:defRPr/>
                </a:pPr>
                <a:r>
                  <a:rPr lang="en-US" dirty="0"/>
                  <a:t>If H</a:t>
                </a:r>
                <a:r>
                  <a:rPr lang="en-US" baseline="-25000" dirty="0"/>
                  <a:t>i </a:t>
                </a:r>
                <a:r>
                  <a:rPr lang="en-US" dirty="0"/>
                  <a:t>= 3	-&gt;	R=p,	G=q,	B=V</a:t>
                </a:r>
              </a:p>
              <a:p>
                <a:pPr marL="182880" indent="-246888">
                  <a:buFont typeface="Wingdings 2"/>
                  <a:buChar char=""/>
                  <a:defRPr/>
                </a:pPr>
                <a:r>
                  <a:rPr lang="en-US" dirty="0"/>
                  <a:t>If H</a:t>
                </a:r>
                <a:r>
                  <a:rPr lang="en-US" baseline="-25000" dirty="0"/>
                  <a:t>i </a:t>
                </a:r>
                <a:r>
                  <a:rPr lang="en-US" dirty="0"/>
                  <a:t>= 4	-&gt;	R=t,	G=p,	B=V</a:t>
                </a:r>
              </a:p>
              <a:p>
                <a:pPr marL="182880" indent="-246888">
                  <a:buFont typeface="Wingdings 2"/>
                  <a:buChar char=""/>
                  <a:defRPr/>
                </a:pPr>
                <a:r>
                  <a:rPr lang="en-US" dirty="0"/>
                  <a:t>If H</a:t>
                </a:r>
                <a:r>
                  <a:rPr lang="en-US" baseline="-25000" dirty="0"/>
                  <a:t>i </a:t>
                </a:r>
                <a:r>
                  <a:rPr lang="en-US" dirty="0"/>
                  <a:t>= 5	-&gt;	R=V,	G=p,	B=q</a:t>
                </a:r>
                <a:endParaRPr lang="ru-RU" dirty="0"/>
              </a:p>
            </p:txBody>
          </p:sp>
        </mc:Choice>
        <mc:Fallback xmlns="">
          <p:sp>
            <p:nvSpPr>
              <p:cNvPr id="34819" name="Rectangle 8">
                <a:extLst>
                  <a:ext uri="{FF2B5EF4-FFF2-40B4-BE49-F238E27FC236}">
                    <a16:creationId xmlns:a16="http://schemas.microsoft.com/office/drawing/2014/main" id="{C0C981F4-387B-E31C-51F5-7433365CD3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6" t="-840"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664FA-4D01-737D-AED3-F79E06F49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</a:t>
            </a:r>
            <a:r>
              <a:rPr lang="en-US" dirty="0" err="1"/>
              <a:t>YCbCr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ADAEA-8ECD-720F-3D6D-AE01D6347E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Цвет разделяется на компоненты:</a:t>
            </a:r>
          </a:p>
          <a:p>
            <a:pPr lvl="1"/>
            <a:r>
              <a:rPr lang="en-US" dirty="0"/>
              <a:t>Y – </a:t>
            </a:r>
            <a:r>
              <a:rPr lang="ru-RU" dirty="0"/>
              <a:t>яркость (</a:t>
            </a:r>
            <a:r>
              <a:rPr lang="en-US" dirty="0"/>
              <a:t>luma)</a:t>
            </a:r>
          </a:p>
          <a:p>
            <a:pPr lvl="1"/>
            <a:r>
              <a:rPr lang="en-US" dirty="0" err="1"/>
              <a:t>Cb</a:t>
            </a:r>
            <a:r>
              <a:rPr lang="en-US" dirty="0"/>
              <a:t>, Cr – </a:t>
            </a:r>
            <a:r>
              <a:rPr lang="ru-RU" dirty="0"/>
              <a:t>цветность (</a:t>
            </a:r>
            <a:r>
              <a:rPr lang="en-US" dirty="0"/>
              <a:t>chroma)</a:t>
            </a:r>
          </a:p>
          <a:p>
            <a:r>
              <a:rPr lang="ru-RU" dirty="0"/>
              <a:t>Основная идея: яркость хранится отдельно от цвета, что позволяет эффективнее сжимать изображения</a:t>
            </a:r>
          </a:p>
          <a:p>
            <a:pPr lvl="1"/>
            <a:r>
              <a:rPr lang="ru-RU" dirty="0"/>
              <a:t>Человеческое зрение лучше различает изменение яркости и хуже замечает мелкие изменения цвета</a:t>
            </a:r>
          </a:p>
          <a:p>
            <a:r>
              <a:rPr lang="ru-RU" dirty="0"/>
              <a:t>Применение:</a:t>
            </a:r>
            <a:endParaRPr lang="en-US" dirty="0"/>
          </a:p>
          <a:p>
            <a:pPr lvl="1"/>
            <a:r>
              <a:rPr lang="ru-RU" dirty="0"/>
              <a:t>Видео, изображения, цифровое </a:t>
            </a:r>
            <a:r>
              <a:rPr lang="en-US" dirty="0"/>
              <a:t>TV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722458-6BCB-743D-51FC-F2F6DB4C317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128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36A064-6799-EEA9-CED8-9F008D5F7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Цветовая </a:t>
            </a:r>
            <a:r>
              <a:rPr lang="ru-RU" dirty="0" err="1"/>
              <a:t>субдескритизация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B70E3D-03CB-637F-32AF-25F5A7092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Цветовая </a:t>
            </a:r>
            <a:r>
              <a:rPr lang="ru-RU" dirty="0" err="1"/>
              <a:t>субдескритизация</a:t>
            </a:r>
            <a:endParaRPr lang="ru-RU" dirty="0"/>
          </a:p>
          <a:p>
            <a:pPr lvl="1"/>
            <a:r>
              <a:rPr lang="ru-RU" dirty="0"/>
              <a:t>4:4:4 – без сжатия</a:t>
            </a:r>
          </a:p>
          <a:p>
            <a:pPr lvl="2"/>
            <a:r>
              <a:rPr lang="en-US" dirty="0">
                <a:latin typeface="Consolas" panose="020B0609020204030204" pitchFamily="49" charset="0"/>
              </a:rPr>
              <a:t>Y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C </a:t>
            </a:r>
            <a:r>
              <a:rPr lang="en-US" dirty="0" err="1">
                <a:latin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C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Y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C </a:t>
            </a:r>
            <a:r>
              <a:rPr lang="en-US" dirty="0" err="1">
                <a:latin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C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4:4:0 – </a:t>
            </a:r>
            <a:r>
              <a:rPr lang="ru-RU" dirty="0"/>
              <a:t>уменьшение цветности по вертикали</a:t>
            </a:r>
            <a:endParaRPr lang="en-US" dirty="0"/>
          </a:p>
          <a:p>
            <a:pPr lvl="2"/>
            <a:r>
              <a:rPr lang="en-US" dirty="0">
                <a:latin typeface="Consolas" panose="020B0609020204030204" pitchFamily="49" charset="0"/>
              </a:rPr>
              <a:t>Y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C </a:t>
            </a:r>
            <a:r>
              <a:rPr lang="en-US" dirty="0" err="1">
                <a:latin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C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Y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- - - -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ru-RU" dirty="0"/>
              <a:t>4:2:2 – уменьшение цветности по горизонтали</a:t>
            </a:r>
            <a:endParaRPr lang="en-US" dirty="0"/>
          </a:p>
          <a:p>
            <a:pPr lvl="2"/>
            <a:r>
              <a:rPr lang="en-US" dirty="0">
                <a:latin typeface="Consolas" panose="020B0609020204030204" pitchFamily="49" charset="0"/>
              </a:rPr>
              <a:t>Y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C – C –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Y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C – C -</a:t>
            </a:r>
            <a:endParaRPr lang="ru-RU" dirty="0">
              <a:latin typeface="Consolas" panose="020B0609020204030204" pitchFamily="49" charset="0"/>
            </a:endParaRPr>
          </a:p>
          <a:p>
            <a:pPr lvl="1"/>
            <a:r>
              <a:rPr lang="ru-RU" dirty="0"/>
              <a:t>4:2:0 – уменьшение цветности по вертикали и горизонтали</a:t>
            </a:r>
            <a:endParaRPr lang="en-US" dirty="0"/>
          </a:p>
          <a:p>
            <a:pPr lvl="2"/>
            <a:r>
              <a:rPr lang="en-US" dirty="0">
                <a:latin typeface="Consolas" panose="020B0609020204030204" pitchFamily="49" charset="0"/>
              </a:rPr>
              <a:t>Y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C – C –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Y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Y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- - - -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9EA231-BF22-7A99-5CB7-EC8A9CC9F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836" y="1825625"/>
            <a:ext cx="1884887" cy="18953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D5ADD1-3AC5-35F2-9A1C-C23E0F43E40E}"/>
              </a:ext>
            </a:extLst>
          </p:cNvPr>
          <p:cNvSpPr txBox="1"/>
          <p:nvPr/>
        </p:nvSpPr>
        <p:spPr>
          <a:xfrm>
            <a:off x="6406834" y="3743952"/>
            <a:ext cx="1884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4:4:4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7DC407-0B58-B5BA-090C-2F2A09609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427" y="1825625"/>
            <a:ext cx="1891822" cy="18953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C7E2CB-265F-DE51-BE94-4988922DE327}"/>
              </a:ext>
            </a:extLst>
          </p:cNvPr>
          <p:cNvSpPr txBox="1"/>
          <p:nvPr/>
        </p:nvSpPr>
        <p:spPr>
          <a:xfrm>
            <a:off x="8799362" y="3720926"/>
            <a:ext cx="1884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4:4:0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CBF576-ABAB-95D1-B15E-AAE6787ABC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835" y="4370625"/>
            <a:ext cx="1884887" cy="18848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F801022-674C-B25D-DBD1-4F2CA54AB407}"/>
              </a:ext>
            </a:extLst>
          </p:cNvPr>
          <p:cNvSpPr txBox="1"/>
          <p:nvPr/>
        </p:nvSpPr>
        <p:spPr>
          <a:xfrm>
            <a:off x="6406835" y="6400863"/>
            <a:ext cx="1884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4:2:2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E03356-0764-2FDE-1E56-8809062D71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2426" y="4370625"/>
            <a:ext cx="1884886" cy="19057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2E7DB5-208C-E0E6-D3FD-F13F3CC6376A}"/>
              </a:ext>
            </a:extLst>
          </p:cNvPr>
          <p:cNvSpPr txBox="1"/>
          <p:nvPr/>
        </p:nvSpPr>
        <p:spPr>
          <a:xfrm>
            <a:off x="8792425" y="6400863"/>
            <a:ext cx="1884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4:2:0</a:t>
            </a:r>
          </a:p>
        </p:txBody>
      </p:sp>
    </p:spTree>
    <p:extLst>
      <p:ext uri="{BB962C8B-B14F-4D97-AF65-F5344CB8AC3E}">
        <p14:creationId xmlns:p14="http://schemas.microsoft.com/office/powerpoint/2010/main" val="21085721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AF54852-ADCB-986F-D4D5-B35E0532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из </a:t>
            </a:r>
            <a:r>
              <a:rPr lang="en-US" dirty="0"/>
              <a:t>RGB </a:t>
            </a:r>
            <a:r>
              <a:rPr lang="ru-RU" dirty="0"/>
              <a:t>в </a:t>
            </a:r>
            <a:r>
              <a:rPr lang="en-US" dirty="0" err="1"/>
              <a:t>Y’CrCb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Y’PbPr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204AEB4-E84A-3EEC-0913-79B2B5B386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219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299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587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8204AEB4-E84A-3EEC-0913-79B2B5B386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4749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A51CF-FB16-4BC0-5757-ACF7475A6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из </a:t>
            </a:r>
            <a:r>
              <a:rPr lang="en-US" dirty="0" err="1"/>
              <a:t>Y’PbPr</a:t>
            </a:r>
            <a:r>
              <a:rPr lang="ru-RU" dirty="0"/>
              <a:t> в </a:t>
            </a:r>
            <a:r>
              <a:rPr lang="en-US" dirty="0"/>
              <a:t>RGB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9D37F-E9BF-D052-429D-6C5CEDD142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402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344136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714136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772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9D37F-E9BF-D052-429D-6C5CEDD142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5544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EFDAE-EDC8-4DA2-8CD3-35CEF3600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</a:t>
            </a:r>
            <a:r>
              <a:rPr lang="en-US" dirty="0"/>
              <a:t>CIELAB (LAB)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FFC3E-D3EA-FAED-A39D-FB7BADC15E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Аппаратно-независимая модель</a:t>
            </a:r>
          </a:p>
          <a:p>
            <a:r>
              <a:rPr lang="ru-RU" dirty="0"/>
              <a:t>Основана на восприятии цвета человеком</a:t>
            </a:r>
          </a:p>
          <a:p>
            <a:r>
              <a:rPr lang="ru-RU" dirty="0"/>
              <a:t>Компоненты: L* — светлота, a* — зелено-красный, b* — сине-жёлтый</a:t>
            </a:r>
          </a:p>
          <a:p>
            <a:r>
              <a:rPr lang="ru-RU" dirty="0"/>
              <a:t>Применяется в задачах, где важна точность восприятия цвета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CC91F08-F3F4-E352-7C41-3A81E6B6926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270" y="2020341"/>
            <a:ext cx="4317460" cy="3961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327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C834EB-F91B-36F2-877C-E2111BA2B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Гамма-коррекция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9D8936-8A8D-2A9B-AC12-439014EB4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357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0BF13F-A888-0725-C7C8-DC95096F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Гамма-коррекция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EFD133-EA69-53CA-0B45-392C58BF0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Гамма-коррекция — нелинейное преобразование яркости изображения.</a:t>
            </a:r>
          </a:p>
          <a:p>
            <a:r>
              <a:rPr lang="ru-RU" dirty="0"/>
              <a:t>Человек лучше различает тёмные оттенки; хуже различает очень яркие уровни.</a:t>
            </a:r>
          </a:p>
          <a:p>
            <a:r>
              <a:rPr lang="ru-RU" b="1" dirty="0"/>
              <a:t>Особенности устройств отображения</a:t>
            </a:r>
          </a:p>
          <a:p>
            <a:pPr lvl="1"/>
            <a:r>
              <a:rPr lang="ru-RU" dirty="0"/>
              <a:t>Мониторы отображают яркость нелинейно.</a:t>
            </a:r>
          </a:p>
          <a:p>
            <a:pPr lvl="1"/>
            <a:r>
              <a:rPr lang="ru-RU" dirty="0"/>
              <a:t>Без коррекции изображение выглядело бы слишком тёмным.</a:t>
            </a:r>
          </a:p>
          <a:p>
            <a:r>
              <a:rPr lang="ru-RU" dirty="0"/>
              <a:t>Основная идея: больше точности для тёмных оттенков и меньше для светлых</a:t>
            </a:r>
          </a:p>
          <a:p>
            <a:r>
              <a:rPr lang="ru-RU" b="1" dirty="0"/>
              <a:t>Стандарт </a:t>
            </a:r>
            <a:r>
              <a:rPr lang="ru-RU" b="1" dirty="0" err="1"/>
              <a:t>sRGB</a:t>
            </a:r>
            <a:endParaRPr lang="ru-RU" b="1" dirty="0"/>
          </a:p>
          <a:p>
            <a:pPr lvl="1"/>
            <a:r>
              <a:rPr lang="ru-RU" dirty="0"/>
              <a:t>Большинство изображений хранится в гамма-корректированном пространстве </a:t>
            </a:r>
            <a:r>
              <a:rPr lang="en-US" dirty="0"/>
              <a:t>sRGB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6942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FF08BA-52C8-7BAE-2C7C-BC7C8B564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гамма-коррекции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89FE85-A10B-CE16-FA76-588F02E37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Компьютерная графика и рендеринг</a:t>
            </a:r>
          </a:p>
          <a:p>
            <a:pPr lvl="1"/>
            <a:r>
              <a:rPr lang="ru-RU" dirty="0" err="1"/>
              <a:t>Освещние</a:t>
            </a:r>
            <a:r>
              <a:rPr lang="ru-RU" dirty="0"/>
              <a:t> должно вычисляться в линейном пространстве</a:t>
            </a:r>
          </a:p>
          <a:p>
            <a:pPr lvl="1"/>
            <a:r>
              <a:rPr lang="ru-RU" dirty="0"/>
              <a:t>Если смешивать цвета в </a:t>
            </a:r>
            <a:r>
              <a:rPr lang="ru-RU" dirty="0" err="1"/>
              <a:t>sRGB</a:t>
            </a:r>
            <a:r>
              <a:rPr lang="ru-RU" dirty="0"/>
              <a:t>:</a:t>
            </a:r>
          </a:p>
          <a:p>
            <a:pPr lvl="2"/>
            <a:r>
              <a:rPr lang="ru-RU" dirty="0"/>
              <a:t>освещение становится физически некорректным; </a:t>
            </a:r>
          </a:p>
          <a:p>
            <a:pPr lvl="2"/>
            <a:r>
              <a:rPr lang="ru-RU" dirty="0"/>
              <a:t>появляются ошибки яркости и контраста.</a:t>
            </a:r>
          </a:p>
          <a:p>
            <a:r>
              <a:rPr lang="ru-RU" dirty="0"/>
              <a:t>Типичный </a:t>
            </a:r>
            <a:r>
              <a:rPr lang="ru-RU" dirty="0" err="1"/>
              <a:t>пайплайн</a:t>
            </a:r>
            <a:r>
              <a:rPr lang="ru-RU" dirty="0"/>
              <a:t>:</a:t>
            </a:r>
          </a:p>
          <a:p>
            <a:pPr lvl="1"/>
            <a:r>
              <a:rPr lang="en-US" dirty="0"/>
              <a:t>sRGB texture -&gt; Linear RGB -&gt; Lighting/Blending -&gt; Post Processing -&gt; Gamma correction -&gt; Display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5895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A9472-9E9D-BC37-1630-BDE31FF40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B21FF-9395-605B-7DDB-816F04974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 рендеринге изображений</a:t>
            </a:r>
          </a:p>
          <a:p>
            <a:pPr lvl="1"/>
            <a:r>
              <a:rPr lang="ru-RU" dirty="0"/>
              <a:t>нужно линейно смешивать цвета, но сохранять результат в гамма-корректированном виде</a:t>
            </a:r>
          </a:p>
          <a:p>
            <a:r>
              <a:rPr lang="ru-RU" dirty="0"/>
              <a:t>В OpenGL/DirectX/</a:t>
            </a:r>
            <a:r>
              <a:rPr lang="ru-RU" dirty="0" err="1"/>
              <a:t>WebGL</a:t>
            </a:r>
            <a:endParaRPr lang="ru-RU" dirty="0"/>
          </a:p>
          <a:p>
            <a:pPr lvl="1"/>
            <a:r>
              <a:rPr lang="ru-RU" dirty="0"/>
              <a:t>вручную выполняется преобразование между линейным пространством и </a:t>
            </a:r>
            <a:r>
              <a:rPr lang="ru-RU" dirty="0" err="1"/>
              <a:t>sRGB</a:t>
            </a:r>
            <a:endParaRPr lang="ru-RU" dirty="0"/>
          </a:p>
          <a:p>
            <a:pPr lvl="1"/>
            <a:r>
              <a:rPr lang="ru-RU" dirty="0"/>
              <a:t>часто выполняется в фрагментных шейдерах.</a:t>
            </a:r>
          </a:p>
          <a:p>
            <a:r>
              <a:rPr lang="ru-RU" dirty="0"/>
              <a:t>При постобработке фото и видео</a:t>
            </a:r>
          </a:p>
          <a:p>
            <a:pPr lvl="1"/>
            <a:r>
              <a:rPr lang="ru-RU" dirty="0"/>
              <a:t>для коррекции яркости без потерь цвета.</a:t>
            </a:r>
          </a:p>
        </p:txBody>
      </p:sp>
    </p:spTree>
    <p:extLst>
      <p:ext uri="{BB962C8B-B14F-4D97-AF65-F5344CB8AC3E}">
        <p14:creationId xmlns:p14="http://schemas.microsoft.com/office/powerpoint/2010/main" val="39715939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A95B59-E2F8-76A3-53E8-4EDF6CF4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Формулы гамма-коррекции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FA836F-A9C4-6FFC-EC5A-841D718EA5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Gamma encoding</a:t>
                </a:r>
                <a:endParaRPr lang="ru-RU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𝐴</m:t>
                    </m:r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/>
                  <a:t>Gamma decoding</a:t>
                </a:r>
                <a:r>
                  <a:rPr lang="ru-RU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  <m:sup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mtClean="0">
                            <a:latin typeface="Cambria Math" panose="02040503050406030204" pitchFamily="18" charset="0"/>
                          </a:rPr>
                          <m:t>𝛾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ru-RU" dirty="0"/>
                  <a:t>Обычно </a:t>
                </a:r>
                <a:r>
                  <a:rPr lang="en-US" dirty="0"/>
                  <a:t>A=1, </a:t>
                </a:r>
                <a:r>
                  <a:rPr lang="ru-RU" dirty="0"/>
                  <a:t>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FA836F-A9C4-6FFC-EC5A-841D718EA5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EE8B5C58-1C8B-9985-B068-D7AA34BC37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40034"/>
          <a:stretch>
            <a:fillRect/>
          </a:stretch>
        </p:blipFill>
        <p:spPr bwMode="auto">
          <a:xfrm>
            <a:off x="7387516" y="1825624"/>
            <a:ext cx="1680283" cy="5037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FDCB936-DA4B-A697-171F-B78778C947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65"/>
          <a:stretch>
            <a:fillRect/>
          </a:stretch>
        </p:blipFill>
        <p:spPr bwMode="auto">
          <a:xfrm>
            <a:off x="9311525" y="1825624"/>
            <a:ext cx="2241193" cy="448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65036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8E5B43-7BEB-87F3-3220-FB93B0ED4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Преобразования  цифровых изображений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2F7A27-8B6B-BD2C-AE30-A00DC4515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1007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B62BC4-7A2B-7A9D-F339-95B421BBC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Инверсия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DDAC162-7729-F3FA-9C2F-44F101761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44662" y="1825625"/>
            <a:ext cx="8702675" cy="435133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CED373-AB0C-EAFC-9281-616611E6204F}"/>
                  </a:ext>
                </a:extLst>
              </p:cNvPr>
              <p:cNvSpPr txBox="1"/>
              <p:nvPr/>
            </p:nvSpPr>
            <p:spPr>
              <a:xfrm>
                <a:off x="171928" y="1825625"/>
                <a:ext cx="1332544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𝑖𝑛𝑣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CED373-AB0C-EAFC-9281-616611E62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28" y="1825625"/>
                <a:ext cx="1332544" cy="830997"/>
              </a:xfrm>
              <a:prstGeom prst="rect">
                <a:avLst/>
              </a:prstGeom>
              <a:blipFill>
                <a:blip r:embed="rId4"/>
                <a:stretch>
                  <a:fillRect l="-3653" r="-3653" b="-4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07144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DE1D-4C62-3211-807C-569B885F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Регулировка яркости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9C0941-06CD-F536-4BDD-41D5FE21C25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ru-RU" b="0" dirty="0"/>
                  <a:t>Аддитивное изменение яркости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​=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​+</m:t>
                    </m:r>
                    <m:r>
                      <m:rPr>
                        <m:sty m:val="p"/>
                      </m:rPr>
                      <a:rPr lang="el-GR" i="0" dirty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ru-RU" b="0" dirty="0"/>
              </a:p>
              <a:p>
                <a:pPr lvl="1"/>
                <a:r>
                  <a:rPr lang="ru-RU" b="0" dirty="0"/>
                  <a:t>Преимущества:</a:t>
                </a:r>
              </a:p>
              <a:p>
                <a:pPr lvl="2"/>
                <a:r>
                  <a:rPr lang="ru-RU" dirty="0"/>
                  <a:t>Простота, предсказуемость при малых изменениях</a:t>
                </a:r>
              </a:p>
              <a:p>
                <a:pPr lvl="1"/>
                <a:r>
                  <a:rPr lang="ru-RU" dirty="0"/>
                  <a:t>Недостатки</a:t>
                </a:r>
              </a:p>
              <a:p>
                <a:pPr lvl="2"/>
                <a:r>
                  <a:rPr lang="ru-RU" dirty="0"/>
                  <a:t>Может “выжигать” яркие пиксели, делает тёмные — серыми</a:t>
                </a:r>
                <a:endParaRPr lang="ru-RU" b="0" dirty="0"/>
              </a:p>
              <a:p>
                <a:r>
                  <a:rPr lang="ru-RU" b="0" dirty="0"/>
                  <a:t>Мультипликативное изменение яркости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​=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​⋅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Преимущества:</a:t>
                </a:r>
              </a:p>
              <a:p>
                <a:pPr lvl="2"/>
                <a:r>
                  <a:rPr lang="ru-RU" dirty="0"/>
                  <a:t>Пропорциональное изменение, реалистичнее</a:t>
                </a:r>
              </a:p>
              <a:p>
                <a:pPr lvl="2"/>
                <a:r>
                  <a:rPr lang="ru-RU" dirty="0"/>
                  <a:t>Может сделать очень тёмные пиксели ещё темнее или почти чёрными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9C0941-06CD-F536-4BDD-41D5FE21C2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647" t="-3081" r="-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3848DB-799A-34AE-C53D-DE34E8C625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705894"/>
            <a:ext cx="5181600" cy="2590800"/>
          </a:xfrm>
        </p:spPr>
      </p:pic>
    </p:spTree>
    <p:extLst>
      <p:ext uri="{BB962C8B-B14F-4D97-AF65-F5344CB8AC3E}">
        <p14:creationId xmlns:p14="http://schemas.microsoft.com/office/powerpoint/2010/main" val="12052759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10AB2-F7DA-6570-CE81-B93058401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Регулировка контраста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922290-B225-77C2-1411-61F52AD18A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8059999" cy="4351338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Контраст определяет различие между: тёмными, средними и светлыми областями изображения.</a:t>
                </a:r>
              </a:p>
              <a:p>
                <a:r>
                  <a:rPr lang="ru-RU" dirty="0"/>
                  <a:t>Формула: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fr-FR" i="1" dirty="0">
                        <a:latin typeface="Cambria Math" panose="02040503050406030204" pitchFamily="18" charset="0"/>
                      </a:rPr>
                      <m:t>​=(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 err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i="1" dirty="0" err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fr-FR" i="1" dirty="0">
                        <a:latin typeface="Cambria Math" panose="02040503050406030204" pitchFamily="18" charset="0"/>
                      </a:rPr>
                      <m:t>​−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5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)⋅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ru-RU" dirty="0"/>
              </a:p>
              <a:p>
                <a:pPr lvl="1"/>
                <a:r>
                  <a:rPr lang="el-GR" dirty="0"/>
                  <a:t>α&gt;1</a:t>
                </a:r>
                <a:r>
                  <a:rPr lang="ru-RU" dirty="0"/>
                  <a:t> – повышение контраста</a:t>
                </a:r>
              </a:p>
              <a:p>
                <a:pPr lvl="1"/>
                <a:r>
                  <a:rPr lang="el-GR" dirty="0"/>
                  <a:t>Α</a:t>
                </a:r>
                <a:r>
                  <a:rPr lang="en-US" dirty="0"/>
                  <a:t>&lt;</a:t>
                </a:r>
                <a:r>
                  <a:rPr lang="el-GR" dirty="0"/>
                  <a:t>1</a:t>
                </a:r>
                <a:r>
                  <a:rPr lang="ru-RU" dirty="0"/>
                  <a:t> – повышение контраста</a:t>
                </a:r>
                <a:endParaRPr lang="en-US" dirty="0"/>
              </a:p>
              <a:p>
                <a:r>
                  <a:rPr lang="ru-RU" dirty="0"/>
                  <a:t>Контраст изменяет не среднюю яркость,</a:t>
                </a:r>
                <a:r>
                  <a:rPr lang="en-US" dirty="0"/>
                  <a:t> </a:t>
                </a:r>
                <a:r>
                  <a:rPr lang="ru-RU" dirty="0"/>
                  <a:t>а расстояние между уровнями яркости.</a:t>
                </a:r>
              </a:p>
              <a:p>
                <a:pPr lvl="1"/>
                <a:endParaRPr lang="ru-RU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922290-B225-77C2-1411-61F52AD18A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8059999" cy="4351338"/>
              </a:xfrm>
              <a:blipFill>
                <a:blip r:embed="rId3"/>
                <a:stretch>
                  <a:fillRect l="-1285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EAAF316-498D-F0F7-895F-38EBAA960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8315" y="613267"/>
            <a:ext cx="1955369" cy="1955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C553E1-C0DF-F005-9690-9AE57CA4C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8316" y="2757949"/>
            <a:ext cx="1955369" cy="19553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6B32DA-C9EC-AD44-1E2C-22F379C436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8314" y="4802894"/>
            <a:ext cx="1955369" cy="195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492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2905E-6F52-E1F1-0C02-F861D5DAA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Регулировка цветовых кривых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F12B365-0B52-A582-A2E5-3EF4D4C0583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032794"/>
            <a:ext cx="2876550" cy="411480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84A8C80-26FC-2416-BBEF-5D8A9F5C59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1112" y="2032794"/>
            <a:ext cx="7821612" cy="3910806"/>
          </a:xfrm>
        </p:spPr>
      </p:pic>
    </p:spTree>
    <p:extLst>
      <p:ext uri="{BB962C8B-B14F-4D97-AF65-F5344CB8AC3E}">
        <p14:creationId xmlns:p14="http://schemas.microsoft.com/office/powerpoint/2010/main" val="3789482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E02A5A8-1E83-25EE-B1F5-3B147886C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Фильтры на основе свёртки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8BFEE31-3F0F-C482-2263-306C547F3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0193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2C742A-5529-F405-25F4-6D9F6D28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Свёртка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5177A7C-5474-9BAB-FCDE-7B3CAF61A9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ru-RU" dirty="0"/>
                  <a:t>Идея свёртки: новое значение пикселя вычисляется по значениям соседних пикселей</a:t>
                </a:r>
              </a:p>
              <a:p>
                <a:r>
                  <a:rPr lang="ru-RU" dirty="0"/>
                  <a:t>Пример ядра </a:t>
                </a:r>
                <a:r>
                  <a:rPr lang="en-US" dirty="0"/>
                  <a:t>blur: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ar-AE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r>
                  <a:rPr lang="ru-RU" dirty="0"/>
                  <a:t>Дискретная свёртка изображения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/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𝑘𝑦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ar-AE" b="0" dirty="0"/>
              </a:p>
              <a:p>
                <a:pPr lvl="1"/>
                <a:r>
                  <a:rPr lang="ru-RU" dirty="0"/>
                  <a:t>где: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u-RU" dirty="0"/>
                  <a:t>— изображение;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ru-RU" dirty="0"/>
                  <a:t>— ядро фильтра.</a:t>
                </a:r>
              </a:p>
              <a:p>
                <a:r>
                  <a:rPr lang="ru-RU" dirty="0"/>
                  <a:t>Применение:</a:t>
                </a:r>
                <a:endParaRPr lang="en-US" dirty="0"/>
              </a:p>
              <a:p>
                <a:pPr lvl="1"/>
                <a:r>
                  <a:rPr lang="en-US" dirty="0"/>
                  <a:t>Blur</a:t>
                </a:r>
                <a:r>
                  <a:rPr lang="ru-RU" dirty="0"/>
                  <a:t>,</a:t>
                </a:r>
                <a:r>
                  <a:rPr lang="en-US" dirty="0"/>
                  <a:t> sharpen</a:t>
                </a:r>
                <a:r>
                  <a:rPr lang="ru-RU" dirty="0"/>
                  <a:t>,</a:t>
                </a:r>
                <a:r>
                  <a:rPr lang="en-US" dirty="0"/>
                  <a:t> edge detection</a:t>
                </a:r>
                <a:r>
                  <a:rPr lang="ru-RU" dirty="0"/>
                  <a:t>,</a:t>
                </a:r>
                <a:r>
                  <a:rPr lang="en-US" dirty="0"/>
                  <a:t> emboss</a:t>
                </a:r>
                <a:r>
                  <a:rPr lang="ru-RU" dirty="0"/>
                  <a:t>, </a:t>
                </a:r>
                <a:r>
                  <a:rPr lang="en-US" dirty="0"/>
                  <a:t>noise reduction.</a:t>
                </a:r>
              </a:p>
              <a:p>
                <a:endParaRPr lang="ru-RU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5177A7C-5474-9BAB-FCDE-7B3CAF61A9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801" r="-464" b="-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3758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32177-F1CA-3342-9CC2-5E584388F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свёртки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E3B6A3-4AD1-EF78-D453-8D426E0261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ru-RU" dirty="0"/>
                  <a:t>Коммутативность: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Порядок применения изображения и ядра не влияет на результат.</a:t>
                </a:r>
              </a:p>
              <a:p>
                <a:r>
                  <a:rPr lang="ru-RU" dirty="0"/>
                  <a:t>Ассоциативность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Несколько фильтров можно объединять:</a:t>
                </a:r>
              </a:p>
              <a:p>
                <a:pPr lvl="1"/>
                <a:r>
                  <a:rPr lang="en-US" dirty="0"/>
                  <a:t>Blur + sharpen -&gt; combined kernel</a:t>
                </a:r>
                <a:endParaRPr lang="ru-RU" dirty="0"/>
              </a:p>
              <a:p>
                <a:r>
                  <a:rPr lang="ru-RU" dirty="0"/>
                  <a:t>Связь с преобразованием Фурье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r>
                  <a:rPr lang="ru-RU" dirty="0"/>
                  <a:t>, где </a:t>
                </a:r>
                <a:r>
                  <a:rPr lang="en-US" dirty="0"/>
                  <a:t>F – </a:t>
                </a:r>
                <a:r>
                  <a:rPr lang="ru-RU" dirty="0"/>
                  <a:t>преобразование Фурье</a:t>
                </a:r>
              </a:p>
              <a:p>
                <a:pPr lvl="1"/>
                <a:r>
                  <a:rPr lang="ru-RU" dirty="0"/>
                  <a:t>Свёртка в пространственной области соответствует умножению в частотной области.</a:t>
                </a:r>
              </a:p>
              <a:p>
                <a:r>
                  <a:rPr lang="ru-RU" dirty="0"/>
                  <a:t>Практические следствия</a:t>
                </a:r>
              </a:p>
              <a:p>
                <a:pPr lvl="1"/>
                <a:r>
                  <a:rPr lang="ru-RU" dirty="0"/>
                  <a:t>объединение нескольких фильтров; </a:t>
                </a:r>
              </a:p>
              <a:p>
                <a:pPr lvl="1"/>
                <a:r>
                  <a:rPr lang="ru-RU" dirty="0" err="1"/>
                  <a:t>separable</a:t>
                </a:r>
                <a:r>
                  <a:rPr lang="ru-RU" dirty="0"/>
                  <a:t> </a:t>
                </a:r>
                <a:r>
                  <a:rPr lang="ru-RU" dirty="0" err="1"/>
                  <a:t>filters</a:t>
                </a:r>
                <a:r>
                  <a:rPr lang="ru-RU" dirty="0"/>
                  <a:t>; </a:t>
                </a:r>
              </a:p>
              <a:p>
                <a:pPr lvl="1"/>
                <a:r>
                  <a:rPr lang="ru-RU" dirty="0"/>
                  <a:t>FFT-ускорение; </a:t>
                </a:r>
              </a:p>
              <a:p>
                <a:pPr lvl="1"/>
                <a:r>
                  <a:rPr lang="ru-RU" dirty="0"/>
                  <a:t>эффективная GPU-обработка.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E3B6A3-4AD1-EF78-D453-8D426E026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78883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FA9EC0B4-4759-638B-F403-A8EFD7287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altLang="en-US"/>
              <a:t>Фильтр размытия</a:t>
            </a:r>
            <a:r>
              <a:rPr lang="en-US" altLang="en-US"/>
              <a:t>, </a:t>
            </a:r>
            <a:r>
              <a:rPr lang="ru-RU" altLang="en-US"/>
              <a:t>основанный на применении свертки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966" name="Object 14">
                <a:extLst>
                  <a:ext uri="{FF2B5EF4-FFF2-40B4-BE49-F238E27FC236}">
                    <a16:creationId xmlns:a16="http://schemas.microsoft.com/office/drawing/2014/main" id="{CA3DA6E2-A8E7-7584-21F9-50557C57035E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4296000" y="3007746"/>
                <a:ext cx="2500314" cy="10502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/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/>
                            </m:mr>
                          </m:m>
                        </m:e>
                      </m: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966" name="Object 14">
                <a:extLst>
                  <a:ext uri="{FF2B5EF4-FFF2-40B4-BE49-F238E27FC236}">
                    <a16:creationId xmlns:a16="http://schemas.microsoft.com/office/drawing/2014/main" id="{CA3DA6E2-A8E7-7584-21F9-50557C570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296000" y="3007746"/>
                <a:ext cx="2500314" cy="1050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1014" name="Text Box 11">
            <a:extLst>
              <a:ext uri="{FF2B5EF4-FFF2-40B4-BE49-F238E27FC236}">
                <a16:creationId xmlns:a16="http://schemas.microsoft.com/office/drawing/2014/main" id="{D4439DCA-28C3-B594-9248-DAA314573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117679"/>
            <a:ext cx="31892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US" sz="1800">
                <a:latin typeface="Tahoma" panose="020B0604030504040204" pitchFamily="34" charset="0"/>
              </a:rPr>
              <a:t>Оригинальное изображение</a:t>
            </a:r>
          </a:p>
        </p:txBody>
      </p:sp>
      <p:sp>
        <p:nvSpPr>
          <p:cNvPr id="125964" name="Text Box 12">
            <a:extLst>
              <a:ext uri="{FF2B5EF4-FFF2-40B4-BE49-F238E27FC236}">
                <a16:creationId xmlns:a16="http://schemas.microsoft.com/office/drawing/2014/main" id="{BBE5E395-BEFD-E4F9-6556-F96DE5C1D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975" y="4341469"/>
            <a:ext cx="1630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US" sz="1800" dirty="0">
                <a:latin typeface="Tahoma" panose="020B0604030504040204" pitchFamily="34" charset="0"/>
              </a:rPr>
              <a:t>Ядро свертки</a:t>
            </a:r>
          </a:p>
        </p:txBody>
      </p:sp>
      <p:sp>
        <p:nvSpPr>
          <p:cNvPr id="125965" name="Text Box 13">
            <a:extLst>
              <a:ext uri="{FF2B5EF4-FFF2-40B4-BE49-F238E27FC236}">
                <a16:creationId xmlns:a16="http://schemas.microsoft.com/office/drawing/2014/main" id="{ACA74414-9AF2-9C32-4B2D-05B51B65B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8726" y="2018528"/>
            <a:ext cx="1271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US" sz="1800" dirty="0">
                <a:latin typeface="Tahoma" panose="020B0604030504040204" pitchFamily="34" charset="0"/>
              </a:rPr>
              <a:t>Результат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1D595C-5C24-B0AE-457D-A80454A10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587" y="2751737"/>
            <a:ext cx="2853726" cy="28537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7CE91D-8EEB-BA9E-878E-A92922E58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4234" y="2729266"/>
            <a:ext cx="2853726" cy="28601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2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64" grpId="0"/>
      <p:bldP spid="12596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154" name="Picture 7">
            <a:extLst>
              <a:ext uri="{FF2B5EF4-FFF2-40B4-BE49-F238E27FC236}">
                <a16:creationId xmlns:a16="http://schemas.microsoft.com/office/drawing/2014/main" id="{6B31C14D-D208-BE5E-FC9F-28285DD0F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944" y="1709738"/>
            <a:ext cx="4437063" cy="443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Rectangle 2">
            <a:extLst>
              <a:ext uri="{FF2B5EF4-FFF2-40B4-BE49-F238E27FC236}">
                <a16:creationId xmlns:a16="http://schemas.microsoft.com/office/drawing/2014/main" id="{689DBD51-2A76-DF53-AE2A-4A41CD345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/>
              <a:t>Повышение резкости (</a:t>
            </a:r>
            <a:r>
              <a:rPr lang="en-US"/>
              <a:t>sharpen)</a:t>
            </a:r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104" name="Object 8">
                <a:extLst>
                  <a:ext uri="{FF2B5EF4-FFF2-40B4-BE49-F238E27FC236}">
                    <a16:creationId xmlns:a16="http://schemas.microsoft.com/office/drawing/2014/main" id="{564E801F-C307-C5F9-8A1C-DA55B44A2138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7087961" y="2609624"/>
                <a:ext cx="4029982" cy="17156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d>
                        <m:dPr>
                          <m:begChr m:val="‖"/>
                          <m:endChr m:val="‖"/>
                          <m:ctrlPr>
                            <a:rPr 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  <m:e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32104" name="Object 8">
                <a:extLst>
                  <a:ext uri="{FF2B5EF4-FFF2-40B4-BE49-F238E27FC236}">
                    <a16:creationId xmlns:a16="http://schemas.microsoft.com/office/drawing/2014/main" id="{564E801F-C307-C5F9-8A1C-DA55B44A2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7087961" y="2609624"/>
                <a:ext cx="4029982" cy="17156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2102" name="Picture 6">
            <a:extLst>
              <a:ext uri="{FF2B5EF4-FFF2-40B4-BE49-F238E27FC236}">
                <a16:creationId xmlns:a16="http://schemas.microsoft.com/office/drawing/2014/main" id="{7C6E3F3D-B00C-426F-EC65-30719CF2B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944" y="1690688"/>
            <a:ext cx="4456113" cy="445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3.7037E-6 L 0.51627 3.7037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80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4">
            <a:extLst>
              <a:ext uri="{FF2B5EF4-FFF2-40B4-BE49-F238E27FC236}">
                <a16:creationId xmlns:a16="http://schemas.microsoft.com/office/drawing/2014/main" id="{F1C620B0-C1F1-D19B-CF6A-DAFED415B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en-US"/>
              <a:t>Тиснение (</a:t>
            </a:r>
            <a:r>
              <a:rPr lang="en-US" altLang="en-US"/>
              <a:t>emboss)</a:t>
            </a:r>
            <a:endParaRPr lang="ru-RU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5175" name="Object 7">
                <a:extLst>
                  <a:ext uri="{FF2B5EF4-FFF2-40B4-BE49-F238E27FC236}">
                    <a16:creationId xmlns:a16="http://schemas.microsoft.com/office/drawing/2014/main" id="{D5D5CBEA-0615-581C-61FE-5B9175D7AE12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5986379" y="2842671"/>
                <a:ext cx="2346943" cy="13255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35175" name="Object 7">
                <a:extLst>
                  <a:ext uri="{FF2B5EF4-FFF2-40B4-BE49-F238E27FC236}">
                    <a16:creationId xmlns:a16="http://schemas.microsoft.com/office/drawing/2014/main" id="{D5D5CBEA-0615-581C-61FE-5B9175D7A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5986379" y="2842671"/>
                <a:ext cx="2346943" cy="13255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9204" name="Picture 6">
            <a:extLst>
              <a:ext uri="{FF2B5EF4-FFF2-40B4-BE49-F238E27FC236}">
                <a16:creationId xmlns:a16="http://schemas.microsoft.com/office/drawing/2014/main" id="{201F2C68-7CA6-8A39-8E26-3E829E70A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6" y="1811338"/>
            <a:ext cx="4437063" cy="443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173" name="Picture 5">
            <a:extLst>
              <a:ext uri="{FF2B5EF4-FFF2-40B4-BE49-F238E27FC236}">
                <a16:creationId xmlns:a16="http://schemas.microsoft.com/office/drawing/2014/main" id="{F700F662-772E-EF5A-106B-1402EB18F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6" y="1811338"/>
            <a:ext cx="4437063" cy="443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5178" name="Object 10">
                <a:extLst>
                  <a:ext uri="{FF2B5EF4-FFF2-40B4-BE49-F238E27FC236}">
                    <a16:creationId xmlns:a16="http://schemas.microsoft.com/office/drawing/2014/main" id="{63365829-7413-FED4-7389-4B4EEC92B53B}"/>
                  </a:ext>
                </a:extLst>
              </p:cNvPr>
              <p:cNvSpPr txBox="1"/>
              <p:nvPr/>
            </p:nvSpPr>
            <p:spPr bwMode="auto">
              <a:xfrm>
                <a:off x="8772443" y="2641601"/>
                <a:ext cx="2581358" cy="15266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500" dirty="0"/>
              </a:p>
            </p:txBody>
          </p:sp>
        </mc:Choice>
        <mc:Fallback xmlns="">
          <p:sp>
            <p:nvSpPr>
              <p:cNvPr id="135178" name="Object 10">
                <a:extLst>
                  <a:ext uri="{FF2B5EF4-FFF2-40B4-BE49-F238E27FC236}">
                    <a16:creationId xmlns:a16="http://schemas.microsoft.com/office/drawing/2014/main" id="{63365829-7413-FED4-7389-4B4EEC92B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72443" y="2641601"/>
                <a:ext cx="2581358" cy="15266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179" name="Text Box 11">
            <a:extLst>
              <a:ext uri="{FF2B5EF4-FFF2-40B4-BE49-F238E27FC236}">
                <a16:creationId xmlns:a16="http://schemas.microsoft.com/office/drawing/2014/main" id="{E77080DC-1990-D818-865E-E69767AD0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2776" y="3074988"/>
            <a:ext cx="701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US" sz="1800">
                <a:latin typeface="Tahoma" panose="020B0604030504040204" pitchFamily="34" charset="0"/>
              </a:rPr>
              <a:t>либо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0 L 0.51732 0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8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E9B10-86CF-3E0A-8355-0C0AF1B63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Собеля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1C64D28-E94B-393F-A7CE-D0E87BFF53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43057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ru-RU" dirty="0"/>
                  <a:t>Метод выделения границ на изображении, основанный на вычислении приближённых градиентов яркости.</a:t>
                </a:r>
              </a:p>
              <a:p>
                <a:pPr lvl="1"/>
                <a:r>
                  <a:rPr lang="ru-RU" dirty="0"/>
                  <a:t>использует два </a:t>
                </a:r>
                <a:r>
                  <a:rPr lang="ru-RU" dirty="0" err="1"/>
                  <a:t>свёрточных</a:t>
                </a:r>
                <a:r>
                  <a:rPr lang="ru-RU" dirty="0"/>
                  <a:t> ядра</a:t>
                </a:r>
                <a:r>
                  <a:rPr lang="en-US" dirty="0"/>
                  <a:t>: </a:t>
                </a:r>
                <a:r>
                  <a:rPr lang="ru-RU" dirty="0"/>
                  <a:t>для горизонтальных границ</a:t>
                </a:r>
                <a:r>
                  <a:rPr lang="en-US" dirty="0"/>
                  <a:t> </a:t>
                </a:r>
                <a:r>
                  <a:rPr lang="ru-RU" dirty="0"/>
                  <a:t>и для вертикальных: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ru-RU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atan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51C64D28-E94B-393F-A7CE-D0E87BFF53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43057" cy="4351338"/>
              </a:xfrm>
              <a:blipFill>
                <a:blip r:embed="rId3"/>
                <a:stretch>
                  <a:fillRect l="-1385" t="-3501" r="-1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Close-up of a machine&#10;&#10;AI-generated content may be incorrect.">
            <a:extLst>
              <a:ext uri="{FF2B5EF4-FFF2-40B4-BE49-F238E27FC236}">
                <a16:creationId xmlns:a16="http://schemas.microsoft.com/office/drawing/2014/main" id="{E74260CC-1515-B8C8-C356-EFE5BBAA9A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00" y="1484765"/>
            <a:ext cx="3251200" cy="2438400"/>
          </a:xfrm>
          <a:prstGeom prst="rect">
            <a:avLst/>
          </a:prstGeom>
        </p:spPr>
      </p:pic>
      <p:pic>
        <p:nvPicPr>
          <p:cNvPr id="15" name="Picture 14" descr="A close-up of a machine&#10;&#10;AI-generated content may be incorrect.">
            <a:extLst>
              <a:ext uri="{FF2B5EF4-FFF2-40B4-BE49-F238E27FC236}">
                <a16:creationId xmlns:a16="http://schemas.microsoft.com/office/drawing/2014/main" id="{01AF939A-102F-5C77-596D-B409B10F26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00" y="4154035"/>
            <a:ext cx="32512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330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>
            <a:extLst>
              <a:ext uri="{FF2B5EF4-FFF2-40B4-BE49-F238E27FC236}">
                <a16:creationId xmlns:a16="http://schemas.microsoft.com/office/drawing/2014/main" id="{6461718A-5097-40E0-2620-65E17F5BF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/>
              <a:t>Размытие Гаусса (</a:t>
            </a:r>
            <a:r>
              <a:rPr lang="en-US"/>
              <a:t>Gaussian Blur)</a:t>
            </a:r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031" name="Object 7">
                <a:extLst>
                  <a:ext uri="{FF2B5EF4-FFF2-40B4-BE49-F238E27FC236}">
                    <a16:creationId xmlns:a16="http://schemas.microsoft.com/office/drawing/2014/main" id="{C04070F6-05CB-D02C-94A0-F22A7CCF3F04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6310313" y="2000250"/>
                <a:ext cx="5417230" cy="11203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−(</m:t>
                          </m:r>
                          <m:sSup>
                            <m:sSupPr>
                              <m:ctrlP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)/(</m:t>
                          </m:r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3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29031" name="Object 7">
                <a:extLst>
                  <a:ext uri="{FF2B5EF4-FFF2-40B4-BE49-F238E27FC236}">
                    <a16:creationId xmlns:a16="http://schemas.microsoft.com/office/drawing/2014/main" id="{C04070F6-05CB-D02C-94A0-F22A7CCF3F0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310313" y="2000250"/>
                <a:ext cx="5417230" cy="11203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5108" name="Picture 5">
            <a:extLst>
              <a:ext uri="{FF2B5EF4-FFF2-40B4-BE49-F238E27FC236}">
                <a16:creationId xmlns:a16="http://schemas.microsoft.com/office/drawing/2014/main" id="{837E5334-8B25-251B-E8B3-7064458062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133600"/>
            <a:ext cx="4427538" cy="442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5">
            <a:extLst>
              <a:ext uri="{FF2B5EF4-FFF2-40B4-BE49-F238E27FC236}">
                <a16:creationId xmlns:a16="http://schemas.microsoft.com/office/drawing/2014/main" id="{DFBF4618-4FD5-2D19-F32A-1CFB46167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Blur radius="2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133600"/>
            <a:ext cx="4427538" cy="442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700A7-0F3F-8F69-F72A-97B326BA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Практические особенности </a:t>
            </a:r>
            <a:r>
              <a:rPr lang="en-US" dirty="0"/>
              <a:t>Gaussian Blur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EADEE4-6435-10F0-E30B-9C3BBC4831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515100" cy="435133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ru-RU" dirty="0"/>
                  <a:t>Большая часть значений гауссовой функции сосредоточена в пределах ±3</a:t>
                </a:r>
                <a:r>
                  <a:rPr lang="el-GR" dirty="0"/>
                  <a:t>σ</a:t>
                </a:r>
              </a:p>
              <a:p>
                <a:pPr lvl="1"/>
                <a:r>
                  <a:rPr lang="ru-RU" dirty="0"/>
                  <a:t>Поэтому радиус ядра обычно выбирают как: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b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ru-RU" dirty="0"/>
                  <a:t>Размер ядра: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Влияние </a:t>
                </a:r>
                <a:r>
                  <a:rPr lang="el-GR" dirty="0"/>
                  <a:t>σ</a:t>
                </a:r>
              </a:p>
              <a:p>
                <a:pPr lvl="1"/>
                <a:r>
                  <a:rPr lang="ru-RU" dirty="0"/>
                  <a:t>маленькое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dirty="0"/>
                  <a:t> → слабое размытие; </a:t>
                </a:r>
              </a:p>
              <a:p>
                <a:pPr lvl="1"/>
                <a:r>
                  <a:rPr lang="ru-RU" dirty="0"/>
                  <a:t>большое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dirty="0"/>
                  <a:t> → сильное размытие; </a:t>
                </a:r>
              </a:p>
              <a:p>
                <a:pPr lvl="1"/>
                <a:r>
                  <a:rPr lang="ru-RU" dirty="0"/>
                  <a:t>увеличение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ru-RU" dirty="0"/>
                  <a:t> требует большего ядра. </a:t>
                </a:r>
              </a:p>
              <a:p>
                <a:r>
                  <a:rPr lang="ru-RU" dirty="0"/>
                  <a:t>Практическая проблема с большими ядрами</a:t>
                </a:r>
              </a:p>
              <a:p>
                <a:pPr lvl="1"/>
                <a:r>
                  <a:rPr lang="ru-RU" dirty="0"/>
                  <a:t>требуют много вычислений; </a:t>
                </a:r>
              </a:p>
              <a:p>
                <a:pPr lvl="1"/>
                <a:r>
                  <a:rPr lang="ru-RU" dirty="0"/>
                  <a:t>плохо масштабируются; </a:t>
                </a:r>
              </a:p>
              <a:p>
                <a:pPr lvl="1"/>
                <a:r>
                  <a:rPr lang="ru-RU" dirty="0"/>
                  <a:t>создают высокую нагрузку на </a:t>
                </a:r>
                <a:r>
                  <a:rPr lang="en-US" dirty="0"/>
                  <a:t>GPU </a:t>
                </a:r>
                <a:r>
                  <a:rPr lang="ru-RU" dirty="0"/>
                  <a:t>и память.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EADEE4-6435-10F0-E30B-9C3BBC4831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515100" cy="4351338"/>
              </a:xfrm>
              <a:blipFill>
                <a:blip r:embed="rId3"/>
                <a:stretch>
                  <a:fillRect l="-1124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6DE5C29-83D3-1878-4E99-1E22A29B1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386" y="1690688"/>
            <a:ext cx="4296371" cy="274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755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22AF-E458-2638-1BB1-E3A6FF12F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Оптимизация </a:t>
            </a:r>
            <a:r>
              <a:rPr lang="en-US" dirty="0"/>
              <a:t>Gaussian Blur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BB3304-B8F1-CAF1-F64F-0B3355BB1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 err="1"/>
                  <a:t>Сепарабельность</a:t>
                </a:r>
                <a:r>
                  <a:rPr lang="ru-RU" dirty="0"/>
                  <a:t> фильтра Гаусса</a:t>
                </a:r>
              </a:p>
              <a:p>
                <a:pPr lvl="1"/>
                <a:r>
                  <a:rPr lang="ru-RU" dirty="0"/>
                  <a:t>Двумерную свёртку можно разложить на две одномерные:</a:t>
                </a:r>
              </a:p>
              <a:p>
                <a:pPr lvl="1"/>
                <a:r>
                  <a:rPr lang="ru-RU" dirty="0"/>
                  <a:t>Сначала по горизонтали</a:t>
                </a:r>
                <a:r>
                  <a:rPr lang="en-US" dirty="0"/>
                  <a:t>, </a:t>
                </a:r>
                <a:r>
                  <a:rPr lang="ru-RU" dirty="0"/>
                  <a:t>→ затем по вертикали</a:t>
                </a:r>
              </a:p>
              <a:p>
                <a:r>
                  <a:rPr lang="ru-RU" dirty="0"/>
                  <a:t>Вычислительная сложность</a:t>
                </a:r>
              </a:p>
              <a:p>
                <a:pPr lvl="1"/>
                <a:r>
                  <a:rPr lang="ru-RU" dirty="0"/>
                  <a:t>Обычная 2</a:t>
                </a:r>
                <a:r>
                  <a:rPr lang="en-US" dirty="0"/>
                  <a:t>D-</a:t>
                </a:r>
                <a:r>
                  <a:rPr lang="ru-RU" dirty="0"/>
                  <a:t>свёртка: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ar-AE" b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ru-RU" dirty="0"/>
                  <a:t>Сепарабельная свёртка: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b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ru-RU" dirty="0"/>
                  <a:t>Последовательное применение </a:t>
                </a:r>
                <a:r>
                  <a:rPr lang="en-US" dirty="0"/>
                  <a:t>Gaussian Blur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b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ar-AE" b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b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ar-AE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ar-AE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ar-AE" b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ar-AE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ar-AE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ru-RU" dirty="0"/>
                  <a:t>Вместо одного большого </a:t>
                </a:r>
                <a:r>
                  <a:rPr lang="ru-RU" dirty="0" err="1"/>
                  <a:t>blur</a:t>
                </a:r>
                <a:r>
                  <a:rPr lang="en-US" dirty="0"/>
                  <a:t> </a:t>
                </a:r>
                <a:r>
                  <a:rPr lang="ru-RU" dirty="0"/>
                  <a:t>несколько более дешёвых проходов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BB3304-B8F1-CAF1-F64F-0B3355BB1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10993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F0CA-7F96-CF0E-FD07-42CE4EFEE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Ускорение свёртки через </a:t>
            </a:r>
            <a:r>
              <a:rPr lang="en-US" dirty="0"/>
              <a:t>FFT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9E7524-C79C-D0F5-04AA-A75A936C47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ru-RU" dirty="0"/>
                  <a:t>Идея:</a:t>
                </a:r>
              </a:p>
              <a:p>
                <a:pPr lvl="1"/>
                <a:r>
                  <a:rPr lang="ru-RU" dirty="0"/>
                  <a:t>свёртка в пространственной области: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b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ru-RU" dirty="0"/>
              </a:p>
              <a:p>
                <a:pPr lvl="1"/>
                <a:r>
                  <a:rPr lang="ru-RU" dirty="0"/>
                  <a:t>эквивалентна умножению спектров: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ar-AE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 b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ru-RU" dirty="0"/>
                  <a:t>Алгоритм</a:t>
                </a:r>
              </a:p>
              <a:p>
                <a:pPr lvl="1"/>
                <a:r>
                  <a:rPr lang="ru-RU" dirty="0"/>
                  <a:t>FFT изображения </a:t>
                </a:r>
              </a:p>
              <a:p>
                <a:pPr lvl="1"/>
                <a:r>
                  <a:rPr lang="ru-RU" dirty="0"/>
                  <a:t>FFT ядра </a:t>
                </a:r>
              </a:p>
              <a:p>
                <a:pPr lvl="1"/>
                <a:r>
                  <a:rPr lang="ru-RU" dirty="0"/>
                  <a:t>Умножение спектров </a:t>
                </a:r>
              </a:p>
              <a:p>
                <a:pPr lvl="1"/>
                <a:r>
                  <a:rPr lang="ru-RU" dirty="0"/>
                  <a:t>Обратное FFT</a:t>
                </a:r>
              </a:p>
              <a:p>
                <a:r>
                  <a:rPr lang="ru-RU" dirty="0"/>
                  <a:t>Вычислительная сложность</a:t>
                </a:r>
              </a:p>
              <a:p>
                <a:pPr lvl="1"/>
                <a:r>
                  <a:rPr lang="ru-RU" dirty="0"/>
                  <a:t>Прямая свёртка: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en-US" dirty="0"/>
                  <a:t>FFT-</a:t>
                </a:r>
                <a:r>
                  <a:rPr lang="ru-RU" dirty="0"/>
                  <a:t>подход: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fName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</m:e>
                    </m:d>
                  </m:oMath>
                </a14:m>
                <a:endParaRPr lang="ru-RU" dirty="0"/>
              </a:p>
              <a:p>
                <a:r>
                  <a:rPr lang="ru-RU" dirty="0"/>
                  <a:t>FFT эффективен</a:t>
                </a:r>
              </a:p>
              <a:p>
                <a:pPr lvl="1"/>
                <a:r>
                  <a:rPr lang="ru-RU" dirty="0"/>
                  <a:t> для очень больших ядер, больших изображений, </a:t>
                </a:r>
                <a:r>
                  <a:rPr lang="ru-RU" dirty="0" err="1"/>
                  <a:t>offline</a:t>
                </a:r>
                <a:r>
                  <a:rPr lang="ru-RU" dirty="0"/>
                  <a:t> </a:t>
                </a:r>
                <a:r>
                  <a:rPr lang="ru-RU" dirty="0" err="1"/>
                  <a:t>processing</a:t>
                </a:r>
                <a:r>
                  <a:rPr lang="ru-RU" dirty="0"/>
                  <a:t>. </a:t>
                </a:r>
              </a:p>
              <a:p>
                <a:pPr lvl="1"/>
                <a:r>
                  <a:rPr lang="ru-RU" dirty="0"/>
                  <a:t>Для маленьких ядер обычная свёртка быстрее</a:t>
                </a:r>
              </a:p>
              <a:p>
                <a:pPr lvl="1"/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9E7524-C79C-D0F5-04AA-A75A936C47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3081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8344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>
            <a:extLst>
              <a:ext uri="{FF2B5EF4-FFF2-40B4-BE49-F238E27FC236}">
                <a16:creationId xmlns:a16="http://schemas.microsoft.com/office/drawing/2014/main" id="{B2C2877C-E11D-BC74-6498-CC61A24724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ru-RU"/>
              <a:t>Смазывание движения</a:t>
            </a:r>
            <a:r>
              <a:rPr lang="en-US"/>
              <a:t> (Motion Blur)</a:t>
            </a:r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390" name="Object 6">
                <a:extLst>
                  <a:ext uri="{FF2B5EF4-FFF2-40B4-BE49-F238E27FC236}">
                    <a16:creationId xmlns:a16="http://schemas.microsoft.com/office/drawing/2014/main" id="{2AB0B269-7BA7-654A-BD70-8D9A91B1E307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7683046" y="2522763"/>
                <a:ext cx="2941411" cy="23395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d>
                        <m:dPr>
                          <m:begChr m:val="‖"/>
                          <m:endChr m:val="‖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4390" name="Object 6">
                <a:extLst>
                  <a:ext uri="{FF2B5EF4-FFF2-40B4-BE49-F238E27FC236}">
                    <a16:creationId xmlns:a16="http://schemas.microsoft.com/office/drawing/2014/main" id="{2AB0B269-7BA7-654A-BD70-8D9A91B1E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7683046" y="2522763"/>
                <a:ext cx="2941411" cy="2339521"/>
              </a:xfrm>
              <a:prstGeom prst="rect">
                <a:avLst/>
              </a:prstGeom>
              <a:blipFill>
                <a:blip r:embed="rId3"/>
                <a:stretch>
                  <a:fillRect t="-18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7396" name="Picture 5">
            <a:extLst>
              <a:ext uri="{FF2B5EF4-FFF2-40B4-BE49-F238E27FC236}">
                <a16:creationId xmlns:a16="http://schemas.microsoft.com/office/drawing/2014/main" id="{B0073081-482E-84A0-C996-4DB86A4C5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030" y="1690688"/>
            <a:ext cx="4437063" cy="443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4388" name="Picture 4">
            <a:extLst>
              <a:ext uri="{FF2B5EF4-FFF2-40B4-BE49-F238E27FC236}">
                <a16:creationId xmlns:a16="http://schemas.microsoft.com/office/drawing/2014/main" id="{6A5AFDF1-C704-2485-E12B-9FD38BAAA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030" y="1690688"/>
            <a:ext cx="4437063" cy="443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0.5095 2.59259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46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4">
            <a:extLst>
              <a:ext uri="{FF2B5EF4-FFF2-40B4-BE49-F238E27FC236}">
                <a16:creationId xmlns:a16="http://schemas.microsoft.com/office/drawing/2014/main" id="{21D83D97-9B11-2B09-E102-FA6A1C8D4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Медианный фильтр (подавление шумов)</a:t>
            </a:r>
          </a:p>
        </p:txBody>
      </p:sp>
      <p:pic>
        <p:nvPicPr>
          <p:cNvPr id="183299" name="Picture 5">
            <a:extLst>
              <a:ext uri="{FF2B5EF4-FFF2-40B4-BE49-F238E27FC236}">
                <a16:creationId xmlns:a16="http://schemas.microsoft.com/office/drawing/2014/main" id="{96C032F2-82E0-A19B-480E-549A2A248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55813"/>
            <a:ext cx="4437063" cy="443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1318" name="Picture 6">
            <a:extLst>
              <a:ext uri="{FF2B5EF4-FFF2-40B4-BE49-F238E27FC236}">
                <a16:creationId xmlns:a16="http://schemas.microsoft.com/office/drawing/2014/main" id="{F1E00A23-580C-76C0-EAC0-ABA902BAC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55813"/>
            <a:ext cx="4437063" cy="443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4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85185E-6 L 0.50951 1.85185E-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46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F85D86C7-50B8-3BC8-2DAF-B0F2421C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en-US"/>
              <a:t>Медианный фильтр</a:t>
            </a:r>
          </a:p>
        </p:txBody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B2690078-FA13-96C1-B33D-472B1AAD6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Значение пикселя заменяется медианой значений в локальной окрестности </a:t>
            </a:r>
          </a:p>
          <a:p>
            <a:pPr lvl="1"/>
            <a:r>
              <a:rPr lang="ru-RU" dirty="0"/>
              <a:t>Обычно используется окно: 3×3, 5×5, 7×7 </a:t>
            </a:r>
          </a:p>
          <a:p>
            <a:r>
              <a:rPr lang="ru-RU" dirty="0"/>
              <a:t>Особенности</a:t>
            </a:r>
          </a:p>
          <a:p>
            <a:pPr lvl="1"/>
            <a:r>
              <a:rPr lang="ru-RU" dirty="0"/>
              <a:t>Эффективно подавляет импульсный шум («</a:t>
            </a:r>
            <a:r>
              <a:rPr lang="ru-RU" dirty="0" err="1"/>
              <a:t>salt</a:t>
            </a:r>
            <a:r>
              <a:rPr lang="ru-RU" dirty="0"/>
              <a:t> &amp; </a:t>
            </a:r>
            <a:r>
              <a:rPr lang="ru-RU" dirty="0" err="1"/>
              <a:t>pepper</a:t>
            </a:r>
            <a:r>
              <a:rPr lang="ru-RU" dirty="0"/>
              <a:t> </a:t>
            </a:r>
            <a:r>
              <a:rPr lang="ru-RU" dirty="0" err="1"/>
              <a:t>noise</a:t>
            </a:r>
            <a:r>
              <a:rPr lang="ru-RU" dirty="0"/>
              <a:t>») </a:t>
            </a:r>
          </a:p>
          <a:p>
            <a:pPr lvl="1"/>
            <a:r>
              <a:rPr lang="ru-RU" dirty="0"/>
              <a:t>Лучше сохраняет границы объектов, чем линейное размытие </a:t>
            </a:r>
          </a:p>
          <a:p>
            <a:pPr lvl="1"/>
            <a:r>
              <a:rPr lang="ru-RU" dirty="0"/>
              <a:t>Требует сортировки значений внутри окна </a:t>
            </a:r>
            <a:endParaRPr lang="en-US" dirty="0"/>
          </a:p>
          <a:p>
            <a:r>
              <a:rPr lang="ru-RU" dirty="0"/>
              <a:t>Размер окна должен содержать нечётное число элементов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C114-83ED-86AB-A50E-1FF442D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Медианный фильтр для цветных изображений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560184-A07A-A572-B883-EA67632836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ru-RU" dirty="0" err="1"/>
                  <a:t>Поканальная</a:t>
                </a:r>
                <a:r>
                  <a:rPr lang="ru-RU" dirty="0"/>
                  <a:t> медиана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smtClean="0">
                        <a:latin typeface="Cambria Math" panose="02040503050406030204" pitchFamily="18" charset="0"/>
                      </a:rPr>
                      <m:t>median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smtClean="0">
                        <a:latin typeface="Cambria Math" panose="02040503050406030204" pitchFamily="18" charset="0"/>
                      </a:rPr>
                      <m:t>median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AE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smtClean="0">
                        <a:latin typeface="Cambria Math" panose="02040503050406030204" pitchFamily="18" charset="0"/>
                      </a:rPr>
                      <m:t>median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lvl="1"/>
                <a:r>
                  <a:rPr lang="ru-RU" dirty="0"/>
                  <a:t>Наиболее распространённый способ </a:t>
                </a:r>
              </a:p>
              <a:p>
                <a:pPr lvl="1"/>
                <a:r>
                  <a:rPr lang="ru-RU" dirty="0"/>
                  <a:t>Каждый канал фильтруется независимо </a:t>
                </a:r>
              </a:p>
              <a:p>
                <a:r>
                  <a:rPr lang="ru-RU" dirty="0"/>
                  <a:t>Альтернативные подходы</a:t>
                </a:r>
              </a:p>
              <a:p>
                <a:pPr lvl="1"/>
                <a:r>
                  <a:rPr lang="ru-RU" dirty="0"/>
                  <a:t>Медиана по яркости (</a:t>
                </a:r>
                <a:r>
                  <a:rPr lang="en-US" dirty="0"/>
                  <a:t>luma) </a:t>
                </a:r>
              </a:p>
              <a:p>
                <a:pPr lvl="1"/>
                <a:r>
                  <a:rPr lang="ru-RU" dirty="0"/>
                  <a:t>Векторная медиана в </a:t>
                </a:r>
                <a:r>
                  <a:rPr lang="en-US" dirty="0"/>
                  <a:t>RGB-</a:t>
                </a:r>
                <a:r>
                  <a:rPr lang="ru-RU" dirty="0"/>
                  <a:t>пространстве </a:t>
                </a:r>
                <a:r>
                  <a:rPr lang="en-US" dirty="0"/>
                  <a:t>(</a:t>
                </a:r>
                <a:r>
                  <a:rPr lang="ru-RU" dirty="0"/>
                  <a:t>выбирается пиксель, который имеет минимальное суммарное расстояние до остальных)</a:t>
                </a:r>
              </a:p>
              <a:p>
                <a:r>
                  <a:rPr lang="ru-RU" dirty="0"/>
                  <a:t>Особенности</a:t>
                </a:r>
              </a:p>
              <a:p>
                <a:pPr lvl="1"/>
                <a:r>
                  <a:rPr lang="ru-RU" dirty="0"/>
                  <a:t>Хорошо удаляет импульсный шум </a:t>
                </a:r>
              </a:p>
              <a:p>
                <a:pPr lvl="1"/>
                <a:r>
                  <a:rPr lang="ru-RU" dirty="0"/>
                  <a:t>Возможны небольшие цветовые артефакты при </a:t>
                </a:r>
                <a:r>
                  <a:rPr lang="ru-RU" dirty="0" err="1"/>
                  <a:t>поканальной</a:t>
                </a:r>
                <a:r>
                  <a:rPr lang="ru-RU" dirty="0"/>
                  <a:t> обработке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560184-A07A-A572-B883-EA67632836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3501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56953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4">
            <a:extLst>
              <a:ext uri="{FF2B5EF4-FFF2-40B4-BE49-F238E27FC236}">
                <a16:creationId xmlns:a16="http://schemas.microsoft.com/office/drawing/2014/main" id="{196FCC1A-1BD0-F8BC-B96A-38CF7F2F3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ru-RU"/>
              <a:t>Цифровая обработка сигналов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9360B-92EB-1D3B-60E1-D5DBA0C59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AE984-04E7-D56F-3419-8AF166E7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Сигналы и цифровая обработка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DAC0E-6381-F52F-5D7E-EB684EB6A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Сигнал — функция, содержащая информацию о некотором физическом процессе</a:t>
            </a:r>
          </a:p>
          <a:p>
            <a:r>
              <a:rPr lang="ru-RU" dirty="0"/>
              <a:t>Примеры сигналов</a:t>
            </a:r>
          </a:p>
          <a:p>
            <a:pPr lvl="1"/>
            <a:r>
              <a:rPr lang="ru-RU" dirty="0"/>
              <a:t>звук; </a:t>
            </a:r>
          </a:p>
          <a:p>
            <a:pPr lvl="1"/>
            <a:r>
              <a:rPr lang="ru-RU" dirty="0"/>
              <a:t>изображение; </a:t>
            </a:r>
          </a:p>
          <a:p>
            <a:pPr lvl="1"/>
            <a:r>
              <a:rPr lang="ru-RU" dirty="0"/>
              <a:t>видео; </a:t>
            </a:r>
          </a:p>
          <a:p>
            <a:pPr lvl="1"/>
            <a:r>
              <a:rPr lang="ru-RU" dirty="0"/>
              <a:t>радиоволны; </a:t>
            </a:r>
          </a:p>
          <a:p>
            <a:pPr lvl="1"/>
            <a:r>
              <a:rPr lang="ru-RU" dirty="0"/>
              <a:t>данные датчиков. </a:t>
            </a:r>
          </a:p>
          <a:p>
            <a:r>
              <a:rPr lang="ru-RU" dirty="0"/>
              <a:t>Цель цифровая обработка сигналов (DSP)</a:t>
            </a:r>
          </a:p>
          <a:p>
            <a:pPr lvl="1"/>
            <a:r>
              <a:rPr lang="ru-RU" dirty="0"/>
              <a:t>анализ сигнала; </a:t>
            </a:r>
          </a:p>
          <a:p>
            <a:pPr lvl="1"/>
            <a:r>
              <a:rPr lang="ru-RU" dirty="0"/>
              <a:t>фильтрация; </a:t>
            </a:r>
          </a:p>
          <a:p>
            <a:pPr lvl="1"/>
            <a:r>
              <a:rPr lang="ru-RU" dirty="0"/>
              <a:t>извлечение информации; </a:t>
            </a:r>
          </a:p>
          <a:p>
            <a:pPr lvl="1"/>
            <a:r>
              <a:rPr lang="ru-RU" dirty="0"/>
              <a:t>преобразование сигнала. </a:t>
            </a:r>
          </a:p>
          <a:p>
            <a:r>
              <a:rPr lang="ru-RU" dirty="0"/>
              <a:t>В компьютерной графике изображение рассматривается как двухмерный цифровой сигнал</a:t>
            </a:r>
          </a:p>
        </p:txBody>
      </p:sp>
    </p:spTree>
    <p:extLst>
      <p:ext uri="{BB962C8B-B14F-4D97-AF65-F5344CB8AC3E}">
        <p14:creationId xmlns:p14="http://schemas.microsoft.com/office/powerpoint/2010/main" val="78586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779A-C014-9FED-4B11-DA679383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Изображение как сигнал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DA620B-9DDC-9235-3BDB-A365FA51B8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dirty="0"/>
                  <a:t>Одномерный сигнал: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  <a:p>
                <a:pPr lvl="1"/>
                <a:r>
                  <a:rPr lang="ru-RU" dirty="0"/>
                  <a:t>Пример: звук — изменение амплитуды во времени</a:t>
                </a:r>
                <a:endParaRPr lang="en-US" dirty="0"/>
              </a:p>
              <a:p>
                <a:r>
                  <a:rPr lang="ru-RU" dirty="0"/>
                  <a:t>Двумерный сигнал: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Пример: и</a:t>
                </a:r>
                <a:r>
                  <a:rPr lang="en-US" dirty="0" err="1"/>
                  <a:t>зображение</a:t>
                </a:r>
                <a:endParaRPr lang="ru-RU" dirty="0"/>
              </a:p>
              <a:p>
                <a:pPr lvl="1"/>
                <a:r>
                  <a:rPr lang="en-US" dirty="0" err="1"/>
                  <a:t>яркость</a:t>
                </a:r>
                <a:r>
                  <a:rPr lang="en-US" dirty="0"/>
                  <a:t> </a:t>
                </a:r>
                <a:r>
                  <a:rPr lang="en-US" dirty="0" err="1"/>
                  <a:t>или</a:t>
                </a:r>
                <a:r>
                  <a:rPr lang="en-US" dirty="0"/>
                  <a:t> </a:t>
                </a:r>
                <a:r>
                  <a:rPr lang="en-US" dirty="0" err="1"/>
                  <a:t>цвет</a:t>
                </a:r>
                <a:r>
                  <a:rPr lang="en-US" dirty="0"/>
                  <a:t> </a:t>
                </a:r>
                <a:r>
                  <a:rPr lang="en-US" dirty="0" err="1"/>
                  <a:t>как</a:t>
                </a:r>
                <a:r>
                  <a:rPr lang="en-US" dirty="0"/>
                  <a:t> </a:t>
                </a:r>
                <a:r>
                  <a:rPr lang="en-US" dirty="0" err="1"/>
                  <a:t>функция</a:t>
                </a:r>
                <a:r>
                  <a:rPr lang="en-US" dirty="0"/>
                  <a:t> </a:t>
                </a:r>
                <a:r>
                  <a:rPr lang="en-US" dirty="0" err="1"/>
                  <a:t>координат</a:t>
                </a:r>
                <a:r>
                  <a:rPr lang="en-US" dirty="0"/>
                  <a:t>.</a:t>
                </a:r>
              </a:p>
              <a:p>
                <a:r>
                  <a:rPr lang="ru-RU" dirty="0"/>
                  <a:t>Методы обработки сигналов применимы к изображениям</a:t>
                </a:r>
              </a:p>
              <a:p>
                <a:pPr lvl="1"/>
                <a:r>
                  <a:rPr lang="ru-RU" dirty="0"/>
                  <a:t>Фильтрация, частотный анализ, преобразование Фурье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DA620B-9DDC-9235-3BDB-A365FA51B8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3"/>
                <a:stretch>
                  <a:fillRect l="-2088" t="-3081" r="-2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3">
            <a:extLst>
              <a:ext uri="{FF2B5EF4-FFF2-40B4-BE49-F238E27FC236}">
                <a16:creationId xmlns:a16="http://schemas.microsoft.com/office/drawing/2014/main" id="{73DC1DF9-E87F-023A-4A68-B71483D56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31577" y="1690688"/>
            <a:ext cx="3307109" cy="21949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96325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85901-691A-F01B-C7DE-B8E76175F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Изображение как </a:t>
            </a:r>
            <a:r>
              <a:rPr lang="en-US" dirty="0"/>
              <a:t>2D</a:t>
            </a:r>
            <a:r>
              <a:rPr lang="ru-RU" dirty="0"/>
              <a:t> сигнал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2BB3C7-83AF-1E14-A518-A7740E0BE3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56"/>
          <a:stretch>
            <a:fillRect/>
          </a:stretch>
        </p:blipFill>
        <p:spPr>
          <a:xfrm>
            <a:off x="2033846" y="1852659"/>
            <a:ext cx="8124308" cy="479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08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62" name="Group 9">
            <a:extLst>
              <a:ext uri="{FF2B5EF4-FFF2-40B4-BE49-F238E27FC236}">
                <a16:creationId xmlns:a16="http://schemas.microsoft.com/office/drawing/2014/main" id="{E200F36B-00D7-7B59-6D8E-B7C531DAE889}"/>
              </a:ext>
            </a:extLst>
          </p:cNvPr>
          <p:cNvGrpSpPr>
            <a:grpSpLocks/>
          </p:cNvGrpSpPr>
          <p:nvPr/>
        </p:nvGrpSpPr>
        <p:grpSpPr bwMode="auto">
          <a:xfrm>
            <a:off x="138831" y="2597955"/>
            <a:ext cx="3444160" cy="3444160"/>
            <a:chOff x="0" y="0"/>
            <a:chExt cx="3072" cy="3072"/>
          </a:xfrm>
        </p:grpSpPr>
        <p:pic>
          <p:nvPicPr>
            <p:cNvPr id="117770" name="Picture 4">
              <a:extLst>
                <a:ext uri="{FF2B5EF4-FFF2-40B4-BE49-F238E27FC236}">
                  <a16:creationId xmlns:a16="http://schemas.microsoft.com/office/drawing/2014/main" id="{92A36F91-7F61-A085-943E-79253F305B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072" cy="3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771" name="Text Box 8">
              <a:extLst>
                <a:ext uri="{FF2B5EF4-FFF2-40B4-BE49-F238E27FC236}">
                  <a16:creationId xmlns:a16="http://schemas.microsoft.com/office/drawing/2014/main" id="{1F609F0D-CC17-8CB5-F093-0929E965F8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454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US" sz="2000">
                  <a:solidFill>
                    <a:srgbClr val="FFFFFF"/>
                  </a:solidFill>
                  <a:latin typeface="Tahoma" panose="020B0604030504040204" pitchFamily="34" charset="0"/>
                </a:rPr>
                <a:t>Оригинал</a:t>
              </a:r>
            </a:p>
          </p:txBody>
        </p:sp>
      </p:grpSp>
      <p:sp>
        <p:nvSpPr>
          <p:cNvPr id="63491" name="Rectangle 14">
            <a:extLst>
              <a:ext uri="{FF2B5EF4-FFF2-40B4-BE49-F238E27FC236}">
                <a16:creationId xmlns:a16="http://schemas.microsoft.com/office/drawing/2014/main" id="{49974FE1-2CCD-6790-09FE-A0BA388E44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Дискретизация</a:t>
            </a:r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1FF6A338-BC65-BD6C-083E-56979A7A9661}"/>
              </a:ext>
            </a:extLst>
          </p:cNvPr>
          <p:cNvGrpSpPr>
            <a:grpSpLocks/>
          </p:cNvGrpSpPr>
          <p:nvPr/>
        </p:nvGrpSpPr>
        <p:grpSpPr bwMode="auto">
          <a:xfrm>
            <a:off x="4057873" y="2585281"/>
            <a:ext cx="3456833" cy="3456834"/>
            <a:chOff x="1338" y="618"/>
            <a:chExt cx="3078" cy="3078"/>
          </a:xfrm>
        </p:grpSpPr>
        <p:pic>
          <p:nvPicPr>
            <p:cNvPr id="117768" name="Picture 15">
              <a:extLst>
                <a:ext uri="{FF2B5EF4-FFF2-40B4-BE49-F238E27FC236}">
                  <a16:creationId xmlns:a16="http://schemas.microsoft.com/office/drawing/2014/main" id="{88DA6501-318B-58D1-AE55-646022AE88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" y="624"/>
              <a:ext cx="3072" cy="3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769" name="Text Box 10">
              <a:extLst>
                <a:ext uri="{FF2B5EF4-FFF2-40B4-BE49-F238E27FC236}">
                  <a16:creationId xmlns:a16="http://schemas.microsoft.com/office/drawing/2014/main" id="{9FD3D93C-9FDB-5C4E-DB9A-5DCE07CE5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618"/>
              <a:ext cx="2904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US" sz="2000" dirty="0">
                  <a:solidFill>
                    <a:srgbClr val="FFFFFF"/>
                  </a:solidFill>
                  <a:latin typeface="Tahoma" panose="020B0604030504040204" pitchFamily="34" charset="0"/>
                </a:rPr>
                <a:t>128*128</a:t>
              </a:r>
            </a:p>
          </p:txBody>
        </p:sp>
      </p:grpSp>
      <p:grpSp>
        <p:nvGrpSpPr>
          <p:cNvPr id="4" name="Group 19">
            <a:extLst>
              <a:ext uri="{FF2B5EF4-FFF2-40B4-BE49-F238E27FC236}">
                <a16:creationId xmlns:a16="http://schemas.microsoft.com/office/drawing/2014/main" id="{0AC63005-64C6-7AF9-CF0B-9C787458E461}"/>
              </a:ext>
            </a:extLst>
          </p:cNvPr>
          <p:cNvGrpSpPr>
            <a:grpSpLocks/>
          </p:cNvGrpSpPr>
          <p:nvPr/>
        </p:nvGrpSpPr>
        <p:grpSpPr bwMode="auto">
          <a:xfrm>
            <a:off x="7903705" y="2591623"/>
            <a:ext cx="3450095" cy="3450095"/>
            <a:chOff x="1338" y="618"/>
            <a:chExt cx="3078" cy="3078"/>
          </a:xfrm>
        </p:grpSpPr>
        <p:pic>
          <p:nvPicPr>
            <p:cNvPr id="117766" name="Picture 17">
              <a:extLst>
                <a:ext uri="{FF2B5EF4-FFF2-40B4-BE49-F238E27FC236}">
                  <a16:creationId xmlns:a16="http://schemas.microsoft.com/office/drawing/2014/main" id="{6E6ACCF3-E5DB-EAA1-E4D9-0E27C9A21F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" y="624"/>
              <a:ext cx="3072" cy="3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767" name="Text Box 18">
              <a:extLst>
                <a:ext uri="{FF2B5EF4-FFF2-40B4-BE49-F238E27FC236}">
                  <a16:creationId xmlns:a16="http://schemas.microsoft.com/office/drawing/2014/main" id="{96875800-1F39-157B-C9ED-B4BF4A038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618"/>
              <a:ext cx="787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US" sz="2000" dirty="0">
                  <a:solidFill>
                    <a:srgbClr val="FFFFFF"/>
                  </a:solidFill>
                  <a:latin typeface="Tahoma" panose="020B0604030504040204" pitchFamily="34" charset="0"/>
                </a:rPr>
                <a:t>32*32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4">
            <a:extLst>
              <a:ext uri="{FF2B5EF4-FFF2-40B4-BE49-F238E27FC236}">
                <a16:creationId xmlns:a16="http://schemas.microsoft.com/office/drawing/2014/main" id="{F0CC35A8-DBC8-D870-2B86-3E86F2787E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Квантование</a:t>
            </a:r>
          </a:p>
        </p:txBody>
      </p:sp>
      <p:grpSp>
        <p:nvGrpSpPr>
          <p:cNvPr id="125955" name="Group 8">
            <a:extLst>
              <a:ext uri="{FF2B5EF4-FFF2-40B4-BE49-F238E27FC236}">
                <a16:creationId xmlns:a16="http://schemas.microsoft.com/office/drawing/2014/main" id="{797FA522-F49D-C37B-297B-85982229CFE0}"/>
              </a:ext>
            </a:extLst>
          </p:cNvPr>
          <p:cNvGrpSpPr>
            <a:grpSpLocks/>
          </p:cNvGrpSpPr>
          <p:nvPr/>
        </p:nvGrpSpPr>
        <p:grpSpPr bwMode="auto">
          <a:xfrm>
            <a:off x="322469" y="1866925"/>
            <a:ext cx="4625950" cy="4625950"/>
            <a:chOff x="0" y="0"/>
            <a:chExt cx="3072" cy="3072"/>
          </a:xfrm>
        </p:grpSpPr>
        <p:pic>
          <p:nvPicPr>
            <p:cNvPr id="125968" name="Picture 9">
              <a:extLst>
                <a:ext uri="{FF2B5EF4-FFF2-40B4-BE49-F238E27FC236}">
                  <a16:creationId xmlns:a16="http://schemas.microsoft.com/office/drawing/2014/main" id="{261C7315-EC88-B787-A933-26CB65CD42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3072" cy="3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969" name="Text Box 10">
              <a:extLst>
                <a:ext uri="{FF2B5EF4-FFF2-40B4-BE49-F238E27FC236}">
                  <a16:creationId xmlns:a16="http://schemas.microsoft.com/office/drawing/2014/main" id="{A3C2B1C7-55ED-C787-D33F-640B7A3BFE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2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US" sz="3200">
                  <a:solidFill>
                    <a:srgbClr val="FFFFFF"/>
                  </a:solidFill>
                  <a:latin typeface="Tahoma" panose="020B0604030504040204" pitchFamily="34" charset="0"/>
                </a:rPr>
                <a:t>Оригинал</a:t>
              </a: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A0D0832C-11F4-EFE8-A95C-332EEBD59452}"/>
              </a:ext>
            </a:extLst>
          </p:cNvPr>
          <p:cNvGrpSpPr>
            <a:grpSpLocks/>
          </p:cNvGrpSpPr>
          <p:nvPr/>
        </p:nvGrpSpPr>
        <p:grpSpPr bwMode="auto">
          <a:xfrm>
            <a:off x="5159383" y="1659516"/>
            <a:ext cx="2473592" cy="2473592"/>
            <a:chOff x="2688" y="1248"/>
            <a:chExt cx="3072" cy="3072"/>
          </a:xfrm>
        </p:grpSpPr>
        <p:pic>
          <p:nvPicPr>
            <p:cNvPr id="125966" name="Picture 5">
              <a:extLst>
                <a:ext uri="{FF2B5EF4-FFF2-40B4-BE49-F238E27FC236}">
                  <a16:creationId xmlns:a16="http://schemas.microsoft.com/office/drawing/2014/main" id="{26C5BF18-7373-9568-20DD-A2B2590699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8" y="1248"/>
              <a:ext cx="3072" cy="3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967" name="Text Box 6">
              <a:extLst>
                <a:ext uri="{FF2B5EF4-FFF2-40B4-BE49-F238E27FC236}">
                  <a16:creationId xmlns:a16="http://schemas.microsoft.com/office/drawing/2014/main" id="{37896DF3-AADE-FFD8-DC43-20C9A7FE57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1298"/>
              <a:ext cx="2799" cy="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US" sz="2400" dirty="0">
                  <a:solidFill>
                    <a:srgbClr val="FFFFFF"/>
                  </a:solidFill>
                  <a:latin typeface="Tahoma" panose="020B0604030504040204" pitchFamily="34" charset="0"/>
                </a:rPr>
                <a:t>256 цветов</a:t>
              </a:r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DFA51EBC-6C45-825C-E6A0-1F147D0200BB}"/>
              </a:ext>
            </a:extLst>
          </p:cNvPr>
          <p:cNvGrpSpPr>
            <a:grpSpLocks/>
          </p:cNvGrpSpPr>
          <p:nvPr/>
        </p:nvGrpSpPr>
        <p:grpSpPr bwMode="auto">
          <a:xfrm>
            <a:off x="8324859" y="1616538"/>
            <a:ext cx="2488889" cy="2487280"/>
            <a:chOff x="1325" y="607"/>
            <a:chExt cx="3091" cy="3089"/>
          </a:xfrm>
        </p:grpSpPr>
        <p:pic>
          <p:nvPicPr>
            <p:cNvPr id="125964" name="Picture 11">
              <a:extLst>
                <a:ext uri="{FF2B5EF4-FFF2-40B4-BE49-F238E27FC236}">
                  <a16:creationId xmlns:a16="http://schemas.microsoft.com/office/drawing/2014/main" id="{F8DA1F7F-9736-CE8C-19D0-9DAAD3185B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" y="624"/>
              <a:ext cx="3072" cy="3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965" name="Text Box 12">
              <a:extLst>
                <a:ext uri="{FF2B5EF4-FFF2-40B4-BE49-F238E27FC236}">
                  <a16:creationId xmlns:a16="http://schemas.microsoft.com/office/drawing/2014/main" id="{BAF45189-1FF5-8FF3-4D30-3DF4D081A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5" y="607"/>
              <a:ext cx="1768" cy="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US" sz="2400">
                  <a:solidFill>
                    <a:srgbClr val="FFFFFF"/>
                  </a:solidFill>
                  <a:latin typeface="Tahoma" panose="020B0604030504040204" pitchFamily="34" charset="0"/>
                </a:rPr>
                <a:t>64 цвета</a:t>
              </a:r>
            </a:p>
          </p:txBody>
        </p:sp>
      </p:grpSp>
      <p:grpSp>
        <p:nvGrpSpPr>
          <p:cNvPr id="5" name="Group 16">
            <a:extLst>
              <a:ext uri="{FF2B5EF4-FFF2-40B4-BE49-F238E27FC236}">
                <a16:creationId xmlns:a16="http://schemas.microsoft.com/office/drawing/2014/main" id="{B06341E4-F6F4-D486-4670-1FF23518A27E}"/>
              </a:ext>
            </a:extLst>
          </p:cNvPr>
          <p:cNvGrpSpPr>
            <a:grpSpLocks/>
          </p:cNvGrpSpPr>
          <p:nvPr/>
        </p:nvGrpSpPr>
        <p:grpSpPr bwMode="auto">
          <a:xfrm>
            <a:off x="5159383" y="4268111"/>
            <a:ext cx="2473592" cy="2473592"/>
            <a:chOff x="1344" y="624"/>
            <a:chExt cx="3072" cy="3072"/>
          </a:xfrm>
        </p:grpSpPr>
        <p:pic>
          <p:nvPicPr>
            <p:cNvPr id="125962" name="Picture 14">
              <a:extLst>
                <a:ext uri="{FF2B5EF4-FFF2-40B4-BE49-F238E27FC236}">
                  <a16:creationId xmlns:a16="http://schemas.microsoft.com/office/drawing/2014/main" id="{33EFEFCC-AE13-1681-8E73-BE3BEBBD00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" y="624"/>
              <a:ext cx="3072" cy="3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963" name="Text Box 15">
              <a:extLst>
                <a:ext uri="{FF2B5EF4-FFF2-40B4-BE49-F238E27FC236}">
                  <a16:creationId xmlns:a16="http://schemas.microsoft.com/office/drawing/2014/main" id="{A33358C6-C0E5-5085-8D34-AAB448CEA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6" y="652"/>
              <a:ext cx="1975" cy="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US" sz="2400">
                  <a:solidFill>
                    <a:srgbClr val="FFFFFF"/>
                  </a:solidFill>
                  <a:latin typeface="Tahoma" panose="020B0604030504040204" pitchFamily="34" charset="0"/>
                </a:rPr>
                <a:t>16 цветов</a:t>
              </a:r>
            </a:p>
          </p:txBody>
        </p:sp>
      </p:grpSp>
      <p:grpSp>
        <p:nvGrpSpPr>
          <p:cNvPr id="6" name="Group 19">
            <a:extLst>
              <a:ext uri="{FF2B5EF4-FFF2-40B4-BE49-F238E27FC236}">
                <a16:creationId xmlns:a16="http://schemas.microsoft.com/office/drawing/2014/main" id="{3F20356A-EF2B-493E-8D73-4B5433C8962F}"/>
              </a:ext>
            </a:extLst>
          </p:cNvPr>
          <p:cNvGrpSpPr>
            <a:grpSpLocks/>
          </p:cNvGrpSpPr>
          <p:nvPr/>
        </p:nvGrpSpPr>
        <p:grpSpPr bwMode="auto">
          <a:xfrm>
            <a:off x="8311957" y="4236503"/>
            <a:ext cx="2473592" cy="2473592"/>
            <a:chOff x="1020" y="436"/>
            <a:chExt cx="3072" cy="3072"/>
          </a:xfrm>
        </p:grpSpPr>
        <p:pic>
          <p:nvPicPr>
            <p:cNvPr id="125960" name="Picture 17">
              <a:extLst>
                <a:ext uri="{FF2B5EF4-FFF2-40B4-BE49-F238E27FC236}">
                  <a16:creationId xmlns:a16="http://schemas.microsoft.com/office/drawing/2014/main" id="{7F0388CB-27F6-A554-0947-14E3A17D7C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436"/>
              <a:ext cx="3072" cy="30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961" name="Text Box 18">
              <a:extLst>
                <a:ext uri="{FF2B5EF4-FFF2-40B4-BE49-F238E27FC236}">
                  <a16:creationId xmlns:a16="http://schemas.microsoft.com/office/drawing/2014/main" id="{043B8F88-EB93-2AF8-2A26-E82A4142B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482"/>
              <a:ext cx="1559" cy="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0BD0D9"/>
                </a:buClr>
                <a:buSzPct val="9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Constantia" panose="0203060205030603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Constantia" panose="0203060205030603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onstantia" panose="0203060205030603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BD0D9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10CF9B"/>
                </a:buClr>
                <a:buSzPct val="6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Constantia" panose="0203060205030603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US" sz="2400">
                  <a:solidFill>
                    <a:srgbClr val="FFFFFF"/>
                  </a:solidFill>
                  <a:latin typeface="Tahoma" panose="020B0604030504040204" pitchFamily="34" charset="0"/>
                </a:rPr>
                <a:t>4 цвета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A868A-4D71-3983-B4B6-DD4DFF7A4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Dithering</a:t>
            </a:r>
          </a:p>
        </p:txBody>
      </p:sp>
      <p:pic>
        <p:nvPicPr>
          <p:cNvPr id="1026" name="Picture 2" descr="Ditheringmontage">
            <a:extLst>
              <a:ext uri="{FF2B5EF4-FFF2-40B4-BE49-F238E27FC236}">
                <a16:creationId xmlns:a16="http://schemas.microsoft.com/office/drawing/2014/main" id="{ABDD3DF1-D341-7281-2E6E-F1C9D6A577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738" y="1593476"/>
            <a:ext cx="5264524" cy="5264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771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53DD3-0F90-3771-BA9D-7CEF617B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Сэмплинг</a:t>
            </a:r>
            <a:r>
              <a:rPr lang="en-US" dirty="0"/>
              <a:t> в </a:t>
            </a:r>
            <a:r>
              <a:rPr lang="en-US" dirty="0" err="1"/>
              <a:t>компьютерной</a:t>
            </a:r>
            <a:r>
              <a:rPr lang="en-US" dirty="0"/>
              <a:t> </a:t>
            </a:r>
            <a:r>
              <a:rPr lang="en-US" dirty="0" err="1"/>
              <a:t>графике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3AABE-7F99-5A92-6D75-8FEFD871A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Сэмплинг</a:t>
            </a:r>
            <a:r>
              <a:rPr lang="en-US" dirty="0"/>
              <a:t> —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дискретизации</a:t>
            </a:r>
            <a:r>
              <a:rPr lang="en-US" dirty="0"/>
              <a:t> </a:t>
            </a:r>
            <a:r>
              <a:rPr lang="en-US" dirty="0" err="1"/>
              <a:t>непрерывного</a:t>
            </a:r>
            <a:r>
              <a:rPr lang="en-US" dirty="0"/>
              <a:t> </a:t>
            </a:r>
            <a:r>
              <a:rPr lang="en-US" dirty="0" err="1"/>
              <a:t>сигнала</a:t>
            </a:r>
            <a:r>
              <a:rPr lang="en-US" dirty="0"/>
              <a:t> </a:t>
            </a:r>
          </a:p>
          <a:p>
            <a:r>
              <a:rPr lang="en-US" dirty="0"/>
              <a:t>В </a:t>
            </a:r>
            <a:r>
              <a:rPr lang="en-US" dirty="0" err="1"/>
              <a:t>графике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выборка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пикселям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выборка</a:t>
            </a:r>
            <a:r>
              <a:rPr lang="en-US" dirty="0"/>
              <a:t> </a:t>
            </a:r>
            <a:r>
              <a:rPr lang="en-US" dirty="0" err="1"/>
              <a:t>текстур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выборка</a:t>
            </a:r>
            <a:r>
              <a:rPr lang="en-US" dirty="0"/>
              <a:t> </a:t>
            </a:r>
            <a:r>
              <a:rPr lang="en-US" dirty="0" err="1"/>
              <a:t>света</a:t>
            </a:r>
            <a:r>
              <a:rPr lang="en-US" dirty="0"/>
              <a:t> и </a:t>
            </a:r>
            <a:r>
              <a:rPr lang="en-US" dirty="0" err="1"/>
              <a:t>теней</a:t>
            </a:r>
            <a:r>
              <a:rPr lang="en-US" dirty="0"/>
              <a:t> </a:t>
            </a:r>
          </a:p>
          <a:p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непрерывную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 </a:t>
            </a:r>
            <a:r>
              <a:rPr lang="en-US" dirty="0" err="1"/>
              <a:t>цвета</a:t>
            </a:r>
            <a:r>
              <a:rPr lang="en-US" dirty="0"/>
              <a:t> </a:t>
            </a:r>
          </a:p>
          <a:p>
            <a:r>
              <a:rPr lang="en-US" dirty="0" err="1"/>
              <a:t>Экран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конечное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отсчётов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13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09B90-34F4-692E-B0EE-163E48487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Теорема</a:t>
            </a:r>
            <a:r>
              <a:rPr lang="en-US" dirty="0"/>
              <a:t> </a:t>
            </a:r>
            <a:r>
              <a:rPr lang="ru-RU" dirty="0"/>
              <a:t>Найквиста-</a:t>
            </a:r>
            <a:r>
              <a:rPr lang="en-US" dirty="0" err="1"/>
              <a:t>Котельникова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48C872-E1CD-1CDA-BB7A-BFCC654904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12724" cy="4351338"/>
              </a:xfrm>
            </p:spPr>
            <p:txBody>
              <a:bodyPr/>
              <a:lstStyle/>
              <a:p>
                <a:r>
                  <a:rPr lang="en-US" dirty="0"/>
                  <a:t>Для </a:t>
                </a:r>
                <a:r>
                  <a:rPr lang="en-US" dirty="0" err="1"/>
                  <a:t>корректного</a:t>
                </a:r>
                <a:r>
                  <a:rPr lang="en-US" dirty="0"/>
                  <a:t> </a:t>
                </a:r>
                <a:r>
                  <a:rPr lang="en-US" dirty="0" err="1"/>
                  <a:t>восстановления</a:t>
                </a:r>
                <a:r>
                  <a:rPr lang="en-US" dirty="0"/>
                  <a:t> </a:t>
                </a:r>
                <a:r>
                  <a:rPr lang="en-US" dirty="0" err="1"/>
                  <a:t>сигнала</a:t>
                </a:r>
                <a:r>
                  <a:rPr lang="ru-RU" dirty="0"/>
                  <a:t> требуется частота семплирования не ниже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𝑓</m:t>
                        </m:r>
                      </m:e>
                      <m:sub>
                        <m:r>
                          <a:rPr lang="en-US" i="1"/>
                          <m:t>𝑠𝑎𝑚𝑝𝑙𝑒</m:t>
                        </m:r>
                      </m:sub>
                    </m:sSub>
                    <m:r>
                      <a:rPr lang="en-US"/>
                      <m:t>≥</m:t>
                    </m:r>
                    <m:r>
                      <a:rPr lang="en-US"/>
                      <m:t>2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𝑓</m:t>
                        </m:r>
                      </m:e>
                      <m:sub>
                        <m:r>
                          <a:rPr lang="en-US" i="1"/>
                          <m:t>𝑚𝑎𝑥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𝑓</m:t>
                        </m:r>
                      </m:e>
                      <m:sub>
                        <m:r>
                          <a:rPr lang="en-US" i="1"/>
                          <m:t>𝑚𝑎𝑥</m:t>
                        </m:r>
                      </m:sub>
                    </m:sSub>
                  </m:oMath>
                </a14:m>
                <a:r>
                  <a:rPr lang="en-US" dirty="0"/>
                  <a:t>— </a:t>
                </a:r>
                <a:r>
                  <a:rPr lang="en-US" dirty="0" err="1"/>
                  <a:t>максимальная</a:t>
                </a:r>
                <a:r>
                  <a:rPr lang="en-US" dirty="0"/>
                  <a:t> </a:t>
                </a:r>
                <a:r>
                  <a:rPr lang="en-US" dirty="0" err="1"/>
                  <a:t>частота</a:t>
                </a:r>
                <a:r>
                  <a:rPr lang="en-US" dirty="0"/>
                  <a:t> </a:t>
                </a:r>
                <a:r>
                  <a:rPr lang="en-US" dirty="0" err="1"/>
                  <a:t>сигнала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 err="1"/>
                  <a:t>Иначе</a:t>
                </a:r>
                <a:r>
                  <a:rPr lang="en-US" dirty="0"/>
                  <a:t> </a:t>
                </a:r>
                <a:r>
                  <a:rPr lang="en-US" dirty="0" err="1"/>
                  <a:t>возникает</a:t>
                </a:r>
                <a:r>
                  <a:rPr lang="en-US" dirty="0"/>
                  <a:t> aliasing </a:t>
                </a:r>
              </a:p>
              <a:p>
                <a:r>
                  <a:rPr lang="en-US" dirty="0" err="1"/>
                  <a:t>Частота</a:t>
                </a:r>
                <a:r>
                  <a:rPr lang="en-US" dirty="0"/>
                  <a:t> </a:t>
                </a:r>
                <a:r>
                  <a:rPr lang="en-US" dirty="0" err="1"/>
                  <a:t>Найквиста</a:t>
                </a:r>
                <a:r>
                  <a:rPr lang="en-US" dirty="0"/>
                  <a:t>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/>
                        </m:ctrlPr>
                      </m:sSubPr>
                      <m:e>
                        <m:r>
                          <a:rPr lang="en-US" i="1"/>
                          <m:t>𝑓</m:t>
                        </m:r>
                      </m:e>
                      <m:sub>
                        <m:r>
                          <a:rPr lang="en-US" i="1"/>
                          <m:t>𝑁</m:t>
                        </m:r>
                      </m:sub>
                    </m:sSub>
                    <m:r>
                      <a:rPr lang="en-US"/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sSub>
                          <m:sSubPr>
                            <m:ctrlPr>
                              <a:rPr lang="en-US" i="1"/>
                            </m:ctrlPr>
                          </m:sSubPr>
                          <m:e>
                            <m:r>
                              <a:rPr lang="en-US" i="1"/>
                              <m:t>𝑓</m:t>
                            </m:r>
                          </m:e>
                          <m:sub>
                            <m:r>
                              <a:rPr lang="en-US" i="1"/>
                              <m:t>𝑠𝑎𝑚𝑝𝑙𝑒</m:t>
                            </m:r>
                          </m:sub>
                        </m:sSub>
                      </m:num>
                      <m:den>
                        <m:r>
                          <a:rPr lang="en-US"/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48C872-E1CD-1CDA-BB7A-BFCC654904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12724" cy="4351338"/>
              </a:xfrm>
              <a:blipFill>
                <a:blip r:embed="rId3"/>
                <a:stretch>
                  <a:fillRect l="-199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A84D6D0-B480-904F-8003-FBAE50EA7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98723"/>
            <a:ext cx="6096000" cy="206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8833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32019-8514-8630-58B4-9F05425D7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Алиасинг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20DA1-3ADA-9F70-ABE4-4E40A1E48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76258" cy="4351338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Алиасинг</a:t>
            </a:r>
            <a:r>
              <a:rPr lang="en-US" dirty="0"/>
              <a:t> — </a:t>
            </a:r>
            <a:r>
              <a:rPr lang="en-US" dirty="0" err="1"/>
              <a:t>искажения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недостаточной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 </a:t>
            </a:r>
            <a:r>
              <a:rPr lang="en-US" dirty="0" err="1"/>
              <a:t>дискретизации</a:t>
            </a:r>
            <a:r>
              <a:rPr lang="en-US" dirty="0"/>
              <a:t> </a:t>
            </a:r>
          </a:p>
          <a:p>
            <a:r>
              <a:rPr lang="en-US" dirty="0" err="1"/>
              <a:t>Проявления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«</a:t>
            </a:r>
            <a:r>
              <a:rPr lang="en-US" dirty="0" err="1"/>
              <a:t>лесенки</a:t>
            </a:r>
            <a:r>
              <a:rPr lang="en-US" dirty="0"/>
              <a:t>»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границах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мерцание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муар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шум</a:t>
            </a:r>
            <a:r>
              <a:rPr lang="en-US" dirty="0"/>
              <a:t> </a:t>
            </a:r>
            <a:r>
              <a:rPr lang="en-US" dirty="0" err="1"/>
              <a:t>тонких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 </a:t>
            </a:r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заметен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наклонных</a:t>
            </a:r>
            <a:r>
              <a:rPr lang="en-US" dirty="0"/>
              <a:t> </a:t>
            </a:r>
            <a:r>
              <a:rPr lang="en-US" dirty="0" err="1"/>
              <a:t>линиях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мелких</a:t>
            </a:r>
            <a:r>
              <a:rPr lang="en-US" dirty="0"/>
              <a:t> </a:t>
            </a:r>
            <a:r>
              <a:rPr lang="en-US" dirty="0" err="1"/>
              <a:t>текстурах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удалённых</a:t>
            </a:r>
            <a:r>
              <a:rPr lang="en-US" dirty="0"/>
              <a:t> </a:t>
            </a:r>
            <a:r>
              <a:rPr lang="en-US" dirty="0" err="1"/>
              <a:t>объектах</a:t>
            </a:r>
            <a:endParaRPr lang="en-US" dirty="0"/>
          </a:p>
          <a:p>
            <a:endParaRPr lang="en-US" dirty="0"/>
          </a:p>
        </p:txBody>
      </p:sp>
      <p:pic>
        <p:nvPicPr>
          <p:cNvPr id="3074" name="Picture 2" descr="Иллюстрация aliasing. Плотности пикселей не хватает, чтобы очертания геометрии были плавными">
            <a:extLst>
              <a:ext uri="{FF2B5EF4-FFF2-40B4-BE49-F238E27FC236}">
                <a16:creationId xmlns:a16="http://schemas.microsoft.com/office/drawing/2014/main" id="{45A76098-63D8-B3ED-412F-16E763DA5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458" y="1825625"/>
            <a:ext cx="3990975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437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6D23-4EE8-EE6D-F8AB-CD15469A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Антиалиасинг</a:t>
            </a:r>
            <a:r>
              <a:rPr lang="en-US" dirty="0"/>
              <a:t> (Anti-Aliasing)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5DC8F-764B-BFBA-3052-CD07C009C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борьбы</a:t>
            </a:r>
            <a:r>
              <a:rPr lang="en-US" dirty="0"/>
              <a:t> с aliasing:</a:t>
            </a:r>
          </a:p>
          <a:p>
            <a:pPr lvl="1"/>
            <a:r>
              <a:rPr lang="en-US" dirty="0"/>
              <a:t>SSAA — </a:t>
            </a:r>
            <a:r>
              <a:rPr lang="en-US" dirty="0" err="1"/>
              <a:t>supersampling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MSAA — </a:t>
            </a:r>
            <a:r>
              <a:rPr lang="en-US" dirty="0" err="1"/>
              <a:t>multisample</a:t>
            </a:r>
            <a:r>
              <a:rPr lang="en-US" dirty="0"/>
              <a:t> anti-aliasing </a:t>
            </a:r>
          </a:p>
          <a:p>
            <a:pPr lvl="1"/>
            <a:r>
              <a:rPr lang="en-US" dirty="0"/>
              <a:t>FXAA / SMAA — </a:t>
            </a:r>
            <a:r>
              <a:rPr lang="en-US" dirty="0" err="1"/>
              <a:t>постобработка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TAA — temporal anti-aliasing </a:t>
            </a:r>
          </a:p>
          <a:p>
            <a:r>
              <a:rPr lang="en-US" dirty="0" err="1"/>
              <a:t>Идея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усреднение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сэмплов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сглаживание</a:t>
            </a:r>
            <a:r>
              <a:rPr lang="en-US" dirty="0"/>
              <a:t> </a:t>
            </a:r>
            <a:r>
              <a:rPr lang="en-US" dirty="0" err="1"/>
              <a:t>высоких</a:t>
            </a:r>
            <a:r>
              <a:rPr lang="en-US" dirty="0"/>
              <a:t> </a:t>
            </a:r>
            <a:r>
              <a:rPr lang="en-US" dirty="0" err="1"/>
              <a:t>частот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B401F4-17FB-45EE-2336-246B067BB0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467" y="1690688"/>
            <a:ext cx="5715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452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A1360-8BB9-23EA-3110-699C3965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Mipmaps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3966A5-78E8-B478-997D-23903E0E9D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27618" cy="4351338"/>
              </a:xfrm>
            </p:spPr>
            <p:txBody>
              <a:bodyPr/>
              <a:lstStyle/>
              <a:p>
                <a:r>
                  <a:rPr lang="en-US" dirty="0"/>
                  <a:t>Mipmap — </a:t>
                </a:r>
                <a:r>
                  <a:rPr lang="en-US" dirty="0" err="1"/>
                  <a:t>набор</a:t>
                </a:r>
                <a:r>
                  <a:rPr lang="en-US" dirty="0"/>
                  <a:t> </a:t>
                </a:r>
                <a:r>
                  <a:rPr lang="en-US" dirty="0" err="1"/>
                  <a:t>уменьшенных</a:t>
                </a:r>
                <a:r>
                  <a:rPr lang="en-US" dirty="0"/>
                  <a:t> </a:t>
                </a:r>
                <a:r>
                  <a:rPr lang="en-US" dirty="0" err="1"/>
                  <a:t>копий</a:t>
                </a:r>
                <a:r>
                  <a:rPr lang="en-US" dirty="0"/>
                  <a:t> </a:t>
                </a:r>
                <a:r>
                  <a:rPr lang="en-US" dirty="0" err="1"/>
                  <a:t>текстуры</a:t>
                </a:r>
                <a:r>
                  <a:rPr lang="en-US" dirty="0"/>
                  <a:t> </a:t>
                </a:r>
              </a:p>
              <a:p>
                <a:r>
                  <a:rPr lang="en-US" dirty="0" err="1"/>
                  <a:t>Используется</a:t>
                </a:r>
                <a:r>
                  <a:rPr lang="en-US" dirty="0"/>
                  <a:t> </a:t>
                </a:r>
                <a:r>
                  <a:rPr lang="en-US" dirty="0" err="1"/>
                  <a:t>для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en-US" dirty="0" err="1"/>
                  <a:t>уменьшения</a:t>
                </a:r>
                <a:r>
                  <a:rPr lang="en-US" dirty="0"/>
                  <a:t> aliasing </a:t>
                </a:r>
              </a:p>
              <a:p>
                <a:pPr lvl="1"/>
                <a:r>
                  <a:rPr lang="en-US" dirty="0" err="1"/>
                  <a:t>ускорения</a:t>
                </a:r>
                <a:r>
                  <a:rPr lang="en-US" dirty="0"/>
                  <a:t> </a:t>
                </a:r>
                <a:r>
                  <a:rPr lang="en-US" dirty="0" err="1"/>
                  <a:t>выборки</a:t>
                </a:r>
                <a:r>
                  <a:rPr lang="en-US" dirty="0"/>
                  <a:t> </a:t>
                </a:r>
                <a:r>
                  <a:rPr lang="en-US" dirty="0" err="1"/>
                  <a:t>текстур</a:t>
                </a:r>
                <a:r>
                  <a:rPr lang="en-US" dirty="0"/>
                  <a:t> </a:t>
                </a:r>
              </a:p>
              <a:p>
                <a:r>
                  <a:rPr lang="en-US" dirty="0" err="1"/>
                  <a:t>Каждый</a:t>
                </a:r>
                <a:r>
                  <a:rPr lang="en-US" dirty="0"/>
                  <a:t> </a:t>
                </a:r>
                <a:r>
                  <a:rPr lang="en-US" dirty="0" err="1"/>
                  <a:t>следующий</a:t>
                </a:r>
                <a:r>
                  <a:rPr lang="en-US" dirty="0"/>
                  <a:t> </a:t>
                </a:r>
                <a:r>
                  <a:rPr lang="en-US" dirty="0" err="1"/>
                  <a:t>уровень</a:t>
                </a:r>
                <a:r>
                  <a:rPr lang="ru-RU" dirty="0"/>
                  <a:t> </a:t>
                </a:r>
                <a:r>
                  <a:rPr lang="en-US" dirty="0"/>
                  <a:t>в 2 </a:t>
                </a:r>
                <a:r>
                  <a:rPr lang="en-US" dirty="0" err="1"/>
                  <a:t>раза</a:t>
                </a:r>
                <a:r>
                  <a:rPr lang="en-US" dirty="0"/>
                  <a:t> </a:t>
                </a:r>
                <a:r>
                  <a:rPr lang="en-US" dirty="0" err="1"/>
                  <a:t>меньше</a:t>
                </a:r>
                <a:r>
                  <a:rPr lang="en-US" dirty="0"/>
                  <a:t> </a:t>
                </a:r>
                <a:r>
                  <a:rPr lang="en-US" dirty="0" err="1"/>
                  <a:t>по</a:t>
                </a:r>
                <a:r>
                  <a:rPr lang="en-US" dirty="0"/>
                  <a:t> </a:t>
                </a:r>
                <a:r>
                  <a:rPr lang="en-US" dirty="0" err="1"/>
                  <a:t>ширине</a:t>
                </a:r>
                <a:r>
                  <a:rPr lang="en-US" dirty="0"/>
                  <a:t> и </a:t>
                </a:r>
                <a:r>
                  <a:rPr lang="en-US" dirty="0" err="1"/>
                  <a:t>высоте</a:t>
                </a:r>
                <a:r>
                  <a:rPr lang="en-US" dirty="0"/>
                  <a:t> </a:t>
                </a:r>
              </a:p>
              <a:p>
                <a:r>
                  <a:rPr lang="en-US" dirty="0" err="1"/>
                  <a:t>Формула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/>
                        </m:ctrlPr>
                      </m:sSupPr>
                      <m:e>
                        <m:r>
                          <a:rPr lang="en-US"/>
                          <m:t>256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→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128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→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/>
                          <m:t>64</m:t>
                        </m:r>
                      </m:e>
                      <m:sup>
                        <m:r>
                          <a:rPr lang="en-US"/>
                          <m:t>2</m:t>
                        </m:r>
                      </m:sup>
                    </m:sSup>
                    <m:r>
                      <a:rPr lang="en-US"/>
                      <m:t>→...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3966A5-78E8-B478-997D-23903E0E9D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27618" cy="4351338"/>
              </a:xfrm>
              <a:blipFill>
                <a:blip r:embed="rId3"/>
                <a:stretch>
                  <a:fillRect l="-176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9BA7805-971F-E72A-10F8-9C8BBA495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5397" y="1825625"/>
            <a:ext cx="4312139" cy="387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4609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2BAAC-D5EA-4937-66EA-5242E1F87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Фильтрация</a:t>
            </a:r>
            <a:r>
              <a:rPr lang="en-US" dirty="0"/>
              <a:t> </a:t>
            </a:r>
            <a:r>
              <a:rPr lang="en-US" dirty="0" err="1"/>
              <a:t>текстур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54847-998E-3270-B483-AD605E35E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62847" cy="4351338"/>
          </a:xfrm>
        </p:spPr>
        <p:txBody>
          <a:bodyPr>
            <a:normAutofit/>
          </a:bodyPr>
          <a:lstStyle/>
          <a:p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фильтрации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Nearest — </a:t>
            </a:r>
            <a:r>
              <a:rPr lang="en-US" dirty="0" err="1"/>
              <a:t>быстрый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пиксельный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Bilinear — </a:t>
            </a:r>
            <a:r>
              <a:rPr lang="en-US" dirty="0" err="1"/>
              <a:t>сглаживает</a:t>
            </a:r>
            <a:r>
              <a:rPr lang="en-US" dirty="0"/>
              <a:t> </a:t>
            </a:r>
            <a:r>
              <a:rPr lang="en-US" dirty="0" err="1"/>
              <a:t>texel’ы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Trilinear — </a:t>
            </a:r>
            <a:r>
              <a:rPr lang="en-US" dirty="0" err="1"/>
              <a:t>сглаживает</a:t>
            </a:r>
            <a:r>
              <a:rPr lang="en-US" dirty="0"/>
              <a:t> </a:t>
            </a:r>
            <a:r>
              <a:rPr lang="en-US" dirty="0" err="1"/>
              <a:t>mip-уровни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Anisotropic — </a:t>
            </a:r>
            <a:r>
              <a:rPr lang="en-US" dirty="0" err="1"/>
              <a:t>улучшает</a:t>
            </a:r>
            <a:r>
              <a:rPr lang="en-US" dirty="0"/>
              <a:t> </a:t>
            </a:r>
            <a:r>
              <a:rPr lang="en-US" dirty="0" err="1"/>
              <a:t>качество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углом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A956FD-D61A-1132-445D-EC5F571E6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047" y="2069436"/>
            <a:ext cx="5563051" cy="218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861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32A251-2FA3-ACCF-9AF5-707B7AD6A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Частотный анализ и обработка изображений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7B1EC0-C4C6-78E5-0C83-C07C22476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4489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4934-E701-30DB-E6BB-77715B090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Частотное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изображения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9C3C3-B2E7-B739-EF8C-6C354ADF9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34544" cy="4351338"/>
          </a:xfrm>
        </p:spPr>
        <p:txBody>
          <a:bodyPr>
            <a:normAutofit/>
          </a:bodyPr>
          <a:lstStyle/>
          <a:p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в </a:t>
            </a:r>
            <a:r>
              <a:rPr lang="en-US" dirty="0" err="1"/>
              <a:t>пространственной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в </a:t>
            </a:r>
            <a:r>
              <a:rPr lang="en-US" dirty="0" err="1"/>
              <a:t>частотной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</a:p>
          <a:p>
            <a:r>
              <a:rPr lang="en-US" dirty="0" err="1"/>
              <a:t>Низкие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плавные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цвета</a:t>
            </a:r>
            <a:r>
              <a:rPr lang="en-US" dirty="0"/>
              <a:t> и </a:t>
            </a:r>
            <a:r>
              <a:rPr lang="en-US" dirty="0" err="1"/>
              <a:t>яркости</a:t>
            </a:r>
            <a:r>
              <a:rPr lang="en-US" dirty="0"/>
              <a:t> </a:t>
            </a:r>
          </a:p>
          <a:p>
            <a:r>
              <a:rPr lang="en-US" dirty="0" err="1"/>
              <a:t>Высокие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: </a:t>
            </a:r>
          </a:p>
          <a:p>
            <a:pPr lvl="1"/>
            <a:r>
              <a:rPr lang="en-US" dirty="0" err="1"/>
              <a:t>границы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мелкие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шум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854DAE-3EFE-A719-262E-A1DB177EA1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7546"/>
          <a:stretch>
            <a:fillRect/>
          </a:stretch>
        </p:blipFill>
        <p:spPr>
          <a:xfrm>
            <a:off x="8785484" y="1450088"/>
            <a:ext cx="2930553" cy="30441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888D7A-08C9-BD34-6613-CEB5BDF99B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841"/>
          <a:stretch>
            <a:fillRect/>
          </a:stretch>
        </p:blipFill>
        <p:spPr>
          <a:xfrm>
            <a:off x="7072744" y="4494274"/>
            <a:ext cx="4643293" cy="233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1279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14BC1-F154-95D2-0AEB-4AD936D0C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Дискретное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Фурье</a:t>
            </a:r>
            <a:r>
              <a:rPr lang="en-US" dirty="0"/>
              <a:t> (DFT)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81A1DA-C08F-4766-AA19-82F50792AE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624731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DFT </a:t>
                </a:r>
                <a:r>
                  <a:rPr lang="en-US" dirty="0" err="1"/>
                  <a:t>переводит</a:t>
                </a:r>
                <a:r>
                  <a:rPr lang="en-US" dirty="0"/>
                  <a:t> </a:t>
                </a:r>
                <a:r>
                  <a:rPr lang="en-US" dirty="0" err="1"/>
                  <a:t>изображение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en-US" dirty="0" err="1"/>
                  <a:t>из</a:t>
                </a:r>
                <a:r>
                  <a:rPr lang="en-US" dirty="0"/>
                  <a:t> </a:t>
                </a:r>
                <a:r>
                  <a:rPr lang="en-US" dirty="0" err="1"/>
                  <a:t>пространственной</a:t>
                </a:r>
                <a:r>
                  <a:rPr lang="en-US" dirty="0"/>
                  <a:t> </a:t>
                </a:r>
                <a:r>
                  <a:rPr lang="en-US" dirty="0" err="1"/>
                  <a:t>области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в </a:t>
                </a:r>
                <a:r>
                  <a:rPr lang="en-US" dirty="0" err="1"/>
                  <a:t>частотную</a:t>
                </a:r>
                <a:r>
                  <a:rPr lang="en-US" dirty="0"/>
                  <a:t> </a:t>
                </a:r>
              </a:p>
              <a:p>
                <a:r>
                  <a:rPr lang="en-US" dirty="0" err="1"/>
                  <a:t>Результат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en-US" dirty="0" err="1"/>
                  <a:t>амплитуда</a:t>
                </a:r>
                <a:r>
                  <a:rPr lang="en-US" dirty="0"/>
                  <a:t> </a:t>
                </a:r>
                <a:r>
                  <a:rPr lang="en-US" dirty="0" err="1"/>
                  <a:t>частот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 err="1"/>
                  <a:t>фаза</a:t>
                </a:r>
                <a:r>
                  <a:rPr lang="en-US" dirty="0"/>
                  <a:t> </a:t>
                </a:r>
                <a:r>
                  <a:rPr lang="en-US" dirty="0" err="1"/>
                  <a:t>частот</a:t>
                </a:r>
                <a:r>
                  <a:rPr lang="en-US" dirty="0"/>
                  <a:t> </a:t>
                </a:r>
              </a:p>
              <a:p>
                <a:r>
                  <a:rPr lang="en-US" dirty="0" err="1"/>
                  <a:t>Формула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supHide m:val="on"/>
                        <m:ctrlPr>
                          <a:rPr lang="en-US" i="1"/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i="1"/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nary>
                      </m:e>
                    </m:nary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𝑢𝑥</m:t>
                            </m:r>
                            <m:r>
                              <a:rPr lang="en-US" b="0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𝑣𝑦</m:t>
                            </m:r>
                            <m:r>
                              <a:rPr lang="en-US" b="0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 err="1"/>
                  <a:t>Важно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 err="1"/>
                  <a:t>центр</a:t>
                </a:r>
                <a:r>
                  <a:rPr lang="en-US" dirty="0"/>
                  <a:t> </a:t>
                </a:r>
                <a:r>
                  <a:rPr lang="en-US" dirty="0" err="1"/>
                  <a:t>спектра</a:t>
                </a:r>
                <a:r>
                  <a:rPr lang="en-US" dirty="0"/>
                  <a:t> — </a:t>
                </a:r>
                <a:r>
                  <a:rPr lang="en-US" dirty="0" err="1"/>
                  <a:t>низкие</a:t>
                </a:r>
                <a:r>
                  <a:rPr lang="en-US" dirty="0"/>
                  <a:t> </a:t>
                </a:r>
                <a:r>
                  <a:rPr lang="en-US" dirty="0" err="1"/>
                  <a:t>частоты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 err="1"/>
                  <a:t>края</a:t>
                </a:r>
                <a:r>
                  <a:rPr lang="en-US" dirty="0"/>
                  <a:t> — </a:t>
                </a:r>
                <a:r>
                  <a:rPr lang="en-US" dirty="0" err="1"/>
                  <a:t>высокие</a:t>
                </a:r>
                <a:r>
                  <a:rPr lang="en-US" dirty="0"/>
                  <a:t> </a:t>
                </a:r>
                <a:r>
                  <a:rPr lang="en-US" dirty="0" err="1"/>
                  <a:t>частоты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81A1DA-C08F-4766-AA19-82F50792AE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624731" cy="4351338"/>
              </a:xfrm>
              <a:blipFill>
                <a:blip r:embed="rId3"/>
                <a:stretch>
                  <a:fillRect l="-1280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983D4AA-D15B-90EC-ADA7-DFBEF30B4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521" y="1690688"/>
            <a:ext cx="2613279" cy="47465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E7386A3-BE3F-30A9-E735-CBAED4F055B9}"/>
              </a:ext>
            </a:extLst>
          </p:cNvPr>
          <p:cNvSpPr txBox="1"/>
          <p:nvPr/>
        </p:nvSpPr>
        <p:spPr>
          <a:xfrm>
            <a:off x="838200" y="6176963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https://vincmazet.github.io/bip/filtering/fourier.html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6717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F592-A12B-76A6-D07A-64CC04CF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Обратное</a:t>
            </a:r>
            <a:r>
              <a:rPr lang="en-US" dirty="0"/>
              <a:t> 2D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Фурье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DA2B8-1F19-D49B-17E6-12A9F325FC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Позволяет </a:t>
                </a:r>
                <a:r>
                  <a:rPr lang="en-US" dirty="0" err="1"/>
                  <a:t>восстановить</a:t>
                </a:r>
                <a:r>
                  <a:rPr lang="en-US" dirty="0"/>
                  <a:t> </a:t>
                </a:r>
                <a:r>
                  <a:rPr lang="en-US" dirty="0" err="1"/>
                  <a:t>изображение</a:t>
                </a:r>
                <a:r>
                  <a:rPr lang="en-US" dirty="0"/>
                  <a:t> </a:t>
                </a:r>
                <a:r>
                  <a:rPr lang="en-US" dirty="0" err="1"/>
                  <a:t>из</a:t>
                </a:r>
                <a:r>
                  <a:rPr lang="en-US" dirty="0"/>
                  <a:t> </a:t>
                </a:r>
                <a:r>
                  <a:rPr lang="en-US" dirty="0" err="1"/>
                  <a:t>частотного</a:t>
                </a:r>
                <a:r>
                  <a:rPr lang="en-US" dirty="0"/>
                  <a:t> </a:t>
                </a:r>
                <a:r>
                  <a:rPr lang="en-US" dirty="0" err="1"/>
                  <a:t>представления</a:t>
                </a:r>
                <a:r>
                  <a:rPr lang="en-US" dirty="0"/>
                  <a:t> </a:t>
                </a:r>
              </a:p>
              <a:p>
                <a:r>
                  <a:rPr lang="en-US" dirty="0" err="1"/>
                  <a:t>Выполняется</a:t>
                </a:r>
                <a:r>
                  <a:rPr lang="en-US" dirty="0"/>
                  <a:t> </a:t>
                </a:r>
                <a:r>
                  <a:rPr lang="en-US" dirty="0" err="1"/>
                  <a:t>после</a:t>
                </a:r>
                <a:r>
                  <a:rPr lang="en-US" dirty="0"/>
                  <a:t> </a:t>
                </a:r>
                <a:r>
                  <a:rPr lang="en-US" dirty="0" err="1"/>
                  <a:t>обработки</a:t>
                </a:r>
                <a:r>
                  <a:rPr lang="en-US" dirty="0"/>
                  <a:t> </a:t>
                </a:r>
                <a:r>
                  <a:rPr lang="en-US" dirty="0" err="1"/>
                  <a:t>спектра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en-US" dirty="0" err="1"/>
                  <a:t>фильтрации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 err="1"/>
                  <a:t>удаления</a:t>
                </a:r>
                <a:r>
                  <a:rPr lang="en-US" dirty="0"/>
                  <a:t> </a:t>
                </a:r>
                <a:r>
                  <a:rPr lang="en-US" dirty="0" err="1"/>
                  <a:t>шума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 err="1"/>
                  <a:t>изменения</a:t>
                </a:r>
                <a:r>
                  <a:rPr lang="en-US" dirty="0"/>
                  <a:t> </a:t>
                </a:r>
                <a:r>
                  <a:rPr lang="en-US" dirty="0" err="1"/>
                  <a:t>частот</a:t>
                </a:r>
                <a:r>
                  <a:rPr lang="en-US" dirty="0"/>
                  <a:t> </a:t>
                </a:r>
              </a:p>
              <a:p>
                <a:r>
                  <a:rPr lang="en-US" dirty="0" err="1"/>
                  <a:t>Формула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/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𝑀𝑁</m:t>
                        </m:r>
                      </m:den>
                    </m:f>
                    <m:nary>
                      <m:naryPr>
                        <m:chr m:val="∑"/>
                        <m:grow m:val="on"/>
                        <m:supHide m:val="on"/>
                        <m:ctrlPr>
                          <a:rPr lang="en-US" i="1"/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en-US" i="1"/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i="1"/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d>
                          <m:dPr>
                            <m:ctrlPr>
                              <a:rPr lang="en-US" i="1"/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𝑢𝑥</m:t>
                            </m:r>
                            <m:r>
                              <a:rPr lang="en-US" b="0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b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𝑣𝑦</m:t>
                            </m:r>
                            <m:r>
                              <a:rPr lang="en-US" b="0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 err="1"/>
                  <a:t>Важно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 err="1"/>
                  <a:t>амплитуда</a:t>
                </a:r>
                <a:r>
                  <a:rPr lang="en-US" dirty="0"/>
                  <a:t> </a:t>
                </a:r>
                <a:r>
                  <a:rPr lang="en-US" dirty="0" err="1"/>
                  <a:t>определяет</a:t>
                </a:r>
                <a:r>
                  <a:rPr lang="en-US" dirty="0"/>
                  <a:t> </a:t>
                </a:r>
                <a:r>
                  <a:rPr lang="en-US" dirty="0" err="1"/>
                  <a:t>силу</a:t>
                </a:r>
                <a:r>
                  <a:rPr lang="en-US" dirty="0"/>
                  <a:t> </a:t>
                </a:r>
                <a:r>
                  <a:rPr lang="en-US" dirty="0" err="1"/>
                  <a:t>частот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 err="1"/>
                  <a:t>фаза</a:t>
                </a:r>
                <a:r>
                  <a:rPr lang="en-US" dirty="0"/>
                  <a:t> </a:t>
                </a:r>
                <a:r>
                  <a:rPr lang="en-US" dirty="0" err="1"/>
                  <a:t>определяет</a:t>
                </a:r>
                <a:r>
                  <a:rPr lang="en-US" dirty="0"/>
                  <a:t> </a:t>
                </a:r>
                <a:r>
                  <a:rPr lang="en-US" dirty="0" err="1"/>
                  <a:t>структуру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 err="1"/>
                  <a:t>потеря</a:t>
                </a:r>
                <a:r>
                  <a:rPr lang="en-US" dirty="0"/>
                  <a:t> </a:t>
                </a:r>
                <a:r>
                  <a:rPr lang="en-US" dirty="0" err="1"/>
                  <a:t>фазы</a:t>
                </a:r>
                <a:r>
                  <a:rPr lang="en-US" dirty="0"/>
                  <a:t> </a:t>
                </a:r>
                <a:r>
                  <a:rPr lang="en-US" dirty="0" err="1"/>
                  <a:t>сильно</a:t>
                </a:r>
                <a:r>
                  <a:rPr lang="en-US" dirty="0"/>
                  <a:t> </a:t>
                </a:r>
                <a:r>
                  <a:rPr lang="en-US" dirty="0" err="1"/>
                  <a:t>искажает</a:t>
                </a:r>
                <a:r>
                  <a:rPr lang="en-US" dirty="0"/>
                  <a:t> </a:t>
                </a:r>
                <a:r>
                  <a:rPr lang="en-US" dirty="0" err="1"/>
                  <a:t>результат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6DA2B8-1F19-D49B-17E6-12A9F325FC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27004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2ECE-7889-C41B-3A10-E694BA1E9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Низкочастотная</a:t>
            </a:r>
            <a:r>
              <a:rPr lang="en-US" dirty="0"/>
              <a:t> </a:t>
            </a:r>
            <a:r>
              <a:rPr lang="en-US" dirty="0" err="1"/>
              <a:t>фильтрация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98A01-8C21-C02D-8197-C0BEEEF2A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15999" cy="4351338"/>
          </a:xfrm>
        </p:spPr>
        <p:txBody>
          <a:bodyPr/>
          <a:lstStyle/>
          <a:p>
            <a:r>
              <a:rPr lang="en-US" dirty="0" err="1"/>
              <a:t>Удаление</a:t>
            </a:r>
            <a:r>
              <a:rPr lang="en-US" dirty="0"/>
              <a:t> </a:t>
            </a:r>
            <a:r>
              <a:rPr lang="en-US" dirty="0" err="1"/>
              <a:t>высоких</a:t>
            </a:r>
            <a:r>
              <a:rPr lang="en-US" dirty="0"/>
              <a:t> </a:t>
            </a:r>
            <a:r>
              <a:rPr lang="en-US" dirty="0" err="1"/>
              <a:t>частот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размытие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подавление</a:t>
            </a:r>
            <a:r>
              <a:rPr lang="en-US" dirty="0"/>
              <a:t> </a:t>
            </a:r>
            <a:r>
              <a:rPr lang="en-US" dirty="0" err="1"/>
              <a:t>шума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сглаживание</a:t>
            </a:r>
            <a:r>
              <a:rPr lang="en-US" dirty="0"/>
              <a:t> </a:t>
            </a:r>
          </a:p>
          <a:p>
            <a:r>
              <a:rPr lang="en-US" dirty="0" err="1"/>
              <a:t>Примеры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Gaussian Blur </a:t>
            </a:r>
          </a:p>
          <a:p>
            <a:pPr lvl="1"/>
            <a:r>
              <a:rPr lang="en-US" dirty="0"/>
              <a:t>Box Blur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C0A25D-B3A8-7A7B-D9D9-EC2037287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802" y="1825624"/>
            <a:ext cx="5928892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0730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7E769-34F0-5602-3C24-AC4D63B19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Высокочастотная</a:t>
            </a:r>
            <a:r>
              <a:rPr lang="en-US" dirty="0"/>
              <a:t> </a:t>
            </a:r>
            <a:r>
              <a:rPr lang="en-US" dirty="0" err="1"/>
              <a:t>фильтрация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36E9-2E8B-0F79-9C1A-A71B113C6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Удаление</a:t>
            </a:r>
            <a:r>
              <a:rPr lang="en-US" dirty="0"/>
              <a:t> </a:t>
            </a:r>
            <a:r>
              <a:rPr lang="en-US" dirty="0" err="1"/>
              <a:t>низких</a:t>
            </a:r>
            <a:r>
              <a:rPr lang="en-US" dirty="0"/>
              <a:t> </a:t>
            </a:r>
            <a:r>
              <a:rPr lang="en-US" dirty="0" err="1"/>
              <a:t>частот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выделение</a:t>
            </a:r>
            <a:r>
              <a:rPr lang="en-US" dirty="0"/>
              <a:t> </a:t>
            </a:r>
            <a:r>
              <a:rPr lang="en-US" dirty="0" err="1"/>
              <a:t>границ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повышение</a:t>
            </a:r>
            <a:r>
              <a:rPr lang="en-US" dirty="0"/>
              <a:t> </a:t>
            </a:r>
            <a:r>
              <a:rPr lang="en-US" dirty="0" err="1"/>
              <a:t>резкости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поиск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 </a:t>
            </a:r>
          </a:p>
          <a:p>
            <a:r>
              <a:rPr lang="en-US" dirty="0" err="1"/>
              <a:t>Примеры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Sobel </a:t>
            </a:r>
          </a:p>
          <a:p>
            <a:pPr lvl="1"/>
            <a:r>
              <a:rPr lang="en-US" dirty="0"/>
              <a:t>Laplacian </a:t>
            </a:r>
          </a:p>
          <a:p>
            <a:pPr lvl="1"/>
            <a:r>
              <a:rPr lang="en-US" dirty="0"/>
              <a:t>Sharpen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B0624B-8AF5-CFF3-E2D5-F297CD783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634" y="1914228"/>
            <a:ext cx="5752503" cy="426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2236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5A9A-8AE5-636A-2539-7ED8B460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Быстрое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Фурье</a:t>
            </a:r>
            <a:r>
              <a:rPr lang="en-US" dirty="0"/>
              <a:t> (FFT)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591188-B2DE-FFE5-46CE-DF6C80804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FFT — </a:t>
                </a:r>
                <a:r>
                  <a:rPr lang="en-US" dirty="0" err="1"/>
                  <a:t>эффективный</a:t>
                </a:r>
                <a:r>
                  <a:rPr lang="en-US" dirty="0"/>
                  <a:t> </a:t>
                </a:r>
                <a:r>
                  <a:rPr lang="en-US" dirty="0" err="1"/>
                  <a:t>алгоритм</a:t>
                </a:r>
                <a:r>
                  <a:rPr lang="en-US" dirty="0"/>
                  <a:t> </a:t>
                </a:r>
                <a:r>
                  <a:rPr lang="en-US" dirty="0" err="1"/>
                  <a:t>вычисления</a:t>
                </a:r>
                <a:r>
                  <a:rPr lang="en-US" dirty="0"/>
                  <a:t> DFT </a:t>
                </a:r>
              </a:p>
              <a:p>
                <a:r>
                  <a:rPr lang="en-US" dirty="0" err="1"/>
                  <a:t>Используется</a:t>
                </a:r>
                <a:r>
                  <a:rPr lang="en-US" dirty="0"/>
                  <a:t> </a:t>
                </a:r>
                <a:r>
                  <a:rPr lang="en-US" dirty="0" err="1"/>
                  <a:t>для</a:t>
                </a:r>
                <a:r>
                  <a:rPr lang="en-US" dirty="0"/>
                  <a:t> </a:t>
                </a:r>
                <a:r>
                  <a:rPr lang="en-US" dirty="0" err="1"/>
                  <a:t>фильтрации</a:t>
                </a:r>
                <a:r>
                  <a:rPr lang="en-US" dirty="0"/>
                  <a:t> </a:t>
                </a:r>
                <a:r>
                  <a:rPr lang="en-US" dirty="0" err="1"/>
                  <a:t>изображений</a:t>
                </a:r>
                <a:r>
                  <a:rPr lang="ru-RU" dirty="0"/>
                  <a:t>, </a:t>
                </a:r>
                <a:r>
                  <a:rPr lang="en-US" dirty="0" err="1"/>
                  <a:t>размытия</a:t>
                </a:r>
                <a:r>
                  <a:rPr lang="ru-RU" dirty="0"/>
                  <a:t>, </a:t>
                </a:r>
                <a:r>
                  <a:rPr lang="en-US" dirty="0" err="1"/>
                  <a:t>подавления</a:t>
                </a:r>
                <a:r>
                  <a:rPr lang="en-US" dirty="0"/>
                  <a:t> </a:t>
                </a:r>
                <a:r>
                  <a:rPr lang="en-US" dirty="0" err="1"/>
                  <a:t>шума</a:t>
                </a:r>
                <a:r>
                  <a:rPr lang="ru-RU" dirty="0"/>
                  <a:t>, </a:t>
                </a:r>
                <a:r>
                  <a:rPr lang="en-US" dirty="0" err="1"/>
                  <a:t>анализа</a:t>
                </a:r>
                <a:r>
                  <a:rPr lang="en-US" dirty="0"/>
                  <a:t> </a:t>
                </a:r>
                <a:r>
                  <a:rPr lang="en-US" dirty="0" err="1"/>
                  <a:t>частот</a:t>
                </a:r>
                <a:r>
                  <a:rPr lang="en-US" dirty="0"/>
                  <a:t> </a:t>
                </a:r>
              </a:p>
              <a:p>
                <a:r>
                  <a:rPr lang="en-US" dirty="0" err="1"/>
                  <a:t>Сложность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sSup>
                          <m:sSupPr>
                            <m:ctrlPr>
                              <a:rPr lang="en-US" i="1"/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/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func>
                          <m:funcPr>
                            <m:ctrlPr>
                              <a:rPr lang="en-US" i="1"/>
                            </m:ctrlPr>
                          </m:funcPr>
                          <m:fNam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r>
                  <a:rPr lang="en-US" dirty="0" err="1"/>
                  <a:t>Для</a:t>
                </a:r>
                <a:r>
                  <a:rPr lang="en-US" dirty="0"/>
                  <a:t> 2D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FFT </a:t>
                </a:r>
                <a:r>
                  <a:rPr lang="en-US" dirty="0" err="1"/>
                  <a:t>по</a:t>
                </a:r>
                <a:r>
                  <a:rPr lang="en-US" dirty="0"/>
                  <a:t> </a:t>
                </a:r>
                <a:r>
                  <a:rPr lang="en-US" dirty="0" err="1"/>
                  <a:t>строкам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 err="1"/>
                  <a:t>затем</a:t>
                </a:r>
                <a:r>
                  <a:rPr lang="en-US" dirty="0"/>
                  <a:t> FFT </a:t>
                </a:r>
                <a:r>
                  <a:rPr lang="en-US" dirty="0" err="1"/>
                  <a:t>по</a:t>
                </a:r>
                <a:r>
                  <a:rPr lang="en-US" dirty="0"/>
                  <a:t> </a:t>
                </a:r>
                <a:r>
                  <a:rPr lang="en-US" dirty="0" err="1"/>
                  <a:t>столбцам</a:t>
                </a:r>
                <a:r>
                  <a:rPr lang="en-US" dirty="0"/>
                  <a:t> </a:t>
                </a:r>
              </a:p>
              <a:p>
                <a:r>
                  <a:rPr lang="en-US" dirty="0" err="1"/>
                  <a:t>Требования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 err="1"/>
                  <a:t>размеры</a:t>
                </a:r>
                <a:r>
                  <a:rPr lang="en-US" dirty="0"/>
                  <a:t> </a:t>
                </a:r>
                <a:r>
                  <a:rPr lang="en-US" dirty="0" err="1"/>
                  <a:t>изображения</a:t>
                </a:r>
                <a:r>
                  <a:rPr lang="en-US" dirty="0"/>
                  <a:t> </a:t>
                </a:r>
                <a:r>
                  <a:rPr lang="en-US" dirty="0" err="1"/>
                  <a:t>часто</a:t>
                </a:r>
                <a:r>
                  <a:rPr lang="en-US" dirty="0"/>
                  <a:t> </a:t>
                </a:r>
                <a:r>
                  <a:rPr lang="en-US" dirty="0" err="1"/>
                  <a:t>делают</a:t>
                </a:r>
                <a:r>
                  <a:rPr lang="en-US" dirty="0"/>
                  <a:t> </a:t>
                </a:r>
                <a:r>
                  <a:rPr lang="en-US" dirty="0" err="1"/>
                  <a:t>степенью</a:t>
                </a:r>
                <a:r>
                  <a:rPr lang="en-US" dirty="0"/>
                  <a:t> </a:t>
                </a:r>
                <a:r>
                  <a:rPr lang="en-US" dirty="0" err="1"/>
                  <a:t>двойки</a:t>
                </a:r>
                <a:r>
                  <a:rPr lang="en-US" dirty="0"/>
                  <a:t>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256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512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1024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2048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Если</a:t>
                </a:r>
                <a:r>
                  <a:rPr lang="en-US" dirty="0"/>
                  <a:t> </a:t>
                </a:r>
                <a:r>
                  <a:rPr lang="en-US" dirty="0" err="1"/>
                  <a:t>размеры</a:t>
                </a:r>
                <a:r>
                  <a:rPr lang="en-US" dirty="0"/>
                  <a:t> </a:t>
                </a:r>
                <a:r>
                  <a:rPr lang="en-US" dirty="0" err="1"/>
                  <a:t>не</a:t>
                </a:r>
                <a:r>
                  <a:rPr lang="en-US" dirty="0"/>
                  <a:t> </a:t>
                </a:r>
                <a:r>
                  <a:rPr lang="en-US" dirty="0" err="1"/>
                  <a:t>подходят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padding — </a:t>
                </a:r>
                <a:r>
                  <a:rPr lang="en-US" dirty="0" err="1"/>
                  <a:t>дополнение</a:t>
                </a:r>
                <a:r>
                  <a:rPr lang="en-US" dirty="0"/>
                  <a:t> </a:t>
                </a:r>
                <a:r>
                  <a:rPr lang="en-US" dirty="0" err="1"/>
                  <a:t>нулями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 err="1"/>
                  <a:t>расширение</a:t>
                </a:r>
                <a:r>
                  <a:rPr lang="en-US" dirty="0"/>
                  <a:t> </a:t>
                </a:r>
                <a:r>
                  <a:rPr lang="en-US" dirty="0" err="1"/>
                  <a:t>до</a:t>
                </a:r>
                <a:r>
                  <a:rPr lang="en-US" dirty="0"/>
                  <a:t> </a:t>
                </a:r>
                <a:r>
                  <a:rPr lang="en-US" dirty="0" err="1"/>
                  <a:t>ближайшей</a:t>
                </a:r>
                <a:r>
                  <a:rPr lang="en-US" dirty="0"/>
                  <a:t> </a:t>
                </a:r>
                <a:r>
                  <a:rPr lang="en-US" dirty="0" err="1"/>
                  <a:t>степени</a:t>
                </a:r>
                <a:r>
                  <a:rPr lang="en-US" dirty="0"/>
                  <a:t> </a:t>
                </a:r>
                <a:r>
                  <a:rPr lang="en-US" dirty="0" err="1"/>
                  <a:t>двойки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591188-B2DE-FFE5-46CE-DF6C80804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877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A8D78099-417D-4B69-5B94-AB5F96DAF5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Частотное</a:t>
            </a:r>
            <a:r>
              <a:rPr lang="en-US" dirty="0"/>
              <a:t> </a:t>
            </a:r>
            <a:r>
              <a:rPr lang="en-US" dirty="0" err="1"/>
              <a:t>сжатие</a:t>
            </a:r>
            <a:r>
              <a:rPr lang="en-US" dirty="0"/>
              <a:t> </a:t>
            </a:r>
            <a:r>
              <a:rPr lang="en-US" dirty="0" err="1"/>
              <a:t>изображений</a:t>
            </a:r>
            <a:endParaRPr lang="ru-RU" dirty="0"/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133F77A5-DD42-C55C-8A2F-90DDC585A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6237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ru-RU" dirty="0"/>
              <a:t>компрессируется в </a:t>
            </a:r>
            <a:r>
              <a:rPr lang="ru-RU" dirty="0" err="1"/>
              <a:t>частнотной</a:t>
            </a:r>
            <a:r>
              <a:rPr lang="ru-RU" dirty="0"/>
              <a:t> области с потерей ряда высоких частот</a:t>
            </a:r>
            <a:endParaRPr lang="en-US" dirty="0"/>
          </a:p>
          <a:p>
            <a:pPr lvl="1"/>
            <a:r>
              <a:rPr lang="en-US" dirty="0" err="1"/>
              <a:t>Человеческое</a:t>
            </a:r>
            <a:r>
              <a:rPr lang="en-US" dirty="0"/>
              <a:t> </a:t>
            </a:r>
            <a:r>
              <a:rPr lang="en-US" dirty="0" err="1"/>
              <a:t>зрение</a:t>
            </a:r>
            <a:r>
              <a:rPr lang="ru-RU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замечает</a:t>
            </a:r>
            <a:r>
              <a:rPr lang="en-US" dirty="0"/>
              <a:t> </a:t>
            </a:r>
            <a:r>
              <a:rPr lang="en-US" dirty="0" err="1"/>
              <a:t>низкие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ru-RU" dirty="0"/>
              <a:t> и </a:t>
            </a:r>
            <a:r>
              <a:rPr lang="en-US" dirty="0" err="1"/>
              <a:t>хуже</a:t>
            </a:r>
            <a:r>
              <a:rPr lang="en-US" dirty="0"/>
              <a:t> </a:t>
            </a:r>
            <a:r>
              <a:rPr lang="en-US" dirty="0" err="1"/>
              <a:t>различает</a:t>
            </a:r>
            <a:r>
              <a:rPr lang="en-US" dirty="0"/>
              <a:t> </a:t>
            </a:r>
            <a:r>
              <a:rPr lang="en-US" dirty="0" err="1"/>
              <a:t>мелкие</a:t>
            </a:r>
            <a:r>
              <a:rPr lang="en-US" dirty="0"/>
              <a:t> </a:t>
            </a:r>
            <a:r>
              <a:rPr lang="en-US" dirty="0" err="1"/>
              <a:t>высокочастотные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</a:t>
            </a:r>
          </a:p>
          <a:p>
            <a:r>
              <a:rPr lang="en-US" dirty="0" err="1"/>
              <a:t>Используемые</a:t>
            </a:r>
            <a:r>
              <a:rPr lang="en-US" dirty="0"/>
              <a:t> </a:t>
            </a:r>
            <a:r>
              <a:rPr lang="en-US" dirty="0" err="1"/>
              <a:t>преобразования</a:t>
            </a:r>
            <a:endParaRPr lang="en-US" dirty="0"/>
          </a:p>
          <a:p>
            <a:pPr lvl="1"/>
            <a:r>
              <a:rPr lang="en-US" dirty="0"/>
              <a:t>DFT / FFT </a:t>
            </a:r>
          </a:p>
          <a:p>
            <a:pPr lvl="1"/>
            <a:r>
              <a:rPr lang="en-US" dirty="0"/>
              <a:t>DCT (Discrete Cosine Transform) </a:t>
            </a:r>
          </a:p>
          <a:p>
            <a:pPr lvl="1"/>
            <a:r>
              <a:rPr lang="en-US" dirty="0"/>
              <a:t>Wavelet Transform </a:t>
            </a:r>
          </a:p>
          <a:p>
            <a:r>
              <a:rPr lang="en-US" dirty="0" err="1"/>
              <a:t>Применение</a:t>
            </a:r>
            <a:endParaRPr lang="en-US" dirty="0"/>
          </a:p>
          <a:p>
            <a:pPr lvl="1"/>
            <a:r>
              <a:rPr lang="en-US" dirty="0"/>
              <a:t>JPEG</a:t>
            </a:r>
            <a:r>
              <a:rPr lang="ru-RU" dirty="0"/>
              <a:t>, </a:t>
            </a:r>
            <a:r>
              <a:rPr lang="en-US" dirty="0"/>
              <a:t>JPEG2000 </a:t>
            </a:r>
          </a:p>
          <a:p>
            <a:pPr lvl="1"/>
            <a:r>
              <a:rPr lang="en-US" dirty="0" err="1"/>
              <a:t>видео-кодеки</a:t>
            </a:r>
            <a:r>
              <a:rPr lang="en-US" dirty="0"/>
              <a:t>: MPEG</a:t>
            </a:r>
            <a:r>
              <a:rPr lang="ru-RU" dirty="0"/>
              <a:t>, </a:t>
            </a:r>
            <a:r>
              <a:rPr lang="en-US" dirty="0"/>
              <a:t>H.264</a:t>
            </a:r>
            <a:r>
              <a:rPr lang="ru-RU" dirty="0"/>
              <a:t>, </a:t>
            </a:r>
            <a:r>
              <a:rPr lang="en-US" dirty="0"/>
              <a:t>HEVC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25985-1CB4-C06E-15A4-E03B429F6205}"/>
              </a:ext>
            </a:extLst>
          </p:cNvPr>
          <p:cNvSpPr txBox="1"/>
          <p:nvPr/>
        </p:nvSpPr>
        <p:spPr>
          <a:xfrm>
            <a:off x="2476500" y="6311900"/>
            <a:ext cx="9467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https://blog.demofox.org/2020/11/04/frequency-domain-image-compression-and-filtering/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B7598E0-DE32-E2FF-4C01-CF421E5A2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0682" y="1690688"/>
            <a:ext cx="3363668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3C878-4B52-F6B2-9276-591C0DA6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JPEG и </a:t>
            </a:r>
            <a:r>
              <a:rPr lang="en-US" dirty="0" err="1"/>
              <a:t>дискретное</a:t>
            </a:r>
            <a:r>
              <a:rPr lang="en-US" dirty="0"/>
              <a:t> </a:t>
            </a:r>
            <a:r>
              <a:rPr lang="en-US" dirty="0" err="1"/>
              <a:t>косинусное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E5F717-AC78-FC8B-1531-862CBD8533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624484" cy="435133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JPEG </a:t>
                </a:r>
                <a:r>
                  <a:rPr lang="en-US" dirty="0" err="1"/>
                  <a:t>использует</a:t>
                </a:r>
                <a:r>
                  <a:rPr lang="en-US" dirty="0"/>
                  <a:t> DCT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𝐷𝐶𝑇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𝐷𝐹𝑇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Этапы</a:t>
                </a:r>
                <a:r>
                  <a:rPr lang="en-US" dirty="0"/>
                  <a:t> JPEG</a:t>
                </a:r>
              </a:p>
              <a:p>
                <a:pPr lvl="1"/>
                <a:r>
                  <a:rPr lang="en-US" dirty="0"/>
                  <a:t>RGB → </a:t>
                </a:r>
                <a:r>
                  <a:rPr lang="en-US" dirty="0" err="1"/>
                  <a:t>YCbCr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 err="1"/>
                  <a:t>Субдискретизация</a:t>
                </a:r>
                <a:r>
                  <a:rPr lang="en-US" dirty="0"/>
                  <a:t> </a:t>
                </a:r>
                <a:r>
                  <a:rPr lang="en-US" dirty="0" err="1"/>
                  <a:t>цветности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Разбиение </a:t>
                </a:r>
                <a:r>
                  <a:rPr lang="en-US" dirty="0" err="1"/>
                  <a:t>на</a:t>
                </a:r>
                <a:r>
                  <a:rPr lang="en-US" dirty="0"/>
                  <a:t> </a:t>
                </a:r>
                <a:r>
                  <a:rPr lang="en-US" dirty="0" err="1"/>
                  <a:t>блоки</a:t>
                </a:r>
                <a:r>
                  <a:rPr lang="en-US" dirty="0"/>
                  <a:t> 8×8 </a:t>
                </a:r>
              </a:p>
              <a:p>
                <a:pPr lvl="1"/>
                <a:r>
                  <a:rPr lang="en-US" dirty="0"/>
                  <a:t>DCT </a:t>
                </a:r>
                <a:r>
                  <a:rPr lang="en-US" dirty="0" err="1"/>
                  <a:t>каждого</a:t>
                </a:r>
                <a:r>
                  <a:rPr lang="en-US" dirty="0"/>
                  <a:t> </a:t>
                </a:r>
                <a:r>
                  <a:rPr lang="en-US" dirty="0" err="1"/>
                  <a:t>блока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 err="1"/>
                  <a:t>Квантование</a:t>
                </a:r>
                <a:r>
                  <a:rPr lang="en-US" dirty="0"/>
                  <a:t> </a:t>
                </a:r>
                <a:r>
                  <a:rPr lang="en-US" dirty="0" err="1"/>
                  <a:t>коэффициентов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 err="1"/>
                  <a:t>Кодирование</a:t>
                </a:r>
                <a:r>
                  <a:rPr lang="en-US" dirty="0"/>
                  <a:t> </a:t>
                </a:r>
              </a:p>
              <a:p>
                <a:r>
                  <a:rPr lang="en-US" dirty="0" err="1"/>
                  <a:t>Важная</a:t>
                </a:r>
                <a:r>
                  <a:rPr lang="en-US" dirty="0"/>
                  <a:t> </a:t>
                </a:r>
                <a:r>
                  <a:rPr lang="en-US" dirty="0" err="1"/>
                  <a:t>идея</a:t>
                </a:r>
                <a:endParaRPr lang="en-US" dirty="0"/>
              </a:p>
              <a:p>
                <a:r>
                  <a:rPr lang="en-US" dirty="0" err="1"/>
                  <a:t>Высокие</a:t>
                </a:r>
                <a:r>
                  <a:rPr lang="en-US" dirty="0"/>
                  <a:t> </a:t>
                </a:r>
                <a:r>
                  <a:rPr lang="en-US" dirty="0" err="1"/>
                  <a:t>частоты</a:t>
                </a:r>
                <a:r>
                  <a:rPr lang="ru-RU" dirty="0"/>
                  <a:t> </a:t>
                </a:r>
                <a:r>
                  <a:rPr lang="en-US" dirty="0" err="1"/>
                  <a:t>квантуются</a:t>
                </a:r>
                <a:r>
                  <a:rPr lang="en-US" dirty="0"/>
                  <a:t> </a:t>
                </a:r>
                <a:r>
                  <a:rPr lang="en-US" dirty="0" err="1"/>
                  <a:t>сильнее</a:t>
                </a:r>
                <a:endParaRPr lang="en-US" dirty="0"/>
              </a:p>
              <a:p>
                <a:r>
                  <a:rPr lang="en-US" dirty="0" err="1"/>
                  <a:t>Артефакты</a:t>
                </a:r>
                <a:r>
                  <a:rPr lang="en-US" dirty="0"/>
                  <a:t> JPEG</a:t>
                </a:r>
              </a:p>
              <a:p>
                <a:pPr lvl="1"/>
                <a:r>
                  <a:rPr lang="en-US" dirty="0"/>
                  <a:t>block artifacts </a:t>
                </a:r>
              </a:p>
              <a:p>
                <a:pPr lvl="1"/>
                <a:r>
                  <a:rPr lang="en-US" dirty="0"/>
                  <a:t>ringing </a:t>
                </a:r>
              </a:p>
              <a:p>
                <a:pPr lvl="1"/>
                <a:r>
                  <a:rPr lang="en-US" dirty="0" err="1"/>
                  <a:t>потеря</a:t>
                </a:r>
                <a:r>
                  <a:rPr lang="en-US" dirty="0"/>
                  <a:t> </a:t>
                </a:r>
                <a:r>
                  <a:rPr lang="en-US" dirty="0" err="1"/>
                  <a:t>деталей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E5F717-AC78-FC8B-1531-862CBD8533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624484" cy="4351338"/>
              </a:xfrm>
              <a:blipFill>
                <a:blip r:embed="rId3"/>
                <a:stretch>
                  <a:fillRect l="-829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4" name="Picture 4">
            <a:extLst>
              <a:ext uri="{FF2B5EF4-FFF2-40B4-BE49-F238E27FC236}">
                <a16:creationId xmlns:a16="http://schemas.microsoft.com/office/drawing/2014/main" id="{EEC6B9EB-BB1B-9C82-65BE-1AD1ACBE3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865" y="1825625"/>
            <a:ext cx="3690681" cy="3690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7666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B7A51-8F99-BAEA-985F-9CE21C1C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Wavelet-</a:t>
            </a:r>
            <a:r>
              <a:rPr lang="en-US" dirty="0" err="1"/>
              <a:t>сжатие</a:t>
            </a:r>
            <a:r>
              <a:rPr lang="en-US" dirty="0"/>
              <a:t> и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форматы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A8343-2E89-9221-AEDC-AAE47FD04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1975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Wavelet Transform</a:t>
            </a:r>
          </a:p>
          <a:p>
            <a:pPr lvl="1"/>
            <a:r>
              <a:rPr lang="en-US" dirty="0" err="1"/>
              <a:t>Использует</a:t>
            </a:r>
            <a:r>
              <a:rPr lang="en-US" dirty="0"/>
              <a:t>: </a:t>
            </a:r>
            <a:r>
              <a:rPr lang="en-US" dirty="0" err="1"/>
              <a:t>локальные</a:t>
            </a:r>
            <a:r>
              <a:rPr lang="en-US" dirty="0"/>
              <a:t> </a:t>
            </a:r>
            <a:r>
              <a:rPr lang="en-US" dirty="0" err="1"/>
              <a:t>частоты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многомасштабное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</a:p>
          <a:p>
            <a:r>
              <a:rPr lang="en-US" dirty="0" err="1"/>
              <a:t>Преимущества</a:t>
            </a:r>
            <a:endParaRPr lang="en-US" dirty="0"/>
          </a:p>
          <a:p>
            <a:pPr lvl="1"/>
            <a:r>
              <a:rPr lang="en-US" dirty="0" err="1"/>
              <a:t>меньше</a:t>
            </a:r>
            <a:r>
              <a:rPr lang="en-US" dirty="0"/>
              <a:t> block artifacts </a:t>
            </a:r>
          </a:p>
          <a:p>
            <a:pPr lvl="1"/>
            <a:r>
              <a:rPr lang="en-US" dirty="0" err="1"/>
              <a:t>лучшее</a:t>
            </a:r>
            <a:r>
              <a:rPr lang="en-US" dirty="0"/>
              <a:t> </a:t>
            </a:r>
            <a:r>
              <a:rPr lang="en-US" dirty="0" err="1"/>
              <a:t>качество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сильном</a:t>
            </a:r>
            <a:r>
              <a:rPr lang="en-US" dirty="0"/>
              <a:t> </a:t>
            </a:r>
            <a:r>
              <a:rPr lang="en-US" dirty="0" err="1"/>
              <a:t>сжатии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поддержка</a:t>
            </a:r>
            <a:r>
              <a:rPr lang="en-US" dirty="0"/>
              <a:t> progressive loading </a:t>
            </a:r>
          </a:p>
          <a:p>
            <a:r>
              <a:rPr lang="en-US" dirty="0" err="1"/>
              <a:t>Применение</a:t>
            </a:r>
            <a:endParaRPr lang="en-US" dirty="0"/>
          </a:p>
          <a:p>
            <a:pPr lvl="1"/>
            <a:r>
              <a:rPr lang="en-US" dirty="0"/>
              <a:t>JPEG2000 </a:t>
            </a:r>
          </a:p>
          <a:p>
            <a:pPr lvl="1"/>
            <a:r>
              <a:rPr lang="en-US" dirty="0"/>
              <a:t>scientific imaging </a:t>
            </a:r>
          </a:p>
          <a:p>
            <a:pPr lvl="1"/>
            <a:r>
              <a:rPr lang="en-US" dirty="0"/>
              <a:t>HDR imaging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82CDBDD-2D02-C6CF-8E8F-E6E4C1BD8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612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407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92F23-BCD7-8961-6939-3A44911A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6490D-98E0-2C0C-1E67-0193DBA7E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/>
              <a:t>Изображение</a:t>
            </a:r>
            <a:r>
              <a:rPr lang="en-US" dirty="0"/>
              <a:t> —</a:t>
            </a:r>
            <a:r>
              <a:rPr lang="ru-RU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дискретный</a:t>
            </a:r>
            <a:r>
              <a:rPr lang="en-US" dirty="0"/>
              <a:t> </a:t>
            </a:r>
            <a:r>
              <a:rPr lang="en-US" dirty="0" err="1"/>
              <a:t>цифровой</a:t>
            </a:r>
            <a:r>
              <a:rPr lang="en-US" dirty="0"/>
              <a:t> </a:t>
            </a:r>
            <a:r>
              <a:rPr lang="en-US" dirty="0" err="1"/>
              <a:t>сигнал</a:t>
            </a:r>
            <a:r>
              <a:rPr lang="ru-RU" dirty="0"/>
              <a:t>, </a:t>
            </a:r>
            <a:r>
              <a:rPr lang="en-US" dirty="0" err="1"/>
              <a:t>представленный</a:t>
            </a:r>
            <a:r>
              <a:rPr lang="en-US" dirty="0"/>
              <a:t> </a:t>
            </a:r>
            <a:r>
              <a:rPr lang="en-US" dirty="0" err="1"/>
              <a:t>набором</a:t>
            </a:r>
            <a:r>
              <a:rPr lang="en-US" dirty="0"/>
              <a:t> </a:t>
            </a:r>
            <a:r>
              <a:rPr lang="en-US" dirty="0" err="1"/>
              <a:t>пикселей</a:t>
            </a:r>
            <a:r>
              <a:rPr lang="ru-RU" dirty="0"/>
              <a:t>, который х</a:t>
            </a:r>
            <a:r>
              <a:rPr lang="en-US" dirty="0" err="1"/>
              <a:t>ран</a:t>
            </a:r>
            <a:r>
              <a:rPr lang="ru-RU" dirty="0" err="1"/>
              <a:t>ят</a:t>
            </a:r>
            <a:r>
              <a:rPr lang="en-US" dirty="0"/>
              <a:t> </a:t>
            </a:r>
            <a:r>
              <a:rPr lang="en-US" dirty="0" err="1"/>
              <a:t>яркость</a:t>
            </a:r>
            <a:r>
              <a:rPr lang="en-US" dirty="0"/>
              <a:t> и </a:t>
            </a:r>
            <a:r>
              <a:rPr lang="en-US" dirty="0" err="1"/>
              <a:t>цвет</a:t>
            </a:r>
            <a:r>
              <a:rPr lang="en-US" dirty="0"/>
              <a:t> </a:t>
            </a:r>
          </a:p>
          <a:p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изображением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геометрические</a:t>
            </a:r>
            <a:r>
              <a:rPr lang="en-US" dirty="0"/>
              <a:t> </a:t>
            </a:r>
            <a:r>
              <a:rPr lang="en-US" dirty="0" err="1"/>
              <a:t>преобразования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цветовые</a:t>
            </a:r>
            <a:r>
              <a:rPr lang="en-US" dirty="0"/>
              <a:t> </a:t>
            </a:r>
            <a:r>
              <a:rPr lang="en-US" dirty="0" err="1"/>
              <a:t>преобразования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фильтрацию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частотный</a:t>
            </a:r>
            <a:r>
              <a:rPr lang="en-US" dirty="0"/>
              <a:t> </a:t>
            </a:r>
            <a:r>
              <a:rPr lang="en-US" dirty="0" err="1"/>
              <a:t>анализ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компрессию</a:t>
            </a:r>
            <a:r>
              <a:rPr lang="en-US" dirty="0"/>
              <a:t> </a:t>
            </a:r>
          </a:p>
          <a:p>
            <a:r>
              <a:rPr lang="en-US" dirty="0" err="1"/>
              <a:t>Цифровая</a:t>
            </a:r>
            <a:r>
              <a:rPr lang="en-US" dirty="0"/>
              <a:t> </a:t>
            </a:r>
            <a:r>
              <a:rPr lang="en-US" dirty="0" err="1"/>
              <a:t>обработка</a:t>
            </a:r>
            <a:r>
              <a:rPr lang="en-US" dirty="0"/>
              <a:t> </a:t>
            </a:r>
            <a:r>
              <a:rPr lang="en-US" dirty="0" err="1"/>
              <a:t>изображений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в </a:t>
            </a:r>
            <a:r>
              <a:rPr lang="en-US" dirty="0" err="1"/>
              <a:t>компьютерной</a:t>
            </a:r>
            <a:r>
              <a:rPr lang="en-US" dirty="0"/>
              <a:t> </a:t>
            </a:r>
            <a:r>
              <a:rPr lang="en-US" dirty="0" err="1"/>
              <a:t>графике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игровых</a:t>
            </a:r>
            <a:r>
              <a:rPr lang="en-US" dirty="0"/>
              <a:t> </a:t>
            </a:r>
            <a:r>
              <a:rPr lang="en-US" dirty="0" err="1"/>
              <a:t>движках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обработке</a:t>
            </a:r>
            <a:r>
              <a:rPr lang="en-US" dirty="0"/>
              <a:t> </a:t>
            </a:r>
            <a:r>
              <a:rPr lang="en-US" dirty="0" err="1"/>
              <a:t>фото</a:t>
            </a:r>
            <a:r>
              <a:rPr lang="en-US" dirty="0"/>
              <a:t> и </a:t>
            </a:r>
            <a:r>
              <a:rPr lang="en-US" dirty="0" err="1"/>
              <a:t>видео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компьютерном</a:t>
            </a:r>
            <a:r>
              <a:rPr lang="en-US" dirty="0"/>
              <a:t> </a:t>
            </a:r>
            <a:r>
              <a:rPr lang="en-US" dirty="0" err="1"/>
              <a:t>зрении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системах</a:t>
            </a:r>
            <a:r>
              <a:rPr lang="en-US" dirty="0"/>
              <a:t> ИИ </a:t>
            </a:r>
          </a:p>
          <a:p>
            <a:r>
              <a:rPr lang="en-US" dirty="0" err="1"/>
              <a:t>Изображение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анализировать</a:t>
            </a:r>
            <a:r>
              <a:rPr lang="ru-RU" dirty="0"/>
              <a:t>, </a:t>
            </a:r>
            <a:r>
              <a:rPr lang="en-US" dirty="0"/>
              <a:t>и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математическими</a:t>
            </a:r>
            <a:r>
              <a:rPr lang="en-US" dirty="0"/>
              <a:t> </a:t>
            </a:r>
            <a:r>
              <a:rPr lang="en-US" dirty="0" err="1"/>
              <a:t>методами</a:t>
            </a:r>
            <a:r>
              <a:rPr lang="ru-RU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получения</a:t>
            </a:r>
            <a:r>
              <a:rPr lang="en-US" dirty="0"/>
              <a:t> </a:t>
            </a:r>
            <a:r>
              <a:rPr lang="en-US" dirty="0" err="1"/>
              <a:t>нужного</a:t>
            </a:r>
            <a:r>
              <a:rPr lang="en-US" dirty="0"/>
              <a:t> </a:t>
            </a:r>
            <a:r>
              <a:rPr lang="en-US" dirty="0" err="1"/>
              <a:t>визуального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57478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3DD7E0-96F2-A77A-2A8B-5549EB0B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7F3D6-4682-042A-D65A-5E03DA03B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58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3259</TotalTime>
  <Words>10665</Words>
  <Application>Microsoft Office PowerPoint</Application>
  <PresentationFormat>Widescreen</PresentationFormat>
  <Paragraphs>1470</Paragraphs>
  <Slides>76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4" baseType="lpstr">
      <vt:lpstr>Aptos</vt:lpstr>
      <vt:lpstr>Aptos Display</vt:lpstr>
      <vt:lpstr>Arial</vt:lpstr>
      <vt:lpstr>Cambria Math</vt:lpstr>
      <vt:lpstr>Consolas</vt:lpstr>
      <vt:lpstr>Tahoma</vt:lpstr>
      <vt:lpstr>Wingdings 2</vt:lpstr>
      <vt:lpstr>Office Theme</vt:lpstr>
      <vt:lpstr>Цифровая обработка изображений</vt:lpstr>
      <vt:lpstr>Цифровое растровое изображение</vt:lpstr>
      <vt:lpstr>Цели цифровой обработка изображений</vt:lpstr>
      <vt:lpstr>Области применения цифровой обработки изображений</vt:lpstr>
      <vt:lpstr>Основные методы обработки изображений</vt:lpstr>
      <vt:lpstr>Цветовые модели</vt:lpstr>
      <vt:lpstr>Цветовая модель</vt:lpstr>
      <vt:lpstr>Основные цветовые модели</vt:lpstr>
      <vt:lpstr>Цветовая модель RGB</vt:lpstr>
      <vt:lpstr>PowerPoint Presentation</vt:lpstr>
      <vt:lpstr>Ограниченность цветовой модели RGB</vt:lpstr>
      <vt:lpstr>Цветовая модель CMYK</vt:lpstr>
      <vt:lpstr>PowerPoint Presentation</vt:lpstr>
      <vt:lpstr>Цветовая модель HSL</vt:lpstr>
      <vt:lpstr>PowerPoint Presentation</vt:lpstr>
      <vt:lpstr>Преобразование из RGB в HSL</vt:lpstr>
      <vt:lpstr>Преобразование HSL в RGB</vt:lpstr>
      <vt:lpstr>HSV</vt:lpstr>
      <vt:lpstr>PowerPoint Presentation</vt:lpstr>
      <vt:lpstr>Преобразование из цветовой модели RGB в HSV</vt:lpstr>
      <vt:lpstr>Преобразование из HSV в RGB</vt:lpstr>
      <vt:lpstr>Модель YCbCr</vt:lpstr>
      <vt:lpstr>Цветовая субдескритизация</vt:lpstr>
      <vt:lpstr>Преобразование из RGB в Y’CrCb и Y’PbPr</vt:lpstr>
      <vt:lpstr>Преобразование из Y’PbPr в RGB</vt:lpstr>
      <vt:lpstr>Модель CIELAB (LAB)</vt:lpstr>
      <vt:lpstr>Гамма-коррекция</vt:lpstr>
      <vt:lpstr>Гамма-коррекция</vt:lpstr>
      <vt:lpstr>Применение гамма-коррекции</vt:lpstr>
      <vt:lpstr>Применение</vt:lpstr>
      <vt:lpstr>Формулы гамма-коррекции</vt:lpstr>
      <vt:lpstr>Преобразования  цифровых изображений</vt:lpstr>
      <vt:lpstr>Инверсия</vt:lpstr>
      <vt:lpstr>Регулировка яркости</vt:lpstr>
      <vt:lpstr>Регулировка контраста</vt:lpstr>
      <vt:lpstr>Регулировка цветовых кривых</vt:lpstr>
      <vt:lpstr>Фильтры на основе свёртки</vt:lpstr>
      <vt:lpstr>Свёртка</vt:lpstr>
      <vt:lpstr>Свойства свёртки</vt:lpstr>
      <vt:lpstr>Фильтр размытия, основанный на применении свертки</vt:lpstr>
      <vt:lpstr>Повышение резкости (sharpen)</vt:lpstr>
      <vt:lpstr>Тиснение (emboss)</vt:lpstr>
      <vt:lpstr>Оператор Собеля</vt:lpstr>
      <vt:lpstr>Размытие Гаусса (Gaussian Blur)</vt:lpstr>
      <vt:lpstr>Практические особенности Gaussian Blur</vt:lpstr>
      <vt:lpstr>Оптимизация Gaussian Blur</vt:lpstr>
      <vt:lpstr>Ускорение свёртки через FFT</vt:lpstr>
      <vt:lpstr>Смазывание движения (Motion Blur)</vt:lpstr>
      <vt:lpstr>Медианный фильтр (подавление шумов)</vt:lpstr>
      <vt:lpstr>Медианный фильтр</vt:lpstr>
      <vt:lpstr>Медианный фильтр для цветных изображений</vt:lpstr>
      <vt:lpstr>Цифровая обработка сигналов</vt:lpstr>
      <vt:lpstr>Сигналы и цифровая обработка</vt:lpstr>
      <vt:lpstr>Изображение как сигнал</vt:lpstr>
      <vt:lpstr>Изображение как 2D сигнал</vt:lpstr>
      <vt:lpstr>Дискретизация</vt:lpstr>
      <vt:lpstr>Квантование</vt:lpstr>
      <vt:lpstr>Dithering</vt:lpstr>
      <vt:lpstr>Сэмплинг в компьютерной графике</vt:lpstr>
      <vt:lpstr>Теорема Найквиста-Котельникова</vt:lpstr>
      <vt:lpstr>Алиасинг</vt:lpstr>
      <vt:lpstr>Антиалиасинг (Anti-Aliasing)</vt:lpstr>
      <vt:lpstr>Mipmaps</vt:lpstr>
      <vt:lpstr>Фильтрация текстур</vt:lpstr>
      <vt:lpstr>Частотный анализ и обработка изображений</vt:lpstr>
      <vt:lpstr>Частотное представление изображения</vt:lpstr>
      <vt:lpstr>Дискретное преобразование Фурье (DFT)</vt:lpstr>
      <vt:lpstr>Обратное 2D преобразование Фурье</vt:lpstr>
      <vt:lpstr>Низкочастотная фильтрация</vt:lpstr>
      <vt:lpstr>Высокочастотная фильтрация</vt:lpstr>
      <vt:lpstr>Быстрое преобразование Фурье (FFT)</vt:lpstr>
      <vt:lpstr>Частотное сжатие изображений</vt:lpstr>
      <vt:lpstr>JPEG и дискретное косинусное преобразование</vt:lpstr>
      <vt:lpstr>Wavelet-сжатие и современные форматы</vt:lpstr>
      <vt:lpstr>Итоги</vt:lpstr>
      <vt:lpstr>Вопросы?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118</cp:revision>
  <dcterms:created xsi:type="dcterms:W3CDTF">2025-05-27T21:53:46Z</dcterms:created>
  <dcterms:modified xsi:type="dcterms:W3CDTF">2026-05-18T17:21:26Z</dcterms:modified>
</cp:coreProperties>
</file>